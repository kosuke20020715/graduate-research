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7" r:id="rId1"/>
    <p:sldMasterId id="2147484229" r:id="rId2"/>
  </p:sldMasterIdLst>
  <p:notesMasterIdLst>
    <p:notesMasterId r:id="rId25"/>
  </p:notesMasterIdLst>
  <p:sldIdLst>
    <p:sldId id="256" r:id="rId3"/>
    <p:sldId id="324" r:id="rId4"/>
    <p:sldId id="263" r:id="rId5"/>
    <p:sldId id="329" r:id="rId6"/>
    <p:sldId id="325" r:id="rId7"/>
    <p:sldId id="338" r:id="rId8"/>
    <p:sldId id="339" r:id="rId9"/>
    <p:sldId id="340" r:id="rId10"/>
    <p:sldId id="326" r:id="rId11"/>
    <p:sldId id="327" r:id="rId12"/>
    <p:sldId id="328" r:id="rId13"/>
    <p:sldId id="334" r:id="rId14"/>
    <p:sldId id="330" r:id="rId15"/>
    <p:sldId id="335" r:id="rId16"/>
    <p:sldId id="331" r:id="rId17"/>
    <p:sldId id="332" r:id="rId18"/>
    <p:sldId id="264" r:id="rId19"/>
    <p:sldId id="281" r:id="rId20"/>
    <p:sldId id="274" r:id="rId21"/>
    <p:sldId id="333" r:id="rId22"/>
    <p:sldId id="336" r:id="rId23"/>
    <p:sldId id="337" r:id="rId24"/>
  </p:sldIdLst>
  <p:sldSz cx="12192000" cy="6858000"/>
  <p:notesSz cx="9869488" cy="67357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CFAA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ECAC4-ED21-47F0-9C02-E83A977545ED}" v="2" dt="2024-10-22T04:34:47.80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5082" autoAdjust="0"/>
  </p:normalViewPr>
  <p:slideViewPr>
    <p:cSldViewPr snapToGrid="0">
      <p:cViewPr varScale="1">
        <p:scale>
          <a:sx n="60" d="100"/>
          <a:sy n="60" d="100"/>
        </p:scale>
        <p:origin x="724" y="1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1"/>
            <a:ext cx="4276779" cy="337958"/>
          </a:xfrm>
          <a:prstGeom prst="rect">
            <a:avLst/>
          </a:prstGeom>
        </p:spPr>
        <p:txBody>
          <a:bodyPr vert="horz" lIns="91430" tIns="45714" rIns="91430" bIns="45714"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427" y="1"/>
            <a:ext cx="4276779" cy="337958"/>
          </a:xfrm>
          <a:prstGeom prst="rect">
            <a:avLst/>
          </a:prstGeom>
        </p:spPr>
        <p:txBody>
          <a:bodyPr vert="horz" lIns="91430" tIns="45714" rIns="91430" bIns="45714" rtlCol="0"/>
          <a:lstStyle>
            <a:lvl1pPr algn="r">
              <a:defRPr sz="1200"/>
            </a:lvl1pPr>
          </a:lstStyle>
          <a:p>
            <a:fld id="{08D36FA8-29FF-4B6A-B491-01AFA5B63755}" type="datetimeFigureOut">
              <a:rPr kumimoji="1" lang="ja-JP" altLang="en-US" smtClean="0"/>
              <a:t>2025/3/3</a:t>
            </a:fld>
            <a:endParaRPr kumimoji="1" lang="ja-JP" altLang="en-US"/>
          </a:p>
        </p:txBody>
      </p:sp>
      <p:sp>
        <p:nvSpPr>
          <p:cNvPr id="4" name="スライド イメージ プレースホルダー 3"/>
          <p:cNvSpPr>
            <a:spLocks noGrp="1" noRot="1" noChangeAspect="1"/>
          </p:cNvSpPr>
          <p:nvPr>
            <p:ph type="sldImg" idx="2"/>
          </p:nvPr>
        </p:nvSpPr>
        <p:spPr>
          <a:xfrm>
            <a:off x="2914650" y="841375"/>
            <a:ext cx="4040188" cy="2273300"/>
          </a:xfrm>
          <a:prstGeom prst="rect">
            <a:avLst/>
          </a:prstGeom>
          <a:noFill/>
          <a:ln w="12700">
            <a:solidFill>
              <a:prstClr val="black"/>
            </a:solidFill>
          </a:ln>
        </p:spPr>
        <p:txBody>
          <a:bodyPr vert="horz" lIns="91430" tIns="45714" rIns="91430" bIns="45714" rtlCol="0" anchor="ctr"/>
          <a:lstStyle/>
          <a:p>
            <a:endParaRPr lang="ja-JP" altLang="en-US"/>
          </a:p>
        </p:txBody>
      </p:sp>
      <p:sp>
        <p:nvSpPr>
          <p:cNvPr id="5" name="ノート プレースホルダー 4"/>
          <p:cNvSpPr>
            <a:spLocks noGrp="1"/>
          </p:cNvSpPr>
          <p:nvPr>
            <p:ph type="body" sz="quarter" idx="3"/>
          </p:nvPr>
        </p:nvSpPr>
        <p:spPr>
          <a:xfrm>
            <a:off x="986950" y="3241587"/>
            <a:ext cx="7895590" cy="2652207"/>
          </a:xfrm>
          <a:prstGeom prst="rect">
            <a:avLst/>
          </a:prstGeom>
        </p:spPr>
        <p:txBody>
          <a:bodyPr vert="horz" lIns="91430" tIns="45714" rIns="91430" bIns="4571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2" y="6397807"/>
            <a:ext cx="4276779" cy="337957"/>
          </a:xfrm>
          <a:prstGeom prst="rect">
            <a:avLst/>
          </a:prstGeom>
        </p:spPr>
        <p:txBody>
          <a:bodyPr vert="horz" lIns="91430" tIns="45714" rIns="91430" bIns="45714"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427" y="6397807"/>
            <a:ext cx="4276779" cy="337957"/>
          </a:xfrm>
          <a:prstGeom prst="rect">
            <a:avLst/>
          </a:prstGeom>
        </p:spPr>
        <p:txBody>
          <a:bodyPr vert="horz" lIns="91430" tIns="45714" rIns="91430" bIns="45714" rtlCol="0" anchor="b"/>
          <a:lstStyle>
            <a:lvl1pPr algn="r">
              <a:defRPr sz="1200"/>
            </a:lvl1pPr>
          </a:lstStyle>
          <a:p>
            <a:fld id="{1D978EF2-D399-4FCA-99E6-E328AE08B952}" type="slidenum">
              <a:rPr kumimoji="1" lang="ja-JP" altLang="en-US" smtClean="0"/>
              <a:t>‹#›</a:t>
            </a:fld>
            <a:endParaRPr kumimoji="1" lang="ja-JP" altLang="en-US"/>
          </a:p>
        </p:txBody>
      </p:sp>
    </p:spTree>
    <p:extLst>
      <p:ext uri="{BB962C8B-B14F-4D97-AF65-F5344CB8AC3E}">
        <p14:creationId xmlns:p14="http://schemas.microsoft.com/office/powerpoint/2010/main" val="9095576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sz="1600"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a:t>
            </a:fld>
            <a:endParaRPr kumimoji="1" lang="ja-JP" altLang="en-US"/>
          </a:p>
        </p:txBody>
      </p:sp>
    </p:spTree>
    <p:extLst>
      <p:ext uri="{BB962C8B-B14F-4D97-AF65-F5344CB8AC3E}">
        <p14:creationId xmlns:p14="http://schemas.microsoft.com/office/powerpoint/2010/main" val="4237842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2</a:t>
            </a:fld>
            <a:endParaRPr kumimoji="1" lang="ja-JP" altLang="en-US"/>
          </a:p>
        </p:txBody>
      </p:sp>
    </p:spTree>
    <p:extLst>
      <p:ext uri="{BB962C8B-B14F-4D97-AF65-F5344CB8AC3E}">
        <p14:creationId xmlns:p14="http://schemas.microsoft.com/office/powerpoint/2010/main" val="1319471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長期的な</a:t>
            </a:r>
            <a:r>
              <a:rPr kumimoji="1" lang="en-US" altLang="ja-JP" dirty="0"/>
              <a:t>HIV</a:t>
            </a:r>
            <a:r>
              <a:rPr kumimoji="1" lang="ja-JP" altLang="en-US" dirty="0"/>
              <a:t>増殖メカニズムに基づく　数理モデル　</a:t>
            </a:r>
            <a:endParaRPr kumimoji="1" lang="en-US" altLang="ja-JP" dirty="0"/>
          </a:p>
          <a:p>
            <a:r>
              <a:rPr kumimoji="1" lang="en-US" altLang="ja-JP" dirty="0"/>
              <a:t>X:</a:t>
            </a:r>
            <a:r>
              <a:rPr kumimoji="1" lang="ja-JP" altLang="en-US" dirty="0"/>
              <a:t>未感染</a:t>
            </a:r>
            <a:r>
              <a:rPr kumimoji="1" lang="en-US" altLang="ja-JP" dirty="0"/>
              <a:t>CD4</a:t>
            </a:r>
            <a:r>
              <a:rPr kumimoji="1" lang="ja-JP" altLang="en-US" dirty="0"/>
              <a:t> </a:t>
            </a:r>
            <a:r>
              <a:rPr kumimoji="1" lang="en-US" altLang="ja-JP" dirty="0"/>
              <a:t>Y:</a:t>
            </a:r>
            <a:r>
              <a:rPr kumimoji="1" lang="ja-JP" altLang="en-US" dirty="0"/>
              <a:t>潜伏感染</a:t>
            </a:r>
            <a:r>
              <a:rPr kumimoji="1" lang="en-US" altLang="ja-JP" dirty="0"/>
              <a:t>(</a:t>
            </a:r>
            <a:r>
              <a:rPr kumimoji="1" lang="ja-JP" altLang="en-US" dirty="0"/>
              <a:t>感染しているが</a:t>
            </a:r>
            <a:r>
              <a:rPr kumimoji="1" lang="en-US" altLang="ja-JP" dirty="0"/>
              <a:t>,</a:t>
            </a:r>
            <a:r>
              <a:rPr kumimoji="1" lang="ja-JP" altLang="en-US" dirty="0"/>
              <a:t>それ自体はウイルスを生成しない</a:t>
            </a:r>
            <a:r>
              <a:rPr kumimoji="1" lang="en-US" altLang="ja-JP" dirty="0"/>
              <a:t>) Z:</a:t>
            </a:r>
            <a:r>
              <a:rPr kumimoji="1" lang="ja-JP" altLang="en-US" dirty="0"/>
              <a:t>活動感染 </a:t>
            </a:r>
            <a:r>
              <a:rPr kumimoji="1" lang="en-US" altLang="ja-JP" dirty="0"/>
              <a:t>(</a:t>
            </a:r>
            <a:r>
              <a:rPr kumimoji="1" lang="ja-JP" altLang="en-US" dirty="0"/>
              <a:t>抗体反応により</a:t>
            </a:r>
            <a:r>
              <a:rPr kumimoji="1" lang="en-US" altLang="ja-JP" dirty="0"/>
              <a:t>, </a:t>
            </a:r>
            <a:r>
              <a:rPr kumimoji="1" lang="ja-JP" altLang="en-US" dirty="0"/>
              <a:t>遊離ウイルスを複製</a:t>
            </a:r>
            <a:r>
              <a:rPr kumimoji="1" lang="en-US" altLang="ja-JP" dirty="0"/>
              <a:t>) V:</a:t>
            </a:r>
            <a:r>
              <a:rPr kumimoji="1" lang="ja-JP" altLang="en-US" dirty="0"/>
              <a:t>遊離ウイルス</a:t>
            </a:r>
            <a:r>
              <a:rPr kumimoji="1" lang="en-US" altLang="ja-JP" dirty="0"/>
              <a:t>(</a:t>
            </a:r>
            <a:r>
              <a:rPr kumimoji="1" lang="ja-JP" altLang="en-US" dirty="0"/>
              <a:t>未感染細胞へ侵入</a:t>
            </a:r>
            <a:r>
              <a:rPr kumimoji="1" lang="en-US" altLang="ja-JP" dirty="0"/>
              <a:t>)</a:t>
            </a:r>
            <a:r>
              <a:rPr kumimoji="1" lang="ja-JP" altLang="en-US" dirty="0"/>
              <a:t>　</a:t>
            </a:r>
            <a:r>
              <a:rPr kumimoji="1" lang="en-US" altLang="ja-JP" dirty="0"/>
              <a:t>X,Y,Z,V</a:t>
            </a:r>
            <a:r>
              <a:rPr kumimoji="1" lang="ja-JP" altLang="en-US" dirty="0"/>
              <a:t>の生成と消滅の関係を表すモデル</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3</a:t>
            </a:fld>
            <a:endParaRPr kumimoji="1" lang="ja-JP" altLang="en-US"/>
          </a:p>
        </p:txBody>
      </p:sp>
    </p:spTree>
    <p:extLst>
      <p:ext uri="{BB962C8B-B14F-4D97-AF65-F5344CB8AC3E}">
        <p14:creationId xmlns:p14="http://schemas.microsoft.com/office/powerpoint/2010/main" val="3567278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価値関数は即時報酬の期待値　</a:t>
            </a:r>
            <a:endParaRPr kumimoji="1" lang="en-US" altLang="ja-JP" dirty="0"/>
          </a:p>
          <a:p>
            <a:r>
              <a:rPr kumimoji="1" lang="ja-JP" altLang="en-US" dirty="0"/>
              <a:t>実際に行動したときに得られる即時報酬の期待値が最大となるようにする</a:t>
            </a:r>
            <a:r>
              <a:rPr kumimoji="1" lang="en-US" altLang="ja-JP" dirty="0"/>
              <a:t>. </a:t>
            </a:r>
          </a:p>
          <a:p>
            <a:endParaRPr kumimoji="1" lang="en-US" altLang="ja-JP" dirty="0"/>
          </a:p>
          <a:p>
            <a:r>
              <a:rPr kumimoji="1" lang="en-US" altLang="ja-JP" dirty="0"/>
              <a:t>Q</a:t>
            </a:r>
            <a:r>
              <a:rPr kumimoji="1" lang="ja-JP" altLang="en-US" dirty="0"/>
              <a:t>値初期化</a:t>
            </a:r>
            <a:endParaRPr kumimoji="1" lang="en-US" altLang="ja-JP" dirty="0"/>
          </a:p>
          <a:p>
            <a:r>
              <a:rPr kumimoji="1" lang="ja-JP" altLang="en-US" dirty="0"/>
              <a:t>状態を観測➡</a:t>
            </a:r>
            <a:r>
              <a:rPr kumimoji="1" lang="en-US" altLang="ja-JP" dirty="0" err="1"/>
              <a:t>softmax</a:t>
            </a:r>
            <a:r>
              <a:rPr kumimoji="1" lang="ja-JP" altLang="en-US" dirty="0"/>
              <a:t>方針で行動選択➡行動を環境に適用➡新たな状態と即時報酬を受け取る</a:t>
            </a:r>
            <a:endParaRPr kumimoji="1" lang="en-US" altLang="ja-JP" dirty="0"/>
          </a:p>
          <a:p>
            <a:r>
              <a:rPr kumimoji="1" lang="ja-JP" altLang="en-US" dirty="0"/>
              <a:t>➡</a:t>
            </a:r>
            <a:r>
              <a:rPr kumimoji="1" lang="en-US" altLang="ja-JP" dirty="0"/>
              <a:t>Q</a:t>
            </a:r>
            <a:r>
              <a:rPr kumimoji="1" lang="ja-JP" altLang="en-US" dirty="0"/>
              <a:t>値の更新</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4</a:t>
            </a:fld>
            <a:endParaRPr kumimoji="1" lang="ja-JP" altLang="en-US"/>
          </a:p>
        </p:txBody>
      </p:sp>
    </p:spTree>
    <p:extLst>
      <p:ext uri="{BB962C8B-B14F-4D97-AF65-F5344CB8AC3E}">
        <p14:creationId xmlns:p14="http://schemas.microsoft.com/office/powerpoint/2010/main" val="318232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オフライン</a:t>
            </a:r>
            <a:r>
              <a:rPr kumimoji="1" lang="en-US" altLang="ja-JP" dirty="0"/>
              <a:t>RL</a:t>
            </a:r>
            <a:r>
              <a:rPr kumimoji="1" lang="ja-JP" altLang="en-US" dirty="0"/>
              <a:t>➡一方的な</a:t>
            </a:r>
            <a:r>
              <a:rPr kumimoji="1" lang="en-US" altLang="ja-JP" dirty="0"/>
              <a:t>FF</a:t>
            </a:r>
          </a:p>
          <a:p>
            <a:r>
              <a:rPr kumimoji="1" lang="ja-JP" altLang="en-US" dirty="0"/>
              <a:t>オンライン</a:t>
            </a:r>
            <a:r>
              <a:rPr kumimoji="1" lang="en-US" altLang="ja-JP" dirty="0"/>
              <a:t>RL</a:t>
            </a:r>
            <a:r>
              <a:rPr kumimoji="1" lang="ja-JP" altLang="en-US" dirty="0"/>
              <a:t>➡環境とエージェントにより構成された</a:t>
            </a:r>
            <a:r>
              <a:rPr kumimoji="1" lang="en-US" altLang="ja-JP" dirty="0"/>
              <a:t>FB </a:t>
            </a:r>
          </a:p>
          <a:p>
            <a:r>
              <a:rPr kumimoji="1" lang="ja-JP" altLang="en-US" dirty="0"/>
              <a:t>最終的には</a:t>
            </a:r>
            <a:r>
              <a:rPr kumimoji="1" lang="en-US" altLang="ja-JP" dirty="0"/>
              <a:t>final action</a:t>
            </a:r>
            <a:r>
              <a:rPr kumimoji="1" lang="ja-JP" altLang="en-US" dirty="0"/>
              <a:t>を導くことが目的</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5</a:t>
            </a:fld>
            <a:endParaRPr kumimoji="1" lang="ja-JP" altLang="en-US"/>
          </a:p>
        </p:txBody>
      </p:sp>
    </p:spTree>
    <p:extLst>
      <p:ext uri="{BB962C8B-B14F-4D97-AF65-F5344CB8AC3E}">
        <p14:creationId xmlns:p14="http://schemas.microsoft.com/office/powerpoint/2010/main" val="2937627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42B3-178E-D35F-A04F-A9C3CC6150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AFDACC-8B37-6EC5-C5E6-A11F4D675B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5F536EF-709F-87C2-DCB1-612305E30E6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407BE95-363B-70F5-4BB9-CE173567C1E4}"/>
              </a:ext>
            </a:extLst>
          </p:cNvPr>
          <p:cNvSpPr>
            <a:spLocks noGrp="1"/>
          </p:cNvSpPr>
          <p:nvPr>
            <p:ph type="sldNum" sz="quarter" idx="5"/>
          </p:nvPr>
        </p:nvSpPr>
        <p:spPr/>
        <p:txBody>
          <a:bodyPr/>
          <a:lstStyle/>
          <a:p>
            <a:fld id="{1D978EF2-D399-4FCA-99E6-E328AE08B952}" type="slidenum">
              <a:rPr kumimoji="1" lang="ja-JP" altLang="en-US" smtClean="0"/>
              <a:t>6</a:t>
            </a:fld>
            <a:endParaRPr kumimoji="1" lang="ja-JP" altLang="en-US"/>
          </a:p>
        </p:txBody>
      </p:sp>
    </p:spTree>
    <p:extLst>
      <p:ext uri="{BB962C8B-B14F-4D97-AF65-F5344CB8AC3E}">
        <p14:creationId xmlns:p14="http://schemas.microsoft.com/office/powerpoint/2010/main" val="4133808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41E53-0772-88F9-897A-34DB7092ED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A9E1DD-AE0A-B288-848C-594F3FD5C8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A7CFF5D-B0E2-2DC4-D28F-1D30764D129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7CC3E91-CF18-1BB5-1F45-57EDA5B1713C}"/>
              </a:ext>
            </a:extLst>
          </p:cNvPr>
          <p:cNvSpPr>
            <a:spLocks noGrp="1"/>
          </p:cNvSpPr>
          <p:nvPr>
            <p:ph type="sldNum" sz="quarter" idx="5"/>
          </p:nvPr>
        </p:nvSpPr>
        <p:spPr/>
        <p:txBody>
          <a:bodyPr/>
          <a:lstStyle/>
          <a:p>
            <a:fld id="{1D978EF2-D399-4FCA-99E6-E328AE08B952}" type="slidenum">
              <a:rPr kumimoji="1" lang="ja-JP" altLang="en-US" smtClean="0"/>
              <a:t>7</a:t>
            </a:fld>
            <a:endParaRPr kumimoji="1" lang="ja-JP" altLang="en-US"/>
          </a:p>
        </p:txBody>
      </p:sp>
    </p:spTree>
    <p:extLst>
      <p:ext uri="{BB962C8B-B14F-4D97-AF65-F5344CB8AC3E}">
        <p14:creationId xmlns:p14="http://schemas.microsoft.com/office/powerpoint/2010/main" val="27187586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割引率学習率の説明　</a:t>
            </a:r>
            <a:endParaRPr kumimoji="1" lang="en-US" altLang="ja-JP" dirty="0"/>
          </a:p>
          <a:p>
            <a:r>
              <a:rPr kumimoji="1" lang="ja-JP" altLang="en-US" dirty="0"/>
              <a:t>状態の説明　</a:t>
            </a:r>
            <a:r>
              <a:rPr kumimoji="1" lang="en-US" altLang="ja-JP" dirty="0"/>
              <a:t>3</a:t>
            </a:r>
            <a:r>
              <a:rPr kumimoji="1" lang="ja-JP" altLang="en-US" dirty="0"/>
              <a:t>種類の追加によって患者の個体差や投薬の時間を考慮可能</a:t>
            </a:r>
            <a:endParaRPr kumimoji="1" lang="en-US" altLang="ja-JP" dirty="0"/>
          </a:p>
          <a:p>
            <a:r>
              <a:rPr kumimoji="1" lang="ja-JP" altLang="en-US" dirty="0"/>
              <a:t>報酬の説明　</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9</a:t>
            </a:fld>
            <a:endParaRPr kumimoji="1" lang="ja-JP" altLang="en-US"/>
          </a:p>
        </p:txBody>
      </p:sp>
    </p:spTree>
    <p:extLst>
      <p:ext uri="{BB962C8B-B14F-4D97-AF65-F5344CB8AC3E}">
        <p14:creationId xmlns:p14="http://schemas.microsoft.com/office/powerpoint/2010/main" val="2257284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10</a:t>
            </a:fld>
            <a:endParaRPr kumimoji="1" lang="ja-JP" altLang="en-US"/>
          </a:p>
        </p:txBody>
      </p:sp>
    </p:spTree>
    <p:extLst>
      <p:ext uri="{BB962C8B-B14F-4D97-AF65-F5344CB8AC3E}">
        <p14:creationId xmlns:p14="http://schemas.microsoft.com/office/powerpoint/2010/main" val="1320919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臨床試験当時の主流な治療法と</a:t>
            </a:r>
            <a:r>
              <a:rPr kumimoji="1" lang="en-US" altLang="ja-JP" dirty="0"/>
              <a:t>6</a:t>
            </a:r>
            <a:r>
              <a:rPr kumimoji="1" lang="ja-JP" altLang="en-US" dirty="0"/>
              <a:t>割一致しており</a:t>
            </a:r>
            <a:r>
              <a:rPr kumimoji="1" lang="en-US" altLang="ja-JP" dirty="0"/>
              <a:t>, </a:t>
            </a:r>
            <a:r>
              <a:rPr kumimoji="1" lang="ja-JP" altLang="en-US" dirty="0"/>
              <a:t>その他にも臨床試験以降に認められた治療法を使用していた</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13</a:t>
            </a:fld>
            <a:endParaRPr kumimoji="1" lang="ja-JP" altLang="en-US"/>
          </a:p>
        </p:txBody>
      </p:sp>
    </p:spTree>
    <p:extLst>
      <p:ext uri="{BB962C8B-B14F-4D97-AF65-F5344CB8AC3E}">
        <p14:creationId xmlns:p14="http://schemas.microsoft.com/office/powerpoint/2010/main" val="1255589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17</a:t>
            </a:fld>
            <a:endParaRPr kumimoji="1" lang="ja-JP" altLang="en-US"/>
          </a:p>
        </p:txBody>
      </p:sp>
    </p:spTree>
    <p:extLst>
      <p:ext uri="{BB962C8B-B14F-4D97-AF65-F5344CB8AC3E}">
        <p14:creationId xmlns:p14="http://schemas.microsoft.com/office/powerpoint/2010/main" val="3338427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18</a:t>
            </a:fld>
            <a:endParaRPr kumimoji="1" lang="ja-JP" altLang="en-US"/>
          </a:p>
        </p:txBody>
      </p:sp>
    </p:spTree>
    <p:extLst>
      <p:ext uri="{BB962C8B-B14F-4D97-AF65-F5344CB8AC3E}">
        <p14:creationId xmlns:p14="http://schemas.microsoft.com/office/powerpoint/2010/main" val="734241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ベルマン方程式は、直近の報酬に</a:t>
            </a:r>
            <a:r>
              <a:rPr kumimoji="1" lang="en-US" altLang="ja-JP" dirty="0"/>
              <a:t>1</a:t>
            </a:r>
            <a:r>
              <a:rPr kumimoji="1" lang="ja-JP" altLang="en-US" dirty="0"/>
              <a:t>ステップ先の価値関数を足したものになる</a:t>
            </a:r>
            <a:r>
              <a:rPr kumimoji="1" lang="en-US" altLang="ja-JP" dirty="0"/>
              <a:t>. </a:t>
            </a:r>
            <a:r>
              <a:rPr kumimoji="1" lang="ja-JP" altLang="en-US" dirty="0"/>
              <a:t>ただし方策やどの行動をとるかは確率分布に基づくため</a:t>
            </a:r>
            <a:r>
              <a:rPr kumimoji="1" lang="en-US" altLang="ja-JP" dirty="0"/>
              <a:t>, </a:t>
            </a:r>
            <a:r>
              <a:rPr kumimoji="1" lang="ja-JP" altLang="en-US" dirty="0"/>
              <a:t>期待値をとる</a:t>
            </a:r>
          </a:p>
        </p:txBody>
      </p:sp>
      <p:sp>
        <p:nvSpPr>
          <p:cNvPr id="4" name="スライド番号プレースホルダー 3"/>
          <p:cNvSpPr>
            <a:spLocks noGrp="1"/>
          </p:cNvSpPr>
          <p:nvPr>
            <p:ph type="sldNum" sz="quarter" idx="5"/>
          </p:nvPr>
        </p:nvSpPr>
        <p:spPr/>
        <p:txBody>
          <a:bodyPr/>
          <a:lstStyle/>
          <a:p>
            <a:fld id="{1D978EF2-D399-4FCA-99E6-E328AE08B952}" type="slidenum">
              <a:rPr kumimoji="1" lang="ja-JP" altLang="en-US" smtClean="0"/>
              <a:t>19</a:t>
            </a:fld>
            <a:endParaRPr kumimoji="1" lang="ja-JP" altLang="en-US"/>
          </a:p>
        </p:txBody>
      </p:sp>
    </p:spTree>
    <p:extLst>
      <p:ext uri="{BB962C8B-B14F-4D97-AF65-F5344CB8AC3E}">
        <p14:creationId xmlns:p14="http://schemas.microsoft.com/office/powerpoint/2010/main" val="876602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1CF8481-5237-45DE-8F34-9F18B29D340E}"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3566910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52BD05F-8EFC-41A6-8454-3B0609AE1BD0}"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130551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D5176E3-A804-4072-8C74-B9547DE49286}"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49103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573006F-C600-479A-A3B9-50B9D1A59048}" type="datetime1">
              <a:rPr kumimoji="1" lang="ja-JP" altLang="en-US" smtClean="0"/>
              <a:t>2025/3/3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214329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865BCC45-D0A9-4BE8-A5A3-ED55E152964D}" type="datetime1">
              <a:rPr kumimoji="1" lang="ja-JP" altLang="en-US" smtClean="0"/>
              <a:t>2025/3/3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2620469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561C8C0-DF70-407E-8D50-A6A02B54CB18}" type="datetime1">
              <a:rPr kumimoji="1" lang="ja-JP" altLang="en-US" smtClean="0"/>
              <a:t>2025/3/3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spTree>
    <p:extLst>
      <p:ext uri="{BB962C8B-B14F-4D97-AF65-F5344CB8AC3E}">
        <p14:creationId xmlns:p14="http://schemas.microsoft.com/office/powerpoint/2010/main" val="173080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44C58C-6FD9-4FB2-9FA9-1ED118F4E1C4}" type="datetime1">
              <a:rPr kumimoji="1" lang="ja-JP" altLang="en-US" smtClean="0"/>
              <a:t>2025/3/3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997658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ja-JP" altLang="en-US"/>
              <a:t>マスター タイトルの書式設定</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6BC553B-F7D6-4EE4-8D95-7B6DFB87B492}" type="datetime1">
              <a:rPr kumimoji="1" lang="ja-JP" altLang="en-US" smtClean="0"/>
              <a:t>2025/3/3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533906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ja-JP" altLang="en-US"/>
              <a:t>マスター タイトルの書式設定</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33200-FBE1-49D3-B71D-12F7DD4C44C1}" type="datetime1">
              <a:rPr kumimoji="1" lang="ja-JP" altLang="en-US" smtClean="0"/>
              <a:t>2025/3/3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77295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111211-2795-4394-9589-B8B054366875}"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32861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D88DAED0-3612-4C22-89C0-86FAF86F9E0C}"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447709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D9AB31F-6A2E-4730-974C-7AAA11B495B0}"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483240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834640"/>
            <a:ext cx="10058400" cy="4023360"/>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タイトル 6">
            <a:extLst>
              <a:ext uri="{FF2B5EF4-FFF2-40B4-BE49-F238E27FC236}">
                <a16:creationId xmlns:a16="http://schemas.microsoft.com/office/drawing/2014/main" id="{2E760512-ADF1-16F3-C46B-B0F522825561}"/>
              </a:ext>
            </a:extLst>
          </p:cNvPr>
          <p:cNvSpPr>
            <a:spLocks noGrp="1"/>
          </p:cNvSpPr>
          <p:nvPr>
            <p:ph type="title"/>
          </p:nvPr>
        </p:nvSpPr>
        <p:spPr/>
        <p:txBody>
          <a:bodyPr/>
          <a:lstStyle/>
          <a:p>
            <a:r>
              <a:rPr kumimoji="1" lang="ja-JP" altLang="en-US"/>
              <a:t>マスター タイトルの書式設定</a:t>
            </a:r>
          </a:p>
        </p:txBody>
      </p:sp>
      <p:sp>
        <p:nvSpPr>
          <p:cNvPr id="2" name="日付プレースホルダー 1">
            <a:extLst>
              <a:ext uri="{FF2B5EF4-FFF2-40B4-BE49-F238E27FC236}">
                <a16:creationId xmlns:a16="http://schemas.microsoft.com/office/drawing/2014/main" id="{C20CC543-E4EA-09D4-35B8-067943B36D3E}"/>
              </a:ext>
            </a:extLst>
          </p:cNvPr>
          <p:cNvSpPr>
            <a:spLocks noGrp="1"/>
          </p:cNvSpPr>
          <p:nvPr>
            <p:ph type="dt" sz="half" idx="10"/>
          </p:nvPr>
        </p:nvSpPr>
        <p:spPr/>
        <p:txBody>
          <a:bodyPr/>
          <a:lstStyle/>
          <a:p>
            <a:fld id="{03959FC2-D217-428E-BF30-CB4CAA63F0FB}" type="datetime1">
              <a:rPr kumimoji="1" lang="ja-JP" altLang="en-US" smtClean="0"/>
              <a:t>2025/3/3</a:t>
            </a:fld>
            <a:endParaRPr kumimoji="1" lang="ja-JP" altLang="en-US"/>
          </a:p>
        </p:txBody>
      </p:sp>
      <p:sp>
        <p:nvSpPr>
          <p:cNvPr id="4" name="フッター プレースホルダー 3">
            <a:extLst>
              <a:ext uri="{FF2B5EF4-FFF2-40B4-BE49-F238E27FC236}">
                <a16:creationId xmlns:a16="http://schemas.microsoft.com/office/drawing/2014/main" id="{CB218392-3D56-FCCD-153F-7AE5889237C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4E305A2-F2AE-F3F6-C8B8-3137632C02B0}"/>
              </a:ext>
            </a:extLst>
          </p:cNvPr>
          <p:cNvSpPr>
            <a:spLocks noGrp="1"/>
          </p:cNvSpPr>
          <p:nvPr>
            <p:ph type="sldNum" sz="quarter" idx="12"/>
          </p:nvPr>
        </p:nvSpPr>
        <p:spPr/>
        <p:txBody>
          <a:body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3291061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495B6D2-24DC-4A82-AEF6-1F75B53A6A89}"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6969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5EAEC46-B578-468E-A541-E25F58DF0C73}" type="datetime1">
              <a:rPr kumimoji="1" lang="ja-JP" altLang="en-US" smtClean="0"/>
              <a:t>2025/3/3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1236638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97280" y="2582335"/>
            <a:ext cx="493776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217920" y="2582334"/>
            <a:ext cx="4937760" cy="32867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464870E8-FE9E-4366-9746-67A89BCF680A}" type="datetime1">
              <a:rPr kumimoji="1" lang="ja-JP" altLang="en-US" smtClean="0"/>
              <a:t>2025/3/3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1233413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4C029950-87AF-4121-9B9B-7AD52B29ED6B}" type="datetime1">
              <a:rPr kumimoji="1" lang="ja-JP" altLang="en-US" smtClean="0"/>
              <a:t>2025/3/3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7419489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0A7C1E-89A1-4FD7-A5F3-44C0077A5A16}" type="datetime1">
              <a:rPr kumimoji="1" lang="ja-JP" altLang="en-US" smtClean="0"/>
              <a:t>2025/3/3</a:t>
            </a:fld>
            <a:endParaRPr kumimoji="1" lang="ja-JP"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kumimoji="1" lang="ja-JP" altLang="en-US"/>
          </a:p>
        </p:txBody>
      </p:sp>
      <p:sp>
        <p:nvSpPr>
          <p:cNvPr id="9" name="Slide Number Placeholder 8"/>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28888087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621D2CE-C474-4963-A757-8F7C8113F952}" type="datetime1">
              <a:rPr kumimoji="1" lang="ja-JP" altLang="en-US" smtClean="0"/>
              <a:t>2025/3/3</a:t>
            </a:fld>
            <a:endParaRPr kumimoji="1" lang="ja-JP"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kumimoji="1" lang="ja-JP"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1967260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E40C866-DF33-4079-AFB7-9C674D2771CA}" type="datetime1">
              <a:rPr kumimoji="1" lang="ja-JP" altLang="en-US" smtClean="0"/>
              <a:t>2025/3/3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420879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A98D47C7-3A32-4AC0-AD30-C870A9C642E9}"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1347709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895636A-1381-4C3F-867E-2DF9DC70E93D}" type="datetime1">
              <a:rPr kumimoji="1" lang="ja-JP" altLang="en-US" smtClean="0"/>
              <a:t>2025/3/3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0107F97-1CD5-41F0-B842-C38020C26506}" type="slidenum">
              <a:rPr kumimoji="1" lang="ja-JP" altLang="en-US" smtClean="0"/>
              <a:t>‹#›</a:t>
            </a:fld>
            <a:endParaRPr kumimoji="1" lang="ja-JP" altLang="en-US"/>
          </a:p>
        </p:txBody>
      </p:sp>
    </p:spTree>
    <p:extLst>
      <p:ext uri="{BB962C8B-B14F-4D97-AF65-F5344CB8AC3E}">
        <p14:creationId xmlns:p14="http://schemas.microsoft.com/office/powerpoint/2010/main" val="3362888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BB4C8B58-5D9B-4015-B07C-1A360BA8AF52}" type="datetime1">
              <a:rPr kumimoji="1" lang="ja-JP" altLang="en-US" smtClean="0"/>
              <a:t>2025/3/3</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2716618005"/>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kumimoji="1"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66800" y="-56083"/>
            <a:ext cx="10058400" cy="810190"/>
          </a:xfrm>
          <a:prstGeom prst="rect">
            <a:avLst/>
          </a:prstGeom>
        </p:spPr>
        <p:txBody>
          <a:bodyPr vert="horz" lIns="91440" tIns="45720" rIns="91440" bIns="45720" rtlCol="0" anchor="b">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097280" y="1262418"/>
            <a:ext cx="10058400" cy="4606676"/>
          </a:xfrm>
          <a:prstGeom prst="rect">
            <a:avLst/>
          </a:prstGeom>
        </p:spPr>
        <p:txBody>
          <a:bodyPr vert="horz" lIns="0" tIns="45720" rIns="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434F6E3-8DD3-4A15-ABC4-E696F325F0AF}" type="datetime1">
              <a:rPr kumimoji="1" lang="ja-JP" altLang="en-US" smtClean="0"/>
              <a:t>2025/3/3</a:t>
            </a:fld>
            <a:endParaRPr kumimoji="1" lang="ja-JP"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kumimoji="1" lang="ja-JP"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2000">
                <a:solidFill>
                  <a:srgbClr val="FFFFFF"/>
                </a:solidFill>
              </a:defRPr>
            </a:lvl1pPr>
          </a:lstStyle>
          <a:p>
            <a:fld id="{E0107F97-1CD5-41F0-B842-C38020C26506}" type="slidenum">
              <a:rPr kumimoji="1" lang="ja-JP" altLang="en-US" smtClean="0"/>
              <a:pPr/>
              <a:t>‹#›</a:t>
            </a:fld>
            <a:endParaRPr kumimoji="1" lang="ja-JP" altLang="en-US" dirty="0"/>
          </a:p>
        </p:txBody>
      </p:sp>
    </p:spTree>
    <p:extLst>
      <p:ext uri="{BB962C8B-B14F-4D97-AF65-F5344CB8AC3E}">
        <p14:creationId xmlns:p14="http://schemas.microsoft.com/office/powerpoint/2010/main" val="2622142764"/>
      </p:ext>
    </p:extLst>
  </p:cSld>
  <p:clrMap bg1="lt1" tx1="dk1" bg2="lt2" tx2="dk2" accent1="accent1" accent2="accent2" accent3="accent3" accent4="accent4" accent5="accent5" accent6="accent6" hlink="hlink" folHlink="folHlink"/>
  <p:sldLayoutIdLst>
    <p:sldLayoutId id="2147484230" r:id="rId1"/>
    <p:sldLayoutId id="2147484231" r:id="rId2"/>
    <p:sldLayoutId id="2147484232" r:id="rId3"/>
    <p:sldLayoutId id="2147484233" r:id="rId4"/>
    <p:sldLayoutId id="2147484234" r:id="rId5"/>
    <p:sldLayoutId id="2147484235" r:id="rId6"/>
    <p:sldLayoutId id="2147484236" r:id="rId7"/>
    <p:sldLayoutId id="2147484237" r:id="rId8"/>
    <p:sldLayoutId id="2147484238" r:id="rId9"/>
    <p:sldLayoutId id="2147484239" r:id="rId10"/>
    <p:sldLayoutId id="2147484240" r:id="rId11"/>
  </p:sldLayoutIdLst>
  <p:hf hdr="0" ftr="0" dt="0"/>
  <p:txStyles>
    <p:titleStyle>
      <a:lvl1pPr algn="l" defTabSz="914400" rtl="0" eaLnBrk="1" latinLnBrk="0" hangingPunct="1">
        <a:lnSpc>
          <a:spcPct val="85000"/>
        </a:lnSpc>
        <a:spcBef>
          <a:spcPct val="0"/>
        </a:spcBef>
        <a:buNone/>
        <a:defRPr kumimoji="1"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s://hivdb.stanford.ed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hivdb.stanford.edu/"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hyperlink" Target="https://hivdb.stanford.edu/" TargetMode="External"/><Relationship Id="rId4" Type="http://schemas.openxmlformats.org/officeDocument/2006/relationships/image" Target="../media/image12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2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91.png"/><Relationship Id="rId5" Type="http://schemas.openxmlformats.org/officeDocument/2006/relationships/image" Target="../media/image4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0.png"/><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EFB529-41D2-B503-9027-E2C34BFE0FF0}"/>
              </a:ext>
            </a:extLst>
          </p:cNvPr>
          <p:cNvSpPr>
            <a:spLocks noGrp="1"/>
          </p:cNvSpPr>
          <p:nvPr>
            <p:ph type="ctrTitle"/>
          </p:nvPr>
        </p:nvSpPr>
        <p:spPr>
          <a:xfrm>
            <a:off x="702815" y="1555052"/>
            <a:ext cx="10786369" cy="1400864"/>
          </a:xfrm>
        </p:spPr>
        <p:txBody>
          <a:bodyPr>
            <a:noAutofit/>
          </a:bodyPr>
          <a:lstStyle/>
          <a:p>
            <a:pPr algn="ctr"/>
            <a:r>
              <a:rPr kumimoji="1" lang="en-US" altLang="ja-JP" sz="2800" b="1" dirty="0"/>
              <a:t>Optimizing HIV Treatment Schedules Through a Fusion of Offline and Online Reinforcement Learning for Dynamic Personalized Therapy</a:t>
            </a:r>
            <a:endParaRPr kumimoji="1" lang="ja-JP" altLang="en-US" sz="2800" b="1" dirty="0"/>
          </a:p>
        </p:txBody>
      </p:sp>
      <p:sp>
        <p:nvSpPr>
          <p:cNvPr id="4" name="スライド番号プレースホルダー 3">
            <a:extLst>
              <a:ext uri="{FF2B5EF4-FFF2-40B4-BE49-F238E27FC236}">
                <a16:creationId xmlns:a16="http://schemas.microsoft.com/office/drawing/2014/main" id="{69E309C6-18F6-0122-A460-5B98698C1733}"/>
              </a:ext>
            </a:extLst>
          </p:cNvPr>
          <p:cNvSpPr>
            <a:spLocks noGrp="1"/>
          </p:cNvSpPr>
          <p:nvPr>
            <p:ph type="sldNum" sz="quarter" idx="12"/>
          </p:nvPr>
        </p:nvSpPr>
        <p:spPr/>
        <p:txBody>
          <a:bodyPr/>
          <a:lstStyle/>
          <a:p>
            <a:fld id="{E0107F97-1CD5-41F0-B842-C38020C26506}" type="slidenum">
              <a:rPr kumimoji="1" lang="ja-JP" altLang="en-US" smtClean="0"/>
              <a:t>1</a:t>
            </a:fld>
            <a:endParaRPr kumimoji="1" lang="ja-JP" altLang="en-US" dirty="0"/>
          </a:p>
        </p:txBody>
      </p:sp>
      <p:sp>
        <p:nvSpPr>
          <p:cNvPr id="5" name="テキスト ボックス 4">
            <a:extLst>
              <a:ext uri="{FF2B5EF4-FFF2-40B4-BE49-F238E27FC236}">
                <a16:creationId xmlns:a16="http://schemas.microsoft.com/office/drawing/2014/main" id="{C4F6F82E-FCC7-3657-A28B-61CDE23E304D}"/>
              </a:ext>
            </a:extLst>
          </p:cNvPr>
          <p:cNvSpPr txBox="1"/>
          <p:nvPr/>
        </p:nvSpPr>
        <p:spPr>
          <a:xfrm>
            <a:off x="1737697" y="3062739"/>
            <a:ext cx="5625630" cy="3662541"/>
          </a:xfrm>
          <a:prstGeom prst="rect">
            <a:avLst/>
          </a:prstGeom>
          <a:noFill/>
        </p:spPr>
        <p:txBody>
          <a:bodyPr wrap="square" rtlCol="0">
            <a:spAutoFit/>
          </a:bodyPr>
          <a:lstStyle/>
          <a:p>
            <a:r>
              <a:rPr kumimoji="1" lang="ja-JP" altLang="en-US" sz="2800" b="1" dirty="0"/>
              <a:t>発表内容</a:t>
            </a:r>
            <a:endParaRPr kumimoji="1" lang="en-US" altLang="ja-JP" sz="2800" b="1" dirty="0"/>
          </a:p>
          <a:p>
            <a:pPr marL="342900" indent="-342900">
              <a:buAutoNum type="arabicPeriod"/>
            </a:pPr>
            <a:r>
              <a:rPr kumimoji="1" lang="ja-JP" altLang="en-US" sz="2800" dirty="0"/>
              <a:t>背景と目的</a:t>
            </a:r>
            <a:endParaRPr kumimoji="1" lang="en-US" altLang="ja-JP" sz="2800" dirty="0"/>
          </a:p>
          <a:p>
            <a:pPr marL="342900" indent="-342900">
              <a:buAutoNum type="arabicPeriod"/>
            </a:pPr>
            <a:r>
              <a:rPr kumimoji="1" lang="en-US" altLang="ja-JP" sz="2800" dirty="0"/>
              <a:t>HIV</a:t>
            </a:r>
            <a:r>
              <a:rPr kumimoji="1" lang="ja-JP" altLang="en-US" sz="2800" dirty="0"/>
              <a:t>数理モデル</a:t>
            </a:r>
            <a:endParaRPr kumimoji="1" lang="en-US" altLang="ja-JP" sz="2800" dirty="0"/>
          </a:p>
          <a:p>
            <a:pPr marL="342900" indent="-342900">
              <a:buAutoNum type="arabicPeriod"/>
            </a:pPr>
            <a:r>
              <a:rPr kumimoji="1" lang="ja-JP" altLang="en-US" sz="2800" dirty="0"/>
              <a:t>従来手法</a:t>
            </a:r>
            <a:endParaRPr kumimoji="1" lang="en-US" altLang="ja-JP" sz="2800" dirty="0"/>
          </a:p>
          <a:p>
            <a:pPr marL="342900" indent="-342900">
              <a:buAutoNum type="arabicPeriod"/>
            </a:pPr>
            <a:r>
              <a:rPr kumimoji="1" lang="ja-JP" altLang="en-US" sz="2800" dirty="0"/>
              <a:t>提案手法</a:t>
            </a:r>
            <a:endParaRPr kumimoji="1" lang="en-US" altLang="ja-JP" sz="2800" dirty="0"/>
          </a:p>
          <a:p>
            <a:pPr marL="342900" indent="-342900">
              <a:buAutoNum type="arabicPeriod"/>
            </a:pPr>
            <a:r>
              <a:rPr kumimoji="1" lang="ja-JP" altLang="en-US" sz="2800" dirty="0"/>
              <a:t>数値シミュレーション</a:t>
            </a:r>
            <a:endParaRPr kumimoji="1" lang="en-US" altLang="ja-JP" sz="2800" dirty="0"/>
          </a:p>
          <a:p>
            <a:pPr marL="342900" indent="-342900">
              <a:buAutoNum type="arabicPeriod"/>
            </a:pPr>
            <a:r>
              <a:rPr kumimoji="1" lang="ja-JP" altLang="en-US" sz="2800" dirty="0"/>
              <a:t>結論と課題</a:t>
            </a:r>
            <a:endParaRPr kumimoji="1" lang="en-US" altLang="ja-JP" sz="2800" dirty="0"/>
          </a:p>
          <a:p>
            <a:pPr marL="342900" indent="-342900">
              <a:buAutoNum type="arabicPeriod"/>
            </a:pPr>
            <a:endParaRPr kumimoji="1" lang="en-US" altLang="ja-JP" dirty="0"/>
          </a:p>
          <a:p>
            <a:pPr marL="342900" indent="-342900">
              <a:buAutoNum type="arabicPeriod"/>
            </a:pPr>
            <a:endParaRPr kumimoji="1" lang="ja-JP" altLang="en-US" dirty="0"/>
          </a:p>
        </p:txBody>
      </p:sp>
      <p:sp>
        <p:nvSpPr>
          <p:cNvPr id="6" name="テキスト ボックス 5">
            <a:extLst>
              <a:ext uri="{FF2B5EF4-FFF2-40B4-BE49-F238E27FC236}">
                <a16:creationId xmlns:a16="http://schemas.microsoft.com/office/drawing/2014/main" id="{E2DACEE9-A4B4-FDF4-60F7-6908EED5F35B}"/>
              </a:ext>
            </a:extLst>
          </p:cNvPr>
          <p:cNvSpPr txBox="1"/>
          <p:nvPr/>
        </p:nvSpPr>
        <p:spPr>
          <a:xfrm>
            <a:off x="60472" y="725934"/>
            <a:ext cx="11917498" cy="1323439"/>
          </a:xfrm>
          <a:prstGeom prst="rect">
            <a:avLst/>
          </a:prstGeom>
          <a:noFill/>
        </p:spPr>
        <p:txBody>
          <a:bodyPr wrap="square" rtlCol="0">
            <a:spAutoFit/>
          </a:bodyPr>
          <a:lstStyle/>
          <a:p>
            <a:pPr algn="ctr"/>
            <a:r>
              <a:rPr lang="ja-JP" altLang="en-US" sz="4000" dirty="0"/>
              <a:t>動的個別化治療に向けたオフライン・ オンライン</a:t>
            </a:r>
            <a:endParaRPr lang="en-US" altLang="ja-JP" sz="4000" dirty="0"/>
          </a:p>
          <a:p>
            <a:pPr algn="ctr"/>
            <a:r>
              <a:rPr lang="ja-JP" altLang="en-US" sz="4000" dirty="0"/>
              <a:t>強化学習の融合による</a:t>
            </a:r>
            <a:r>
              <a:rPr lang="en-US" altLang="ja-JP" sz="4000" dirty="0"/>
              <a:t>HIV</a:t>
            </a:r>
            <a:r>
              <a:rPr lang="ja-JP" altLang="en-US" sz="4000" dirty="0"/>
              <a:t>投薬 スケジュールの最適化</a:t>
            </a:r>
            <a:endParaRPr kumimoji="1" lang="ja-JP" altLang="en-US" sz="4000" dirty="0"/>
          </a:p>
        </p:txBody>
      </p:sp>
      <p:sp>
        <p:nvSpPr>
          <p:cNvPr id="15" name="テキスト ボックス 14">
            <a:extLst>
              <a:ext uri="{FF2B5EF4-FFF2-40B4-BE49-F238E27FC236}">
                <a16:creationId xmlns:a16="http://schemas.microsoft.com/office/drawing/2014/main" id="{DB3DD4F2-5A1D-7CAE-C545-195F4581843C}"/>
              </a:ext>
            </a:extLst>
          </p:cNvPr>
          <p:cNvSpPr txBox="1"/>
          <p:nvPr/>
        </p:nvSpPr>
        <p:spPr>
          <a:xfrm>
            <a:off x="5635256" y="3733288"/>
            <a:ext cx="6342714" cy="1569660"/>
          </a:xfrm>
          <a:prstGeom prst="rect">
            <a:avLst/>
          </a:prstGeom>
          <a:noFill/>
        </p:spPr>
        <p:txBody>
          <a:bodyPr wrap="square" rtlCol="0">
            <a:spAutoFit/>
          </a:bodyPr>
          <a:lstStyle/>
          <a:p>
            <a:r>
              <a:rPr kumimoji="1" lang="ja-JP" altLang="en-US" sz="2400" dirty="0"/>
              <a:t>発表日時 </a:t>
            </a:r>
            <a:r>
              <a:rPr kumimoji="1" lang="en-US" altLang="ja-JP" sz="2400" dirty="0"/>
              <a:t>: 2025</a:t>
            </a:r>
            <a:r>
              <a:rPr kumimoji="1" lang="ja-JP" altLang="en-US" sz="2400" dirty="0"/>
              <a:t>年</a:t>
            </a:r>
            <a:r>
              <a:rPr kumimoji="1" lang="en-US" altLang="ja-JP" sz="2400" dirty="0"/>
              <a:t>3</a:t>
            </a:r>
            <a:r>
              <a:rPr kumimoji="1" lang="ja-JP" altLang="en-US" sz="2400" dirty="0"/>
              <a:t>月</a:t>
            </a:r>
            <a:r>
              <a:rPr kumimoji="1" lang="en-US" altLang="ja-JP" sz="2400" dirty="0"/>
              <a:t>4</a:t>
            </a:r>
            <a:r>
              <a:rPr kumimoji="1" lang="ja-JP" altLang="en-US" sz="2400" dirty="0"/>
              <a:t>日</a:t>
            </a:r>
            <a:endParaRPr kumimoji="1" lang="en-US" altLang="ja-JP" sz="2400" dirty="0"/>
          </a:p>
          <a:p>
            <a:r>
              <a:rPr kumimoji="1" lang="ja-JP" altLang="en-US" sz="2400" dirty="0"/>
              <a:t>発表場所 </a:t>
            </a:r>
            <a:r>
              <a:rPr kumimoji="1" lang="en-US" altLang="ja-JP" sz="2400" dirty="0"/>
              <a:t>: </a:t>
            </a:r>
            <a:r>
              <a:rPr kumimoji="1" lang="ja-JP" altLang="en-US" sz="2400" dirty="0"/>
              <a:t>大阪工業大学梅田キャンパス</a:t>
            </a:r>
            <a:r>
              <a:rPr kumimoji="1" lang="en-US" altLang="ja-JP" sz="2400" dirty="0"/>
              <a:t>Room8</a:t>
            </a:r>
          </a:p>
          <a:p>
            <a:r>
              <a:rPr kumimoji="1" lang="ja-JP" altLang="en-US" sz="2400" dirty="0"/>
              <a:t>発表者 </a:t>
            </a:r>
            <a:r>
              <a:rPr kumimoji="1" lang="en-US" altLang="ja-JP" sz="2400" dirty="0"/>
              <a:t>: </a:t>
            </a:r>
            <a:r>
              <a:rPr kumimoji="1" lang="ja-JP" altLang="en-US" sz="2400" dirty="0"/>
              <a:t>渡辺功侑</a:t>
            </a:r>
            <a:r>
              <a:rPr kumimoji="1" lang="en-US" altLang="ja-JP" sz="2400" dirty="0"/>
              <a:t>*</a:t>
            </a:r>
          </a:p>
          <a:p>
            <a:r>
              <a:rPr kumimoji="1" lang="ja-JP" altLang="en-US" sz="2400" dirty="0"/>
              <a:t>著者 </a:t>
            </a:r>
            <a:r>
              <a:rPr kumimoji="1" lang="en-US" altLang="ja-JP" sz="2400" dirty="0"/>
              <a:t>: </a:t>
            </a:r>
            <a:r>
              <a:rPr kumimoji="1" lang="ja-JP" altLang="en-US" sz="2400" dirty="0"/>
              <a:t>渡辺功侑</a:t>
            </a:r>
            <a:r>
              <a:rPr kumimoji="1" lang="en-US" altLang="ja-JP" sz="2400" dirty="0"/>
              <a:t>*</a:t>
            </a:r>
            <a:r>
              <a:rPr kumimoji="1" lang="ja-JP" altLang="en-US" sz="2400" dirty="0"/>
              <a:t>　大森浩充</a:t>
            </a:r>
            <a:r>
              <a:rPr kumimoji="1" lang="en-US" altLang="ja-JP" sz="2400" dirty="0"/>
              <a:t>**</a:t>
            </a:r>
          </a:p>
        </p:txBody>
      </p:sp>
      <p:sp>
        <p:nvSpPr>
          <p:cNvPr id="3" name="テキスト ボックス 2">
            <a:extLst>
              <a:ext uri="{FF2B5EF4-FFF2-40B4-BE49-F238E27FC236}">
                <a16:creationId xmlns:a16="http://schemas.microsoft.com/office/drawing/2014/main" id="{6329E415-B76C-8329-CDCC-75DAE057AD1F}"/>
              </a:ext>
            </a:extLst>
          </p:cNvPr>
          <p:cNvSpPr txBox="1"/>
          <p:nvPr/>
        </p:nvSpPr>
        <p:spPr>
          <a:xfrm>
            <a:off x="5688419" y="5706630"/>
            <a:ext cx="6289551" cy="646331"/>
          </a:xfrm>
          <a:prstGeom prst="rect">
            <a:avLst/>
          </a:prstGeom>
          <a:noFill/>
        </p:spPr>
        <p:txBody>
          <a:bodyPr wrap="square" rtlCol="0">
            <a:spAutoFit/>
          </a:bodyPr>
          <a:lstStyle/>
          <a:p>
            <a:r>
              <a:rPr kumimoji="1" lang="en-US" altLang="ja-JP" dirty="0"/>
              <a:t>* </a:t>
            </a:r>
            <a:r>
              <a:rPr kumimoji="1" lang="ja-JP" altLang="en-US" dirty="0"/>
              <a:t>慶應義塾大学理工学部システムデザイン工学科</a:t>
            </a:r>
            <a:r>
              <a:rPr kumimoji="1" lang="en-US" altLang="ja-JP" dirty="0"/>
              <a:t>4</a:t>
            </a:r>
            <a:r>
              <a:rPr kumimoji="1" lang="ja-JP" altLang="en-US" dirty="0"/>
              <a:t>年</a:t>
            </a:r>
            <a:endParaRPr kumimoji="1" lang="en-US" altLang="ja-JP" dirty="0"/>
          </a:p>
          <a:p>
            <a:r>
              <a:rPr kumimoji="1" lang="en-US" altLang="ja-JP" dirty="0"/>
              <a:t>**</a:t>
            </a:r>
            <a:r>
              <a:rPr kumimoji="1" lang="ja-JP" altLang="en-US" dirty="0"/>
              <a:t>慶應義塾大学</a:t>
            </a:r>
            <a:r>
              <a:rPr lang="ja-JP" altLang="en-US" b="0" i="0" dirty="0">
                <a:solidFill>
                  <a:srgbClr val="333333"/>
                </a:solidFill>
                <a:effectLst/>
                <a:latin typeface="Helvetica Neue"/>
              </a:rPr>
              <a:t>理工学部 システムデザイン工学科 教授</a:t>
            </a:r>
            <a:endParaRPr kumimoji="1" lang="ja-JP" altLang="en-US" dirty="0"/>
          </a:p>
        </p:txBody>
      </p:sp>
    </p:spTree>
    <p:extLst>
      <p:ext uri="{BB962C8B-B14F-4D97-AF65-F5344CB8AC3E}">
        <p14:creationId xmlns:p14="http://schemas.microsoft.com/office/powerpoint/2010/main" val="4209138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四角形: 角を丸くする 3">
            <a:extLst>
              <a:ext uri="{FF2B5EF4-FFF2-40B4-BE49-F238E27FC236}">
                <a16:creationId xmlns:a16="http://schemas.microsoft.com/office/drawing/2014/main" id="{C6E9D8D7-F2DB-6C55-4229-5BC3E3DEED29}"/>
              </a:ext>
            </a:extLst>
          </p:cNvPr>
          <p:cNvSpPr/>
          <p:nvPr/>
        </p:nvSpPr>
        <p:spPr>
          <a:xfrm>
            <a:off x="382708" y="877664"/>
            <a:ext cx="10058400" cy="216266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コンテンツ プレースホルダー 1">
            <a:extLst>
              <a:ext uri="{FF2B5EF4-FFF2-40B4-BE49-F238E27FC236}">
                <a16:creationId xmlns:a16="http://schemas.microsoft.com/office/drawing/2014/main" id="{EC1D7745-C44B-4ECC-384E-B3B5BD1D0B83}"/>
              </a:ext>
            </a:extLst>
          </p:cNvPr>
          <p:cNvSpPr>
            <a:spLocks noGrp="1"/>
          </p:cNvSpPr>
          <p:nvPr>
            <p:ph idx="1"/>
          </p:nvPr>
        </p:nvSpPr>
        <p:spPr>
          <a:xfrm>
            <a:off x="711448" y="896883"/>
            <a:ext cx="9737324" cy="2260321"/>
          </a:xfrm>
        </p:spPr>
        <p:txBody>
          <a:bodyPr>
            <a:normAutofit/>
          </a:bodyPr>
          <a:lstStyle/>
          <a:p>
            <a:r>
              <a:rPr kumimoji="1" lang="ja-JP" altLang="en-US" sz="2800" dirty="0"/>
              <a:t>背景</a:t>
            </a:r>
            <a:endParaRPr kumimoji="1" lang="en-US" altLang="ja-JP" sz="2800" dirty="0"/>
          </a:p>
          <a:p>
            <a:pPr>
              <a:buFont typeface="Arial" panose="020B0604020202020204" pitchFamily="34" charset="0"/>
              <a:buChar char="•"/>
            </a:pPr>
            <a:r>
              <a:rPr kumimoji="1" lang="en-US" altLang="ja-JP" sz="2400" dirty="0"/>
              <a:t>HIV</a:t>
            </a:r>
            <a:r>
              <a:rPr kumimoji="1" lang="ja-JP" altLang="en-US" sz="2400" dirty="0"/>
              <a:t>ウイルスの治療には</a:t>
            </a:r>
            <a:r>
              <a:rPr kumimoji="1" lang="en-US" altLang="ja-JP" sz="2400" b="1" dirty="0">
                <a:solidFill>
                  <a:schemeClr val="accent2"/>
                </a:solidFill>
              </a:rPr>
              <a:t>ART</a:t>
            </a:r>
            <a:r>
              <a:rPr kumimoji="1" lang="en-US" altLang="ja-JP" sz="2400" dirty="0"/>
              <a:t>(</a:t>
            </a:r>
            <a:r>
              <a:rPr kumimoji="1" lang="ja-JP" altLang="en-US" sz="2400" b="1" dirty="0">
                <a:solidFill>
                  <a:schemeClr val="accent2"/>
                </a:solidFill>
              </a:rPr>
              <a:t>多剤併用療法</a:t>
            </a:r>
            <a:r>
              <a:rPr kumimoji="1" lang="en-US" altLang="ja-JP" sz="2400" dirty="0"/>
              <a:t>)</a:t>
            </a:r>
            <a:r>
              <a:rPr kumimoji="1" lang="ja-JP" altLang="en-US" sz="2400" dirty="0"/>
              <a:t>が効果的</a:t>
            </a:r>
            <a:br>
              <a:rPr kumimoji="1" lang="en-US" altLang="ja-JP" sz="2400" dirty="0"/>
            </a:br>
            <a:r>
              <a:rPr kumimoji="1" lang="ja-JP" altLang="en-US" sz="2400" dirty="0"/>
              <a:t>➡長期的なウイルス量の抑制が可能</a:t>
            </a:r>
            <a:endParaRPr kumimoji="1" lang="en-US" altLang="ja-JP" sz="2400" dirty="0"/>
          </a:p>
          <a:p>
            <a:pPr>
              <a:buFont typeface="Arial" panose="020B0604020202020204" pitchFamily="34" charset="0"/>
              <a:buChar char="•"/>
            </a:pPr>
            <a:r>
              <a:rPr kumimoji="1" lang="en-US" altLang="ja-JP" sz="2400" dirty="0"/>
              <a:t>ART(</a:t>
            </a:r>
            <a:r>
              <a:rPr kumimoji="1" lang="ja-JP" altLang="en-US" sz="2400" dirty="0"/>
              <a:t>多剤併用療法</a:t>
            </a:r>
            <a:r>
              <a:rPr kumimoji="1" lang="en-US" altLang="ja-JP" sz="2400" dirty="0"/>
              <a:t>)</a:t>
            </a:r>
            <a:r>
              <a:rPr lang="ja-JP" altLang="en-US" sz="2400" dirty="0"/>
              <a:t> </a:t>
            </a:r>
            <a:r>
              <a:rPr lang="en-US" altLang="ja-JP" sz="2400" dirty="0"/>
              <a:t>:</a:t>
            </a:r>
            <a:r>
              <a:rPr lang="ja-JP" altLang="en-US" sz="2400" dirty="0"/>
              <a:t> </a:t>
            </a:r>
            <a:r>
              <a:rPr lang="en-US" altLang="ja-JP" sz="2400" dirty="0"/>
              <a:t>1</a:t>
            </a:r>
            <a:r>
              <a:rPr lang="ja-JP" altLang="en-US" sz="2400" dirty="0"/>
              <a:t>日</a:t>
            </a:r>
            <a:r>
              <a:rPr lang="en-US" altLang="ja-JP" sz="2400" dirty="0"/>
              <a:t>1</a:t>
            </a:r>
            <a:r>
              <a:rPr lang="ja-JP" altLang="en-US" sz="2400" dirty="0"/>
              <a:t>回</a:t>
            </a:r>
            <a:r>
              <a:rPr lang="en-US" altLang="ja-JP" sz="2400" dirty="0"/>
              <a:t>, </a:t>
            </a:r>
            <a:r>
              <a:rPr lang="ja-JP" altLang="en-US" sz="2400" dirty="0"/>
              <a:t>固定化された薬剤の組み合わせを服用</a:t>
            </a:r>
            <a:br>
              <a:rPr lang="en-US" altLang="ja-JP" sz="2400" dirty="0"/>
            </a:br>
            <a:r>
              <a:rPr lang="ja-JP" altLang="en-US" sz="2400" b="1" dirty="0">
                <a:solidFill>
                  <a:schemeClr val="accent2"/>
                </a:solidFill>
              </a:rPr>
              <a:t>個別化治療</a:t>
            </a:r>
            <a:r>
              <a:rPr lang="ja-JP" altLang="en-US" sz="2400" dirty="0">
                <a:solidFill>
                  <a:schemeClr val="tx1"/>
                </a:solidFill>
              </a:rPr>
              <a:t>への対応</a:t>
            </a:r>
            <a:r>
              <a:rPr lang="en-US" altLang="ja-JP" sz="2400" dirty="0">
                <a:solidFill>
                  <a:schemeClr val="tx1"/>
                </a:solidFill>
              </a:rPr>
              <a:t> : </a:t>
            </a:r>
            <a:r>
              <a:rPr lang="ja-JP" altLang="en-US" sz="2400" b="1" dirty="0">
                <a:solidFill>
                  <a:schemeClr val="tx1"/>
                </a:solidFill>
              </a:rPr>
              <a:t>△</a:t>
            </a:r>
            <a:r>
              <a:rPr lang="en-US" altLang="ja-JP" sz="2400" dirty="0"/>
              <a:t>, </a:t>
            </a:r>
            <a:r>
              <a:rPr lang="ja-JP" altLang="en-US" sz="2400" dirty="0"/>
              <a:t>動的な治療方針の変化 </a:t>
            </a:r>
            <a:r>
              <a:rPr lang="en-US" altLang="ja-JP" sz="2400" dirty="0"/>
              <a:t>: </a:t>
            </a:r>
            <a:r>
              <a:rPr lang="ja-JP" altLang="en-US" sz="2400" b="1" dirty="0"/>
              <a:t>△</a:t>
            </a:r>
            <a:endParaRPr lang="en-US" altLang="ja-JP" sz="2400" b="1" dirty="0"/>
          </a:p>
          <a:p>
            <a:pPr marL="0" indent="0">
              <a:buNone/>
            </a:pPr>
            <a:endParaRPr kumimoji="1" lang="ja-JP" altLang="en-US" sz="2400" dirty="0"/>
          </a:p>
        </p:txBody>
      </p:sp>
      <p:sp>
        <p:nvSpPr>
          <p:cNvPr id="3" name="タイトル 2">
            <a:extLst>
              <a:ext uri="{FF2B5EF4-FFF2-40B4-BE49-F238E27FC236}">
                <a16:creationId xmlns:a16="http://schemas.microsoft.com/office/drawing/2014/main" id="{9446FA52-8FB4-620C-CC20-14823D4C61E9}"/>
              </a:ext>
            </a:extLst>
          </p:cNvPr>
          <p:cNvSpPr>
            <a:spLocks noGrp="1"/>
          </p:cNvSpPr>
          <p:nvPr>
            <p:ph type="title"/>
          </p:nvPr>
        </p:nvSpPr>
        <p:spPr/>
        <p:txBody>
          <a:bodyPr>
            <a:normAutofit/>
          </a:bodyPr>
          <a:lstStyle/>
          <a:p>
            <a:r>
              <a:rPr kumimoji="1" lang="ja-JP" altLang="en-US" dirty="0"/>
              <a:t>背景と目的</a:t>
            </a:r>
          </a:p>
        </p:txBody>
      </p:sp>
      <p:sp>
        <p:nvSpPr>
          <p:cNvPr id="5" name="コンテンツ プレースホルダー 1">
            <a:extLst>
              <a:ext uri="{FF2B5EF4-FFF2-40B4-BE49-F238E27FC236}">
                <a16:creationId xmlns:a16="http://schemas.microsoft.com/office/drawing/2014/main" id="{7C672513-91F1-D928-B9AF-39790993962C}"/>
              </a:ext>
            </a:extLst>
          </p:cNvPr>
          <p:cNvSpPr txBox="1">
            <a:spLocks/>
          </p:cNvSpPr>
          <p:nvPr/>
        </p:nvSpPr>
        <p:spPr>
          <a:xfrm>
            <a:off x="2041862" y="5132694"/>
            <a:ext cx="9971104" cy="1035729"/>
          </a:xfrm>
          <a:prstGeom prst="rect">
            <a:avLst/>
          </a:prstGeom>
          <a:solidFill>
            <a:srgbClr val="FCFAAC"/>
          </a:solidFill>
          <a:ln w="28575">
            <a:solidFill>
              <a:schemeClr val="tx1"/>
            </a:solidFill>
            <a:prstDash val="sysDot"/>
          </a:ln>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kumimoji="1"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kumimoji="1" sz="1400" kern="1200">
                <a:solidFill>
                  <a:schemeClr val="tx1">
                    <a:lumMod val="75000"/>
                    <a:lumOff val="25000"/>
                  </a:schemeClr>
                </a:solidFill>
                <a:latin typeface="+mn-lt"/>
                <a:ea typeface="+mn-ea"/>
                <a:cs typeface="+mn-cs"/>
              </a:defRPr>
            </a:lvl9pPr>
          </a:lstStyle>
          <a:p>
            <a:r>
              <a:rPr lang="ja-JP" altLang="en-US" sz="2800" dirty="0"/>
              <a:t>本研究の目的</a:t>
            </a:r>
            <a:endParaRPr lang="en-US" altLang="ja-JP" sz="2800" dirty="0"/>
          </a:p>
          <a:p>
            <a:pPr marL="0" indent="0">
              <a:buNone/>
            </a:pPr>
            <a:r>
              <a:rPr lang="ja-JP" altLang="en-US" sz="2400" dirty="0"/>
              <a:t>特定の時間や状態に合わせた最適な投薬スケジュール</a:t>
            </a:r>
            <a:r>
              <a:rPr lang="en-US" altLang="ja-JP" sz="2400" dirty="0"/>
              <a:t>(</a:t>
            </a:r>
            <a:r>
              <a:rPr lang="ja-JP" altLang="en-US" sz="2400" b="1" dirty="0"/>
              <a:t>種類</a:t>
            </a:r>
            <a:r>
              <a:rPr lang="en-US" altLang="ja-JP" sz="2400" dirty="0"/>
              <a:t>+</a:t>
            </a:r>
            <a:r>
              <a:rPr lang="ja-JP" altLang="en-US" sz="2400" b="1" dirty="0"/>
              <a:t>投薬量</a:t>
            </a:r>
            <a:r>
              <a:rPr lang="en-US" altLang="ja-JP" sz="2400" dirty="0"/>
              <a:t>)</a:t>
            </a:r>
            <a:r>
              <a:rPr lang="ja-JP" altLang="en-US" sz="2400" dirty="0"/>
              <a:t>の提案</a:t>
            </a:r>
          </a:p>
        </p:txBody>
      </p:sp>
      <p:sp>
        <p:nvSpPr>
          <p:cNvPr id="7" name="テキスト ボックス 6">
            <a:extLst>
              <a:ext uri="{FF2B5EF4-FFF2-40B4-BE49-F238E27FC236}">
                <a16:creationId xmlns:a16="http://schemas.microsoft.com/office/drawing/2014/main" id="{7BD2D488-7FAB-6A34-D45D-9E97B36B9FB2}"/>
              </a:ext>
            </a:extLst>
          </p:cNvPr>
          <p:cNvSpPr txBox="1"/>
          <p:nvPr/>
        </p:nvSpPr>
        <p:spPr>
          <a:xfrm>
            <a:off x="1270367" y="3797681"/>
            <a:ext cx="4452151" cy="1015663"/>
          </a:xfrm>
          <a:prstGeom prst="rect">
            <a:avLst/>
          </a:prstGeom>
          <a:noFill/>
          <a:ln w="12700">
            <a:solidFill>
              <a:schemeClr val="tx1"/>
            </a:solidFill>
          </a:ln>
        </p:spPr>
        <p:txBody>
          <a:bodyPr wrap="square" rtlCol="0">
            <a:spAutoFit/>
          </a:bodyPr>
          <a:lstStyle/>
          <a:p>
            <a:pPr marL="285750" indent="-285750">
              <a:buFont typeface="Wingdings" panose="05000000000000000000" pitchFamily="2" charset="2"/>
              <a:buChar char="p"/>
            </a:pPr>
            <a:r>
              <a:rPr kumimoji="1" lang="en-US" altLang="ja-JP" sz="2000" dirty="0"/>
              <a:t>Q-learning</a:t>
            </a:r>
            <a:r>
              <a:rPr kumimoji="1" lang="ja-JP" altLang="en-US" sz="2000" dirty="0"/>
              <a:t>を制御手法として使用</a:t>
            </a:r>
            <a:endParaRPr kumimoji="1" lang="en-US" altLang="ja-JP" sz="2000" dirty="0"/>
          </a:p>
          <a:p>
            <a:pPr marL="285750" indent="-285750">
              <a:buFont typeface="Wingdings" panose="05000000000000000000" pitchFamily="2" charset="2"/>
              <a:buChar char="p"/>
            </a:pPr>
            <a:r>
              <a:rPr kumimoji="1" lang="en-US" altLang="ja-JP" sz="2000" dirty="0"/>
              <a:t>1</a:t>
            </a:r>
            <a:r>
              <a:rPr kumimoji="1" lang="ja-JP" altLang="en-US" sz="2000" dirty="0"/>
              <a:t>日</a:t>
            </a:r>
            <a:r>
              <a:rPr kumimoji="1" lang="en-US" altLang="ja-JP" sz="2000" dirty="0"/>
              <a:t>1</a:t>
            </a:r>
            <a:r>
              <a:rPr kumimoji="1" lang="ja-JP" altLang="en-US" sz="2000" dirty="0"/>
              <a:t>回投薬量を変化</a:t>
            </a:r>
            <a:endParaRPr kumimoji="1" lang="en-US" altLang="ja-JP" sz="2000" dirty="0"/>
          </a:p>
          <a:p>
            <a:pPr marL="285750" indent="-285750">
              <a:buFont typeface="Wingdings" panose="05000000000000000000" pitchFamily="2" charset="2"/>
              <a:buChar char="p"/>
            </a:pPr>
            <a:r>
              <a:rPr kumimoji="1" lang="ja-JP" altLang="en-US" sz="2000" dirty="0"/>
              <a:t>出力は最適な投薬量のみ</a:t>
            </a:r>
          </a:p>
        </p:txBody>
      </p:sp>
      <p:sp>
        <p:nvSpPr>
          <p:cNvPr id="9" name="テキスト ボックス 8">
            <a:extLst>
              <a:ext uri="{FF2B5EF4-FFF2-40B4-BE49-F238E27FC236}">
                <a16:creationId xmlns:a16="http://schemas.microsoft.com/office/drawing/2014/main" id="{F29DBD6A-AA0F-2811-74E2-CFC528F74D1D}"/>
              </a:ext>
            </a:extLst>
          </p:cNvPr>
          <p:cNvSpPr txBox="1"/>
          <p:nvPr/>
        </p:nvSpPr>
        <p:spPr>
          <a:xfrm>
            <a:off x="1151760" y="3306613"/>
            <a:ext cx="1795364" cy="461665"/>
          </a:xfrm>
          <a:prstGeom prst="rect">
            <a:avLst/>
          </a:prstGeom>
          <a:noFill/>
        </p:spPr>
        <p:txBody>
          <a:bodyPr wrap="square">
            <a:spAutoFit/>
          </a:bodyPr>
          <a:lstStyle/>
          <a:p>
            <a:r>
              <a:rPr kumimoji="1" lang="ja-JP" altLang="en-US" sz="2400" dirty="0"/>
              <a:t>既存手法</a:t>
            </a:r>
            <a:r>
              <a:rPr kumimoji="1" lang="en-US" altLang="ja-JP" sz="2400" dirty="0"/>
              <a:t>[1]</a:t>
            </a:r>
          </a:p>
        </p:txBody>
      </p:sp>
      <p:sp>
        <p:nvSpPr>
          <p:cNvPr id="10" name="テキスト ボックス 9">
            <a:extLst>
              <a:ext uri="{FF2B5EF4-FFF2-40B4-BE49-F238E27FC236}">
                <a16:creationId xmlns:a16="http://schemas.microsoft.com/office/drawing/2014/main" id="{A7B52F27-B54F-5D5C-B58B-1E332D7C16DD}"/>
              </a:ext>
            </a:extLst>
          </p:cNvPr>
          <p:cNvSpPr txBox="1"/>
          <p:nvPr/>
        </p:nvSpPr>
        <p:spPr>
          <a:xfrm>
            <a:off x="6371387" y="3251722"/>
            <a:ext cx="1597981" cy="461665"/>
          </a:xfrm>
          <a:prstGeom prst="rect">
            <a:avLst/>
          </a:prstGeom>
          <a:noFill/>
        </p:spPr>
        <p:txBody>
          <a:bodyPr wrap="square">
            <a:spAutoFit/>
          </a:bodyPr>
          <a:lstStyle/>
          <a:p>
            <a:r>
              <a:rPr kumimoji="1" lang="ja-JP" altLang="en-US" sz="2400" b="1" dirty="0"/>
              <a:t>提案手法</a:t>
            </a:r>
            <a:endParaRPr kumimoji="1" lang="en-US" altLang="ja-JP" sz="2400" b="1" dirty="0"/>
          </a:p>
        </p:txBody>
      </p:sp>
      <p:sp>
        <p:nvSpPr>
          <p:cNvPr id="11" name="テキスト ボックス 10">
            <a:extLst>
              <a:ext uri="{FF2B5EF4-FFF2-40B4-BE49-F238E27FC236}">
                <a16:creationId xmlns:a16="http://schemas.microsoft.com/office/drawing/2014/main" id="{07E60417-4D41-5272-93F1-02B293A8B627}"/>
              </a:ext>
            </a:extLst>
          </p:cNvPr>
          <p:cNvSpPr txBox="1"/>
          <p:nvPr/>
        </p:nvSpPr>
        <p:spPr>
          <a:xfrm>
            <a:off x="7080990" y="3821304"/>
            <a:ext cx="4931976" cy="1015663"/>
          </a:xfrm>
          <a:prstGeom prst="rect">
            <a:avLst/>
          </a:prstGeom>
          <a:noFill/>
          <a:ln w="38100">
            <a:solidFill>
              <a:schemeClr val="tx1"/>
            </a:solidFill>
          </a:ln>
        </p:spPr>
        <p:txBody>
          <a:bodyPr wrap="square" rtlCol="0">
            <a:spAutoFit/>
          </a:bodyPr>
          <a:lstStyle/>
          <a:p>
            <a:pPr marL="285750" indent="-285750">
              <a:buFont typeface="Wingdings" panose="05000000000000000000" pitchFamily="2" charset="2"/>
              <a:buChar char="p"/>
            </a:pPr>
            <a:r>
              <a:rPr kumimoji="1" lang="en-US" altLang="ja-JP" sz="2000" dirty="0"/>
              <a:t>Deep Q-learning</a:t>
            </a:r>
            <a:r>
              <a:rPr kumimoji="1" lang="ja-JP" altLang="en-US" sz="2000" dirty="0"/>
              <a:t>を制御手法として使用</a:t>
            </a:r>
            <a:endParaRPr kumimoji="1" lang="en-US" altLang="ja-JP" sz="2000" dirty="0"/>
          </a:p>
          <a:p>
            <a:pPr marL="285750" indent="-285750">
              <a:buFont typeface="Wingdings" panose="05000000000000000000" pitchFamily="2" charset="2"/>
              <a:buChar char="p"/>
            </a:pPr>
            <a:r>
              <a:rPr kumimoji="1" lang="en-US" altLang="ja-JP" sz="2000" dirty="0"/>
              <a:t>7</a:t>
            </a:r>
            <a:r>
              <a:rPr kumimoji="1" lang="ja-JP" altLang="en-US" sz="2000" dirty="0"/>
              <a:t>日に</a:t>
            </a:r>
            <a:r>
              <a:rPr kumimoji="1" lang="en-US" altLang="ja-JP" sz="2000" dirty="0"/>
              <a:t>1</a:t>
            </a:r>
            <a:r>
              <a:rPr kumimoji="1" lang="ja-JP" altLang="en-US" sz="2000" dirty="0"/>
              <a:t>回投薬量を変化</a:t>
            </a:r>
            <a:endParaRPr kumimoji="1" lang="en-US" altLang="ja-JP" sz="2000" dirty="0"/>
          </a:p>
          <a:p>
            <a:pPr marL="285750" indent="-285750">
              <a:buFont typeface="Wingdings" panose="05000000000000000000" pitchFamily="2" charset="2"/>
              <a:buChar char="p"/>
            </a:pPr>
            <a:r>
              <a:rPr kumimoji="1" lang="ja-JP" altLang="en-US" sz="2000" dirty="0"/>
              <a:t>出力は最適な投薬量</a:t>
            </a:r>
            <a:r>
              <a:rPr kumimoji="1" lang="en-US" altLang="ja-JP" sz="2000" dirty="0"/>
              <a:t>+</a:t>
            </a:r>
            <a:r>
              <a:rPr kumimoji="1" lang="ja-JP" altLang="en-US" sz="2000" dirty="0"/>
              <a:t>投薬の種類</a:t>
            </a:r>
            <a:r>
              <a:rPr kumimoji="1" lang="en-US" altLang="ja-JP" sz="2000" dirty="0"/>
              <a:t>(5</a:t>
            </a:r>
            <a:r>
              <a:rPr kumimoji="1" lang="ja-JP" altLang="en-US" sz="2000" dirty="0"/>
              <a:t>種類</a:t>
            </a:r>
            <a:r>
              <a:rPr kumimoji="1" lang="en-US" altLang="ja-JP" sz="2000" dirty="0"/>
              <a:t>)</a:t>
            </a:r>
            <a:endParaRPr kumimoji="1" lang="ja-JP" altLang="en-US" sz="2000" dirty="0"/>
          </a:p>
        </p:txBody>
      </p:sp>
      <p:sp>
        <p:nvSpPr>
          <p:cNvPr id="12" name="矢印: 右 11">
            <a:extLst>
              <a:ext uri="{FF2B5EF4-FFF2-40B4-BE49-F238E27FC236}">
                <a16:creationId xmlns:a16="http://schemas.microsoft.com/office/drawing/2014/main" id="{C1E5E5AC-1C8C-84A4-E5BF-DD7C0EBB772F}"/>
              </a:ext>
            </a:extLst>
          </p:cNvPr>
          <p:cNvSpPr/>
          <p:nvPr/>
        </p:nvSpPr>
        <p:spPr>
          <a:xfrm>
            <a:off x="6096001" y="4222376"/>
            <a:ext cx="654424" cy="20441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コネクタ: 曲線 15">
            <a:extLst>
              <a:ext uri="{FF2B5EF4-FFF2-40B4-BE49-F238E27FC236}">
                <a16:creationId xmlns:a16="http://schemas.microsoft.com/office/drawing/2014/main" id="{3A368350-8BE9-359E-1DB2-BBF29F7FC9CD}"/>
              </a:ext>
            </a:extLst>
          </p:cNvPr>
          <p:cNvCxnSpPr>
            <a:cxnSpLocks/>
          </p:cNvCxnSpPr>
          <p:nvPr/>
        </p:nvCxnSpPr>
        <p:spPr>
          <a:xfrm rot="16200000" flipH="1">
            <a:off x="140207" y="3907258"/>
            <a:ext cx="2260321" cy="1117837"/>
          </a:xfrm>
          <a:prstGeom prst="curved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57E11E18-7D16-C183-4E75-163E991403AB}"/>
              </a:ext>
            </a:extLst>
          </p:cNvPr>
          <p:cNvSpPr txBox="1"/>
          <p:nvPr/>
        </p:nvSpPr>
        <p:spPr>
          <a:xfrm>
            <a:off x="-34789" y="6311199"/>
            <a:ext cx="12047755" cy="584775"/>
          </a:xfrm>
          <a:prstGeom prst="rect">
            <a:avLst/>
          </a:prstGeom>
          <a:noFill/>
        </p:spPr>
        <p:txBody>
          <a:bodyPr wrap="square">
            <a:spAutoFit/>
          </a:bodyPr>
          <a:lstStyle/>
          <a:p>
            <a:pPr algn="l"/>
            <a:r>
              <a:rPr kumimoji="1" lang="en-US" altLang="ja-JP" sz="1600" dirty="0">
                <a:solidFill>
                  <a:schemeClr val="bg1"/>
                </a:solidFill>
                <a:latin typeface="+mn-lt"/>
              </a:rPr>
              <a:t>[1] Hossein Gholizade-Narm </a:t>
            </a:r>
            <a:r>
              <a:rPr kumimoji="1" lang="ja-JP" altLang="en-US" sz="1600" dirty="0">
                <a:solidFill>
                  <a:schemeClr val="bg1"/>
                </a:solidFill>
              </a:rPr>
              <a:t> </a:t>
            </a:r>
            <a:r>
              <a:rPr kumimoji="1" lang="en-US" altLang="ja-JP" sz="1600" dirty="0">
                <a:solidFill>
                  <a:schemeClr val="bg1"/>
                </a:solidFill>
              </a:rPr>
              <a:t>and</a:t>
            </a:r>
            <a:r>
              <a:rPr kumimoji="1" lang="ja-JP" altLang="en-US" sz="1600" dirty="0">
                <a:solidFill>
                  <a:schemeClr val="bg1"/>
                </a:solidFill>
              </a:rPr>
              <a:t> </a:t>
            </a:r>
            <a:r>
              <a:rPr kumimoji="1" lang="en-US" altLang="ja-JP" sz="1600" dirty="0">
                <a:solidFill>
                  <a:schemeClr val="bg1"/>
                </a:solidFill>
                <a:latin typeface="+mn-lt"/>
              </a:rPr>
              <a:t>Amin Noori : Control the population of free viruses in nonlinear uncertain HIV system using Q-learning, International journal of machine learning and cybernetics, 2018-07, Vol.9 (7), p.1169-1179 </a:t>
            </a:r>
          </a:p>
        </p:txBody>
      </p:sp>
      <p:sp>
        <p:nvSpPr>
          <p:cNvPr id="6" name="スライド番号プレースホルダー 5">
            <a:extLst>
              <a:ext uri="{FF2B5EF4-FFF2-40B4-BE49-F238E27FC236}">
                <a16:creationId xmlns:a16="http://schemas.microsoft.com/office/drawing/2014/main" id="{9D3E6BD7-A287-67ED-0329-DE0E5E1D5B48}"/>
              </a:ext>
            </a:extLst>
          </p:cNvPr>
          <p:cNvSpPr>
            <a:spLocks noGrp="1"/>
          </p:cNvSpPr>
          <p:nvPr>
            <p:ph type="sldNum" sz="quarter" idx="12"/>
          </p:nvPr>
        </p:nvSpPr>
        <p:spPr/>
        <p:txBody>
          <a:bodyPr/>
          <a:lstStyle/>
          <a:p>
            <a:fld id="{E0107F97-1CD5-41F0-B842-C38020C26506}" type="slidenum">
              <a:rPr kumimoji="1" lang="ja-JP" altLang="en-US" smtClean="0"/>
              <a:pPr/>
              <a:t>2</a:t>
            </a:fld>
            <a:endParaRPr kumimoji="1" lang="ja-JP" altLang="en-US" dirty="0"/>
          </a:p>
        </p:txBody>
      </p:sp>
    </p:spTree>
    <p:extLst>
      <p:ext uri="{BB962C8B-B14F-4D97-AF65-F5344CB8AC3E}">
        <p14:creationId xmlns:p14="http://schemas.microsoft.com/office/powerpoint/2010/main" val="224434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EAAAC5B8-F176-4992-D4B0-BDFAC0829237}"/>
              </a:ext>
            </a:extLst>
          </p:cNvPr>
          <p:cNvSpPr/>
          <p:nvPr/>
        </p:nvSpPr>
        <p:spPr>
          <a:xfrm>
            <a:off x="434576" y="1251637"/>
            <a:ext cx="6680999" cy="2954469"/>
          </a:xfrm>
          <a:prstGeom prst="rect">
            <a:avLst/>
          </a:prstGeom>
          <a:solidFill>
            <a:schemeClr val="accent3">
              <a:lumMod val="20000"/>
              <a:lumOff val="80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12571" y="662090"/>
                <a:ext cx="7766998" cy="4024719"/>
              </a:xfrm>
            </p:spPr>
            <p:txBody>
              <a:bodyPr>
                <a:normAutofit fontScale="47500" lnSpcReduction="20000"/>
              </a:bodyPr>
              <a:lstStyle/>
              <a:p>
                <a:pPr marL="0" indent="0">
                  <a:lnSpc>
                    <a:spcPct val="120000"/>
                  </a:lnSpc>
                  <a:buNone/>
                </a:pPr>
                <a:r>
                  <a:rPr lang="ja-JP" altLang="en-US" sz="5100" b="1" dirty="0"/>
                  <a:t> </a:t>
                </a:r>
                <a:r>
                  <a:rPr lang="en-US" altLang="ja-JP" sz="5100" b="1" dirty="0"/>
                  <a:t>HIV</a:t>
                </a:r>
                <a:r>
                  <a:rPr lang="ja-JP" altLang="en-US" sz="5100" b="1" dirty="0"/>
                  <a:t>感染の長期治療の策定を考慮した非線形モデル</a:t>
                </a:r>
                <a:endParaRPr lang="en-US" altLang="ja-JP" sz="5100" b="1" dirty="0"/>
              </a:p>
              <a:p>
                <a:pPr marL="0" indent="0">
                  <a:lnSpc>
                    <a:spcPct val="120000"/>
                  </a:lnSpc>
                  <a:buNone/>
                </a:pPr>
                <a:br>
                  <a:rPr kumimoji="1" lang="en-US" altLang="ja-JP" sz="4200" b="1"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f>
                        <m:fPr>
                          <m:ctrlPr>
                            <a:rPr kumimoji="1" lang="en-US" altLang="ja-JP" sz="4200" b="1" i="1" smtClean="0">
                              <a:latin typeface="Cambria Math" panose="02040503050406030204" pitchFamily="18" charset="0"/>
                            </a:rPr>
                          </m:ctrlPr>
                        </m:fPr>
                        <m:num>
                          <m:r>
                            <a:rPr kumimoji="1" lang="en-US" altLang="ja-JP" sz="4200" b="1" i="0" smtClean="0">
                              <a:latin typeface="Cambria Math" panose="02040503050406030204" pitchFamily="18" charset="0"/>
                            </a:rPr>
                            <m:t>𝐝</m:t>
                          </m:r>
                          <m:r>
                            <a:rPr kumimoji="1" lang="en-US" altLang="ja-JP" sz="4200" b="1" i="1" smtClean="0">
                              <a:latin typeface="Cambria Math" panose="02040503050406030204" pitchFamily="18" charset="0"/>
                            </a:rPr>
                            <m:t>𝑿</m:t>
                          </m:r>
                        </m:num>
                        <m:den>
                          <m:r>
                            <a:rPr kumimoji="1" lang="en-US" altLang="ja-JP" sz="4200" b="1" i="0" smtClean="0">
                              <a:latin typeface="Cambria Math" panose="02040503050406030204" pitchFamily="18" charset="0"/>
                            </a:rPr>
                            <m:t>𝐝</m:t>
                          </m:r>
                          <m:r>
                            <a:rPr kumimoji="1" lang="en-US" altLang="ja-JP" sz="4200" b="1" i="1" smtClean="0">
                              <a:latin typeface="Cambria Math" panose="02040503050406030204" pitchFamily="18" charset="0"/>
                            </a:rPr>
                            <m:t>𝒕</m:t>
                          </m:r>
                        </m:den>
                      </m:f>
                      <m:r>
                        <a:rPr kumimoji="1" lang="en-US" altLang="ja-JP" sz="4200" b="1" i="1" smtClean="0">
                          <a:latin typeface="Cambria Math" panose="02040503050406030204" pitchFamily="18" charset="0"/>
                        </a:rPr>
                        <m:t>=</m:t>
                      </m:r>
                      <m:f>
                        <m:fPr>
                          <m:ctrlPr>
                            <a:rPr lang="en-US" altLang="ja-JP" sz="4200" b="1" i="1" smtClean="0">
                              <a:latin typeface="Cambria Math" panose="02040503050406030204" pitchFamily="18" charset="0"/>
                            </a:rPr>
                          </m:ctrlPr>
                        </m:fPr>
                        <m:num>
                          <m:r>
                            <m:rPr>
                              <m:sty m:val="p"/>
                            </m:rPr>
                            <a:rPr lang="en-US" altLang="ja-JP" sz="4200" b="1" i="1">
                              <a:latin typeface="Cambria Math" panose="02040503050406030204" pitchFamily="18" charset="0"/>
                            </a:rPr>
                            <m:t>Λ</m:t>
                          </m:r>
                        </m:num>
                        <m:den>
                          <m:r>
                            <a:rPr lang="en-US" altLang="ja-JP" sz="4200" b="1" i="1" smtClean="0">
                              <a:latin typeface="Cambria Math" panose="02040503050406030204" pitchFamily="18" charset="0"/>
                            </a:rPr>
                            <m:t>𝟏</m:t>
                          </m:r>
                          <m:r>
                            <a:rPr lang="en-US" altLang="ja-JP" sz="4200" b="1" i="1" smtClean="0">
                              <a:latin typeface="Cambria Math" panose="02040503050406030204" pitchFamily="18" charset="0"/>
                            </a:rPr>
                            <m:t>+</m:t>
                          </m:r>
                          <m:r>
                            <a:rPr lang="en-US" altLang="ja-JP" sz="4200" b="1" i="1" smtClean="0">
                              <a:latin typeface="Cambria Math" panose="02040503050406030204" pitchFamily="18" charset="0"/>
                            </a:rPr>
                            <m:t>𝑽</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den>
                      </m:f>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ja-JP" altLang="en-US" sz="4200" b="1" i="1" smtClean="0">
                              <a:latin typeface="Cambria Math" panose="02040503050406030204" pitchFamily="18" charset="0"/>
                            </a:rPr>
                            <m:t>𝝁</m:t>
                          </m:r>
                        </m:e>
                        <m:sub>
                          <m:r>
                            <a:rPr lang="en-US" altLang="ja-JP" sz="4200" b="1" i="1" smtClean="0">
                              <a:latin typeface="Cambria Math" panose="02040503050406030204" pitchFamily="18" charset="0"/>
                            </a:rPr>
                            <m:t>𝒙</m:t>
                          </m:r>
                        </m:sub>
                      </m:sSub>
                      <m:r>
                        <a:rPr lang="en-US" altLang="ja-JP" sz="4200" b="1" i="1" smtClean="0">
                          <a:latin typeface="Cambria Math" panose="02040503050406030204" pitchFamily="18" charset="0"/>
                        </a:rPr>
                        <m:t>𝑿</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r>
                        <a:rPr lang="en-US" altLang="ja-JP" sz="4200" b="1" i="1" smtClean="0">
                          <a:latin typeface="Cambria Math" panose="02040503050406030204" pitchFamily="18" charset="0"/>
                        </a:rPr>
                        <m:t>𝑹𝑿</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𝟏</m:t>
                          </m:r>
                          <m:r>
                            <a:rPr lang="en-US" altLang="ja-JP" sz="4200" b="1" i="1" smtClean="0">
                              <a:latin typeface="Cambria Math" panose="02040503050406030204" pitchFamily="18" charset="0"/>
                            </a:rPr>
                            <m:t>−</m:t>
                          </m:r>
                          <m:f>
                            <m:fPr>
                              <m:ctrlPr>
                                <a:rPr lang="en-US" altLang="ja-JP" sz="4200" b="1" i="1" smtClean="0">
                                  <a:latin typeface="Cambria Math" panose="02040503050406030204" pitchFamily="18" charset="0"/>
                                </a:rPr>
                              </m:ctrlPr>
                            </m:fPr>
                            <m:num>
                              <m:r>
                                <a:rPr lang="en-US" altLang="ja-JP" sz="4200" b="1" i="1" smtClean="0">
                                  <a:latin typeface="Cambria Math" panose="02040503050406030204" pitchFamily="18" charset="0"/>
                                </a:rPr>
                                <m:t>𝑿</m:t>
                              </m:r>
                              <m:r>
                                <a:rPr lang="en-US" altLang="ja-JP" sz="4200" b="1" i="1" smtClean="0">
                                  <a:latin typeface="Cambria Math" panose="02040503050406030204" pitchFamily="18" charset="0"/>
                                </a:rPr>
                                <m:t>+</m:t>
                              </m:r>
                              <m:r>
                                <a:rPr lang="en-US" altLang="ja-JP" sz="4200" b="1" i="1" smtClean="0">
                                  <a:latin typeface="Cambria Math" panose="02040503050406030204" pitchFamily="18" charset="0"/>
                                </a:rPr>
                                <m:t>𝒀</m:t>
                              </m:r>
                              <m:r>
                                <a:rPr lang="en-US" altLang="ja-JP" sz="4200" b="1" i="1" smtClean="0">
                                  <a:latin typeface="Cambria Math" panose="02040503050406030204" pitchFamily="18" charset="0"/>
                                </a:rPr>
                                <m:t>+</m:t>
                              </m:r>
                              <m:r>
                                <a:rPr lang="en-US" altLang="ja-JP" sz="4200" b="1" i="1" smtClean="0">
                                  <a:latin typeface="Cambria Math" panose="02040503050406030204" pitchFamily="18" charset="0"/>
                                </a:rPr>
                                <m:t>𝒁</m:t>
                              </m:r>
                            </m:num>
                            <m:den>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𝑷</m:t>
                                  </m:r>
                                </m:e>
                                <m:sub>
                                  <m:r>
                                    <a:rPr lang="en-US" altLang="ja-JP" sz="4200" b="1" i="1" smtClean="0">
                                      <a:latin typeface="Cambria Math" panose="02040503050406030204" pitchFamily="18" charset="0"/>
                                    </a:rPr>
                                    <m:t>𝒎𝒂𝒙</m:t>
                                  </m:r>
                                </m:sub>
                              </m:sSub>
                            </m:den>
                          </m:f>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𝒌</m:t>
                          </m:r>
                        </m:e>
                        <m:sub>
                          <m:r>
                            <a:rPr lang="en-US" altLang="ja-JP" sz="4200" b="1" i="1" smtClean="0">
                              <a:latin typeface="Cambria Math" panose="02040503050406030204" pitchFamily="18" charset="0"/>
                            </a:rPr>
                            <m:t>𝟏</m:t>
                          </m:r>
                        </m:sub>
                      </m:sSub>
                      <m:r>
                        <a:rPr lang="en-US" altLang="ja-JP" sz="4200" b="1" i="1" smtClean="0">
                          <a:latin typeface="Cambria Math" panose="02040503050406030204" pitchFamily="18" charset="0"/>
                        </a:rPr>
                        <m:t>𝑿𝑽</m:t>
                      </m:r>
                      <m:r>
                        <a:rPr lang="en-US" altLang="ja-JP" sz="4200" b="1" i="1" smtClean="0">
                          <a:latin typeface="Cambria Math" panose="02040503050406030204" pitchFamily="18" charset="0"/>
                        </a:rPr>
                        <m:t>,</m:t>
                      </m:r>
                    </m:oMath>
                    <m:oMath xmlns:m="http://schemas.openxmlformats.org/officeDocument/2006/math">
                      <m:f>
                        <m:fPr>
                          <m:ctrlPr>
                            <a:rPr lang="en-US" altLang="ja-JP" sz="4200" b="1" i="1" smtClean="0">
                              <a:latin typeface="Cambria Math" panose="02040503050406030204" pitchFamily="18" charset="0"/>
                            </a:rPr>
                          </m:ctrlPr>
                        </m:fPr>
                        <m:num>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𝒀</m:t>
                          </m:r>
                        </m:num>
                        <m:den>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𝒕</m:t>
                          </m:r>
                        </m:den>
                      </m:f>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𝒌</m:t>
                          </m:r>
                        </m:e>
                        <m:sub>
                          <m:r>
                            <a:rPr lang="en-US" altLang="ja-JP" sz="4200" b="1" i="1" smtClean="0">
                              <a:latin typeface="Cambria Math" panose="02040503050406030204" pitchFamily="18" charset="0"/>
                            </a:rPr>
                            <m:t>𝟏</m:t>
                          </m:r>
                        </m:sub>
                      </m:sSub>
                      <m:r>
                        <a:rPr lang="en-US" altLang="ja-JP" sz="4200" b="1" i="1" smtClean="0">
                          <a:latin typeface="Cambria Math" panose="02040503050406030204" pitchFamily="18" charset="0"/>
                        </a:rPr>
                        <m:t>𝑿</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𝑽</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ja-JP" altLang="en-US" sz="4200" b="1" i="1" smtClean="0">
                              <a:latin typeface="Cambria Math" panose="02040503050406030204" pitchFamily="18" charset="0"/>
                            </a:rPr>
                            <m:t>𝝁</m:t>
                          </m:r>
                        </m:e>
                        <m:sub>
                          <m:r>
                            <a:rPr lang="en-US" altLang="ja-JP" sz="4200" b="1" i="1" smtClean="0">
                              <a:latin typeface="Cambria Math" panose="02040503050406030204" pitchFamily="18" charset="0"/>
                            </a:rPr>
                            <m:t>𝒚</m:t>
                          </m:r>
                        </m:sub>
                      </m:sSub>
                      <m:r>
                        <a:rPr lang="en-US" altLang="ja-JP" sz="4200" b="1" i="1" smtClean="0">
                          <a:latin typeface="Cambria Math" panose="02040503050406030204" pitchFamily="18" charset="0"/>
                        </a:rPr>
                        <m:t>𝒀</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𝒌</m:t>
                          </m:r>
                        </m:e>
                        <m:sub>
                          <m:r>
                            <a:rPr lang="en-US" altLang="ja-JP" sz="4200" b="1" i="1" smtClean="0">
                              <a:latin typeface="Cambria Math" panose="02040503050406030204" pitchFamily="18" charset="0"/>
                            </a:rPr>
                            <m:t>𝟐</m:t>
                          </m:r>
                        </m:sub>
                      </m:sSub>
                      <m:r>
                        <a:rPr lang="en-US" altLang="ja-JP" sz="4200" b="1" i="1" smtClean="0">
                          <a:latin typeface="Cambria Math" panose="02040503050406030204" pitchFamily="18" charset="0"/>
                        </a:rPr>
                        <m:t>𝒀</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oMath>
                    <m:oMath xmlns:m="http://schemas.openxmlformats.org/officeDocument/2006/math">
                      <m:f>
                        <m:fPr>
                          <m:ctrlPr>
                            <a:rPr lang="en-US" altLang="ja-JP" sz="4200" b="1" i="1" smtClean="0">
                              <a:latin typeface="Cambria Math" panose="02040503050406030204" pitchFamily="18" charset="0"/>
                            </a:rPr>
                          </m:ctrlPr>
                        </m:fPr>
                        <m:num>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𝒁</m:t>
                          </m:r>
                        </m:num>
                        <m:den>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𝒕</m:t>
                          </m:r>
                        </m:den>
                      </m:f>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𝒌</m:t>
                          </m:r>
                        </m:e>
                        <m:sub>
                          <m:r>
                            <a:rPr lang="en-US" altLang="ja-JP" sz="4200" b="1" i="1" smtClean="0">
                              <a:latin typeface="Cambria Math" panose="02040503050406030204" pitchFamily="18" charset="0"/>
                            </a:rPr>
                            <m:t>𝟐</m:t>
                          </m:r>
                        </m:sub>
                      </m:sSub>
                      <m:r>
                        <a:rPr lang="en-US" altLang="ja-JP" sz="4200" b="1" i="1" smtClean="0">
                          <a:latin typeface="Cambria Math" panose="02040503050406030204" pitchFamily="18" charset="0"/>
                        </a:rPr>
                        <m:t>𝒀</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ja-JP" altLang="en-US" sz="4200" b="1" i="1" smtClean="0">
                              <a:latin typeface="Cambria Math" panose="02040503050406030204" pitchFamily="18" charset="0"/>
                            </a:rPr>
                            <m:t>𝝁</m:t>
                          </m:r>
                        </m:e>
                        <m:sub>
                          <m:r>
                            <a:rPr lang="en-US" altLang="ja-JP" sz="4200" b="1" i="1" smtClean="0">
                              <a:latin typeface="Cambria Math" panose="02040503050406030204" pitchFamily="18" charset="0"/>
                            </a:rPr>
                            <m:t>𝒛</m:t>
                          </m:r>
                        </m:sub>
                      </m:sSub>
                      <m:r>
                        <a:rPr lang="en-US" altLang="ja-JP" sz="4200" b="1" i="1" smtClean="0">
                          <a:latin typeface="Cambria Math" panose="02040503050406030204" pitchFamily="18" charset="0"/>
                        </a:rPr>
                        <m:t>𝒁</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oMath>
                    <m:oMath xmlns:m="http://schemas.openxmlformats.org/officeDocument/2006/math">
                      <m:f>
                        <m:fPr>
                          <m:ctrlPr>
                            <a:rPr lang="en-US" altLang="ja-JP" sz="4200" b="1" i="1" smtClean="0">
                              <a:latin typeface="Cambria Math" panose="02040503050406030204" pitchFamily="18" charset="0"/>
                            </a:rPr>
                          </m:ctrlPr>
                        </m:fPr>
                        <m:num>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𝑽</m:t>
                          </m:r>
                        </m:num>
                        <m:den>
                          <m:r>
                            <a:rPr lang="en-US" altLang="ja-JP" sz="4200" b="1" i="0" smtClean="0">
                              <a:latin typeface="Cambria Math" panose="02040503050406030204" pitchFamily="18" charset="0"/>
                            </a:rPr>
                            <m:t>𝐝</m:t>
                          </m:r>
                          <m:r>
                            <a:rPr lang="en-US" altLang="ja-JP" sz="4200" b="1" i="1" smtClean="0">
                              <a:latin typeface="Cambria Math" panose="02040503050406030204" pitchFamily="18" charset="0"/>
                            </a:rPr>
                            <m:t>𝒕</m:t>
                          </m:r>
                        </m:den>
                      </m:f>
                      <m:r>
                        <a:rPr lang="en-US" altLang="ja-JP" sz="4200" b="1" i="0" smtClean="0">
                          <a:latin typeface="Cambria Math" panose="02040503050406030204" pitchFamily="18" charset="0"/>
                        </a:rPr>
                        <m:t>=</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𝟏</m:t>
                          </m:r>
                          <m:r>
                            <a:rPr lang="en-US" altLang="ja-JP" sz="4200" b="1" i="1" smtClean="0">
                              <a:latin typeface="Cambria Math" panose="02040503050406030204" pitchFamily="18" charset="0"/>
                            </a:rPr>
                            <m:t>−</m:t>
                          </m:r>
                          <m:r>
                            <a:rPr lang="en-US" altLang="ja-JP" sz="4200" b="1" i="1" smtClean="0">
                              <a:solidFill>
                                <a:srgbClr val="FF0000"/>
                              </a:solidFill>
                              <a:latin typeface="Cambria Math" panose="02040503050406030204" pitchFamily="18" charset="0"/>
                            </a:rPr>
                            <m:t>𝒖</m:t>
                          </m:r>
                          <m:d>
                            <m:dPr>
                              <m:ctrlPr>
                                <a:rPr lang="en-US" altLang="ja-JP" sz="4200" b="1" i="1" smtClean="0">
                                  <a:solidFill>
                                    <a:srgbClr val="FF0000"/>
                                  </a:solidFill>
                                  <a:latin typeface="Cambria Math" panose="02040503050406030204" pitchFamily="18" charset="0"/>
                                </a:rPr>
                              </m:ctrlPr>
                            </m:dPr>
                            <m:e>
                              <m:r>
                                <a:rPr lang="en-US" altLang="ja-JP" sz="4200" b="1" i="1" smtClean="0">
                                  <a:solidFill>
                                    <a:srgbClr val="FF0000"/>
                                  </a:solidFill>
                                  <a:latin typeface="Cambria Math" panose="02040503050406030204" pitchFamily="18" charset="0"/>
                                </a:rPr>
                                <m:t>𝒕</m:t>
                              </m:r>
                            </m:e>
                          </m:d>
                        </m:e>
                      </m:d>
                      <m:r>
                        <a:rPr lang="en-US" altLang="ja-JP" sz="4200" b="1" i="1" smtClean="0">
                          <a:solidFill>
                            <a:srgbClr val="FF0000"/>
                          </a:solidFill>
                          <a:latin typeface="Cambria Math" panose="02040503050406030204" pitchFamily="18" charset="0"/>
                        </a:rPr>
                        <m:t>𝑵</m:t>
                      </m:r>
                      <m:sSub>
                        <m:sSubPr>
                          <m:ctrlPr>
                            <a:rPr lang="en-US" altLang="ja-JP" sz="4200" b="1" i="1" smtClean="0">
                              <a:solidFill>
                                <a:srgbClr val="FF0000"/>
                              </a:solidFill>
                              <a:latin typeface="Cambria Math" panose="02040503050406030204" pitchFamily="18" charset="0"/>
                            </a:rPr>
                          </m:ctrlPr>
                        </m:sSubPr>
                        <m:e>
                          <m:r>
                            <a:rPr lang="ja-JP" altLang="en-US" sz="4200" b="1" i="1" smtClean="0">
                              <a:solidFill>
                                <a:srgbClr val="FF0000"/>
                              </a:solidFill>
                              <a:latin typeface="Cambria Math" panose="02040503050406030204" pitchFamily="18" charset="0"/>
                            </a:rPr>
                            <m:t>𝝁</m:t>
                          </m:r>
                        </m:e>
                        <m:sub>
                          <m:r>
                            <a:rPr lang="en-US" altLang="ja-JP" sz="4200" b="1" i="1" smtClean="0">
                              <a:solidFill>
                                <a:srgbClr val="FF0000"/>
                              </a:solidFill>
                              <a:latin typeface="Cambria Math" panose="02040503050406030204" pitchFamily="18" charset="0"/>
                            </a:rPr>
                            <m:t>𝒛</m:t>
                          </m:r>
                        </m:sub>
                      </m:sSub>
                      <m:r>
                        <a:rPr lang="en-US" altLang="ja-JP" sz="4200" b="1" i="1" smtClean="0">
                          <a:solidFill>
                            <a:srgbClr val="FF0000"/>
                          </a:solidFill>
                          <a:latin typeface="Cambria Math" panose="02040503050406030204" pitchFamily="18" charset="0"/>
                        </a:rPr>
                        <m:t>𝒁</m:t>
                      </m:r>
                      <m:d>
                        <m:dPr>
                          <m:ctrlPr>
                            <a:rPr lang="en-US" altLang="ja-JP" sz="4200" b="1" i="1" smtClean="0">
                              <a:solidFill>
                                <a:srgbClr val="FF0000"/>
                              </a:solidFill>
                              <a:latin typeface="Cambria Math" panose="02040503050406030204" pitchFamily="18" charset="0"/>
                            </a:rPr>
                          </m:ctrlPr>
                        </m:dPr>
                        <m:e>
                          <m:r>
                            <a:rPr lang="en-US" altLang="ja-JP" sz="4200" b="1" i="1" smtClean="0">
                              <a:solidFill>
                                <a:srgbClr val="FF0000"/>
                              </a:solidFill>
                              <a:latin typeface="Cambria Math" panose="02040503050406030204" pitchFamily="18" charset="0"/>
                            </a:rPr>
                            <m:t>𝒕</m:t>
                          </m:r>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en-US" altLang="ja-JP" sz="4200" b="1" i="1" smtClean="0">
                              <a:latin typeface="Cambria Math" panose="02040503050406030204" pitchFamily="18" charset="0"/>
                            </a:rPr>
                            <m:t>𝒌</m:t>
                          </m:r>
                        </m:e>
                        <m:sub>
                          <m:r>
                            <a:rPr lang="en-US" altLang="ja-JP" sz="4200" b="1" i="1" smtClean="0">
                              <a:latin typeface="Cambria Math" panose="02040503050406030204" pitchFamily="18" charset="0"/>
                            </a:rPr>
                            <m:t>𝟏</m:t>
                          </m:r>
                        </m:sub>
                      </m:sSub>
                      <m:r>
                        <a:rPr lang="en-US" altLang="ja-JP" sz="4200" b="1" i="1" smtClean="0">
                          <a:latin typeface="Cambria Math" panose="02040503050406030204" pitchFamily="18" charset="0"/>
                        </a:rPr>
                        <m:t>𝑿</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𝑽</m:t>
                      </m:r>
                      <m:d>
                        <m:dPr>
                          <m:ctrlPr>
                            <a:rPr lang="en-US" altLang="ja-JP" sz="4200" b="1" i="1" smtClean="0">
                              <a:latin typeface="Cambria Math" panose="02040503050406030204" pitchFamily="18" charset="0"/>
                            </a:rPr>
                          </m:ctrlPr>
                        </m:dPr>
                        <m:e>
                          <m:r>
                            <a:rPr lang="en-US" altLang="ja-JP" sz="4200" b="1" i="1" smtClean="0">
                              <a:latin typeface="Cambria Math" panose="02040503050406030204" pitchFamily="18" charset="0"/>
                            </a:rPr>
                            <m:t>𝒕</m:t>
                          </m:r>
                        </m:e>
                      </m:d>
                      <m:r>
                        <a:rPr lang="en-US" altLang="ja-JP" sz="4200" b="1" i="1" smtClean="0">
                          <a:latin typeface="Cambria Math" panose="02040503050406030204" pitchFamily="18" charset="0"/>
                        </a:rPr>
                        <m:t>−</m:t>
                      </m:r>
                      <m:sSub>
                        <m:sSubPr>
                          <m:ctrlPr>
                            <a:rPr lang="en-US" altLang="ja-JP" sz="4200" b="1" i="1" smtClean="0">
                              <a:latin typeface="Cambria Math" panose="02040503050406030204" pitchFamily="18" charset="0"/>
                            </a:rPr>
                          </m:ctrlPr>
                        </m:sSubPr>
                        <m:e>
                          <m:r>
                            <a:rPr lang="ja-JP" altLang="en-US" sz="4200" b="1" i="1" smtClean="0">
                              <a:latin typeface="Cambria Math" panose="02040503050406030204" pitchFamily="18" charset="0"/>
                            </a:rPr>
                            <m:t>𝝁</m:t>
                          </m:r>
                        </m:e>
                        <m:sub>
                          <m:r>
                            <a:rPr lang="en-US" altLang="ja-JP" sz="4200" b="1" i="1" smtClean="0">
                              <a:latin typeface="Cambria Math" panose="02040503050406030204" pitchFamily="18" charset="0"/>
                            </a:rPr>
                            <m:t>𝒗</m:t>
                          </m:r>
                        </m:sub>
                      </m:sSub>
                      <m:r>
                        <a:rPr lang="en-US" altLang="ja-JP" sz="4200" b="1" i="1" smtClean="0">
                          <a:latin typeface="Cambria Math" panose="02040503050406030204" pitchFamily="18" charset="0"/>
                        </a:rPr>
                        <m:t>𝑽</m:t>
                      </m:r>
                      <m:r>
                        <a:rPr lang="en-US" altLang="ja-JP" sz="4200" b="1" i="1" smtClean="0">
                          <a:latin typeface="Cambria Math" panose="02040503050406030204" pitchFamily="18" charset="0"/>
                        </a:rPr>
                        <m:t>(</m:t>
                      </m:r>
                      <m:r>
                        <a:rPr lang="en-US" altLang="ja-JP" sz="4200" b="1" i="1" smtClean="0">
                          <a:latin typeface="Cambria Math" panose="02040503050406030204" pitchFamily="18" charset="0"/>
                        </a:rPr>
                        <m:t>𝒕</m:t>
                      </m:r>
                      <m:r>
                        <a:rPr lang="en-US" altLang="ja-JP" sz="4200" b="1" i="1" smtClean="0">
                          <a:latin typeface="Cambria Math" panose="02040503050406030204" pitchFamily="18" charset="0"/>
                        </a:rPr>
                        <m:t>)</m:t>
                      </m:r>
                    </m:oMath>
                  </m:oMathPara>
                </a14:m>
                <a:endParaRPr lang="en-US" altLang="ja-JP" sz="4200" b="1" dirty="0"/>
              </a:p>
              <a:p>
                <a:pPr marL="0" indent="0">
                  <a:buNone/>
                </a:pPr>
                <a:endParaRPr kumimoji="1" lang="en-US" altLang="ja-JP" sz="2400" dirty="0"/>
              </a:p>
              <a:p>
                <a:endParaRPr kumimoji="1" lang="en-US" altLang="ja-JP" sz="2400" dirty="0"/>
              </a:p>
              <a:p>
                <a:endParaRPr kumimoji="1" lang="ja-JP" altLang="en-US" sz="2400" dirty="0"/>
              </a:p>
            </p:txBody>
          </p:sp>
        </mc:Choice>
        <mc:Fallback xmlns="">
          <p:sp>
            <p:nvSpPr>
              <p:cNvPr id="3" name="コンテンツ プレースホルダー 2">
                <a:extLst>
                  <a:ext uri="{FF2B5EF4-FFF2-40B4-BE49-F238E27FC236}">
                    <a16:creationId xmlns:a16="http://schemas.microsoft.com/office/drawing/2014/main" id="{B600AD19-FE5C-8D0E-AA4D-50F7A2CFD50B}"/>
                  </a:ext>
                </a:extLst>
              </p:cNvPr>
              <p:cNvSpPr>
                <a:spLocks noGrp="1" noRot="1" noChangeAspect="1" noMove="1" noResize="1" noEditPoints="1" noAdjustHandles="1" noChangeArrowheads="1" noChangeShapeType="1" noTextEdit="1"/>
              </p:cNvSpPr>
              <p:nvPr>
                <p:ph idx="1"/>
              </p:nvPr>
            </p:nvSpPr>
            <p:spPr>
              <a:xfrm>
                <a:off x="-12571" y="662090"/>
                <a:ext cx="7766998" cy="4024719"/>
              </a:xfrm>
              <a:blipFill>
                <a:blip r:embed="rId3"/>
                <a:stretch>
                  <a:fillRect l="-1570" t="-1818"/>
                </a:stretch>
              </a:blipFill>
            </p:spPr>
            <p:txBody>
              <a:bodyPr/>
              <a:lstStyle/>
              <a:p>
                <a:r>
                  <a:rPr lang="ja-JP" altLang="en-US">
                    <a:noFill/>
                  </a:rPr>
                  <a:t> </a:t>
                </a:r>
              </a:p>
            </p:txBody>
          </p:sp>
        </mc:Fallback>
      </mc:AlternateContent>
      <p:sp>
        <p:nvSpPr>
          <p:cNvPr id="5" name="スライド番号プレースホルダー 4">
            <a:extLst>
              <a:ext uri="{FF2B5EF4-FFF2-40B4-BE49-F238E27FC236}">
                <a16:creationId xmlns:a16="http://schemas.microsoft.com/office/drawing/2014/main" id="{E93D7ABB-685B-5EB5-A967-C6808488C1E5}"/>
              </a:ext>
            </a:extLst>
          </p:cNvPr>
          <p:cNvSpPr>
            <a:spLocks noGrp="1"/>
          </p:cNvSpPr>
          <p:nvPr>
            <p:ph type="sldNum" sz="quarter" idx="12"/>
          </p:nvPr>
        </p:nvSpPr>
        <p:spPr>
          <a:xfrm>
            <a:off x="9900458" y="6459785"/>
            <a:ext cx="1312025" cy="365125"/>
          </a:xfrm>
        </p:spPr>
        <p:txBody>
          <a:bodyPr/>
          <a:lstStyle/>
          <a:p>
            <a:fld id="{E0107F97-1CD5-41F0-B842-C38020C26506}" type="slidenum">
              <a:rPr kumimoji="1" lang="ja-JP" altLang="en-US" smtClean="0"/>
              <a:t>3</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6CC2BFA-D4E0-AB13-2008-C95D5262DD34}"/>
                  </a:ext>
                </a:extLst>
              </p:cNvPr>
              <p:cNvSpPr txBox="1"/>
              <p:nvPr/>
            </p:nvSpPr>
            <p:spPr>
              <a:xfrm>
                <a:off x="7597885" y="470208"/>
                <a:ext cx="4020801" cy="3036088"/>
              </a:xfrm>
              <a:prstGeom prst="rect">
                <a:avLst/>
              </a:prstGeom>
              <a:noFill/>
              <a:ln w="12700">
                <a:solidFill>
                  <a:schemeClr val="tx1"/>
                </a:solidFill>
              </a:ln>
            </p:spPr>
            <p:txBody>
              <a:bodyPr wrap="square" rtlCol="0">
                <a:spAutoFit/>
              </a:bodyPr>
              <a:lstStyle/>
              <a:p>
                <a14:m>
                  <m:oMath xmlns:m="http://schemas.openxmlformats.org/officeDocument/2006/math">
                    <m:f>
                      <m:fPr>
                        <m:ctrlPr>
                          <a:rPr kumimoji="1" lang="en-US" altLang="ja-JP" b="0" i="1" dirty="0" smtClean="0">
                            <a:latin typeface="Cambria Math" panose="02040503050406030204" pitchFamily="18" charset="0"/>
                          </a:rPr>
                        </m:ctrlPr>
                      </m:fPr>
                      <m:num>
                        <m:r>
                          <m:rPr>
                            <m:sty m:val="p"/>
                          </m:rPr>
                          <a:rPr kumimoji="1" lang="en-US" altLang="ja-JP" i="1" dirty="0">
                            <a:latin typeface="Cambria Math" panose="02040503050406030204" pitchFamily="18" charset="0"/>
                          </a:rPr>
                          <m:t>Λ</m:t>
                        </m:r>
                      </m:num>
                      <m:den>
                        <m:r>
                          <a:rPr kumimoji="1" lang="en-US" altLang="ja-JP" b="0" i="1" dirty="0" smtClean="0">
                            <a:latin typeface="Cambria Math" panose="02040503050406030204" pitchFamily="18" charset="0"/>
                          </a:rPr>
                          <m:t>1+</m:t>
                        </m:r>
                        <m:r>
                          <a:rPr kumimoji="1" lang="en-US" altLang="ja-JP" b="0" i="1" dirty="0" smtClean="0">
                            <a:latin typeface="Cambria Math" panose="02040503050406030204" pitchFamily="18" charset="0"/>
                          </a:rPr>
                          <m:t>𝑉</m:t>
                        </m:r>
                        <m:d>
                          <m:dPr>
                            <m:ctrlPr>
                              <a:rPr kumimoji="1" lang="en-US" altLang="ja-JP" b="0" i="1" dirty="0" smtClean="0">
                                <a:latin typeface="Cambria Math" panose="02040503050406030204" pitchFamily="18" charset="0"/>
                              </a:rPr>
                            </m:ctrlPr>
                          </m:dPr>
                          <m:e>
                            <m:r>
                              <a:rPr kumimoji="1" lang="en-US" altLang="ja-JP" b="0" i="1" dirty="0" smtClean="0">
                                <a:latin typeface="Cambria Math" panose="02040503050406030204" pitchFamily="18" charset="0"/>
                              </a:rPr>
                              <m:t>𝑡</m:t>
                            </m:r>
                          </m:e>
                        </m:d>
                      </m:den>
                    </m:f>
                    <m:r>
                      <a:rPr kumimoji="1" lang="en-US" altLang="ja-JP" b="0" i="1" dirty="0" smtClean="0">
                        <a:latin typeface="Cambria Math" panose="02040503050406030204" pitchFamily="18" charset="0"/>
                      </a:rPr>
                      <m:t>: </m:t>
                    </m:r>
                  </m:oMath>
                </a14:m>
                <a:r>
                  <a:rPr kumimoji="1" lang="ja-JP" altLang="en-US" dirty="0"/>
                  <a:t>新たな</a:t>
                </a:r>
                <a:r>
                  <a:rPr kumimoji="1" lang="en-US" altLang="ja-JP" dirty="0"/>
                  <a:t>CD4 T</a:t>
                </a:r>
                <a:r>
                  <a:rPr kumimoji="1" lang="ja-JP" altLang="en-US" dirty="0"/>
                  <a:t>細胞の生成率</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𝜇</m:t>
                        </m:r>
                      </m:e>
                      <m:sub>
                        <m:r>
                          <a:rPr kumimoji="1" lang="en-US" altLang="ja-JP" b="0" i="1" smtClean="0">
                            <a:latin typeface="Cambria Math" panose="02040503050406030204" pitchFamily="18" charset="0"/>
                          </a:rPr>
                          <m:t>𝑥</m:t>
                        </m:r>
                      </m:sub>
                    </m:sSub>
                  </m:oMath>
                </a14:m>
                <a:r>
                  <a:rPr kumimoji="1" lang="en-US" altLang="ja-JP" dirty="0"/>
                  <a:t>: </a:t>
                </a:r>
                <a:r>
                  <a:rPr kumimoji="1" lang="ja-JP" altLang="en-US" dirty="0"/>
                  <a:t>未感染</a:t>
                </a:r>
                <a:r>
                  <a:rPr kumimoji="1" lang="en-US" altLang="ja-JP" dirty="0"/>
                  <a:t>CD4 T</a:t>
                </a:r>
                <a:r>
                  <a:rPr kumimoji="1" lang="ja-JP" altLang="en-US" dirty="0"/>
                  <a:t>細胞の寿命</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𝜇</m:t>
                        </m:r>
                      </m:e>
                      <m:sub>
                        <m:r>
                          <a:rPr kumimoji="1" lang="en-US" altLang="ja-JP" b="0" i="1" smtClean="0">
                            <a:latin typeface="Cambria Math" panose="02040503050406030204" pitchFamily="18" charset="0"/>
                          </a:rPr>
                          <m:t>𝑦</m:t>
                        </m:r>
                      </m:sub>
                    </m:sSub>
                    <m:r>
                      <a:rPr kumimoji="1" lang="en-US" altLang="ja-JP" b="0" i="1" smtClean="0">
                        <a:latin typeface="Cambria Math" panose="02040503050406030204" pitchFamily="18" charset="0"/>
                      </a:rPr>
                      <m:t>:</m:t>
                    </m:r>
                  </m:oMath>
                </a14:m>
                <a:r>
                  <a:rPr kumimoji="1" lang="en-US" altLang="ja-JP" dirty="0"/>
                  <a:t> </a:t>
                </a:r>
                <a:r>
                  <a:rPr kumimoji="1" lang="ja-JP" altLang="en-US" dirty="0"/>
                  <a:t>潜伏感染</a:t>
                </a:r>
                <a:r>
                  <a:rPr kumimoji="1" lang="en-US" altLang="ja-JP" dirty="0"/>
                  <a:t>CD4 T</a:t>
                </a:r>
                <a:r>
                  <a:rPr kumimoji="1" lang="ja-JP" altLang="en-US" dirty="0"/>
                  <a:t>細胞の寿命</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𝜇</m:t>
                        </m:r>
                      </m:e>
                      <m:sub>
                        <m:r>
                          <a:rPr kumimoji="1" lang="en-US" altLang="ja-JP" b="0" i="1" smtClean="0">
                            <a:latin typeface="Cambria Math" panose="02040503050406030204" pitchFamily="18" charset="0"/>
                          </a:rPr>
                          <m:t>𝑧</m:t>
                        </m:r>
                      </m:sub>
                    </m:sSub>
                    <m:r>
                      <a:rPr kumimoji="1" lang="en-US" altLang="ja-JP" b="0" i="1" smtClean="0">
                        <a:latin typeface="Cambria Math" panose="02040503050406030204" pitchFamily="18" charset="0"/>
                      </a:rPr>
                      <m:t>:</m:t>
                    </m:r>
                  </m:oMath>
                </a14:m>
                <a:r>
                  <a:rPr kumimoji="1" lang="ja-JP" altLang="en-US" dirty="0"/>
                  <a:t>活動感染</a:t>
                </a:r>
                <a:r>
                  <a:rPr kumimoji="1" lang="en-US" altLang="ja-JP" dirty="0"/>
                  <a:t>CD4 T</a:t>
                </a:r>
                <a:r>
                  <a:rPr kumimoji="1" lang="ja-JP" altLang="en-US" dirty="0"/>
                  <a:t>細胞の寿命</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ja-JP" altLang="en-US" i="1" smtClean="0">
                            <a:latin typeface="Cambria Math" panose="02040503050406030204" pitchFamily="18" charset="0"/>
                          </a:rPr>
                          <m:t>𝜇</m:t>
                        </m:r>
                      </m:e>
                      <m:sub>
                        <m:r>
                          <a:rPr kumimoji="1" lang="en-US" altLang="ja-JP" b="0" i="1" smtClean="0">
                            <a:latin typeface="Cambria Math" panose="02040503050406030204" pitchFamily="18" charset="0"/>
                          </a:rPr>
                          <m:t>𝑣</m:t>
                        </m:r>
                      </m:sub>
                    </m:sSub>
                    <m:r>
                      <a:rPr kumimoji="1" lang="en-US" altLang="ja-JP" b="0" i="1" smtClean="0">
                        <a:latin typeface="Cambria Math" panose="02040503050406030204" pitchFamily="18" charset="0"/>
                      </a:rPr>
                      <m:t>:</m:t>
                    </m:r>
                  </m:oMath>
                </a14:m>
                <a:r>
                  <a:rPr kumimoji="1" lang="ja-JP" altLang="en-US" dirty="0"/>
                  <a:t> 遊離ウイルス粒子の寿命</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oMath>
                </a14:m>
                <a:r>
                  <a:rPr kumimoji="1" lang="ja-JP" altLang="en-US" dirty="0"/>
                  <a:t> </a:t>
                </a:r>
                <a:r>
                  <a:rPr kumimoji="1" lang="en-US" altLang="ja-JP" dirty="0"/>
                  <a:t>CD4 T</a:t>
                </a:r>
                <a:r>
                  <a:rPr kumimoji="1" lang="ja-JP" altLang="en-US" dirty="0"/>
                  <a:t>細胞の感染率</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m:t>
                    </m:r>
                  </m:oMath>
                </a14:m>
                <a:r>
                  <a:rPr kumimoji="1" lang="ja-JP" altLang="en-US" dirty="0"/>
                  <a:t> 細胞</a:t>
                </a:r>
                <a:r>
                  <a:rPr kumimoji="1" lang="en-US" altLang="ja-JP" dirty="0"/>
                  <a:t>Y</a:t>
                </a:r>
                <a:r>
                  <a:rPr kumimoji="1" lang="ja-JP" altLang="en-US" dirty="0"/>
                  <a:t>の活動感染細胞</a:t>
                </a:r>
                <a:r>
                  <a:rPr kumimoji="1" lang="en-US" altLang="ja-JP" dirty="0"/>
                  <a:t>Z</a:t>
                </a:r>
                <a:r>
                  <a:rPr kumimoji="1" lang="ja-JP" altLang="en-US" dirty="0"/>
                  <a:t>への変化率</a:t>
                </a:r>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𝑚𝑎𝑥</m:t>
                        </m:r>
                      </m:sub>
                    </m:sSub>
                    <m:r>
                      <a:rPr kumimoji="1" lang="en-US" altLang="ja-JP" b="0" i="1" smtClean="0">
                        <a:latin typeface="Cambria Math" panose="02040503050406030204" pitchFamily="18" charset="0"/>
                      </a:rPr>
                      <m:t>:</m:t>
                    </m:r>
                  </m:oMath>
                </a14:m>
                <a:r>
                  <a:rPr kumimoji="1" lang="ja-JP" altLang="en-US" dirty="0"/>
                  <a:t> </a:t>
                </a:r>
                <a:r>
                  <a:rPr kumimoji="1" lang="en-US" altLang="ja-JP" dirty="0"/>
                  <a:t>CD4 T</a:t>
                </a:r>
                <a:r>
                  <a:rPr kumimoji="1" lang="ja-JP" altLang="en-US" dirty="0"/>
                  <a:t>細胞の最大値</a:t>
                </a:r>
                <a:endParaRPr kumimoji="1" lang="en-US" altLang="ja-JP" dirty="0"/>
              </a:p>
              <a:p>
                <a14:m>
                  <m:oMath xmlns:m="http://schemas.openxmlformats.org/officeDocument/2006/math">
                    <m:r>
                      <a:rPr kumimoji="1" lang="en-US" altLang="ja-JP" b="0" i="1" smtClean="0">
                        <a:latin typeface="Cambria Math" panose="02040503050406030204" pitchFamily="18" charset="0"/>
                      </a:rPr>
                      <m:t>𝑁</m:t>
                    </m:r>
                    <m:r>
                      <a:rPr kumimoji="1" lang="en-US" altLang="ja-JP" b="0" i="1" smtClean="0">
                        <a:latin typeface="Cambria Math" panose="02040503050406030204" pitchFamily="18" charset="0"/>
                      </a:rPr>
                      <m:t>:</m:t>
                    </m:r>
                  </m:oMath>
                </a14:m>
                <a:r>
                  <a:rPr kumimoji="1" lang="ja-JP" altLang="en-US" dirty="0"/>
                  <a:t> 細胞</a:t>
                </a:r>
                <a:r>
                  <a:rPr kumimoji="1" lang="en-US" altLang="ja-JP" dirty="0"/>
                  <a:t>Z</a:t>
                </a:r>
                <a:r>
                  <a:rPr kumimoji="1" lang="ja-JP" altLang="en-US" dirty="0"/>
                  <a:t>により生成されたウイルスの数</a:t>
                </a:r>
                <a:endParaRPr kumimoji="1" lang="en-US" altLang="ja-JP" dirty="0"/>
              </a:p>
              <a:p>
                <a:r>
                  <a:rPr kumimoji="1" lang="en-US" altLang="ja-JP" b="0" dirty="0"/>
                  <a:t>R</a:t>
                </a:r>
                <a14:m>
                  <m:oMath xmlns:m="http://schemas.openxmlformats.org/officeDocument/2006/math">
                    <m:r>
                      <a:rPr kumimoji="1" lang="en-US" altLang="ja-JP" b="0" i="1" smtClean="0">
                        <a:latin typeface="Cambria Math" panose="02040503050406030204" pitchFamily="18" charset="0"/>
                      </a:rPr>
                      <m:t>: </m:t>
                    </m:r>
                  </m:oMath>
                </a14:m>
                <a:r>
                  <a:rPr kumimoji="1" lang="en-US" altLang="ja-JP" dirty="0"/>
                  <a:t>CD4 T</a:t>
                </a:r>
                <a:r>
                  <a:rPr kumimoji="1" lang="ja-JP" altLang="en-US" dirty="0"/>
                  <a:t>細胞の成長率</a:t>
                </a:r>
              </a:p>
            </p:txBody>
          </p:sp>
        </mc:Choice>
        <mc:Fallback xmlns="">
          <p:sp>
            <p:nvSpPr>
              <p:cNvPr id="4" name="テキスト ボックス 3">
                <a:extLst>
                  <a:ext uri="{FF2B5EF4-FFF2-40B4-BE49-F238E27FC236}">
                    <a16:creationId xmlns:a16="http://schemas.microsoft.com/office/drawing/2014/main" id="{66CC2BFA-D4E0-AB13-2008-C95D5262DD34}"/>
                  </a:ext>
                </a:extLst>
              </p:cNvPr>
              <p:cNvSpPr txBox="1">
                <a:spLocks noRot="1" noChangeAspect="1" noMove="1" noResize="1" noEditPoints="1" noAdjustHandles="1" noChangeArrowheads="1" noChangeShapeType="1" noTextEdit="1"/>
              </p:cNvSpPr>
              <p:nvPr/>
            </p:nvSpPr>
            <p:spPr>
              <a:xfrm>
                <a:off x="7597885" y="470208"/>
                <a:ext cx="4020801" cy="3036088"/>
              </a:xfrm>
              <a:prstGeom prst="rect">
                <a:avLst/>
              </a:prstGeom>
              <a:blipFill>
                <a:blip r:embed="rId4"/>
                <a:stretch>
                  <a:fillRect l="-1057" r="-604" b="-2200"/>
                </a:stretch>
              </a:blipFill>
              <a:ln w="12700">
                <a:solidFill>
                  <a:schemeClr val="tx1"/>
                </a:solidFill>
              </a:ln>
            </p:spPr>
            <p:txBody>
              <a:bodyPr/>
              <a:lstStyle/>
              <a:p>
                <a:r>
                  <a:rPr lang="ja-JP" altLang="en-US">
                    <a:noFill/>
                  </a:rPr>
                  <a:t> </a:t>
                </a:r>
              </a:p>
            </p:txBody>
          </p:sp>
        </mc:Fallback>
      </mc:AlternateContent>
      <p:sp>
        <p:nvSpPr>
          <p:cNvPr id="7" name="四角形: 角を丸くする 6">
            <a:extLst>
              <a:ext uri="{FF2B5EF4-FFF2-40B4-BE49-F238E27FC236}">
                <a16:creationId xmlns:a16="http://schemas.microsoft.com/office/drawing/2014/main" id="{6E588D49-E771-1613-DFDE-72DC2D6DBC32}"/>
              </a:ext>
            </a:extLst>
          </p:cNvPr>
          <p:cNvSpPr/>
          <p:nvPr/>
        </p:nvSpPr>
        <p:spPr>
          <a:xfrm>
            <a:off x="670343" y="4727911"/>
            <a:ext cx="3874724" cy="152392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B07CB43-5E99-B5D9-AE84-72A98A625A1F}"/>
                  </a:ext>
                </a:extLst>
              </p:cNvPr>
              <p:cNvSpPr txBox="1"/>
              <p:nvPr/>
            </p:nvSpPr>
            <p:spPr>
              <a:xfrm>
                <a:off x="692661" y="4751211"/>
                <a:ext cx="3874724" cy="1477328"/>
              </a:xfrm>
              <a:prstGeom prst="rect">
                <a:avLst/>
              </a:prstGeom>
              <a:noFill/>
            </p:spPr>
            <p:txBody>
              <a:bodyPr wrap="square">
                <a:spAutoFit/>
              </a:bodyPr>
              <a:lstStyle/>
              <a:p>
                <a:r>
                  <a:rPr kumimoji="1" lang="en-US" altLang="ja-JP" b="0" dirty="0"/>
                  <a:t>X</a:t>
                </a:r>
                <a14:m>
                  <m:oMath xmlns:m="http://schemas.openxmlformats.org/officeDocument/2006/math">
                    <m:r>
                      <a:rPr kumimoji="1" lang="en-US" altLang="ja-JP" b="0" i="1" smtClean="0">
                        <a:latin typeface="Cambria Math" panose="02040503050406030204" pitchFamily="18" charset="0"/>
                      </a:rPr>
                      <m:t>: </m:t>
                    </m:r>
                  </m:oMath>
                </a14:m>
                <a:r>
                  <a:rPr kumimoji="1" lang="ja-JP" altLang="en-US" dirty="0"/>
                  <a:t>未感染</a:t>
                </a:r>
                <a:r>
                  <a:rPr kumimoji="1" lang="en-US" altLang="ja-JP" dirty="0"/>
                  <a:t>CD4 T</a:t>
                </a:r>
                <a:r>
                  <a:rPr kumimoji="1" lang="ja-JP" altLang="en-US" dirty="0"/>
                  <a:t>細胞の濃度</a:t>
                </a:r>
                <a:endParaRPr kumimoji="1" lang="en-US" altLang="ja-JP" dirty="0"/>
              </a:p>
              <a:p>
                <a:r>
                  <a:rPr kumimoji="1" lang="en-US" altLang="ja-JP" dirty="0"/>
                  <a:t>Y: </a:t>
                </a:r>
                <a:r>
                  <a:rPr kumimoji="1" lang="ja-JP" altLang="en-US" dirty="0"/>
                  <a:t>潜伏感染</a:t>
                </a:r>
                <a:r>
                  <a:rPr kumimoji="1" lang="en-US" altLang="ja-JP" dirty="0"/>
                  <a:t>CD4 T</a:t>
                </a:r>
                <a:r>
                  <a:rPr kumimoji="1" lang="ja-JP" altLang="en-US" dirty="0"/>
                  <a:t>細胞の濃度</a:t>
                </a:r>
                <a:endParaRPr kumimoji="1" lang="en-US" altLang="ja-JP" dirty="0"/>
              </a:p>
              <a:p>
                <a:r>
                  <a:rPr kumimoji="1" lang="en-US" altLang="ja-JP" dirty="0"/>
                  <a:t>Z: </a:t>
                </a:r>
                <a:r>
                  <a:rPr kumimoji="1" lang="ja-JP" altLang="en-US" dirty="0"/>
                  <a:t>活動感染</a:t>
                </a:r>
                <a:r>
                  <a:rPr kumimoji="1" lang="en-US" altLang="ja-JP" dirty="0"/>
                  <a:t>CD4 T</a:t>
                </a:r>
                <a:r>
                  <a:rPr kumimoji="1" lang="ja-JP" altLang="en-US" dirty="0"/>
                  <a:t>細胞の濃度</a:t>
                </a:r>
                <a:endParaRPr kumimoji="1" lang="en-US" altLang="ja-JP" dirty="0"/>
              </a:p>
              <a:p>
                <a:r>
                  <a:rPr kumimoji="1" lang="en-US" altLang="ja-JP" dirty="0"/>
                  <a:t>V: </a:t>
                </a:r>
                <a:r>
                  <a:rPr kumimoji="1" lang="ja-JP" altLang="en-US" dirty="0"/>
                  <a:t>遊離ウイルスの濃度</a:t>
                </a:r>
                <a:endParaRPr kumimoji="1" lang="en-US" altLang="ja-JP" dirty="0"/>
              </a:p>
              <a:p>
                <a14:m>
                  <m:oMath xmlns:m="http://schemas.openxmlformats.org/officeDocument/2006/math">
                    <m:r>
                      <a:rPr kumimoji="1" lang="en-US" altLang="ja-JP" b="0" i="1" smtClean="0">
                        <a:latin typeface="Cambria Math" panose="02040503050406030204" pitchFamily="18" charset="0"/>
                      </a:rPr>
                      <m:t>𝑢</m:t>
                    </m:r>
                  </m:oMath>
                </a14:m>
                <a:r>
                  <a:rPr kumimoji="1" lang="en-US" altLang="ja-JP" dirty="0"/>
                  <a:t>: </a:t>
                </a:r>
                <a:r>
                  <a:rPr kumimoji="1" lang="ja-JP" altLang="en-US" dirty="0"/>
                  <a:t>制御入力</a:t>
                </a:r>
                <a:r>
                  <a:rPr kumimoji="1" lang="en-US" altLang="ja-JP" dirty="0"/>
                  <a:t>(=</a:t>
                </a:r>
                <a:r>
                  <a:rPr kumimoji="1" lang="ja-JP" altLang="en-US" dirty="0"/>
                  <a:t>投薬量</a:t>
                </a:r>
                <a:r>
                  <a:rPr kumimoji="1" lang="en-US" altLang="ja-JP" dirty="0"/>
                  <a:t>), </a:t>
                </a:r>
                <a:r>
                  <a:rPr kumimoji="1" lang="ja-JP" altLang="en-US" dirty="0"/>
                  <a:t> </a:t>
                </a:r>
                <a14:m>
                  <m:oMath xmlns:m="http://schemas.openxmlformats.org/officeDocument/2006/math">
                    <m:r>
                      <a:rPr kumimoji="1" lang="en-US" altLang="ja-JP" b="0" i="1" smtClean="0">
                        <a:latin typeface="Cambria Math" panose="02040503050406030204" pitchFamily="18" charset="0"/>
                      </a:rPr>
                      <m:t>𝑢</m:t>
                    </m:r>
                    <m:r>
                      <a:rPr kumimoji="1" lang="en-US" altLang="ja-JP" b="0" i="1" smtClean="0">
                        <a:latin typeface="Cambria Math" panose="02040503050406030204" pitchFamily="18" charset="0"/>
                        <a:ea typeface="Cambria Math" panose="02040503050406030204" pitchFamily="18" charset="0"/>
                      </a:rPr>
                      <m:t>∈</m:t>
                    </m:r>
                  </m:oMath>
                </a14:m>
                <a:r>
                  <a:rPr kumimoji="1" lang="en-US" altLang="ja-JP" dirty="0"/>
                  <a:t>[0,1]</a:t>
                </a:r>
              </a:p>
            </p:txBody>
          </p:sp>
        </mc:Choice>
        <mc:Fallback xmlns="">
          <p:sp>
            <p:nvSpPr>
              <p:cNvPr id="9" name="テキスト ボックス 8">
                <a:extLst>
                  <a:ext uri="{FF2B5EF4-FFF2-40B4-BE49-F238E27FC236}">
                    <a16:creationId xmlns:a16="http://schemas.microsoft.com/office/drawing/2014/main" id="{4B07CB43-5E99-B5D9-AE84-72A98A625A1F}"/>
                  </a:ext>
                </a:extLst>
              </p:cNvPr>
              <p:cNvSpPr txBox="1">
                <a:spLocks noRot="1" noChangeAspect="1" noMove="1" noResize="1" noEditPoints="1" noAdjustHandles="1" noChangeArrowheads="1" noChangeShapeType="1" noTextEdit="1"/>
              </p:cNvSpPr>
              <p:nvPr/>
            </p:nvSpPr>
            <p:spPr>
              <a:xfrm>
                <a:off x="692661" y="4751211"/>
                <a:ext cx="3874724" cy="1477328"/>
              </a:xfrm>
              <a:prstGeom prst="rect">
                <a:avLst/>
              </a:prstGeom>
              <a:blipFill>
                <a:blip r:embed="rId5"/>
                <a:stretch>
                  <a:fillRect l="-1417" t="-3292" b="-5761"/>
                </a:stretch>
              </a:blipFill>
            </p:spPr>
            <p:txBody>
              <a:bodyPr/>
              <a:lstStyle/>
              <a:p>
                <a:r>
                  <a:rPr lang="ja-JP" altLang="en-US">
                    <a:noFill/>
                  </a:rPr>
                  <a:t> </a:t>
                </a:r>
              </a:p>
            </p:txBody>
          </p:sp>
        </mc:Fallback>
      </mc:AlternateContent>
      <p:pic>
        <p:nvPicPr>
          <p:cNvPr id="43" name="図 42">
            <a:extLst>
              <a:ext uri="{FF2B5EF4-FFF2-40B4-BE49-F238E27FC236}">
                <a16:creationId xmlns:a16="http://schemas.microsoft.com/office/drawing/2014/main" id="{98076451-3B8B-F840-7ADE-6581726F3589}"/>
              </a:ext>
            </a:extLst>
          </p:cNvPr>
          <p:cNvPicPr>
            <a:picLocks noChangeAspect="1"/>
          </p:cNvPicPr>
          <p:nvPr/>
        </p:nvPicPr>
        <p:blipFill rotWithShape="1">
          <a:blip r:embed="rId6"/>
          <a:srcRect l="4053" r="4199"/>
          <a:stretch/>
        </p:blipFill>
        <p:spPr>
          <a:xfrm>
            <a:off x="7156030" y="4102891"/>
            <a:ext cx="5061053" cy="1296007"/>
          </a:xfrm>
          <a:prstGeom prst="rect">
            <a:avLst/>
          </a:prstGeom>
        </p:spPr>
      </p:pic>
      <p:sp>
        <p:nvSpPr>
          <p:cNvPr id="45" name="テキスト ボックス 44">
            <a:extLst>
              <a:ext uri="{FF2B5EF4-FFF2-40B4-BE49-F238E27FC236}">
                <a16:creationId xmlns:a16="http://schemas.microsoft.com/office/drawing/2014/main" id="{67FE3DDB-F99E-E7EA-BFF3-1B3814F4E273}"/>
              </a:ext>
            </a:extLst>
          </p:cNvPr>
          <p:cNvSpPr txBox="1"/>
          <p:nvPr/>
        </p:nvSpPr>
        <p:spPr>
          <a:xfrm>
            <a:off x="7597885" y="5943457"/>
            <a:ext cx="3451096" cy="369332"/>
          </a:xfrm>
          <a:prstGeom prst="rect">
            <a:avLst/>
          </a:prstGeom>
          <a:noFill/>
        </p:spPr>
        <p:txBody>
          <a:bodyPr wrap="square" rtlCol="0">
            <a:spAutoFit/>
          </a:bodyPr>
          <a:lstStyle/>
          <a:p>
            <a:r>
              <a:rPr kumimoji="1" lang="en-US" altLang="ja-JP" dirty="0"/>
              <a:t>Fig.1 HIV</a:t>
            </a:r>
            <a:r>
              <a:rPr kumimoji="1" lang="ja-JP" altLang="en-US" dirty="0"/>
              <a:t>ウイルス感染モデル</a:t>
            </a:r>
          </a:p>
        </p:txBody>
      </p:sp>
      <p:sp>
        <p:nvSpPr>
          <p:cNvPr id="6" name="テキスト ボックス 5">
            <a:extLst>
              <a:ext uri="{FF2B5EF4-FFF2-40B4-BE49-F238E27FC236}">
                <a16:creationId xmlns:a16="http://schemas.microsoft.com/office/drawing/2014/main" id="{8971E7F4-9472-0DEA-B67D-AF8C55C153C0}"/>
              </a:ext>
            </a:extLst>
          </p:cNvPr>
          <p:cNvSpPr txBox="1"/>
          <p:nvPr/>
        </p:nvSpPr>
        <p:spPr>
          <a:xfrm>
            <a:off x="6025844" y="4871190"/>
            <a:ext cx="1302972" cy="338554"/>
          </a:xfrm>
          <a:prstGeom prst="rect">
            <a:avLst/>
          </a:prstGeom>
          <a:noFill/>
          <a:ln>
            <a:solidFill>
              <a:srgbClr val="000000"/>
            </a:solidFill>
          </a:ln>
        </p:spPr>
        <p:txBody>
          <a:bodyPr wrap="square" rtlCol="0">
            <a:spAutoFit/>
          </a:bodyPr>
          <a:lstStyle/>
          <a:p>
            <a:r>
              <a:rPr kumimoji="1" lang="ja-JP" altLang="en-US" sz="1600" b="1" dirty="0"/>
              <a:t>未感染細胞</a:t>
            </a:r>
          </a:p>
        </p:txBody>
      </p:sp>
      <p:sp>
        <p:nvSpPr>
          <p:cNvPr id="8" name="テキスト ボックス 7">
            <a:extLst>
              <a:ext uri="{FF2B5EF4-FFF2-40B4-BE49-F238E27FC236}">
                <a16:creationId xmlns:a16="http://schemas.microsoft.com/office/drawing/2014/main" id="{35B0A8CC-3D7B-139A-A772-2B0B3895A080}"/>
              </a:ext>
            </a:extLst>
          </p:cNvPr>
          <p:cNvSpPr txBox="1"/>
          <p:nvPr/>
        </p:nvSpPr>
        <p:spPr>
          <a:xfrm>
            <a:off x="8091944" y="5511462"/>
            <a:ext cx="1363375" cy="338554"/>
          </a:xfrm>
          <a:prstGeom prst="rect">
            <a:avLst/>
          </a:prstGeom>
          <a:noFill/>
          <a:ln>
            <a:solidFill>
              <a:srgbClr val="000000"/>
            </a:solidFill>
          </a:ln>
        </p:spPr>
        <p:txBody>
          <a:bodyPr wrap="square" rtlCol="0">
            <a:spAutoFit/>
          </a:bodyPr>
          <a:lstStyle/>
          <a:p>
            <a:r>
              <a:rPr kumimoji="1" lang="ja-JP" altLang="en-US" sz="1600" b="1" dirty="0"/>
              <a:t>遊離ウイルス</a:t>
            </a:r>
          </a:p>
        </p:txBody>
      </p:sp>
      <p:sp>
        <p:nvSpPr>
          <p:cNvPr id="10" name="テキスト ボックス 9">
            <a:extLst>
              <a:ext uri="{FF2B5EF4-FFF2-40B4-BE49-F238E27FC236}">
                <a16:creationId xmlns:a16="http://schemas.microsoft.com/office/drawing/2014/main" id="{5137C415-52D5-FCB1-0A6E-6C3BF68559D7}"/>
              </a:ext>
            </a:extLst>
          </p:cNvPr>
          <p:cNvSpPr txBox="1"/>
          <p:nvPr/>
        </p:nvSpPr>
        <p:spPr>
          <a:xfrm>
            <a:off x="8299292" y="3769023"/>
            <a:ext cx="1439067" cy="338554"/>
          </a:xfrm>
          <a:prstGeom prst="rect">
            <a:avLst/>
          </a:prstGeom>
          <a:noFill/>
          <a:ln>
            <a:solidFill>
              <a:srgbClr val="000000"/>
            </a:solidFill>
          </a:ln>
        </p:spPr>
        <p:txBody>
          <a:bodyPr wrap="square" rtlCol="0">
            <a:spAutoFit/>
          </a:bodyPr>
          <a:lstStyle/>
          <a:p>
            <a:r>
              <a:rPr kumimoji="1" lang="ja-JP" altLang="en-US" sz="1600" b="1" dirty="0"/>
              <a:t>潜伏感染細胞</a:t>
            </a:r>
          </a:p>
        </p:txBody>
      </p:sp>
      <p:sp>
        <p:nvSpPr>
          <p:cNvPr id="11" name="テキスト ボックス 10">
            <a:extLst>
              <a:ext uri="{FF2B5EF4-FFF2-40B4-BE49-F238E27FC236}">
                <a16:creationId xmlns:a16="http://schemas.microsoft.com/office/drawing/2014/main" id="{113057D7-A7F7-DB87-4016-BBD93770843F}"/>
              </a:ext>
            </a:extLst>
          </p:cNvPr>
          <p:cNvSpPr txBox="1"/>
          <p:nvPr/>
        </p:nvSpPr>
        <p:spPr>
          <a:xfrm>
            <a:off x="10686588" y="4449089"/>
            <a:ext cx="1441201" cy="338554"/>
          </a:xfrm>
          <a:prstGeom prst="rect">
            <a:avLst/>
          </a:prstGeom>
          <a:noFill/>
          <a:ln>
            <a:solidFill>
              <a:srgbClr val="000000"/>
            </a:solidFill>
          </a:ln>
        </p:spPr>
        <p:txBody>
          <a:bodyPr wrap="square" rtlCol="0">
            <a:spAutoFit/>
          </a:bodyPr>
          <a:lstStyle/>
          <a:p>
            <a:r>
              <a:rPr kumimoji="1" lang="ja-JP" altLang="en-US" sz="1600" b="1" dirty="0"/>
              <a:t>活動感染細胞</a:t>
            </a:r>
          </a:p>
        </p:txBody>
      </p:sp>
      <p:cxnSp>
        <p:nvCxnSpPr>
          <p:cNvPr id="19" name="直線コネクタ 18">
            <a:extLst>
              <a:ext uri="{FF2B5EF4-FFF2-40B4-BE49-F238E27FC236}">
                <a16:creationId xmlns:a16="http://schemas.microsoft.com/office/drawing/2014/main" id="{4FEB538D-BEDD-7A61-138F-BB21C0F05479}"/>
              </a:ext>
            </a:extLst>
          </p:cNvPr>
          <p:cNvCxnSpPr>
            <a:cxnSpLocks/>
          </p:cNvCxnSpPr>
          <p:nvPr/>
        </p:nvCxnSpPr>
        <p:spPr>
          <a:xfrm flipH="1" flipV="1">
            <a:off x="7231841" y="4254573"/>
            <a:ext cx="4490767" cy="1256889"/>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3" name="テキスト ボックス 22">
            <a:extLst>
              <a:ext uri="{FF2B5EF4-FFF2-40B4-BE49-F238E27FC236}">
                <a16:creationId xmlns:a16="http://schemas.microsoft.com/office/drawing/2014/main" id="{D99048A6-F771-870B-3040-71894E28EE03}"/>
              </a:ext>
            </a:extLst>
          </p:cNvPr>
          <p:cNvSpPr txBox="1"/>
          <p:nvPr/>
        </p:nvSpPr>
        <p:spPr>
          <a:xfrm>
            <a:off x="7064750" y="5281766"/>
            <a:ext cx="1153841" cy="400110"/>
          </a:xfrm>
          <a:prstGeom prst="rect">
            <a:avLst/>
          </a:prstGeom>
          <a:noFill/>
          <a:ln>
            <a:noFill/>
          </a:ln>
        </p:spPr>
        <p:txBody>
          <a:bodyPr wrap="square" rtlCol="0">
            <a:spAutoFit/>
          </a:bodyPr>
          <a:lstStyle/>
          <a:p>
            <a:r>
              <a:rPr kumimoji="1" lang="ja-JP" altLang="en-US" sz="2000" b="1" dirty="0">
                <a:solidFill>
                  <a:srgbClr val="FF0000"/>
                </a:solidFill>
              </a:rPr>
              <a:t>可観測</a:t>
            </a:r>
          </a:p>
        </p:txBody>
      </p:sp>
      <p:sp>
        <p:nvSpPr>
          <p:cNvPr id="29" name="矢印: 右カーブ 28">
            <a:extLst>
              <a:ext uri="{FF2B5EF4-FFF2-40B4-BE49-F238E27FC236}">
                <a16:creationId xmlns:a16="http://schemas.microsoft.com/office/drawing/2014/main" id="{5930FBFB-0CF6-A5C9-CA62-235E45CFE642}"/>
              </a:ext>
            </a:extLst>
          </p:cNvPr>
          <p:cNvSpPr/>
          <p:nvPr/>
        </p:nvSpPr>
        <p:spPr>
          <a:xfrm rot="19741489">
            <a:off x="9482468" y="5058506"/>
            <a:ext cx="278429" cy="619483"/>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AD4E1725-1880-1E3A-8C0D-9A0E3E07BDEA}"/>
                  </a:ext>
                </a:extLst>
              </p:cNvPr>
              <p:cNvSpPr txBox="1"/>
              <p:nvPr/>
            </p:nvSpPr>
            <p:spPr>
              <a:xfrm>
                <a:off x="9849108" y="5408279"/>
                <a:ext cx="136337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1" i="1" smtClean="0">
                          <a:solidFill>
                            <a:srgbClr val="FF0000"/>
                          </a:solidFill>
                          <a:latin typeface="Cambria Math" panose="02040503050406030204" pitchFamily="18" charset="0"/>
                        </a:rPr>
                        <m:t>𝒖</m:t>
                      </m:r>
                      <m:d>
                        <m:dPr>
                          <m:ctrlPr>
                            <a:rPr kumimoji="1" lang="en-US" altLang="ja-JP" b="1" i="1" smtClean="0">
                              <a:solidFill>
                                <a:srgbClr val="FF0000"/>
                              </a:solidFill>
                              <a:latin typeface="Cambria Math" panose="02040503050406030204" pitchFamily="18" charset="0"/>
                            </a:rPr>
                          </m:ctrlPr>
                        </m:dPr>
                        <m:e>
                          <m:r>
                            <a:rPr kumimoji="1" lang="en-US" altLang="ja-JP" b="1" i="1" smtClean="0">
                              <a:solidFill>
                                <a:srgbClr val="FF0000"/>
                              </a:solidFill>
                              <a:latin typeface="Cambria Math" panose="02040503050406030204" pitchFamily="18" charset="0"/>
                            </a:rPr>
                            <m:t>𝒕</m:t>
                          </m:r>
                        </m:e>
                      </m:d>
                      <m:r>
                        <a:rPr kumimoji="1" lang="en-US" altLang="ja-JP" b="1" i="1" smtClean="0">
                          <a:solidFill>
                            <a:srgbClr val="FF0000"/>
                          </a:solidFill>
                          <a:latin typeface="Cambria Math" panose="02040503050406030204" pitchFamily="18" charset="0"/>
                        </a:rPr>
                        <m:t>𝑵</m:t>
                      </m:r>
                      <m:sSub>
                        <m:sSubPr>
                          <m:ctrlPr>
                            <a:rPr kumimoji="1" lang="en-US" altLang="ja-JP" b="1" i="1" smtClean="0">
                              <a:solidFill>
                                <a:srgbClr val="FF0000"/>
                              </a:solidFill>
                              <a:latin typeface="Cambria Math" panose="02040503050406030204" pitchFamily="18" charset="0"/>
                            </a:rPr>
                          </m:ctrlPr>
                        </m:sSubPr>
                        <m:e>
                          <m:r>
                            <a:rPr kumimoji="1" lang="ja-JP" altLang="en-US" b="1" i="1" smtClean="0">
                              <a:solidFill>
                                <a:srgbClr val="FF0000"/>
                              </a:solidFill>
                              <a:latin typeface="Cambria Math" panose="02040503050406030204" pitchFamily="18" charset="0"/>
                            </a:rPr>
                            <m:t>𝝁</m:t>
                          </m:r>
                        </m:e>
                        <m:sub>
                          <m:r>
                            <a:rPr kumimoji="1" lang="en-US" altLang="ja-JP" b="1" i="1" smtClean="0">
                              <a:solidFill>
                                <a:srgbClr val="FF0000"/>
                              </a:solidFill>
                              <a:latin typeface="Cambria Math" panose="02040503050406030204" pitchFamily="18" charset="0"/>
                            </a:rPr>
                            <m:t>𝒛</m:t>
                          </m:r>
                        </m:sub>
                      </m:sSub>
                      <m:r>
                        <a:rPr kumimoji="1" lang="en-US" altLang="ja-JP" b="1" i="1" smtClean="0">
                          <a:solidFill>
                            <a:srgbClr val="FF0000"/>
                          </a:solidFill>
                          <a:latin typeface="Cambria Math" panose="02040503050406030204" pitchFamily="18" charset="0"/>
                        </a:rPr>
                        <m:t>𝒁</m:t>
                      </m:r>
                      <m:r>
                        <a:rPr kumimoji="1" lang="en-US" altLang="ja-JP" b="1" i="1" smtClean="0">
                          <a:solidFill>
                            <a:srgbClr val="FF0000"/>
                          </a:solidFill>
                          <a:latin typeface="Cambria Math" panose="02040503050406030204" pitchFamily="18" charset="0"/>
                        </a:rPr>
                        <m:t>(</m:t>
                      </m:r>
                      <m:r>
                        <a:rPr kumimoji="1" lang="en-US" altLang="ja-JP" b="1" i="1" smtClean="0">
                          <a:solidFill>
                            <a:srgbClr val="FF0000"/>
                          </a:solidFill>
                          <a:latin typeface="Cambria Math" panose="02040503050406030204" pitchFamily="18" charset="0"/>
                        </a:rPr>
                        <m:t>𝒕</m:t>
                      </m:r>
                      <m:r>
                        <a:rPr kumimoji="1" lang="en-US" altLang="ja-JP" b="1" i="1" smtClean="0">
                          <a:solidFill>
                            <a:srgbClr val="FF0000"/>
                          </a:solidFill>
                          <a:latin typeface="Cambria Math" panose="02040503050406030204" pitchFamily="18" charset="0"/>
                        </a:rPr>
                        <m:t>)</m:t>
                      </m:r>
                    </m:oMath>
                  </m:oMathPara>
                </a14:m>
                <a:endParaRPr kumimoji="1" lang="ja-JP" altLang="en-US" b="1" dirty="0">
                  <a:solidFill>
                    <a:srgbClr val="FF0000"/>
                  </a:solidFill>
                </a:endParaRPr>
              </a:p>
            </p:txBody>
          </p:sp>
        </mc:Choice>
        <mc:Fallback xmlns="">
          <p:sp>
            <p:nvSpPr>
              <p:cNvPr id="31" name="テキスト ボックス 30">
                <a:extLst>
                  <a:ext uri="{FF2B5EF4-FFF2-40B4-BE49-F238E27FC236}">
                    <a16:creationId xmlns:a16="http://schemas.microsoft.com/office/drawing/2014/main" id="{AD4E1725-1880-1E3A-8C0D-9A0E3E07BDEA}"/>
                  </a:ext>
                </a:extLst>
              </p:cNvPr>
              <p:cNvSpPr txBox="1">
                <a:spLocks noRot="1" noChangeAspect="1" noMove="1" noResize="1" noEditPoints="1" noAdjustHandles="1" noChangeArrowheads="1" noChangeShapeType="1" noTextEdit="1"/>
              </p:cNvSpPr>
              <p:nvPr/>
            </p:nvSpPr>
            <p:spPr>
              <a:xfrm>
                <a:off x="9849108" y="5408279"/>
                <a:ext cx="1363375" cy="369332"/>
              </a:xfrm>
              <a:prstGeom prst="rect">
                <a:avLst/>
              </a:prstGeom>
              <a:blipFill>
                <a:blip r:embed="rId7"/>
                <a:stretch>
                  <a:fillRect r="-9417" b="-13115"/>
                </a:stretch>
              </a:blipFill>
            </p:spPr>
            <p:txBody>
              <a:bodyPr/>
              <a:lstStyle/>
              <a:p>
                <a:r>
                  <a:rPr lang="ja-JP" altLang="en-US">
                    <a:noFill/>
                  </a:rPr>
                  <a:t> </a:t>
                </a:r>
              </a:p>
            </p:txBody>
          </p:sp>
        </mc:Fallback>
      </mc:AlternateContent>
      <p:sp>
        <p:nvSpPr>
          <p:cNvPr id="33" name="テキスト ボックス 32">
            <a:extLst>
              <a:ext uri="{FF2B5EF4-FFF2-40B4-BE49-F238E27FC236}">
                <a16:creationId xmlns:a16="http://schemas.microsoft.com/office/drawing/2014/main" id="{68B71B74-FB89-AAC9-1E93-1D31D9A9CCCC}"/>
              </a:ext>
            </a:extLst>
          </p:cNvPr>
          <p:cNvSpPr txBox="1"/>
          <p:nvPr/>
        </p:nvSpPr>
        <p:spPr>
          <a:xfrm>
            <a:off x="10508940" y="5727460"/>
            <a:ext cx="1796495" cy="338554"/>
          </a:xfrm>
          <a:prstGeom prst="rect">
            <a:avLst/>
          </a:prstGeom>
          <a:noFill/>
        </p:spPr>
        <p:txBody>
          <a:bodyPr wrap="square" rtlCol="0">
            <a:spAutoFit/>
          </a:bodyPr>
          <a:lstStyle/>
          <a:p>
            <a:r>
              <a:rPr kumimoji="1" lang="ja-JP" altLang="en-US" sz="1600" b="1" dirty="0"/>
              <a:t>投薬による減少</a:t>
            </a:r>
          </a:p>
        </p:txBody>
      </p:sp>
      <p:sp>
        <p:nvSpPr>
          <p:cNvPr id="21" name="タイトル 2">
            <a:extLst>
              <a:ext uri="{FF2B5EF4-FFF2-40B4-BE49-F238E27FC236}">
                <a16:creationId xmlns:a16="http://schemas.microsoft.com/office/drawing/2014/main" id="{E1957EF0-CA2F-41E9-D562-B2F02E1EE54D}"/>
              </a:ext>
            </a:extLst>
          </p:cNvPr>
          <p:cNvSpPr>
            <a:spLocks noGrp="1"/>
          </p:cNvSpPr>
          <p:nvPr>
            <p:ph type="title"/>
          </p:nvPr>
        </p:nvSpPr>
        <p:spPr>
          <a:xfrm>
            <a:off x="1066800" y="-56083"/>
            <a:ext cx="10058400" cy="810190"/>
          </a:xfrm>
        </p:spPr>
        <p:txBody>
          <a:bodyPr>
            <a:normAutofit/>
          </a:bodyPr>
          <a:lstStyle/>
          <a:p>
            <a:r>
              <a:rPr kumimoji="1" lang="en-US" altLang="ja-JP" dirty="0"/>
              <a:t>HIV</a:t>
            </a:r>
            <a:r>
              <a:rPr kumimoji="1" lang="ja-JP" altLang="en-US" dirty="0"/>
              <a:t>数理モデル</a:t>
            </a:r>
          </a:p>
        </p:txBody>
      </p:sp>
      <p:sp>
        <p:nvSpPr>
          <p:cNvPr id="2" name="テキスト ボックス 1">
            <a:extLst>
              <a:ext uri="{FF2B5EF4-FFF2-40B4-BE49-F238E27FC236}">
                <a16:creationId xmlns:a16="http://schemas.microsoft.com/office/drawing/2014/main" id="{E418B34D-C2A1-4BAA-F93A-9D64F12D56E1}"/>
              </a:ext>
            </a:extLst>
          </p:cNvPr>
          <p:cNvSpPr txBox="1"/>
          <p:nvPr/>
        </p:nvSpPr>
        <p:spPr>
          <a:xfrm>
            <a:off x="6724930" y="652467"/>
            <a:ext cx="603886" cy="461665"/>
          </a:xfrm>
          <a:prstGeom prst="rect">
            <a:avLst/>
          </a:prstGeom>
          <a:noFill/>
        </p:spPr>
        <p:txBody>
          <a:bodyPr wrap="square" rtlCol="0">
            <a:spAutoFit/>
          </a:bodyPr>
          <a:lstStyle/>
          <a:p>
            <a:r>
              <a:rPr kumimoji="1" lang="en-US" altLang="ja-JP" sz="2400" dirty="0"/>
              <a:t>[2]</a:t>
            </a:r>
            <a:endParaRPr kumimoji="1" lang="ja-JP" altLang="en-US" sz="2400" dirty="0"/>
          </a:p>
        </p:txBody>
      </p:sp>
      <p:sp>
        <p:nvSpPr>
          <p:cNvPr id="13" name="テキスト ボックス 12">
            <a:extLst>
              <a:ext uri="{FF2B5EF4-FFF2-40B4-BE49-F238E27FC236}">
                <a16:creationId xmlns:a16="http://schemas.microsoft.com/office/drawing/2014/main" id="{023BBE58-5A1E-6DB2-21DD-0A192395E56A}"/>
              </a:ext>
            </a:extLst>
          </p:cNvPr>
          <p:cNvSpPr txBox="1"/>
          <p:nvPr/>
        </p:nvSpPr>
        <p:spPr>
          <a:xfrm>
            <a:off x="0" y="6478635"/>
            <a:ext cx="11618686" cy="338554"/>
          </a:xfrm>
          <a:prstGeom prst="rect">
            <a:avLst/>
          </a:prstGeom>
          <a:noFill/>
        </p:spPr>
        <p:txBody>
          <a:bodyPr wrap="square">
            <a:spAutoFit/>
          </a:bodyPr>
          <a:lstStyle/>
          <a:p>
            <a:r>
              <a:rPr lang="en-US" altLang="ja-JP" sz="1600" dirty="0">
                <a:solidFill>
                  <a:schemeClr val="bg1"/>
                </a:solidFill>
                <a:effectLst/>
                <a:latin typeface="游明朝" panose="02020400000000000000" pitchFamily="18" charset="-128"/>
                <a:cs typeface="Times New Roman" panose="02020603050405020304" pitchFamily="18" charset="0"/>
              </a:rPr>
              <a:t>[2] Perelson A, Kirschner D, DeBoer R: The dynamics of HIV infection of CD4 T-cells. 1993, Math Biosci p114-25</a:t>
            </a:r>
            <a:endParaRPr lang="ja-JP" altLang="en-US" sz="1600" dirty="0">
              <a:solidFill>
                <a:schemeClr val="bg1"/>
              </a:solidFill>
            </a:endParaRPr>
          </a:p>
        </p:txBody>
      </p:sp>
    </p:spTree>
    <p:extLst>
      <p:ext uri="{BB962C8B-B14F-4D97-AF65-F5344CB8AC3E}">
        <p14:creationId xmlns:p14="http://schemas.microsoft.com/office/powerpoint/2010/main" val="3509473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87C0115E-5D6E-0324-C17E-AFE1AAB5FF6B}"/>
              </a:ext>
            </a:extLst>
          </p:cNvPr>
          <p:cNvSpPr>
            <a:spLocks noGrp="1"/>
          </p:cNvSpPr>
          <p:nvPr>
            <p:ph type="title"/>
          </p:nvPr>
        </p:nvSpPr>
        <p:spPr>
          <a:xfrm>
            <a:off x="1066800" y="-66716"/>
            <a:ext cx="10058400" cy="810190"/>
          </a:xfrm>
        </p:spPr>
        <p:txBody>
          <a:bodyPr/>
          <a:lstStyle/>
          <a:p>
            <a:r>
              <a:rPr kumimoji="1" lang="ja-JP" altLang="en-US" dirty="0"/>
              <a:t>従来手法</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D02753E-BD9C-7DBC-69A4-60BCC8875D36}"/>
                  </a:ext>
                </a:extLst>
              </p:cNvPr>
              <p:cNvSpPr txBox="1"/>
              <p:nvPr/>
            </p:nvSpPr>
            <p:spPr>
              <a:xfrm>
                <a:off x="507999" y="2753081"/>
                <a:ext cx="6785478" cy="3356881"/>
              </a:xfrm>
              <a:prstGeom prst="rect">
                <a:avLst/>
              </a:prstGeom>
              <a:noFill/>
              <a:ln w="19050">
                <a:solidFill>
                  <a:schemeClr val="tx1"/>
                </a:solidFill>
              </a:ln>
            </p:spPr>
            <p:txBody>
              <a:bodyPr wrap="square" rtlCol="0">
                <a:spAutoFit/>
              </a:bodyPr>
              <a:lstStyle/>
              <a:p>
                <a:pPr marL="342900" indent="-342900">
                  <a:buAutoNum type="arabicPeriod"/>
                </a:pPr>
                <a:r>
                  <a:rPr kumimoji="1" lang="ja-JP" altLang="en-US" dirty="0"/>
                  <a:t>初期学習条件の設定　</a:t>
                </a:r>
                <a:br>
                  <a:rPr kumimoji="1" lang="en-US" altLang="ja-JP" dirty="0"/>
                </a:br>
                <a:r>
                  <a:rPr kumimoji="1" lang="ja-JP" altLang="en-US" dirty="0"/>
                  <a:t>・反復回数</a:t>
                </a:r>
                <a:r>
                  <a:rPr kumimoji="1" lang="en-US" altLang="ja-JP" dirty="0"/>
                  <a:t>: 1,</a:t>
                </a:r>
                <a:r>
                  <a:rPr kumimoji="1" lang="ja-JP" altLang="en-US" dirty="0"/>
                  <a:t> </a:t>
                </a:r>
                <a14:m>
                  <m:oMath xmlns:m="http://schemas.openxmlformats.org/officeDocument/2006/math">
                    <m:r>
                      <a:rPr kumimoji="1" lang="en-US" altLang="ja-JP" b="0" i="1" smtClean="0">
                        <a:latin typeface="Cambria Math" panose="02040503050406030204" pitchFamily="18" charset="0"/>
                      </a:rPr>
                      <m:t>𝑄</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e>
                    </m:d>
                  </m:oMath>
                </a14:m>
                <a:r>
                  <a:rPr kumimoji="1" lang="en-US" altLang="ja-JP" dirty="0"/>
                  <a:t>:</a:t>
                </a:r>
                <a:r>
                  <a:rPr kumimoji="1" lang="ja-JP" altLang="en-US" dirty="0"/>
                  <a:t>任意の値</a:t>
                </a:r>
                <a:r>
                  <a:rPr kumimoji="1" lang="en-US" altLang="ja-JP" dirty="0"/>
                  <a:t>, </a:t>
                </a:r>
                <a14:m>
                  <m:oMath xmlns:m="http://schemas.openxmlformats.org/officeDocument/2006/math">
                    <m:r>
                      <a:rPr kumimoji="1" lang="ja-JP" altLang="en-US" i="1" smtClean="0">
                        <a:latin typeface="Cambria Math" panose="02040503050406030204" pitchFamily="18" charset="0"/>
                      </a:rPr>
                      <m:t>𝛼</m:t>
                    </m:r>
                    <m:r>
                      <a:rPr kumimoji="1" lang="en-US" altLang="ja-JP" b="0" i="1" smtClean="0">
                        <a:latin typeface="Cambria Math" panose="02040503050406030204" pitchFamily="18" charset="0"/>
                      </a:rPr>
                      <m:t>=0.1, </m:t>
                    </m:r>
                    <m:r>
                      <a:rPr kumimoji="1" lang="ja-JP" altLang="en-US" b="0" i="1" smtClean="0">
                        <a:latin typeface="Cambria Math" panose="02040503050406030204" pitchFamily="18" charset="0"/>
                      </a:rPr>
                      <m:t>𝛾</m:t>
                    </m:r>
                    <m:r>
                      <a:rPr kumimoji="1" lang="en-US" altLang="ja-JP" b="0" i="1" smtClean="0">
                        <a:latin typeface="Cambria Math" panose="02040503050406030204" pitchFamily="18" charset="0"/>
                      </a:rPr>
                      <m:t>=0.5, </m:t>
                    </m:r>
                    <m:r>
                      <a:rPr kumimoji="1" lang="en-US" altLang="ja-JP" b="0" i="1" smtClean="0">
                        <a:latin typeface="Cambria Math" panose="02040503050406030204" pitchFamily="18" charset="0"/>
                      </a:rPr>
                      <m:t>𝑇</m:t>
                    </m:r>
                    <m:r>
                      <a:rPr kumimoji="1" lang="en-US" altLang="ja-JP" b="0" i="1" smtClean="0">
                        <a:latin typeface="Cambria Math" panose="02040503050406030204" pitchFamily="18" charset="0"/>
                      </a:rPr>
                      <m:t>=1</m:t>
                    </m:r>
                  </m:oMath>
                </a14:m>
                <a:endParaRPr kumimoji="1" lang="en-US" altLang="ja-JP" dirty="0"/>
              </a:p>
              <a:p>
                <a:pPr marL="342900" indent="-342900">
                  <a:buAutoNum type="arabicPeriod"/>
                </a:pPr>
                <a:r>
                  <a:rPr kumimoji="1" lang="ja-JP" altLang="en-US" dirty="0"/>
                  <a:t>最大反復回数に達するまでの手順</a:t>
                </a:r>
                <a:br>
                  <a:rPr kumimoji="1" lang="en-US" altLang="ja-JP" dirty="0"/>
                </a:br>
                <a:r>
                  <a:rPr kumimoji="1" lang="ja-JP" altLang="en-US" dirty="0"/>
                  <a:t>・現在の状態ベクトル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oMath>
                </a14:m>
                <a:r>
                  <a:rPr kumimoji="1" lang="ja-JP" altLang="en-US" dirty="0"/>
                  <a:t>を観測</a:t>
                </a:r>
                <a:br>
                  <a:rPr kumimoji="1" lang="en-US" altLang="ja-JP" dirty="0"/>
                </a:br>
                <a:r>
                  <a:rPr kumimoji="1" lang="ja-JP" altLang="en-US" dirty="0"/>
                  <a:t>・</a:t>
                </a:r>
                <a:r>
                  <a:rPr kumimoji="1" lang="en-US" altLang="ja-JP" dirty="0"/>
                  <a:t>SoftMax</a:t>
                </a:r>
                <a:r>
                  <a:rPr kumimoji="1" lang="ja-JP" altLang="en-US" dirty="0"/>
                  <a:t>方針を使用して行動</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𝑎</m:t>
                        </m:r>
                      </m:e>
                      <m:sub>
                        <m:r>
                          <a:rPr kumimoji="1" lang="en-US" altLang="ja-JP" b="0" i="1" smtClean="0">
                            <a:latin typeface="Cambria Math" panose="02040503050406030204" pitchFamily="18" charset="0"/>
                          </a:rPr>
                          <m:t>𝑡</m:t>
                        </m:r>
                      </m:sub>
                    </m:sSub>
                  </m:oMath>
                </a14:m>
                <a:r>
                  <a:rPr kumimoji="1" lang="ja-JP" altLang="en-US" dirty="0"/>
                  <a:t>を選択 </a:t>
                </a:r>
                <a:r>
                  <a:rPr kumimoji="1" lang="en-US" altLang="ja-JP" dirty="0"/>
                  <a:t>[</a:t>
                </a:r>
                <a:r>
                  <a:rPr kumimoji="1" lang="ja-JP" altLang="en-US" b="1" dirty="0"/>
                  <a:t>方策</a:t>
                </a:r>
                <a:r>
                  <a:rPr kumimoji="1" lang="en-US" altLang="ja-JP" dirty="0"/>
                  <a:t>]</a:t>
                </a:r>
                <a:br>
                  <a:rPr kumimoji="1" lang="en-US" altLang="ja-JP" dirty="0"/>
                </a:br>
                <a:r>
                  <a:rPr kumimoji="1" lang="ja-JP" altLang="en-US" dirty="0"/>
                  <a:t>➡確率　</a:t>
                </a:r>
                <a14:m>
                  <m:oMath xmlns:m="http://schemas.openxmlformats.org/officeDocument/2006/math">
                    <m:r>
                      <a:rPr kumimoji="1" lang="en-US" altLang="ja-JP" b="1" i="1" smtClean="0">
                        <a:latin typeface="Cambria Math" panose="02040503050406030204" pitchFamily="18" charset="0"/>
                      </a:rPr>
                      <m:t>𝒑</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𝒂</m:t>
                    </m:r>
                    <m:r>
                      <a:rPr kumimoji="1" lang="en-US" altLang="ja-JP" b="1" i="1" smtClean="0">
                        <a:latin typeface="Cambria Math" panose="02040503050406030204" pitchFamily="18" charset="0"/>
                      </a:rPr>
                      <m:t>)</m:t>
                    </m:r>
                  </m:oMath>
                </a14:m>
                <a:r>
                  <a:rPr kumimoji="1" lang="en-US" altLang="ja-JP" b="1" dirty="0"/>
                  <a:t> </a:t>
                </a:r>
                <a14:m>
                  <m:oMath xmlns:m="http://schemas.openxmlformats.org/officeDocument/2006/math">
                    <m:r>
                      <a:rPr kumimoji="1" lang="en-US" altLang="ja-JP" b="1" i="0" smtClean="0">
                        <a:latin typeface="Cambria Math" panose="02040503050406030204" pitchFamily="18" charset="0"/>
                      </a:rPr>
                      <m:t>= </m:t>
                    </m:r>
                    <m:f>
                      <m:fPr>
                        <m:ctrlPr>
                          <a:rPr kumimoji="1" lang="en-US" altLang="ja-JP" b="1" i="1" smtClean="0">
                            <a:latin typeface="Cambria Math" panose="02040503050406030204" pitchFamily="18" charset="0"/>
                          </a:rPr>
                        </m:ctrlPr>
                      </m:fPr>
                      <m:num>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𝒆</m:t>
                            </m:r>
                          </m:e>
                          <m:sup>
                            <m:f>
                              <m:fPr>
                                <m:ctrlPr>
                                  <a:rPr kumimoji="1" lang="en-US" altLang="ja-JP" b="1" i="1" smtClean="0">
                                    <a:latin typeface="Cambria Math" panose="02040503050406030204" pitchFamily="18" charset="0"/>
                                  </a:rPr>
                                </m:ctrlPr>
                              </m:fPr>
                              <m:num>
                                <m:r>
                                  <a:rPr kumimoji="1" lang="en-US" altLang="ja-JP" b="1" i="1" smtClean="0">
                                    <a:latin typeface="Cambria Math" panose="02040503050406030204" pitchFamily="18" charset="0"/>
                                  </a:rPr>
                                  <m:t>𝑸</m:t>
                                </m:r>
                                <m:d>
                                  <m:dPr>
                                    <m:ctrlPr>
                                      <a:rPr kumimoji="1" lang="en-US" altLang="ja-JP" b="1" i="1" smtClean="0">
                                        <a:latin typeface="Cambria Math" panose="02040503050406030204" pitchFamily="18" charset="0"/>
                                      </a:rPr>
                                    </m:ctrlPr>
                                  </m:dPr>
                                  <m:e>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𝒔</m:t>
                                        </m:r>
                                      </m:e>
                                      <m:sub>
                                        <m:r>
                                          <a:rPr kumimoji="1" lang="en-US" altLang="ja-JP" b="1" i="1" smtClean="0">
                                            <a:latin typeface="Cambria Math" panose="02040503050406030204" pitchFamily="18" charset="0"/>
                                          </a:rPr>
                                          <m:t>𝒕</m:t>
                                        </m:r>
                                      </m:sub>
                                    </m:sSub>
                                    <m:r>
                                      <a:rPr kumimoji="1" lang="en-US" altLang="ja-JP" b="1"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𝒂</m:t>
                                        </m:r>
                                      </m:e>
                                      <m:sub>
                                        <m:r>
                                          <a:rPr kumimoji="1" lang="en-US" altLang="ja-JP" b="1" i="1" smtClean="0">
                                            <a:latin typeface="Cambria Math" panose="02040503050406030204" pitchFamily="18" charset="0"/>
                                          </a:rPr>
                                          <m:t>𝒕</m:t>
                                        </m:r>
                                      </m:sub>
                                    </m:sSub>
                                  </m:e>
                                </m:d>
                              </m:num>
                              <m:den>
                                <m:r>
                                  <a:rPr kumimoji="1" lang="en-US" altLang="ja-JP" b="1" i="1" smtClean="0">
                                    <a:latin typeface="Cambria Math" panose="02040503050406030204" pitchFamily="18" charset="0"/>
                                  </a:rPr>
                                  <m:t>𝑻</m:t>
                                </m:r>
                              </m:den>
                            </m:f>
                          </m:sup>
                        </m:sSup>
                      </m:num>
                      <m:den>
                        <m:nary>
                          <m:naryPr>
                            <m:chr m:val="∑"/>
                            <m:ctrlPr>
                              <a:rPr kumimoji="1" lang="en-US" altLang="ja-JP" b="1" i="1" smtClean="0">
                                <a:latin typeface="Cambria Math" panose="02040503050406030204" pitchFamily="18" charset="0"/>
                              </a:rPr>
                            </m:ctrlPr>
                          </m:naryPr>
                          <m:sub>
                            <m:r>
                              <m:rPr>
                                <m:brk m:alnAt="23"/>
                              </m:rPr>
                              <a:rPr kumimoji="1" lang="en-US" altLang="ja-JP" b="1" i="1" smtClean="0">
                                <a:latin typeface="Cambria Math" panose="02040503050406030204" pitchFamily="18" charset="0"/>
                              </a:rPr>
                              <m:t>𝒌</m:t>
                            </m:r>
                            <m:r>
                              <a:rPr kumimoji="1" lang="en-US" altLang="ja-JP" b="1" i="1" smtClean="0">
                                <a:latin typeface="Cambria Math" panose="02040503050406030204" pitchFamily="18" charset="0"/>
                              </a:rPr>
                              <m:t>=</m:t>
                            </m:r>
                            <m:r>
                              <a:rPr kumimoji="1" lang="en-US" altLang="ja-JP" b="1" i="1" smtClean="0">
                                <a:latin typeface="Cambria Math" panose="02040503050406030204" pitchFamily="18" charset="0"/>
                              </a:rPr>
                              <m:t>𝟏</m:t>
                            </m:r>
                          </m:sub>
                          <m:sup>
                            <m:r>
                              <a:rPr kumimoji="1" lang="en-US" altLang="ja-JP" b="1" i="1" smtClean="0">
                                <a:latin typeface="Cambria Math" panose="02040503050406030204" pitchFamily="18" charset="0"/>
                              </a:rPr>
                              <m:t>𝒏</m:t>
                            </m:r>
                          </m:sup>
                          <m:e>
                            <m:sSup>
                              <m:sSupPr>
                                <m:ctrlPr>
                                  <a:rPr kumimoji="1" lang="en-US" altLang="ja-JP" b="1" i="1">
                                    <a:latin typeface="Cambria Math" panose="02040503050406030204" pitchFamily="18" charset="0"/>
                                  </a:rPr>
                                </m:ctrlPr>
                              </m:sSupPr>
                              <m:e>
                                <m:r>
                                  <a:rPr kumimoji="1" lang="en-US" altLang="ja-JP" b="1" i="1">
                                    <a:latin typeface="Cambria Math" panose="02040503050406030204" pitchFamily="18" charset="0"/>
                                  </a:rPr>
                                  <m:t>𝒆</m:t>
                                </m:r>
                              </m:e>
                              <m:sup>
                                <m:f>
                                  <m:fPr>
                                    <m:ctrlPr>
                                      <a:rPr kumimoji="1" lang="en-US" altLang="ja-JP" b="1" i="1">
                                        <a:latin typeface="Cambria Math" panose="02040503050406030204" pitchFamily="18" charset="0"/>
                                      </a:rPr>
                                    </m:ctrlPr>
                                  </m:fPr>
                                  <m:num>
                                    <m:r>
                                      <a:rPr kumimoji="1" lang="en-US" altLang="ja-JP" b="1" i="1">
                                        <a:latin typeface="Cambria Math" panose="02040503050406030204" pitchFamily="18" charset="0"/>
                                      </a:rPr>
                                      <m:t>𝑸</m:t>
                                    </m:r>
                                    <m:d>
                                      <m:dPr>
                                        <m:ctrlPr>
                                          <a:rPr kumimoji="1" lang="en-US" altLang="ja-JP" b="1" i="1">
                                            <a:latin typeface="Cambria Math" panose="02040503050406030204" pitchFamily="18" charset="0"/>
                                          </a:rPr>
                                        </m:ctrlPr>
                                      </m:dPr>
                                      <m:e>
                                        <m:sSub>
                                          <m:sSubPr>
                                            <m:ctrlPr>
                                              <a:rPr kumimoji="1" lang="en-US" altLang="ja-JP" b="1" i="1">
                                                <a:latin typeface="Cambria Math" panose="02040503050406030204" pitchFamily="18" charset="0"/>
                                              </a:rPr>
                                            </m:ctrlPr>
                                          </m:sSubPr>
                                          <m:e>
                                            <m:r>
                                              <a:rPr kumimoji="1" lang="en-US" altLang="ja-JP" b="1" i="1">
                                                <a:latin typeface="Cambria Math" panose="02040503050406030204" pitchFamily="18" charset="0"/>
                                              </a:rPr>
                                              <m:t>𝒔</m:t>
                                            </m:r>
                                          </m:e>
                                          <m:sub>
                                            <m:r>
                                              <a:rPr kumimoji="1" lang="en-US" altLang="ja-JP" b="1" i="1" smtClean="0">
                                                <a:latin typeface="Cambria Math" panose="02040503050406030204" pitchFamily="18" charset="0"/>
                                              </a:rPr>
                                              <m:t>𝒕</m:t>
                                            </m:r>
                                          </m:sub>
                                        </m:sSub>
                                        <m:r>
                                          <a:rPr kumimoji="1" lang="en-US" altLang="ja-JP" b="1" i="1">
                                            <a:latin typeface="Cambria Math" panose="02040503050406030204" pitchFamily="18" charset="0"/>
                                          </a:rPr>
                                          <m:t>,</m:t>
                                        </m:r>
                                        <m:sSub>
                                          <m:sSubPr>
                                            <m:ctrlPr>
                                              <a:rPr kumimoji="1" lang="en-US" altLang="ja-JP" b="1" i="1">
                                                <a:latin typeface="Cambria Math" panose="02040503050406030204" pitchFamily="18" charset="0"/>
                                              </a:rPr>
                                            </m:ctrlPr>
                                          </m:sSubPr>
                                          <m:e>
                                            <m:r>
                                              <a:rPr kumimoji="1" lang="en-US" altLang="ja-JP" b="1" i="1">
                                                <a:latin typeface="Cambria Math" panose="02040503050406030204" pitchFamily="18" charset="0"/>
                                              </a:rPr>
                                              <m:t>𝒂</m:t>
                                            </m:r>
                                          </m:e>
                                          <m:sub>
                                            <m:r>
                                              <a:rPr kumimoji="1" lang="en-US" altLang="ja-JP" b="1" i="1" smtClean="0">
                                                <a:latin typeface="Cambria Math" panose="02040503050406030204" pitchFamily="18" charset="0"/>
                                              </a:rPr>
                                              <m:t>𝒌</m:t>
                                            </m:r>
                                          </m:sub>
                                        </m:sSub>
                                      </m:e>
                                    </m:d>
                                  </m:num>
                                  <m:den>
                                    <m:r>
                                      <a:rPr kumimoji="1" lang="en-US" altLang="ja-JP" b="1" i="1">
                                        <a:latin typeface="Cambria Math" panose="02040503050406030204" pitchFamily="18" charset="0"/>
                                      </a:rPr>
                                      <m:t>𝑻</m:t>
                                    </m:r>
                                  </m:den>
                                </m:f>
                              </m:sup>
                            </m:sSup>
                          </m:e>
                        </m:nary>
                      </m:den>
                    </m:f>
                  </m:oMath>
                </a14:m>
                <a:r>
                  <a:rPr kumimoji="1" lang="ja-JP" altLang="en-US" b="1" dirty="0"/>
                  <a:t>  </a:t>
                </a:r>
                <a:r>
                  <a:rPr kumimoji="1" lang="ja-JP" altLang="en-US" dirty="0"/>
                  <a:t>で行動を選択</a:t>
                </a:r>
                <a:br>
                  <a:rPr kumimoji="1" lang="en-US" altLang="ja-JP" dirty="0"/>
                </a:br>
                <a:r>
                  <a:rPr kumimoji="1" lang="ja-JP" altLang="en-US" dirty="0"/>
                  <a:t>・行動を</a:t>
                </a:r>
                <a:r>
                  <a:rPr kumimoji="1" lang="en-US" altLang="ja-JP" dirty="0"/>
                  <a:t>HIV</a:t>
                </a:r>
                <a:r>
                  <a:rPr kumimoji="1" lang="ja-JP" altLang="en-US" dirty="0"/>
                  <a:t>システムの動的モデルに適用</a:t>
                </a:r>
                <a:r>
                  <a:rPr kumimoji="1" lang="en-US" altLang="ja-JP" dirty="0"/>
                  <a:t>. </a:t>
                </a:r>
                <a:r>
                  <a:rPr kumimoji="1" lang="ja-JP" altLang="en-US" dirty="0"/>
                  <a:t>新たな状態</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を観測</a:t>
                </a:r>
                <a:br>
                  <a:rPr kumimoji="1" lang="en-US" altLang="ja-JP" dirty="0"/>
                </a:br>
                <a:r>
                  <a:rPr kumimoji="1" lang="ja-JP" altLang="en-US" dirty="0"/>
                  <a:t>・即時報酬</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を受け取る</a:t>
                </a:r>
                <a:r>
                  <a:rPr kumimoji="1" lang="en-US" altLang="ja-JP" dirty="0"/>
                  <a:t>. </a:t>
                </a:r>
                <a:br>
                  <a:rPr kumimoji="1" lang="en-US" altLang="ja-JP" dirty="0"/>
                </a:br>
                <a:r>
                  <a:rPr kumimoji="1" lang="ja-JP" altLang="en-US" dirty="0"/>
                  <a:t>・行動価値関数</a:t>
                </a:r>
                <a:r>
                  <a:rPr kumimoji="1" lang="en-US" altLang="ja-JP" dirty="0"/>
                  <a:t>Q(s,a)</a:t>
                </a:r>
                <a:r>
                  <a:rPr kumimoji="1" lang="ja-JP" altLang="en-US" dirty="0"/>
                  <a:t>を更新則に基づき</a:t>
                </a:r>
                <a:r>
                  <a:rPr kumimoji="1" lang="en-US" altLang="ja-JP" dirty="0"/>
                  <a:t>, </a:t>
                </a:r>
                <a:r>
                  <a:rPr kumimoji="1" lang="ja-JP" altLang="en-US" dirty="0"/>
                  <a:t>更新する</a:t>
                </a:r>
                <a:r>
                  <a:rPr kumimoji="1" lang="en-US" altLang="ja-JP" dirty="0"/>
                  <a:t>. </a:t>
                </a:r>
                <a:br>
                  <a:rPr kumimoji="1" lang="en-US" altLang="ja-JP" dirty="0"/>
                </a:br>
                <a:r>
                  <a:rPr kumimoji="1" lang="ja-JP" altLang="en-US" dirty="0"/>
                  <a:t>・</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sub>
                    </m:sSub>
                    <m:r>
                      <a:rPr kumimoji="1" lang="ja-JP" altLang="en-US" i="1">
                        <a:latin typeface="Cambria Math" panose="02040503050406030204" pitchFamily="18" charset="0"/>
                      </a:rPr>
                      <m:t>を</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𝑠</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に更新</a:t>
                </a:r>
                <a:endParaRPr kumimoji="1" lang="en-US" altLang="ja-JP" dirty="0"/>
              </a:p>
            </p:txBody>
          </p:sp>
        </mc:Choice>
        <mc:Fallback xmlns="">
          <p:sp>
            <p:nvSpPr>
              <p:cNvPr id="4" name="テキスト ボックス 3">
                <a:extLst>
                  <a:ext uri="{FF2B5EF4-FFF2-40B4-BE49-F238E27FC236}">
                    <a16:creationId xmlns:a16="http://schemas.microsoft.com/office/drawing/2014/main" id="{FD02753E-BD9C-7DBC-69A4-60BCC8875D36}"/>
                  </a:ext>
                </a:extLst>
              </p:cNvPr>
              <p:cNvSpPr txBox="1">
                <a:spLocks noRot="1" noChangeAspect="1" noMove="1" noResize="1" noEditPoints="1" noAdjustHandles="1" noChangeArrowheads="1" noChangeShapeType="1" noTextEdit="1"/>
              </p:cNvSpPr>
              <p:nvPr/>
            </p:nvSpPr>
            <p:spPr>
              <a:xfrm>
                <a:off x="507999" y="2753081"/>
                <a:ext cx="6785478" cy="3356881"/>
              </a:xfrm>
              <a:prstGeom prst="rect">
                <a:avLst/>
              </a:prstGeom>
              <a:blipFill>
                <a:blip r:embed="rId3"/>
                <a:stretch>
                  <a:fillRect l="-627" t="-1447" r="-179" b="-1085"/>
                </a:stretch>
              </a:blipFill>
              <a:ln w="19050">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コンテンツ プレースホルダー 2">
                <a:extLst>
                  <a:ext uri="{FF2B5EF4-FFF2-40B4-BE49-F238E27FC236}">
                    <a16:creationId xmlns:a16="http://schemas.microsoft.com/office/drawing/2014/main" id="{1FE7FC1B-2815-E6D0-0BC4-DCC00DA4D901}"/>
                  </a:ext>
                </a:extLst>
              </p:cNvPr>
              <p:cNvSpPr>
                <a:spLocks noGrp="1"/>
              </p:cNvSpPr>
              <p:nvPr>
                <p:ph idx="1"/>
              </p:nvPr>
            </p:nvSpPr>
            <p:spPr>
              <a:xfrm>
                <a:off x="206479" y="748038"/>
                <a:ext cx="8209388" cy="1584670"/>
              </a:xfrm>
              <a:solidFill>
                <a:schemeClr val="accent3">
                  <a:lumMod val="20000"/>
                  <a:lumOff val="80000"/>
                </a:schemeClr>
              </a:solidFill>
            </p:spPr>
            <p:txBody>
              <a:bodyPr>
                <a:normAutofit fontScale="77500" lnSpcReduction="20000"/>
              </a:bodyPr>
              <a:lstStyle/>
              <a:p>
                <a:pPr>
                  <a:buClr>
                    <a:srgbClr val="000000"/>
                  </a:buClr>
                  <a:buFont typeface="Wingdings" panose="05000000000000000000" pitchFamily="2" charset="2"/>
                  <a:buChar char="n"/>
                </a:pPr>
                <a:r>
                  <a:rPr lang="en-US" altLang="ja-JP" sz="2600" b="1" dirty="0">
                    <a:solidFill>
                      <a:schemeClr val="tx1"/>
                    </a:solidFill>
                  </a:rPr>
                  <a:t>Q-learning</a:t>
                </a:r>
                <a:r>
                  <a:rPr lang="ja-JP" altLang="en-US" sz="2600" b="1" dirty="0">
                    <a:solidFill>
                      <a:schemeClr val="tx1"/>
                    </a:solidFill>
                  </a:rPr>
                  <a:t>における行動価値関数の更新式</a:t>
                </a:r>
                <a:endParaRPr lang="en-US" altLang="ja-JP" sz="2600" dirty="0">
                  <a:solidFill>
                    <a:schemeClr val="tx1"/>
                  </a:solidFill>
                </a:endParaRPr>
              </a:p>
              <a:p>
                <a:pPr marL="0" indent="0">
                  <a:buNone/>
                </a:pPr>
                <a:r>
                  <a:rPr kumimoji="1" lang="en-US" altLang="ja-JP" sz="2400" dirty="0"/>
                  <a:t>Q-learning </a:t>
                </a:r>
                <a:r>
                  <a:rPr kumimoji="1" lang="ja-JP" altLang="en-US" sz="2400" dirty="0"/>
                  <a:t>では方策</a:t>
                </a:r>
                <a14:m>
                  <m:oMath xmlns:m="http://schemas.openxmlformats.org/officeDocument/2006/math">
                    <m:r>
                      <a:rPr kumimoji="1" lang="ja-JP" altLang="en-US" sz="2400" i="1" smtClean="0">
                        <a:latin typeface="Cambria Math" panose="02040503050406030204" pitchFamily="18" charset="0"/>
                      </a:rPr>
                      <m:t>𝜋</m:t>
                    </m:r>
                  </m:oMath>
                </a14:m>
                <a:r>
                  <a:rPr kumimoji="1" lang="ja-JP" altLang="en-US" sz="2400" dirty="0"/>
                  <a:t>に基づくのではなく</a:t>
                </a:r>
                <a:r>
                  <a:rPr kumimoji="1" lang="en-US" altLang="ja-JP" sz="2400" dirty="0"/>
                  <a:t>, </a:t>
                </a:r>
                <a:r>
                  <a:rPr kumimoji="1" lang="ja-JP" altLang="en-US" sz="2400" dirty="0"/>
                  <a:t>常に最大の価値関数をとるように行動</a:t>
                </a:r>
                <a:endParaRPr kumimoji="1" lang="en-US" altLang="ja-JP" sz="2400" dirty="0"/>
              </a:p>
              <a:p>
                <a:pPr marL="0" indent="0">
                  <a:buNone/>
                </a:pPr>
                <a:endParaRPr kumimoji="1" lang="en-US" altLang="ja-JP" sz="2200" dirty="0"/>
              </a:p>
              <a:p>
                <a:pPr marL="0" indent="0">
                  <a:lnSpc>
                    <a:spcPct val="120000"/>
                  </a:lnSpc>
                  <a:buNone/>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𝑄</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𝑎</m:t>
                              </m:r>
                            </m:e>
                            <m:sub>
                              <m:r>
                                <a:rPr kumimoji="1" lang="en-US" altLang="ja-JP" sz="2400" b="0" i="1" smtClean="0">
                                  <a:latin typeface="Cambria Math" panose="02040503050406030204" pitchFamily="18" charset="0"/>
                                </a:rPr>
                                <m:t>𝑡</m:t>
                              </m:r>
                            </m:sub>
                          </m:sSub>
                        </m:e>
                      </m:d>
                      <m:r>
                        <a:rPr lang="en-US" altLang="ja-JP" sz="2400" i="1">
                          <a:latin typeface="Cambria Math" panose="02040503050406030204" pitchFamily="18" charset="0"/>
                          <a:ea typeface="Cambria Math" panose="02040503050406030204" pitchFamily="18" charset="0"/>
                        </a:rPr>
                        <m:t>←</m:t>
                      </m:r>
                      <m:r>
                        <a:rPr kumimoji="1" lang="en-US" altLang="ja-JP" sz="2400" b="0" i="1" smtClean="0">
                          <a:latin typeface="Cambria Math" panose="02040503050406030204" pitchFamily="18" charset="0"/>
                        </a:rPr>
                        <m:t>𝑄</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𝑠</m:t>
                              </m:r>
                            </m:e>
                            <m:sub>
                              <m:r>
                                <a:rPr kumimoji="1" lang="en-US" altLang="ja-JP" sz="2400" b="0" i="1" smtClean="0">
                                  <a:latin typeface="Cambria Math" panose="02040503050406030204" pitchFamily="18" charset="0"/>
                                </a:rPr>
                                <m:t>𝑡</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𝑎</m:t>
                              </m:r>
                            </m:e>
                            <m:sub>
                              <m:r>
                                <a:rPr kumimoji="1" lang="en-US" altLang="ja-JP" sz="2400" b="0" i="1" smtClean="0">
                                  <a:latin typeface="Cambria Math" panose="02040503050406030204" pitchFamily="18" charset="0"/>
                                </a:rPr>
                                <m:t>𝑡</m:t>
                              </m:r>
                            </m:sub>
                          </m:sSub>
                        </m:e>
                      </m:d>
                      <m:r>
                        <a:rPr kumimoji="1" lang="en-US" altLang="ja-JP" sz="2400" b="0" i="1" smtClean="0">
                          <a:latin typeface="Cambria Math" panose="02040503050406030204" pitchFamily="18" charset="0"/>
                        </a:rPr>
                        <m:t>+</m:t>
                      </m:r>
                      <m:r>
                        <a:rPr kumimoji="1" lang="ja-JP" altLang="en-US" sz="2400" b="1" i="1" smtClean="0">
                          <a:latin typeface="Cambria Math" panose="02040503050406030204" pitchFamily="18" charset="0"/>
                        </a:rPr>
                        <m:t>𝜶</m:t>
                      </m:r>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𝑟</m:t>
                          </m:r>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m:t>
                      </m:r>
                      <m:r>
                        <a:rPr kumimoji="1" lang="ja-JP" altLang="en-US" sz="2400" b="1" i="1" smtClean="0">
                          <a:latin typeface="Cambria Math" panose="02040503050406030204" pitchFamily="18" charset="0"/>
                        </a:rPr>
                        <m:t>𝜸</m:t>
                      </m:r>
                      <m:func>
                        <m:funcPr>
                          <m:ctrlPr>
                            <a:rPr lang="en-US" altLang="ja-JP" sz="2400" b="1" i="1" smtClean="0">
                              <a:solidFill>
                                <a:schemeClr val="tx1"/>
                              </a:solidFill>
                              <a:latin typeface="Cambria Math" panose="02040503050406030204" pitchFamily="18" charset="0"/>
                              <a:ea typeface="Cambria Math" panose="02040503050406030204" pitchFamily="18" charset="0"/>
                            </a:rPr>
                          </m:ctrlPr>
                        </m:funcPr>
                        <m:fName>
                          <m:limLow>
                            <m:limLowPr>
                              <m:ctrlPr>
                                <a:rPr lang="en-US" altLang="ja-JP" sz="2400" b="1" i="1">
                                  <a:solidFill>
                                    <a:schemeClr val="tx1"/>
                                  </a:solidFill>
                                  <a:latin typeface="Cambria Math" panose="02040503050406030204" pitchFamily="18" charset="0"/>
                                  <a:ea typeface="Cambria Math" panose="02040503050406030204" pitchFamily="18" charset="0"/>
                                </a:rPr>
                              </m:ctrlPr>
                            </m:limLowPr>
                            <m:e>
                              <m:r>
                                <a:rPr lang="en-US" altLang="ja-JP" sz="2400" b="1" i="1">
                                  <a:solidFill>
                                    <a:schemeClr val="tx1"/>
                                  </a:solidFill>
                                  <a:latin typeface="Cambria Math" panose="02040503050406030204" pitchFamily="18" charset="0"/>
                                  <a:ea typeface="Cambria Math" panose="02040503050406030204" pitchFamily="18" charset="0"/>
                                </a:rPr>
                                <m:t>𝒎𝒂𝒙</m:t>
                              </m:r>
                            </m:e>
                            <m:lim>
                              <m:r>
                                <a:rPr lang="en-US" altLang="ja-JP" sz="2400" b="1" i="1" smtClean="0">
                                  <a:solidFill>
                                    <a:schemeClr val="tx1"/>
                                  </a:solidFill>
                                  <a:latin typeface="Cambria Math" panose="02040503050406030204" pitchFamily="18" charset="0"/>
                                  <a:ea typeface="Cambria Math" panose="02040503050406030204" pitchFamily="18" charset="0"/>
                                </a:rPr>
                                <m:t>𝒂</m:t>
                              </m:r>
                            </m:lim>
                          </m:limLow>
                        </m:fName>
                        <m:e>
                          <m:r>
                            <a:rPr lang="en-US" altLang="ja-JP" sz="2400" b="1" i="1" smtClean="0">
                              <a:solidFill>
                                <a:schemeClr val="tx1"/>
                              </a:solidFill>
                              <a:latin typeface="Cambria Math" panose="02040503050406030204" pitchFamily="18" charset="0"/>
                              <a:ea typeface="Cambria Math" panose="02040503050406030204" pitchFamily="18" charset="0"/>
                            </a:rPr>
                            <m:t>𝑸</m:t>
                          </m:r>
                        </m:e>
                      </m:func>
                      <m:d>
                        <m:dPr>
                          <m:ctrlPr>
                            <a:rPr lang="en-US" altLang="ja-JP" sz="2400" b="1" i="1">
                              <a:solidFill>
                                <a:schemeClr val="tx1"/>
                              </a:solidFill>
                              <a:latin typeface="Cambria Math" panose="02040503050406030204" pitchFamily="18" charset="0"/>
                              <a:ea typeface="Cambria Math" panose="02040503050406030204" pitchFamily="18" charset="0"/>
                            </a:rPr>
                          </m:ctrlPr>
                        </m:dPr>
                        <m:e>
                          <m:sSub>
                            <m:sSubPr>
                              <m:ctrlPr>
                                <a:rPr lang="en-US" altLang="ja-JP" sz="2400" b="1" i="1" smtClean="0">
                                  <a:solidFill>
                                    <a:schemeClr val="tx1"/>
                                  </a:solidFill>
                                  <a:latin typeface="Cambria Math" panose="02040503050406030204" pitchFamily="18" charset="0"/>
                                  <a:ea typeface="Cambria Math" panose="02040503050406030204" pitchFamily="18" charset="0"/>
                                </a:rPr>
                              </m:ctrlPr>
                            </m:sSubPr>
                            <m:e>
                              <m:r>
                                <a:rPr lang="en-US" altLang="ja-JP" sz="2400" b="1" i="1" smtClean="0">
                                  <a:solidFill>
                                    <a:schemeClr val="tx1"/>
                                  </a:solidFill>
                                  <a:latin typeface="Cambria Math" panose="02040503050406030204" pitchFamily="18" charset="0"/>
                                  <a:ea typeface="Cambria Math" panose="02040503050406030204" pitchFamily="18" charset="0"/>
                                </a:rPr>
                                <m:t>𝒔</m:t>
                              </m:r>
                            </m:e>
                            <m:sub>
                              <m:r>
                                <a:rPr lang="en-US" altLang="ja-JP" sz="2400" b="1" i="1" smtClean="0">
                                  <a:solidFill>
                                    <a:schemeClr val="tx1"/>
                                  </a:solidFill>
                                  <a:latin typeface="Cambria Math" panose="02040503050406030204" pitchFamily="18" charset="0"/>
                                  <a:ea typeface="Cambria Math" panose="02040503050406030204" pitchFamily="18" charset="0"/>
                                </a:rPr>
                                <m:t>𝒕</m:t>
                              </m:r>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1" i="1" smtClean="0">
                                  <a:solidFill>
                                    <a:schemeClr val="tx1"/>
                                  </a:solidFill>
                                  <a:latin typeface="Cambria Math" panose="02040503050406030204" pitchFamily="18" charset="0"/>
                                  <a:ea typeface="Cambria Math" panose="02040503050406030204" pitchFamily="18" charset="0"/>
                                </a:rPr>
                                <m:t>𝟏</m:t>
                              </m:r>
                            </m:sub>
                          </m:sSub>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1" i="1" smtClean="0">
                              <a:solidFill>
                                <a:schemeClr val="tx1"/>
                              </a:solidFill>
                              <a:latin typeface="Cambria Math" panose="02040503050406030204" pitchFamily="18" charset="0"/>
                              <a:ea typeface="Cambria Math" panose="02040503050406030204" pitchFamily="18" charset="0"/>
                            </a:rPr>
                            <m:t>𝒂</m:t>
                          </m:r>
                        </m:e>
                      </m:d>
                      <m:r>
                        <a:rPr lang="en-US" altLang="ja-JP" sz="2400" b="1" i="1" smtClean="0">
                          <a:solidFill>
                            <a:schemeClr val="tx1"/>
                          </a:solidFill>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𝑄</m:t>
                      </m:r>
                      <m:d>
                        <m:dPr>
                          <m:ctrlPr>
                            <a:rPr lang="en-US" altLang="ja-JP" sz="2400" b="0" i="1" smtClean="0">
                              <a:latin typeface="Cambria Math" panose="02040503050406030204" pitchFamily="18" charset="0"/>
                              <a:ea typeface="Cambria Math" panose="02040503050406030204" pitchFamily="18" charset="0"/>
                            </a:rPr>
                          </m:ctrlPr>
                        </m:dPr>
                        <m:e>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𝑠</m:t>
                              </m:r>
                            </m:e>
                            <m:sub>
                              <m:r>
                                <a:rPr lang="en-US" altLang="ja-JP" sz="2400" b="0" i="1" smtClean="0">
                                  <a:latin typeface="Cambria Math" panose="02040503050406030204" pitchFamily="18" charset="0"/>
                                  <a:ea typeface="Cambria Math" panose="02040503050406030204" pitchFamily="18" charset="0"/>
                                </a:rPr>
                                <m:t>𝑡</m:t>
                              </m:r>
                            </m:sub>
                          </m:sSub>
                          <m:r>
                            <a:rPr lang="en-US" altLang="ja-JP" sz="2400" b="0" i="1" smtClean="0">
                              <a:latin typeface="Cambria Math" panose="02040503050406030204" pitchFamily="18" charset="0"/>
                              <a:ea typeface="Cambria Math" panose="02040503050406030204" pitchFamily="18" charset="0"/>
                            </a:rPr>
                            <m:t>,</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𝑎</m:t>
                              </m:r>
                            </m:e>
                            <m:sub>
                              <m:r>
                                <a:rPr lang="en-US" altLang="ja-JP" sz="2400" b="0" i="1" smtClean="0">
                                  <a:latin typeface="Cambria Math" panose="02040503050406030204" pitchFamily="18" charset="0"/>
                                  <a:ea typeface="Cambria Math" panose="02040503050406030204" pitchFamily="18" charset="0"/>
                                </a:rPr>
                                <m:t>𝑡</m:t>
                              </m:r>
                            </m:sub>
                          </m:sSub>
                        </m:e>
                      </m:d>
                      <m:r>
                        <a:rPr lang="en-US" altLang="ja-JP" sz="2400" b="0" i="1" smtClean="0">
                          <a:latin typeface="Cambria Math" panose="02040503050406030204" pitchFamily="18" charset="0"/>
                          <a:ea typeface="Cambria Math" panose="02040503050406030204" pitchFamily="18" charset="0"/>
                        </a:rPr>
                        <m:t>]</m:t>
                      </m:r>
                    </m:oMath>
                  </m:oMathPara>
                </a14:m>
                <a:endParaRPr kumimoji="1" lang="en-US" altLang="ja-JP" sz="2400" dirty="0"/>
              </a:p>
              <a:p>
                <a:endParaRPr kumimoji="1" lang="ja-JP" altLang="en-US" sz="2400" dirty="0"/>
              </a:p>
            </p:txBody>
          </p:sp>
        </mc:Choice>
        <mc:Fallback xmlns="">
          <p:sp>
            <p:nvSpPr>
              <p:cNvPr id="5" name="コンテンツ プレースホルダー 2">
                <a:extLst>
                  <a:ext uri="{FF2B5EF4-FFF2-40B4-BE49-F238E27FC236}">
                    <a16:creationId xmlns:a16="http://schemas.microsoft.com/office/drawing/2014/main" id="{1FE7FC1B-2815-E6D0-0BC4-DCC00DA4D901}"/>
                  </a:ext>
                </a:extLst>
              </p:cNvPr>
              <p:cNvSpPr>
                <a:spLocks noGrp="1" noRot="1" noChangeAspect="1" noMove="1" noResize="1" noEditPoints="1" noAdjustHandles="1" noChangeArrowheads="1" noChangeShapeType="1" noTextEdit="1"/>
              </p:cNvSpPr>
              <p:nvPr>
                <p:ph idx="1"/>
              </p:nvPr>
            </p:nvSpPr>
            <p:spPr>
              <a:xfrm>
                <a:off x="206479" y="748038"/>
                <a:ext cx="8209388" cy="1584670"/>
              </a:xfrm>
              <a:blipFill>
                <a:blip r:embed="rId4"/>
                <a:stretch>
                  <a:fillRect l="-1856" t="-8846"/>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96F1AC42-7E20-E236-5049-129AB95458DF}"/>
              </a:ext>
            </a:extLst>
          </p:cNvPr>
          <p:cNvSpPr txBox="1"/>
          <p:nvPr/>
        </p:nvSpPr>
        <p:spPr>
          <a:xfrm>
            <a:off x="127000" y="2329515"/>
            <a:ext cx="3440953" cy="400110"/>
          </a:xfrm>
          <a:prstGeom prst="rect">
            <a:avLst/>
          </a:prstGeom>
          <a:noFill/>
        </p:spPr>
        <p:txBody>
          <a:bodyPr wrap="square" rtlCol="0">
            <a:spAutoFit/>
          </a:bodyPr>
          <a:lstStyle/>
          <a:p>
            <a:pPr marL="285750" indent="-285750">
              <a:buFont typeface="Wingdings" panose="05000000000000000000" pitchFamily="2" charset="2"/>
              <a:buChar char="n"/>
            </a:pPr>
            <a:r>
              <a:rPr kumimoji="1" lang="en-US" altLang="ja-JP" sz="2000" b="1" dirty="0"/>
              <a:t>Q-learning</a:t>
            </a:r>
            <a:r>
              <a:rPr kumimoji="1" lang="ja-JP" altLang="en-US" sz="2000" b="1" dirty="0"/>
              <a:t>アルゴリズム </a:t>
            </a:r>
            <a:r>
              <a:rPr kumimoji="1" lang="en-US" altLang="ja-JP" sz="2000" b="1" dirty="0"/>
              <a:t>[2]</a:t>
            </a:r>
            <a:endParaRPr kumimoji="1" lang="ja-JP" altLang="en-US" sz="2000" b="1" dirty="0"/>
          </a:p>
        </p:txBody>
      </p:sp>
      <p:sp>
        <p:nvSpPr>
          <p:cNvPr id="7" name="正方形/長方形 6">
            <a:extLst>
              <a:ext uri="{FF2B5EF4-FFF2-40B4-BE49-F238E27FC236}">
                <a16:creationId xmlns:a16="http://schemas.microsoft.com/office/drawing/2014/main" id="{CC0AE4BE-B310-95C8-7093-9AC50249FEF7}"/>
              </a:ext>
            </a:extLst>
          </p:cNvPr>
          <p:cNvSpPr/>
          <p:nvPr/>
        </p:nvSpPr>
        <p:spPr>
          <a:xfrm>
            <a:off x="879217" y="1730707"/>
            <a:ext cx="6785478" cy="548081"/>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BE0A8468-659A-12D1-8016-5EAD204C54BA}"/>
                  </a:ext>
                </a:extLst>
              </p:cNvPr>
              <p:cNvSpPr txBox="1"/>
              <p:nvPr/>
            </p:nvSpPr>
            <p:spPr>
              <a:xfrm>
                <a:off x="8568266" y="462380"/>
                <a:ext cx="3276600" cy="1569660"/>
              </a:xfrm>
              <a:prstGeom prst="rect">
                <a:avLst/>
              </a:prstGeom>
              <a:noFill/>
            </p:spPr>
            <p:txBody>
              <a:bodyPr wrap="square" rtlCol="0">
                <a:spAutoFit/>
              </a:bodyPr>
              <a:lstStyle/>
              <a:p>
                <a:pPr marL="285750" indent="-285750">
                  <a:buFont typeface="Wingdings" panose="05000000000000000000" pitchFamily="2" charset="2"/>
                  <a:buChar char="l"/>
                </a:pPr>
                <a:r>
                  <a:rPr kumimoji="1" lang="ja-JP" altLang="en-US" sz="1600" dirty="0"/>
                  <a:t>割引率</a:t>
                </a:r>
                <a14:m>
                  <m:oMath xmlns:m="http://schemas.openxmlformats.org/officeDocument/2006/math">
                    <m:r>
                      <a:rPr kumimoji="1" lang="ja-JP" altLang="en-US" sz="1600" b="1" i="1" smtClean="0">
                        <a:latin typeface="Cambria Math" panose="02040503050406030204" pitchFamily="18" charset="0"/>
                      </a:rPr>
                      <m:t>𝜸</m:t>
                    </m:r>
                  </m:oMath>
                </a14:m>
                <a:r>
                  <a:rPr kumimoji="1" lang="ja-JP" altLang="en-US" sz="1600" dirty="0"/>
                  <a:t> </a:t>
                </a:r>
                <a:r>
                  <a:rPr kumimoji="1" lang="en-US" altLang="ja-JP" sz="1600" dirty="0"/>
                  <a:t>: </a:t>
                </a:r>
                <a:r>
                  <a:rPr kumimoji="1" lang="ja-JP" altLang="en-US" sz="1600" dirty="0"/>
                  <a:t>将来の報酬をどれ程割り引くかというパラメータ</a:t>
                </a:r>
                <a:endParaRPr kumimoji="1" lang="en-US" altLang="ja-JP" sz="1600" dirty="0"/>
              </a:p>
              <a:p>
                <a:pPr marL="285750" indent="-285750">
                  <a:buFont typeface="Wingdings" panose="05000000000000000000" pitchFamily="2" charset="2"/>
                  <a:buChar char="l"/>
                </a:pPr>
                <a:r>
                  <a:rPr kumimoji="1" lang="ja-JP" altLang="en-US" sz="1600" dirty="0"/>
                  <a:t>学習率</a:t>
                </a:r>
                <a14:m>
                  <m:oMath xmlns:m="http://schemas.openxmlformats.org/officeDocument/2006/math">
                    <m:r>
                      <a:rPr kumimoji="1" lang="ja-JP" altLang="en-US" sz="1600" b="1" i="1" smtClean="0">
                        <a:latin typeface="Cambria Math" panose="02040503050406030204" pitchFamily="18" charset="0"/>
                      </a:rPr>
                      <m:t>𝜶</m:t>
                    </m:r>
                  </m:oMath>
                </a14:m>
                <a:r>
                  <a:rPr kumimoji="1" lang="ja-JP" altLang="en-US" sz="1600" dirty="0"/>
                  <a:t> </a:t>
                </a:r>
                <a:r>
                  <a:rPr kumimoji="1" lang="en-US" altLang="ja-JP" sz="1600" dirty="0"/>
                  <a:t>: </a:t>
                </a:r>
                <a:r>
                  <a:rPr kumimoji="1" lang="ja-JP" altLang="en-US" sz="1600" dirty="0"/>
                  <a:t>一度の学習で</a:t>
                </a:r>
                <a:r>
                  <a:rPr kumimoji="1" lang="en-US" altLang="ja-JP" sz="1600" dirty="0"/>
                  <a:t>Q</a:t>
                </a:r>
                <a:r>
                  <a:rPr kumimoji="1" lang="ja-JP" altLang="en-US" sz="1600" dirty="0"/>
                  <a:t>値を変化させる度合い</a:t>
                </a:r>
                <a:endParaRPr kumimoji="1" lang="en-US" altLang="ja-JP" sz="1600" dirty="0"/>
              </a:p>
              <a:p>
                <a:pPr marL="285750" indent="-285750">
                  <a:buFont typeface="Wingdings" panose="05000000000000000000" pitchFamily="2" charset="2"/>
                  <a:buChar char="l"/>
                </a:pPr>
                <a:r>
                  <a:rPr kumimoji="1" lang="ja-JP" altLang="en-US" sz="1600" dirty="0"/>
                  <a:t>計算温度</a:t>
                </a:r>
                <a:r>
                  <a:rPr kumimoji="1" lang="en-US" altLang="ja-JP" sz="1600" dirty="0"/>
                  <a:t>T : softmax</a:t>
                </a:r>
                <a:r>
                  <a:rPr kumimoji="1" lang="ja-JP" altLang="en-US" sz="1600" dirty="0"/>
                  <a:t>関数において確率を調整するパラメータ</a:t>
                </a:r>
                <a:endParaRPr kumimoji="1" lang="en-US" altLang="ja-JP" sz="1600" dirty="0"/>
              </a:p>
            </p:txBody>
          </p:sp>
        </mc:Choice>
        <mc:Fallback xmlns="">
          <p:sp>
            <p:nvSpPr>
              <p:cNvPr id="8" name="テキスト ボックス 7">
                <a:extLst>
                  <a:ext uri="{FF2B5EF4-FFF2-40B4-BE49-F238E27FC236}">
                    <a16:creationId xmlns:a16="http://schemas.microsoft.com/office/drawing/2014/main" id="{BE0A8468-659A-12D1-8016-5EAD204C54BA}"/>
                  </a:ext>
                </a:extLst>
              </p:cNvPr>
              <p:cNvSpPr txBox="1">
                <a:spLocks noRot="1" noChangeAspect="1" noMove="1" noResize="1" noEditPoints="1" noAdjustHandles="1" noChangeArrowheads="1" noChangeShapeType="1" noTextEdit="1"/>
              </p:cNvSpPr>
              <p:nvPr/>
            </p:nvSpPr>
            <p:spPr>
              <a:xfrm>
                <a:off x="8568266" y="462380"/>
                <a:ext cx="3276600" cy="1569660"/>
              </a:xfrm>
              <a:prstGeom prst="rect">
                <a:avLst/>
              </a:prstGeom>
              <a:blipFill>
                <a:blip r:embed="rId5"/>
                <a:stretch>
                  <a:fillRect l="-745" t="-1946" b="-3502"/>
                </a:stretch>
              </a:blipFill>
            </p:spPr>
            <p:txBody>
              <a:bodyPr/>
              <a:lstStyle/>
              <a:p>
                <a:r>
                  <a:rPr lang="ja-JP" altLang="en-US">
                    <a:noFill/>
                  </a:rPr>
                  <a:t> </a:t>
                </a:r>
              </a:p>
            </p:txBody>
          </p:sp>
        </mc:Fallback>
      </mc:AlternateContent>
      <p:pic>
        <p:nvPicPr>
          <p:cNvPr id="10" name="図 9" descr="ダイアグラム&#10;&#10;自動的に生成された説明">
            <a:extLst>
              <a:ext uri="{FF2B5EF4-FFF2-40B4-BE49-F238E27FC236}">
                <a16:creationId xmlns:a16="http://schemas.microsoft.com/office/drawing/2014/main" id="{5879875E-1E63-2E74-E160-5D57B93B9D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4695" y="4132763"/>
            <a:ext cx="4180171" cy="1958710"/>
          </a:xfrm>
          <a:prstGeom prst="rect">
            <a:avLst/>
          </a:prstGeom>
        </p:spPr>
      </p:pic>
      <p:sp>
        <p:nvSpPr>
          <p:cNvPr id="11" name="テキスト ボックス 10">
            <a:extLst>
              <a:ext uri="{FF2B5EF4-FFF2-40B4-BE49-F238E27FC236}">
                <a16:creationId xmlns:a16="http://schemas.microsoft.com/office/drawing/2014/main" id="{CB341773-53ED-F106-E723-EBBBC34728E4}"/>
              </a:ext>
            </a:extLst>
          </p:cNvPr>
          <p:cNvSpPr txBox="1"/>
          <p:nvPr/>
        </p:nvSpPr>
        <p:spPr>
          <a:xfrm>
            <a:off x="7382933" y="5975377"/>
            <a:ext cx="4809067" cy="369332"/>
          </a:xfrm>
          <a:prstGeom prst="rect">
            <a:avLst/>
          </a:prstGeom>
          <a:noFill/>
        </p:spPr>
        <p:txBody>
          <a:bodyPr wrap="square" rtlCol="0">
            <a:spAutoFit/>
          </a:bodyPr>
          <a:lstStyle/>
          <a:p>
            <a:r>
              <a:rPr kumimoji="1" lang="en-US" altLang="ja-JP" dirty="0"/>
              <a:t>Fig.2  RL</a:t>
            </a:r>
            <a:r>
              <a:rPr kumimoji="1" lang="ja-JP" altLang="en-US" dirty="0"/>
              <a:t>における環境とエージェントの相互作用</a:t>
            </a:r>
          </a:p>
        </p:txBody>
      </p:sp>
      <p:sp>
        <p:nvSpPr>
          <p:cNvPr id="12" name="テキスト ボックス 11">
            <a:extLst>
              <a:ext uri="{FF2B5EF4-FFF2-40B4-BE49-F238E27FC236}">
                <a16:creationId xmlns:a16="http://schemas.microsoft.com/office/drawing/2014/main" id="{EE2F874A-56E6-2C2E-36BC-574D5F109C86}"/>
              </a:ext>
            </a:extLst>
          </p:cNvPr>
          <p:cNvSpPr txBox="1"/>
          <p:nvPr/>
        </p:nvSpPr>
        <p:spPr>
          <a:xfrm>
            <a:off x="7477246" y="2783852"/>
            <a:ext cx="4555067" cy="1323439"/>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2000" dirty="0"/>
              <a:t>過去の経験を一切利用しない</a:t>
            </a:r>
            <a:endParaRPr kumimoji="1" lang="en-US" altLang="ja-JP" sz="2000" dirty="0"/>
          </a:p>
          <a:p>
            <a:pPr marL="285750" indent="-285750">
              <a:buFont typeface="Wingdings" panose="05000000000000000000" pitchFamily="2" charset="2"/>
              <a:buChar char="Ø"/>
            </a:pPr>
            <a:r>
              <a:rPr kumimoji="1" lang="ja-JP" altLang="en-US" sz="2000" dirty="0"/>
              <a:t>状態行動空間は</a:t>
            </a:r>
            <a:r>
              <a:rPr kumimoji="1" lang="en-US" altLang="ja-JP" sz="2000" dirty="0"/>
              <a:t>, </a:t>
            </a:r>
            <a:r>
              <a:rPr kumimoji="1" lang="ja-JP" altLang="en-US" sz="2000" dirty="0"/>
              <a:t>状態を</a:t>
            </a:r>
            <a:r>
              <a:rPr kumimoji="1" lang="en-US" altLang="ja-JP" sz="2000" dirty="0"/>
              <a:t>240</a:t>
            </a:r>
            <a:r>
              <a:rPr kumimoji="1" lang="ja-JP" altLang="en-US" sz="2000" dirty="0"/>
              <a:t>等分</a:t>
            </a:r>
            <a:r>
              <a:rPr kumimoji="1" lang="en-US" altLang="ja-JP" sz="2000" dirty="0"/>
              <a:t>, </a:t>
            </a:r>
            <a:r>
              <a:rPr kumimoji="1" lang="ja-JP" altLang="en-US" sz="2000" dirty="0"/>
              <a:t>行動を</a:t>
            </a:r>
            <a:r>
              <a:rPr kumimoji="1" lang="en-US" altLang="ja-JP" sz="2000" dirty="0"/>
              <a:t>100</a:t>
            </a:r>
            <a:r>
              <a:rPr kumimoji="1" lang="ja-JP" altLang="en-US" sz="2000" dirty="0"/>
              <a:t>等分した二次元配列</a:t>
            </a:r>
            <a:br>
              <a:rPr kumimoji="1" lang="en-US" altLang="ja-JP" sz="2000" dirty="0"/>
            </a:br>
            <a:r>
              <a:rPr kumimoji="1" lang="ja-JP" altLang="en-US" sz="2000" dirty="0"/>
              <a:t>➡境界部分では異なる</a:t>
            </a:r>
            <a:r>
              <a:rPr kumimoji="1" lang="en-US" altLang="ja-JP" sz="2000" dirty="0"/>
              <a:t>Q</a:t>
            </a:r>
            <a:r>
              <a:rPr kumimoji="1" lang="ja-JP" altLang="en-US" sz="2000" dirty="0"/>
              <a:t>値の割り当て</a:t>
            </a:r>
            <a:endParaRPr kumimoji="1" lang="en-US" altLang="ja-JP" sz="2000" dirty="0"/>
          </a:p>
        </p:txBody>
      </p:sp>
      <p:sp>
        <p:nvSpPr>
          <p:cNvPr id="13" name="テキスト ボックス 12">
            <a:extLst>
              <a:ext uri="{FF2B5EF4-FFF2-40B4-BE49-F238E27FC236}">
                <a16:creationId xmlns:a16="http://schemas.microsoft.com/office/drawing/2014/main" id="{330D5B5A-1C35-780E-61B5-8E8B786BD43F}"/>
              </a:ext>
            </a:extLst>
          </p:cNvPr>
          <p:cNvSpPr txBox="1"/>
          <p:nvPr/>
        </p:nvSpPr>
        <p:spPr>
          <a:xfrm>
            <a:off x="7285010" y="2367170"/>
            <a:ext cx="2239990" cy="400110"/>
          </a:xfrm>
          <a:prstGeom prst="rect">
            <a:avLst/>
          </a:prstGeom>
          <a:noFill/>
        </p:spPr>
        <p:txBody>
          <a:bodyPr wrap="square" rtlCol="0">
            <a:spAutoFit/>
          </a:bodyPr>
          <a:lstStyle/>
          <a:p>
            <a:r>
              <a:rPr kumimoji="1" lang="en-US" altLang="ja-JP" sz="2000" b="1" dirty="0">
                <a:highlight>
                  <a:srgbClr val="FFFF00"/>
                </a:highlight>
              </a:rPr>
              <a:t>Q-learning</a:t>
            </a:r>
            <a:endParaRPr kumimoji="1" lang="ja-JP" altLang="en-US" sz="2000" b="1" dirty="0">
              <a:highlight>
                <a:srgbClr val="FFFF00"/>
              </a:highlight>
            </a:endParaRPr>
          </a:p>
        </p:txBody>
      </p:sp>
      <p:sp>
        <p:nvSpPr>
          <p:cNvPr id="14" name="スライド番号プレースホルダー 13">
            <a:extLst>
              <a:ext uri="{FF2B5EF4-FFF2-40B4-BE49-F238E27FC236}">
                <a16:creationId xmlns:a16="http://schemas.microsoft.com/office/drawing/2014/main" id="{E84CDCB0-CE00-DA97-6470-DB4A7495A165}"/>
              </a:ext>
            </a:extLst>
          </p:cNvPr>
          <p:cNvSpPr>
            <a:spLocks noGrp="1"/>
          </p:cNvSpPr>
          <p:nvPr>
            <p:ph type="sldNum" sz="quarter" idx="12"/>
          </p:nvPr>
        </p:nvSpPr>
        <p:spPr/>
        <p:txBody>
          <a:bodyPr/>
          <a:lstStyle/>
          <a:p>
            <a:fld id="{E0107F97-1CD5-41F0-B842-C38020C26506}" type="slidenum">
              <a:rPr kumimoji="1" lang="ja-JP" altLang="en-US" smtClean="0"/>
              <a:pPr/>
              <a:t>4</a:t>
            </a:fld>
            <a:endParaRPr kumimoji="1" lang="ja-JP" altLang="en-US" dirty="0"/>
          </a:p>
        </p:txBody>
      </p:sp>
      <p:sp>
        <p:nvSpPr>
          <p:cNvPr id="2" name="テキスト ボックス 1">
            <a:extLst>
              <a:ext uri="{FF2B5EF4-FFF2-40B4-BE49-F238E27FC236}">
                <a16:creationId xmlns:a16="http://schemas.microsoft.com/office/drawing/2014/main" id="{1AF385AE-5BBE-17D5-17AA-8B498F2D8D16}"/>
              </a:ext>
            </a:extLst>
          </p:cNvPr>
          <p:cNvSpPr txBox="1"/>
          <p:nvPr/>
        </p:nvSpPr>
        <p:spPr>
          <a:xfrm>
            <a:off x="0" y="6478635"/>
            <a:ext cx="11618686" cy="338554"/>
          </a:xfrm>
          <a:prstGeom prst="rect">
            <a:avLst/>
          </a:prstGeom>
          <a:noFill/>
        </p:spPr>
        <p:txBody>
          <a:bodyPr wrap="square">
            <a:spAutoFit/>
          </a:bodyPr>
          <a:lstStyle/>
          <a:p>
            <a:r>
              <a:rPr lang="en-US" altLang="ja-JP" sz="1600" dirty="0">
                <a:solidFill>
                  <a:schemeClr val="bg1"/>
                </a:solidFill>
                <a:effectLst/>
                <a:latin typeface="游明朝" panose="02020400000000000000" pitchFamily="18" charset="-128"/>
                <a:cs typeface="Times New Roman" panose="02020603050405020304" pitchFamily="18" charset="0"/>
              </a:rPr>
              <a:t>[2] Perelson A, Kirschner D, DeBoer R: The dynamics of HIV infection of CD4 T-cells. 1993, Math Biosci p114-25</a:t>
            </a:r>
            <a:endParaRPr lang="ja-JP" altLang="en-US" sz="1600" dirty="0">
              <a:solidFill>
                <a:schemeClr val="bg1"/>
              </a:solidFill>
            </a:endParaRPr>
          </a:p>
        </p:txBody>
      </p:sp>
    </p:spTree>
    <p:extLst>
      <p:ext uri="{BB962C8B-B14F-4D97-AF65-F5344CB8AC3E}">
        <p14:creationId xmlns:p14="http://schemas.microsoft.com/office/powerpoint/2010/main" val="106596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D0D1A846-28E3-CA3F-0802-4834F350634D}"/>
              </a:ext>
            </a:extLst>
          </p:cNvPr>
          <p:cNvPicPr>
            <a:picLocks noChangeAspect="1"/>
          </p:cNvPicPr>
          <p:nvPr/>
        </p:nvPicPr>
        <p:blipFill>
          <a:blip r:embed="rId3"/>
          <a:srcRect r="2765"/>
          <a:stretch/>
        </p:blipFill>
        <p:spPr>
          <a:xfrm>
            <a:off x="5264033" y="1196794"/>
            <a:ext cx="6786796" cy="3892750"/>
          </a:xfrm>
          <a:prstGeom prst="rect">
            <a:avLst/>
          </a:prstGeom>
        </p:spPr>
      </p:pic>
      <p:sp>
        <p:nvSpPr>
          <p:cNvPr id="3" name="タイトル 2">
            <a:extLst>
              <a:ext uri="{FF2B5EF4-FFF2-40B4-BE49-F238E27FC236}">
                <a16:creationId xmlns:a16="http://schemas.microsoft.com/office/drawing/2014/main" id="{A3E5CA3C-280A-75B1-D4FC-F8EFF378C33C}"/>
              </a:ext>
            </a:extLst>
          </p:cNvPr>
          <p:cNvSpPr>
            <a:spLocks noGrp="1"/>
          </p:cNvSpPr>
          <p:nvPr>
            <p:ph type="title"/>
          </p:nvPr>
        </p:nvSpPr>
        <p:spPr>
          <a:xfrm>
            <a:off x="1246909" y="-56083"/>
            <a:ext cx="9878291" cy="810190"/>
          </a:xfrm>
        </p:spPr>
        <p:txBody>
          <a:bodyPr>
            <a:normAutofit/>
          </a:bodyPr>
          <a:lstStyle/>
          <a:p>
            <a:r>
              <a:rPr kumimoji="1" lang="ja-JP" altLang="en-US" dirty="0"/>
              <a:t>提案手法</a:t>
            </a:r>
            <a:r>
              <a:rPr kumimoji="1" lang="en-US" altLang="ja-JP" dirty="0"/>
              <a:t>(1/4)</a:t>
            </a:r>
            <a:endParaRPr kumimoji="1" lang="ja-JP" altLang="en-US" dirty="0"/>
          </a:p>
        </p:txBody>
      </p:sp>
      <p:sp>
        <p:nvSpPr>
          <p:cNvPr id="9" name="テキスト ボックス 8">
            <a:extLst>
              <a:ext uri="{FF2B5EF4-FFF2-40B4-BE49-F238E27FC236}">
                <a16:creationId xmlns:a16="http://schemas.microsoft.com/office/drawing/2014/main" id="{5B209EF2-07EB-2991-4284-14D085DB7B89}"/>
              </a:ext>
            </a:extLst>
          </p:cNvPr>
          <p:cNvSpPr txBox="1"/>
          <p:nvPr/>
        </p:nvSpPr>
        <p:spPr>
          <a:xfrm>
            <a:off x="-13488" y="801535"/>
            <a:ext cx="5127570" cy="6247864"/>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2400" dirty="0"/>
              <a:t>提案手法 </a:t>
            </a:r>
            <a:r>
              <a:rPr kumimoji="1" lang="en-US" altLang="ja-JP" sz="2400" dirty="0"/>
              <a:t>: </a:t>
            </a:r>
            <a:r>
              <a:rPr kumimoji="1" lang="ja-JP" altLang="en-US" sz="2400" dirty="0"/>
              <a:t>オフライン</a:t>
            </a:r>
            <a:r>
              <a:rPr kumimoji="1" lang="en-US" altLang="ja-JP" sz="2400" dirty="0"/>
              <a:t>RL</a:t>
            </a:r>
            <a:r>
              <a:rPr kumimoji="1" lang="ja-JP" altLang="en-US" sz="2400" dirty="0"/>
              <a:t>とオンライン</a:t>
            </a:r>
            <a:r>
              <a:rPr kumimoji="1" lang="en-US" altLang="ja-JP" sz="2400" dirty="0"/>
              <a:t>RL</a:t>
            </a:r>
            <a:r>
              <a:rPr kumimoji="1" lang="ja-JP" altLang="en-US" sz="2400" dirty="0"/>
              <a:t>の融合システム</a:t>
            </a:r>
            <a:endParaRPr kumimoji="1" lang="en-US" altLang="ja-JP" sz="2400" dirty="0"/>
          </a:p>
          <a:p>
            <a:pPr marL="285750" indent="-285750">
              <a:buFont typeface="Wingdings" panose="05000000000000000000" pitchFamily="2" charset="2"/>
              <a:buChar char="Ø"/>
            </a:pPr>
            <a:r>
              <a:rPr kumimoji="1" lang="ja-JP" altLang="en-US" sz="2400" dirty="0"/>
              <a:t>オフライン</a:t>
            </a:r>
            <a:r>
              <a:rPr kumimoji="1" lang="en-US" altLang="ja-JP" sz="2400" dirty="0"/>
              <a:t>RL : CSV</a:t>
            </a:r>
            <a:r>
              <a:rPr kumimoji="1" lang="ja-JP" altLang="en-US" sz="2400" dirty="0"/>
              <a:t>データベース</a:t>
            </a:r>
            <a:r>
              <a:rPr kumimoji="1" lang="en-US" altLang="ja-JP" sz="2400" dirty="0"/>
              <a:t>[3]</a:t>
            </a:r>
            <a:r>
              <a:rPr kumimoji="1" lang="ja-JP" altLang="en-US" sz="2400" dirty="0"/>
              <a:t>から最適な投薬の種類を導出</a:t>
            </a:r>
            <a:br>
              <a:rPr kumimoji="1" lang="en-US" altLang="ja-JP" sz="2400" dirty="0"/>
            </a:br>
            <a:r>
              <a:rPr kumimoji="1" lang="ja-JP" altLang="en-US" sz="2400" dirty="0"/>
              <a:t>➡</a:t>
            </a:r>
            <a:r>
              <a:rPr kumimoji="1" lang="en-US" altLang="ja-JP" sz="2400" b="1" dirty="0">
                <a:solidFill>
                  <a:srgbClr val="FF0000"/>
                </a:solidFill>
              </a:rPr>
              <a:t>offline action </a:t>
            </a:r>
            <a:endParaRPr kumimoji="1" lang="en-US" altLang="ja-JP" sz="2400" dirty="0"/>
          </a:p>
          <a:p>
            <a:pPr marL="285750" indent="-285750">
              <a:buFont typeface="Wingdings" panose="05000000000000000000" pitchFamily="2" charset="2"/>
              <a:buChar char="Ø"/>
            </a:pPr>
            <a:r>
              <a:rPr kumimoji="1" lang="ja-JP" altLang="en-US" sz="2400" dirty="0"/>
              <a:t>オンライン</a:t>
            </a:r>
            <a:r>
              <a:rPr kumimoji="1" lang="en-US" altLang="ja-JP" sz="2400" dirty="0"/>
              <a:t>RL : </a:t>
            </a:r>
            <a:r>
              <a:rPr kumimoji="1" lang="ja-JP" altLang="en-US" sz="2400" dirty="0"/>
              <a:t>環境</a:t>
            </a:r>
            <a:r>
              <a:rPr kumimoji="1" lang="en-US" altLang="ja-JP" sz="2400" dirty="0"/>
              <a:t>(environment)</a:t>
            </a:r>
            <a:r>
              <a:rPr kumimoji="1" lang="ja-JP" altLang="en-US" sz="2400" dirty="0"/>
              <a:t>とエージェント</a:t>
            </a:r>
            <a:r>
              <a:rPr kumimoji="1" lang="en-US" altLang="ja-JP" sz="2400" dirty="0"/>
              <a:t>(Agent)</a:t>
            </a:r>
            <a:r>
              <a:rPr kumimoji="1" lang="ja-JP" altLang="en-US" sz="2400" dirty="0"/>
              <a:t>の相互作用により最適な投薬量を導出</a:t>
            </a:r>
            <a:br>
              <a:rPr kumimoji="1" lang="en-US" altLang="ja-JP" sz="2400" dirty="0"/>
            </a:br>
            <a:r>
              <a:rPr kumimoji="1" lang="ja-JP" altLang="en-US" sz="2400" dirty="0"/>
              <a:t>➡</a:t>
            </a:r>
            <a:r>
              <a:rPr kumimoji="1" lang="en-US" altLang="ja-JP" sz="2400" b="1" dirty="0">
                <a:solidFill>
                  <a:srgbClr val="00B0F0"/>
                </a:solidFill>
              </a:rPr>
              <a:t>online action </a:t>
            </a:r>
          </a:p>
          <a:p>
            <a:pPr marL="285750" indent="-285750">
              <a:buClr>
                <a:srgbClr val="000000"/>
              </a:buClr>
              <a:buFont typeface="Wingdings" panose="05000000000000000000" pitchFamily="2" charset="2"/>
              <a:buChar char="Ø"/>
            </a:pPr>
            <a:r>
              <a:rPr kumimoji="1" lang="en-US" altLang="ja-JP" sz="2400" b="1" dirty="0">
                <a:solidFill>
                  <a:srgbClr val="92D050"/>
                </a:solidFill>
              </a:rPr>
              <a:t>Final action</a:t>
            </a:r>
            <a:r>
              <a:rPr kumimoji="1" lang="en-US" altLang="ja-JP" sz="2400" dirty="0"/>
              <a:t>: </a:t>
            </a:r>
            <a:r>
              <a:rPr kumimoji="1" lang="en-US" altLang="ja-JP" sz="2400" b="1" dirty="0">
                <a:solidFill>
                  <a:srgbClr val="FF0000"/>
                </a:solidFill>
              </a:rPr>
              <a:t>offline action</a:t>
            </a:r>
            <a:r>
              <a:rPr kumimoji="1" lang="ja-JP" altLang="en-US" sz="2400" dirty="0"/>
              <a:t>に</a:t>
            </a:r>
            <a:r>
              <a:rPr kumimoji="1" lang="en-US" altLang="ja-JP" sz="2400" b="1" dirty="0">
                <a:solidFill>
                  <a:srgbClr val="00B0F0"/>
                </a:solidFill>
              </a:rPr>
              <a:t>online action</a:t>
            </a:r>
            <a:r>
              <a:rPr kumimoji="1" lang="ja-JP" altLang="en-US" sz="2400" dirty="0"/>
              <a:t>の結果</a:t>
            </a:r>
            <a:r>
              <a:rPr kumimoji="1" lang="en-US" altLang="ja-JP" sz="2400" dirty="0"/>
              <a:t>(</a:t>
            </a:r>
            <a:r>
              <a:rPr kumimoji="1" lang="ja-JP" altLang="en-US" sz="2400" dirty="0"/>
              <a:t>投薬量</a:t>
            </a:r>
            <a:r>
              <a:rPr kumimoji="1" lang="en-US" altLang="ja-JP" sz="2400" dirty="0"/>
              <a:t>)</a:t>
            </a:r>
            <a:r>
              <a:rPr kumimoji="1" lang="ja-JP" altLang="en-US" sz="2400" dirty="0"/>
              <a:t>を組み合わせたもの </a:t>
            </a:r>
            <a:r>
              <a:rPr kumimoji="1" lang="en-US" altLang="ja-JP" sz="2400" dirty="0"/>
              <a:t>(</a:t>
            </a:r>
            <a:r>
              <a:rPr kumimoji="1" lang="ja-JP" altLang="en-US" sz="2400" dirty="0"/>
              <a:t>最終的な目標</a:t>
            </a:r>
            <a:r>
              <a:rPr kumimoji="1" lang="en-US" altLang="ja-JP" sz="2400" dirty="0"/>
              <a:t>)</a:t>
            </a:r>
            <a:br>
              <a:rPr kumimoji="1" lang="en-US" altLang="ja-JP" sz="2400" dirty="0"/>
            </a:br>
            <a:endParaRPr kumimoji="1" lang="en-US" altLang="ja-JP" sz="2400" dirty="0">
              <a:solidFill>
                <a:srgbClr val="FF0000"/>
              </a:solidFill>
            </a:endParaRPr>
          </a:p>
          <a:p>
            <a:pPr marL="285750" indent="-285750">
              <a:buFont typeface="Wingdings" panose="05000000000000000000" pitchFamily="2" charset="2"/>
              <a:buChar char="Ø"/>
            </a:pPr>
            <a:r>
              <a:rPr kumimoji="1" lang="en-US" altLang="ja-JP" sz="2400" dirty="0"/>
              <a:t>Offline Agent</a:t>
            </a:r>
            <a:r>
              <a:rPr kumimoji="1" lang="ja-JP" altLang="en-US" sz="2400" dirty="0"/>
              <a:t>と</a:t>
            </a:r>
            <a:r>
              <a:rPr kumimoji="1" lang="en-US" altLang="ja-JP" sz="2400" dirty="0"/>
              <a:t>Online Agent</a:t>
            </a:r>
            <a:r>
              <a:rPr kumimoji="1" lang="ja-JP" altLang="en-US" sz="2400" dirty="0"/>
              <a:t>で役割を分割</a:t>
            </a:r>
            <a:r>
              <a:rPr kumimoji="1" lang="en-US" altLang="ja-JP" sz="2400" dirty="0"/>
              <a:t>(</a:t>
            </a:r>
            <a:r>
              <a:rPr kumimoji="1" lang="ja-JP" altLang="en-US" sz="2400" b="1" dirty="0"/>
              <a:t>異なる</a:t>
            </a:r>
            <a:r>
              <a:rPr kumimoji="1" lang="en-US" altLang="ja-JP" sz="2400" b="1" dirty="0"/>
              <a:t>Agent</a:t>
            </a:r>
            <a:r>
              <a:rPr kumimoji="1" lang="ja-JP" altLang="en-US" sz="2400" b="1" dirty="0"/>
              <a:t>を使用</a:t>
            </a:r>
            <a:r>
              <a:rPr kumimoji="1" lang="en-US" altLang="ja-JP" sz="2400" dirty="0"/>
              <a:t>)</a:t>
            </a:r>
          </a:p>
          <a:p>
            <a:pPr marL="285750" indent="-285750">
              <a:buFont typeface="Wingdings" panose="05000000000000000000" pitchFamily="2" charset="2"/>
              <a:buChar char="Ø"/>
            </a:pPr>
            <a:endParaRPr kumimoji="1" lang="en-US" altLang="ja-JP" sz="2000" dirty="0"/>
          </a:p>
          <a:p>
            <a:endParaRPr kumimoji="1" lang="ja-JP" altLang="en-US" sz="2000" dirty="0"/>
          </a:p>
        </p:txBody>
      </p:sp>
      <p:sp>
        <p:nvSpPr>
          <p:cNvPr id="11" name="正方形/長方形 10">
            <a:extLst>
              <a:ext uri="{FF2B5EF4-FFF2-40B4-BE49-F238E27FC236}">
                <a16:creationId xmlns:a16="http://schemas.microsoft.com/office/drawing/2014/main" id="{1DC7A4F3-2EFB-1990-BDB4-D01DEC88BB87}"/>
              </a:ext>
            </a:extLst>
          </p:cNvPr>
          <p:cNvSpPr/>
          <p:nvPr/>
        </p:nvSpPr>
        <p:spPr>
          <a:xfrm>
            <a:off x="5396751" y="1238903"/>
            <a:ext cx="4616825" cy="169053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ECBA22-C2D3-5E6E-694F-87F424589ECB}"/>
              </a:ext>
            </a:extLst>
          </p:cNvPr>
          <p:cNvSpPr/>
          <p:nvPr/>
        </p:nvSpPr>
        <p:spPr>
          <a:xfrm>
            <a:off x="5396751" y="3090566"/>
            <a:ext cx="6562167" cy="1941956"/>
          </a:xfrm>
          <a:prstGeom prst="rect">
            <a:avLst/>
          </a:prstGeom>
          <a:noFill/>
          <a:ln w="38100">
            <a:solidFill>
              <a:srgbClr val="00B0F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5F9F006-C6C2-3EFD-FD4E-C719809B3DCC}"/>
              </a:ext>
            </a:extLst>
          </p:cNvPr>
          <p:cNvSpPr txBox="1"/>
          <p:nvPr/>
        </p:nvSpPr>
        <p:spPr>
          <a:xfrm>
            <a:off x="5264033" y="5053310"/>
            <a:ext cx="2768138" cy="400110"/>
          </a:xfrm>
          <a:prstGeom prst="rect">
            <a:avLst/>
          </a:prstGeom>
          <a:noFill/>
        </p:spPr>
        <p:txBody>
          <a:bodyPr wrap="square" rtlCol="0">
            <a:spAutoFit/>
          </a:bodyPr>
          <a:lstStyle/>
          <a:p>
            <a:r>
              <a:rPr kumimoji="1" lang="ja-JP" altLang="en-US" sz="2000" b="1" dirty="0">
                <a:solidFill>
                  <a:srgbClr val="00B0F0"/>
                </a:solidFill>
              </a:rPr>
              <a:t>オンライン強化学習</a:t>
            </a:r>
          </a:p>
        </p:txBody>
      </p:sp>
      <p:sp>
        <p:nvSpPr>
          <p:cNvPr id="15" name="テキスト ボックス 14">
            <a:extLst>
              <a:ext uri="{FF2B5EF4-FFF2-40B4-BE49-F238E27FC236}">
                <a16:creationId xmlns:a16="http://schemas.microsoft.com/office/drawing/2014/main" id="{21C8CBA7-6828-4696-492B-C6C3C72C0566}"/>
              </a:ext>
            </a:extLst>
          </p:cNvPr>
          <p:cNvSpPr txBox="1"/>
          <p:nvPr/>
        </p:nvSpPr>
        <p:spPr>
          <a:xfrm>
            <a:off x="6041110" y="5532735"/>
            <a:ext cx="5300750" cy="369332"/>
          </a:xfrm>
          <a:prstGeom prst="rect">
            <a:avLst/>
          </a:prstGeom>
          <a:noFill/>
        </p:spPr>
        <p:txBody>
          <a:bodyPr wrap="square" rtlCol="0">
            <a:spAutoFit/>
          </a:bodyPr>
          <a:lstStyle/>
          <a:p>
            <a:r>
              <a:rPr kumimoji="1" lang="en-US" altLang="ja-JP" dirty="0"/>
              <a:t>Fig.3  </a:t>
            </a:r>
            <a:r>
              <a:rPr kumimoji="1" lang="ja-JP" altLang="en-US" dirty="0"/>
              <a:t>オフライン・オフライン</a:t>
            </a:r>
            <a:r>
              <a:rPr kumimoji="1" lang="en-US" altLang="ja-JP" dirty="0"/>
              <a:t>RL</a:t>
            </a:r>
            <a:r>
              <a:rPr kumimoji="1" lang="ja-JP" altLang="en-US" dirty="0"/>
              <a:t>融合システムの全体図</a:t>
            </a:r>
          </a:p>
        </p:txBody>
      </p:sp>
      <p:sp>
        <p:nvSpPr>
          <p:cNvPr id="16" name="テキスト ボックス 15">
            <a:extLst>
              <a:ext uri="{FF2B5EF4-FFF2-40B4-BE49-F238E27FC236}">
                <a16:creationId xmlns:a16="http://schemas.microsoft.com/office/drawing/2014/main" id="{64A21049-231A-490F-F751-FE01B6DFAD8A}"/>
              </a:ext>
            </a:extLst>
          </p:cNvPr>
          <p:cNvSpPr txBox="1"/>
          <p:nvPr/>
        </p:nvSpPr>
        <p:spPr>
          <a:xfrm>
            <a:off x="4969993" y="673196"/>
            <a:ext cx="4871259" cy="338554"/>
          </a:xfrm>
          <a:prstGeom prst="rect">
            <a:avLst/>
          </a:prstGeom>
          <a:noFill/>
        </p:spPr>
        <p:txBody>
          <a:bodyPr wrap="square" rtlCol="0">
            <a:spAutoFit/>
          </a:bodyPr>
          <a:lstStyle/>
          <a:p>
            <a:r>
              <a:rPr kumimoji="1" lang="en-US" altLang="ja-JP" sz="1600" dirty="0"/>
              <a:t>※RL(Reinforcement Learning) : </a:t>
            </a:r>
            <a:r>
              <a:rPr kumimoji="1" lang="ja-JP" altLang="en-US" sz="1600" dirty="0"/>
              <a:t>強化学習</a:t>
            </a:r>
          </a:p>
        </p:txBody>
      </p:sp>
      <p:sp>
        <p:nvSpPr>
          <p:cNvPr id="18" name="テキスト ボックス 17">
            <a:extLst>
              <a:ext uri="{FF2B5EF4-FFF2-40B4-BE49-F238E27FC236}">
                <a16:creationId xmlns:a16="http://schemas.microsoft.com/office/drawing/2014/main" id="{74D68B63-1C68-B4B2-A3C1-A0C0483B020E}"/>
              </a:ext>
            </a:extLst>
          </p:cNvPr>
          <p:cNvSpPr txBox="1"/>
          <p:nvPr/>
        </p:nvSpPr>
        <p:spPr>
          <a:xfrm>
            <a:off x="525780" y="6409149"/>
            <a:ext cx="6122322" cy="369332"/>
          </a:xfrm>
          <a:prstGeom prst="rect">
            <a:avLst/>
          </a:prstGeom>
          <a:noFill/>
        </p:spPr>
        <p:txBody>
          <a:bodyPr wrap="square">
            <a:spAutoFit/>
          </a:bodyPr>
          <a:lstStyle/>
          <a:p>
            <a:r>
              <a:rPr lang="en-US" altLang="ja-JP" sz="1800" u="sng" dirty="0">
                <a:solidFill>
                  <a:schemeClr val="bg1"/>
                </a:solidFill>
                <a:effectLst/>
                <a:latin typeface="Times New Roman" panose="02020603050405020304" pitchFamily="18" charset="0"/>
                <a:ea typeface="ＭＳ 明朝" panose="02020609040205080304" pitchFamily="17" charset="-128"/>
                <a:cs typeface="Century" panose="02040604050505020304" pitchFamily="18" charset="0"/>
                <a:hlinkClick r:id="rId4">
                  <a:extLst>
                    <a:ext uri="{A12FA001-AC4F-418D-AE19-62706E023703}">
                      <ahyp:hlinkClr xmlns:ahyp="http://schemas.microsoft.com/office/drawing/2018/hyperlinkcolor" val="tx"/>
                    </a:ext>
                  </a:extLst>
                </a:hlinkClick>
              </a:rPr>
              <a:t>https://hivdb.stanford.edu/</a:t>
            </a:r>
            <a:endParaRPr lang="ja-JP" altLang="en-US" dirty="0">
              <a:solidFill>
                <a:schemeClr val="bg1"/>
              </a:solidFill>
            </a:endParaRPr>
          </a:p>
        </p:txBody>
      </p:sp>
      <p:sp>
        <p:nvSpPr>
          <p:cNvPr id="19" name="テキスト ボックス 18">
            <a:extLst>
              <a:ext uri="{FF2B5EF4-FFF2-40B4-BE49-F238E27FC236}">
                <a16:creationId xmlns:a16="http://schemas.microsoft.com/office/drawing/2014/main" id="{2790C88C-3314-7AB5-C626-C8B790AD435B}"/>
              </a:ext>
            </a:extLst>
          </p:cNvPr>
          <p:cNvSpPr txBox="1"/>
          <p:nvPr/>
        </p:nvSpPr>
        <p:spPr>
          <a:xfrm>
            <a:off x="207818" y="6417462"/>
            <a:ext cx="515389" cy="369332"/>
          </a:xfrm>
          <a:prstGeom prst="rect">
            <a:avLst/>
          </a:prstGeom>
          <a:noFill/>
        </p:spPr>
        <p:txBody>
          <a:bodyPr wrap="square" rtlCol="0">
            <a:spAutoFit/>
          </a:bodyPr>
          <a:lstStyle/>
          <a:p>
            <a:r>
              <a:rPr kumimoji="1" lang="en-US" altLang="ja-JP" dirty="0">
                <a:solidFill>
                  <a:schemeClr val="bg1"/>
                </a:solidFill>
              </a:rPr>
              <a:t>[3]</a:t>
            </a:r>
            <a:endParaRPr kumimoji="1" lang="ja-JP" altLang="en-US" dirty="0">
              <a:solidFill>
                <a:schemeClr val="bg1"/>
              </a:solidFill>
            </a:endParaRPr>
          </a:p>
        </p:txBody>
      </p:sp>
      <p:sp>
        <p:nvSpPr>
          <p:cNvPr id="20" name="スライド番号プレースホルダー 19">
            <a:extLst>
              <a:ext uri="{FF2B5EF4-FFF2-40B4-BE49-F238E27FC236}">
                <a16:creationId xmlns:a16="http://schemas.microsoft.com/office/drawing/2014/main" id="{468FD619-3D12-A5EF-0DE6-DA723AE48C37}"/>
              </a:ext>
            </a:extLst>
          </p:cNvPr>
          <p:cNvSpPr>
            <a:spLocks noGrp="1"/>
          </p:cNvSpPr>
          <p:nvPr>
            <p:ph type="sldNum" sz="quarter" idx="12"/>
          </p:nvPr>
        </p:nvSpPr>
        <p:spPr/>
        <p:txBody>
          <a:bodyPr/>
          <a:lstStyle/>
          <a:p>
            <a:fld id="{E0107F97-1CD5-41F0-B842-C38020C26506}" type="slidenum">
              <a:rPr kumimoji="1" lang="ja-JP" altLang="en-US" smtClean="0"/>
              <a:pPr/>
              <a:t>5</a:t>
            </a:fld>
            <a:endParaRPr kumimoji="1" lang="ja-JP" altLang="en-US" dirty="0"/>
          </a:p>
        </p:txBody>
      </p:sp>
      <p:sp>
        <p:nvSpPr>
          <p:cNvPr id="2" name="テキスト ボックス 1">
            <a:extLst>
              <a:ext uri="{FF2B5EF4-FFF2-40B4-BE49-F238E27FC236}">
                <a16:creationId xmlns:a16="http://schemas.microsoft.com/office/drawing/2014/main" id="{64E4B711-232E-6714-8E24-D18EAF929F2E}"/>
              </a:ext>
            </a:extLst>
          </p:cNvPr>
          <p:cNvSpPr txBox="1"/>
          <p:nvPr/>
        </p:nvSpPr>
        <p:spPr>
          <a:xfrm>
            <a:off x="8808802" y="647874"/>
            <a:ext cx="2768138" cy="400110"/>
          </a:xfrm>
          <a:prstGeom prst="rect">
            <a:avLst/>
          </a:prstGeom>
          <a:noFill/>
        </p:spPr>
        <p:txBody>
          <a:bodyPr wrap="square" rtlCol="0">
            <a:spAutoFit/>
          </a:bodyPr>
          <a:lstStyle/>
          <a:p>
            <a:r>
              <a:rPr kumimoji="1" lang="ja-JP" altLang="en-US" sz="2000" b="1" dirty="0">
                <a:solidFill>
                  <a:srgbClr val="FF0000"/>
                </a:solidFill>
              </a:rPr>
              <a:t>オフライン強化学習</a:t>
            </a:r>
          </a:p>
        </p:txBody>
      </p:sp>
    </p:spTree>
    <p:extLst>
      <p:ext uri="{BB962C8B-B14F-4D97-AF65-F5344CB8AC3E}">
        <p14:creationId xmlns:p14="http://schemas.microsoft.com/office/powerpoint/2010/main" val="322319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94946-C070-8F5D-EFC2-25DFA93C59D0}"/>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1C9076FE-B715-950B-D55E-6C3D0F6FEEE8}"/>
              </a:ext>
            </a:extLst>
          </p:cNvPr>
          <p:cNvPicPr>
            <a:picLocks noChangeAspect="1"/>
          </p:cNvPicPr>
          <p:nvPr/>
        </p:nvPicPr>
        <p:blipFill>
          <a:blip r:embed="rId3"/>
          <a:srcRect r="2765"/>
          <a:stretch/>
        </p:blipFill>
        <p:spPr>
          <a:xfrm>
            <a:off x="5264033" y="1196794"/>
            <a:ext cx="6786796" cy="3892750"/>
          </a:xfrm>
          <a:prstGeom prst="rect">
            <a:avLst/>
          </a:prstGeom>
        </p:spPr>
      </p:pic>
      <p:sp>
        <p:nvSpPr>
          <p:cNvPr id="3" name="タイトル 2">
            <a:extLst>
              <a:ext uri="{FF2B5EF4-FFF2-40B4-BE49-F238E27FC236}">
                <a16:creationId xmlns:a16="http://schemas.microsoft.com/office/drawing/2014/main" id="{D83D28D9-FDD2-68E6-97CB-9B3F5F17F17F}"/>
              </a:ext>
            </a:extLst>
          </p:cNvPr>
          <p:cNvSpPr>
            <a:spLocks noGrp="1"/>
          </p:cNvSpPr>
          <p:nvPr>
            <p:ph type="title"/>
          </p:nvPr>
        </p:nvSpPr>
        <p:spPr>
          <a:xfrm>
            <a:off x="1246909" y="-56083"/>
            <a:ext cx="9878291" cy="810190"/>
          </a:xfrm>
        </p:spPr>
        <p:txBody>
          <a:bodyPr>
            <a:normAutofit/>
          </a:bodyPr>
          <a:lstStyle/>
          <a:p>
            <a:r>
              <a:rPr kumimoji="1" lang="ja-JP" altLang="en-US" dirty="0"/>
              <a:t>提案手法</a:t>
            </a:r>
            <a:r>
              <a:rPr kumimoji="1" lang="en-US" altLang="ja-JP" dirty="0"/>
              <a:t>(2/4)</a:t>
            </a:r>
            <a:endParaRPr kumimoji="1" lang="ja-JP" altLang="en-US" dirty="0"/>
          </a:p>
        </p:txBody>
      </p:sp>
      <p:sp>
        <p:nvSpPr>
          <p:cNvPr id="9" name="テキスト ボックス 8">
            <a:extLst>
              <a:ext uri="{FF2B5EF4-FFF2-40B4-BE49-F238E27FC236}">
                <a16:creationId xmlns:a16="http://schemas.microsoft.com/office/drawing/2014/main" id="{84279C65-CABD-DAC4-59A9-C12D3B54CB1D}"/>
              </a:ext>
            </a:extLst>
          </p:cNvPr>
          <p:cNvSpPr txBox="1"/>
          <p:nvPr/>
        </p:nvSpPr>
        <p:spPr>
          <a:xfrm>
            <a:off x="-37285" y="1194293"/>
            <a:ext cx="5349237" cy="3662541"/>
          </a:xfrm>
          <a:prstGeom prst="rect">
            <a:avLst/>
          </a:prstGeom>
          <a:noFill/>
        </p:spPr>
        <p:txBody>
          <a:bodyPr wrap="square" rtlCol="0">
            <a:spAutoFit/>
          </a:bodyPr>
          <a:lstStyle/>
          <a:p>
            <a:pPr marL="285750" indent="-285750">
              <a:buClr>
                <a:srgbClr val="000000"/>
              </a:buClr>
              <a:buFont typeface="Wingdings" panose="05000000000000000000" pitchFamily="2" charset="2"/>
              <a:buChar char="Ø"/>
            </a:pPr>
            <a:r>
              <a:rPr kumimoji="1" lang="en-US" altLang="ja-JP" sz="2400" dirty="0">
                <a:solidFill>
                  <a:srgbClr val="FF0000"/>
                </a:solidFill>
              </a:rPr>
              <a:t>Offline Agent</a:t>
            </a:r>
            <a:r>
              <a:rPr kumimoji="1" lang="en-US" altLang="ja-JP" sz="2400" dirty="0"/>
              <a:t>: </a:t>
            </a:r>
            <a:br>
              <a:rPr kumimoji="1" lang="en-US" altLang="ja-JP" sz="2400" dirty="0"/>
            </a:br>
            <a:r>
              <a:rPr kumimoji="1" lang="en-US" altLang="ja-JP" sz="2400" dirty="0"/>
              <a:t>CSV</a:t>
            </a:r>
            <a:r>
              <a:rPr kumimoji="1" lang="ja-JP" altLang="en-US" sz="2400" dirty="0"/>
              <a:t>データベース</a:t>
            </a:r>
            <a:r>
              <a:rPr kumimoji="1" lang="en-US" altLang="ja-JP" sz="2400" dirty="0"/>
              <a:t>[3]</a:t>
            </a:r>
            <a:r>
              <a:rPr kumimoji="1" lang="ja-JP" altLang="en-US" sz="2400" dirty="0"/>
              <a:t>を学習</a:t>
            </a:r>
            <a:r>
              <a:rPr kumimoji="1" lang="en-US" altLang="ja-JP" sz="2400" dirty="0"/>
              <a:t>,</a:t>
            </a:r>
            <a:br>
              <a:rPr kumimoji="1" lang="en-US" altLang="ja-JP" sz="2400" dirty="0"/>
            </a:br>
            <a:r>
              <a:rPr kumimoji="1" lang="ja-JP" altLang="en-US" sz="2400" dirty="0"/>
              <a:t>入力された</a:t>
            </a:r>
            <a:r>
              <a:rPr kumimoji="1" lang="en-US" altLang="ja-JP" sz="2400" dirty="0"/>
              <a:t>state</a:t>
            </a:r>
            <a:r>
              <a:rPr kumimoji="1" lang="ja-JP" altLang="en-US" sz="2400" dirty="0"/>
              <a:t>に対して最も</a:t>
            </a:r>
            <a:r>
              <a:rPr kumimoji="1" lang="en-US" altLang="ja-JP" sz="2400" dirty="0"/>
              <a:t>Q</a:t>
            </a:r>
            <a:r>
              <a:rPr kumimoji="1" lang="ja-JP" altLang="en-US" sz="2400" dirty="0"/>
              <a:t>値が高い行動</a:t>
            </a:r>
            <a:r>
              <a:rPr kumimoji="1" lang="en-US" altLang="ja-JP" sz="2400" dirty="0"/>
              <a:t>(</a:t>
            </a:r>
            <a:r>
              <a:rPr kumimoji="1" lang="ja-JP" altLang="en-US" sz="2400" b="1" dirty="0"/>
              <a:t>投薬の種類</a:t>
            </a:r>
            <a:r>
              <a:rPr kumimoji="1" lang="en-US" altLang="ja-JP" sz="2400" dirty="0"/>
              <a:t>)</a:t>
            </a:r>
            <a:r>
              <a:rPr kumimoji="1" lang="ja-JP" altLang="en-US" sz="2400" dirty="0"/>
              <a:t>を出力</a:t>
            </a:r>
            <a:endParaRPr kumimoji="1" lang="en-US" altLang="ja-JP" sz="2400" dirty="0"/>
          </a:p>
          <a:p>
            <a:pPr marL="285750" indent="-285750">
              <a:buClr>
                <a:srgbClr val="000000"/>
              </a:buClr>
              <a:buFont typeface="Wingdings" panose="05000000000000000000" pitchFamily="2" charset="2"/>
              <a:buChar char="Ø"/>
            </a:pPr>
            <a:endParaRPr kumimoji="1" lang="en-US" altLang="ja-JP" sz="2400" dirty="0"/>
          </a:p>
          <a:p>
            <a:pPr marL="285750" indent="-285750">
              <a:buClr>
                <a:srgbClr val="000000"/>
              </a:buClr>
              <a:buFont typeface="Wingdings" panose="05000000000000000000" pitchFamily="2" charset="2"/>
              <a:buChar char="Ø"/>
            </a:pPr>
            <a:r>
              <a:rPr kumimoji="1" lang="en-US" altLang="ja-JP" sz="2400" dirty="0"/>
              <a:t>Offline action: </a:t>
            </a:r>
            <a:r>
              <a:rPr kumimoji="1" lang="ja-JP" altLang="en-US" sz="2400" dirty="0"/>
              <a:t>使用する薬剤の番号を</a:t>
            </a:r>
            <a:r>
              <a:rPr kumimoji="1" lang="en-US" altLang="ja-JP" sz="2400" dirty="0"/>
              <a:t>5</a:t>
            </a:r>
            <a:r>
              <a:rPr kumimoji="1" lang="ja-JP" altLang="en-US" sz="2400" dirty="0"/>
              <a:t>次元リストとして出力</a:t>
            </a:r>
            <a:r>
              <a:rPr kumimoji="1" lang="en-US" altLang="ja-JP" sz="2400" dirty="0"/>
              <a:t>(Appendix4)</a:t>
            </a:r>
          </a:p>
          <a:p>
            <a:pPr marL="285750" indent="-285750">
              <a:buClr>
                <a:srgbClr val="000000"/>
              </a:buClr>
              <a:buFont typeface="Wingdings" panose="05000000000000000000" pitchFamily="2" charset="2"/>
              <a:buChar char="Ø"/>
            </a:pPr>
            <a:endParaRPr kumimoji="1" lang="en-US" altLang="ja-JP" sz="2400" dirty="0"/>
          </a:p>
          <a:p>
            <a:pPr marL="285750" indent="-285750">
              <a:buClr>
                <a:srgbClr val="000000"/>
              </a:buClr>
              <a:buFont typeface="Wingdings" panose="05000000000000000000" pitchFamily="2" charset="2"/>
              <a:buChar char="Ø"/>
            </a:pPr>
            <a:endParaRPr kumimoji="1" lang="en-US" altLang="ja-JP" sz="2000" dirty="0"/>
          </a:p>
          <a:p>
            <a:endParaRPr kumimoji="1" lang="ja-JP" altLang="en-US" sz="2000" dirty="0"/>
          </a:p>
        </p:txBody>
      </p:sp>
      <p:sp>
        <p:nvSpPr>
          <p:cNvPr id="15" name="テキスト ボックス 14">
            <a:extLst>
              <a:ext uri="{FF2B5EF4-FFF2-40B4-BE49-F238E27FC236}">
                <a16:creationId xmlns:a16="http://schemas.microsoft.com/office/drawing/2014/main" id="{D40FF87D-5242-F800-E667-22EDC2F81171}"/>
              </a:ext>
            </a:extLst>
          </p:cNvPr>
          <p:cNvSpPr txBox="1"/>
          <p:nvPr/>
        </p:nvSpPr>
        <p:spPr>
          <a:xfrm>
            <a:off x="6041110" y="5601594"/>
            <a:ext cx="5917808" cy="369332"/>
          </a:xfrm>
          <a:prstGeom prst="rect">
            <a:avLst/>
          </a:prstGeom>
          <a:noFill/>
        </p:spPr>
        <p:txBody>
          <a:bodyPr wrap="square" rtlCol="0">
            <a:spAutoFit/>
          </a:bodyPr>
          <a:lstStyle/>
          <a:p>
            <a:r>
              <a:rPr kumimoji="1" lang="en-US" altLang="ja-JP" dirty="0"/>
              <a:t>Fig.5  </a:t>
            </a:r>
            <a:r>
              <a:rPr kumimoji="1" lang="ja-JP" altLang="en-US" dirty="0"/>
              <a:t>オフライン・オフライン</a:t>
            </a:r>
            <a:r>
              <a:rPr kumimoji="1" lang="en-US" altLang="ja-JP" dirty="0"/>
              <a:t>RL</a:t>
            </a:r>
            <a:r>
              <a:rPr kumimoji="1" lang="ja-JP" altLang="en-US" dirty="0"/>
              <a:t>融合システムの全体図 </a:t>
            </a:r>
            <a:r>
              <a:rPr kumimoji="1" lang="en-US" altLang="ja-JP" dirty="0"/>
              <a:t>(</a:t>
            </a:r>
            <a:r>
              <a:rPr kumimoji="1" lang="ja-JP" altLang="en-US" dirty="0"/>
              <a:t>再掲</a:t>
            </a:r>
            <a:r>
              <a:rPr kumimoji="1" lang="en-US" altLang="ja-JP" dirty="0"/>
              <a:t>)</a:t>
            </a:r>
            <a:endParaRPr kumimoji="1" lang="ja-JP" altLang="en-US" dirty="0"/>
          </a:p>
        </p:txBody>
      </p:sp>
      <p:sp>
        <p:nvSpPr>
          <p:cNvPr id="16" name="テキスト ボックス 15">
            <a:extLst>
              <a:ext uri="{FF2B5EF4-FFF2-40B4-BE49-F238E27FC236}">
                <a16:creationId xmlns:a16="http://schemas.microsoft.com/office/drawing/2014/main" id="{5970A3F0-A73F-03DC-DF06-9F2E248B7898}"/>
              </a:ext>
            </a:extLst>
          </p:cNvPr>
          <p:cNvSpPr txBox="1"/>
          <p:nvPr/>
        </p:nvSpPr>
        <p:spPr>
          <a:xfrm>
            <a:off x="156596" y="754107"/>
            <a:ext cx="4871259" cy="461665"/>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400" dirty="0"/>
              <a:t>オフライン</a:t>
            </a:r>
            <a:r>
              <a:rPr kumimoji="1" lang="en-US" altLang="ja-JP" sz="2400" dirty="0"/>
              <a:t>RL </a:t>
            </a:r>
            <a:endParaRPr kumimoji="1" lang="ja-JP" altLang="en-US" sz="2400" dirty="0"/>
          </a:p>
        </p:txBody>
      </p:sp>
      <p:sp>
        <p:nvSpPr>
          <p:cNvPr id="18" name="テキスト ボックス 17">
            <a:extLst>
              <a:ext uri="{FF2B5EF4-FFF2-40B4-BE49-F238E27FC236}">
                <a16:creationId xmlns:a16="http://schemas.microsoft.com/office/drawing/2014/main" id="{AA31A566-984D-E379-D7BD-AA2FD50071A8}"/>
              </a:ext>
            </a:extLst>
          </p:cNvPr>
          <p:cNvSpPr txBox="1"/>
          <p:nvPr/>
        </p:nvSpPr>
        <p:spPr>
          <a:xfrm>
            <a:off x="525780" y="6409149"/>
            <a:ext cx="6122322" cy="369332"/>
          </a:xfrm>
          <a:prstGeom prst="rect">
            <a:avLst/>
          </a:prstGeom>
          <a:noFill/>
        </p:spPr>
        <p:txBody>
          <a:bodyPr wrap="square">
            <a:spAutoFit/>
          </a:bodyPr>
          <a:lstStyle/>
          <a:p>
            <a:r>
              <a:rPr lang="en-US" altLang="ja-JP" sz="1800" u="sng" dirty="0">
                <a:solidFill>
                  <a:schemeClr val="bg1"/>
                </a:solidFill>
                <a:effectLst/>
                <a:latin typeface="Times New Roman" panose="02020603050405020304" pitchFamily="18" charset="0"/>
                <a:ea typeface="ＭＳ 明朝" panose="02020609040205080304" pitchFamily="17" charset="-128"/>
                <a:cs typeface="Century" panose="02040604050505020304" pitchFamily="18" charset="0"/>
                <a:hlinkClick r:id="rId4">
                  <a:extLst>
                    <a:ext uri="{A12FA001-AC4F-418D-AE19-62706E023703}">
                      <ahyp:hlinkClr xmlns:ahyp="http://schemas.microsoft.com/office/drawing/2018/hyperlinkcolor" val="tx"/>
                    </a:ext>
                  </a:extLst>
                </a:hlinkClick>
              </a:rPr>
              <a:t>https://hivdb.stanford.edu/</a:t>
            </a:r>
            <a:endParaRPr lang="ja-JP" altLang="en-US" dirty="0">
              <a:solidFill>
                <a:schemeClr val="bg1"/>
              </a:solidFill>
            </a:endParaRPr>
          </a:p>
        </p:txBody>
      </p:sp>
      <p:sp>
        <p:nvSpPr>
          <p:cNvPr id="19" name="テキスト ボックス 18">
            <a:extLst>
              <a:ext uri="{FF2B5EF4-FFF2-40B4-BE49-F238E27FC236}">
                <a16:creationId xmlns:a16="http://schemas.microsoft.com/office/drawing/2014/main" id="{61822EF1-5A91-F63D-5310-20C55F1F7461}"/>
              </a:ext>
            </a:extLst>
          </p:cNvPr>
          <p:cNvSpPr txBox="1"/>
          <p:nvPr/>
        </p:nvSpPr>
        <p:spPr>
          <a:xfrm>
            <a:off x="207818" y="6417462"/>
            <a:ext cx="515389" cy="369332"/>
          </a:xfrm>
          <a:prstGeom prst="rect">
            <a:avLst/>
          </a:prstGeom>
          <a:noFill/>
        </p:spPr>
        <p:txBody>
          <a:bodyPr wrap="square" rtlCol="0">
            <a:spAutoFit/>
          </a:bodyPr>
          <a:lstStyle/>
          <a:p>
            <a:r>
              <a:rPr kumimoji="1" lang="en-US" altLang="ja-JP" dirty="0">
                <a:solidFill>
                  <a:schemeClr val="bg1"/>
                </a:solidFill>
              </a:rPr>
              <a:t>[3]</a:t>
            </a:r>
            <a:endParaRPr kumimoji="1" lang="ja-JP" altLang="en-US" dirty="0">
              <a:solidFill>
                <a:schemeClr val="bg1"/>
              </a:solidFill>
            </a:endParaRPr>
          </a:p>
        </p:txBody>
      </p:sp>
      <p:sp>
        <p:nvSpPr>
          <p:cNvPr id="20" name="スライド番号プレースホルダー 19">
            <a:extLst>
              <a:ext uri="{FF2B5EF4-FFF2-40B4-BE49-F238E27FC236}">
                <a16:creationId xmlns:a16="http://schemas.microsoft.com/office/drawing/2014/main" id="{E3E897E4-1458-D601-F446-6C7B0D41EAA9}"/>
              </a:ext>
            </a:extLst>
          </p:cNvPr>
          <p:cNvSpPr>
            <a:spLocks noGrp="1"/>
          </p:cNvSpPr>
          <p:nvPr>
            <p:ph type="sldNum" sz="quarter" idx="12"/>
          </p:nvPr>
        </p:nvSpPr>
        <p:spPr/>
        <p:txBody>
          <a:bodyPr/>
          <a:lstStyle/>
          <a:p>
            <a:fld id="{E0107F97-1CD5-41F0-B842-C38020C26506}" type="slidenum">
              <a:rPr kumimoji="1" lang="ja-JP" altLang="en-US" smtClean="0"/>
              <a:pPr/>
              <a:t>6</a:t>
            </a:fld>
            <a:endParaRPr kumimoji="1" lang="ja-JP" altLang="en-US" dirty="0"/>
          </a:p>
        </p:txBody>
      </p:sp>
      <p:sp>
        <p:nvSpPr>
          <p:cNvPr id="10" name="正方形/長方形 9">
            <a:extLst>
              <a:ext uri="{FF2B5EF4-FFF2-40B4-BE49-F238E27FC236}">
                <a16:creationId xmlns:a16="http://schemas.microsoft.com/office/drawing/2014/main" id="{75399FFD-416E-4EEE-B240-E8826D93A768}"/>
              </a:ext>
            </a:extLst>
          </p:cNvPr>
          <p:cNvSpPr/>
          <p:nvPr/>
        </p:nvSpPr>
        <p:spPr>
          <a:xfrm>
            <a:off x="5396751" y="1238903"/>
            <a:ext cx="4616825" cy="169053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6F832D7-7E04-3A24-8835-BFE827A39E02}"/>
              </a:ext>
            </a:extLst>
          </p:cNvPr>
          <p:cNvSpPr/>
          <p:nvPr/>
        </p:nvSpPr>
        <p:spPr>
          <a:xfrm>
            <a:off x="5396751" y="3090566"/>
            <a:ext cx="6562167" cy="1941956"/>
          </a:xfrm>
          <a:prstGeom prst="rect">
            <a:avLst/>
          </a:prstGeom>
          <a:noFill/>
          <a:ln w="38100">
            <a:solidFill>
              <a:srgbClr val="00B0F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00891ED-7B6A-5673-A13D-30654DF1EB4D}"/>
              </a:ext>
            </a:extLst>
          </p:cNvPr>
          <p:cNvSpPr txBox="1"/>
          <p:nvPr/>
        </p:nvSpPr>
        <p:spPr>
          <a:xfrm>
            <a:off x="8808802" y="647874"/>
            <a:ext cx="2768138" cy="400110"/>
          </a:xfrm>
          <a:prstGeom prst="rect">
            <a:avLst/>
          </a:prstGeom>
          <a:noFill/>
        </p:spPr>
        <p:txBody>
          <a:bodyPr wrap="square" rtlCol="0">
            <a:spAutoFit/>
          </a:bodyPr>
          <a:lstStyle/>
          <a:p>
            <a:r>
              <a:rPr kumimoji="1" lang="ja-JP" altLang="en-US" sz="2000" b="1" dirty="0">
                <a:solidFill>
                  <a:srgbClr val="FF0000"/>
                </a:solidFill>
              </a:rPr>
              <a:t>オフライン強化学習</a:t>
            </a:r>
          </a:p>
        </p:txBody>
      </p:sp>
      <p:sp>
        <p:nvSpPr>
          <p:cNvPr id="4" name="正方形/長方形 3">
            <a:extLst>
              <a:ext uri="{FF2B5EF4-FFF2-40B4-BE49-F238E27FC236}">
                <a16:creationId xmlns:a16="http://schemas.microsoft.com/office/drawing/2014/main" id="{293F1EB2-2B61-AA6B-A39E-91B88515DFD9}"/>
              </a:ext>
            </a:extLst>
          </p:cNvPr>
          <p:cNvSpPr/>
          <p:nvPr/>
        </p:nvSpPr>
        <p:spPr>
          <a:xfrm>
            <a:off x="10087413" y="1209115"/>
            <a:ext cx="2104588" cy="1802423"/>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A1123D62-CD45-C5A3-9E20-0EA3B3559513}"/>
              </a:ext>
            </a:extLst>
          </p:cNvPr>
          <p:cNvSpPr txBox="1"/>
          <p:nvPr/>
        </p:nvSpPr>
        <p:spPr>
          <a:xfrm>
            <a:off x="5264033" y="5053310"/>
            <a:ext cx="2768138" cy="400110"/>
          </a:xfrm>
          <a:prstGeom prst="rect">
            <a:avLst/>
          </a:prstGeom>
          <a:noFill/>
        </p:spPr>
        <p:txBody>
          <a:bodyPr wrap="square" rtlCol="0">
            <a:spAutoFit/>
          </a:bodyPr>
          <a:lstStyle/>
          <a:p>
            <a:r>
              <a:rPr kumimoji="1" lang="ja-JP" altLang="en-US" sz="2000" b="1" dirty="0">
                <a:solidFill>
                  <a:srgbClr val="00B0F0"/>
                </a:solidFill>
              </a:rPr>
              <a:t>オンライン強化学習</a:t>
            </a:r>
          </a:p>
        </p:txBody>
      </p:sp>
      <p:sp>
        <p:nvSpPr>
          <p:cNvPr id="2" name="正方形/長方形 1">
            <a:extLst>
              <a:ext uri="{FF2B5EF4-FFF2-40B4-BE49-F238E27FC236}">
                <a16:creationId xmlns:a16="http://schemas.microsoft.com/office/drawing/2014/main" id="{1519A98A-156F-D832-ED42-17579CEF823C}"/>
              </a:ext>
            </a:extLst>
          </p:cNvPr>
          <p:cNvSpPr/>
          <p:nvPr/>
        </p:nvSpPr>
        <p:spPr>
          <a:xfrm>
            <a:off x="5264033" y="3011538"/>
            <a:ext cx="6927967" cy="2509843"/>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pic>
        <p:nvPicPr>
          <p:cNvPr id="25" name="図 24">
            <a:extLst>
              <a:ext uri="{FF2B5EF4-FFF2-40B4-BE49-F238E27FC236}">
                <a16:creationId xmlns:a16="http://schemas.microsoft.com/office/drawing/2014/main" id="{00770168-54F9-34C2-C771-D95A317C9748}"/>
              </a:ext>
            </a:extLst>
          </p:cNvPr>
          <p:cNvPicPr>
            <a:picLocks noChangeAspect="1"/>
          </p:cNvPicPr>
          <p:nvPr/>
        </p:nvPicPr>
        <p:blipFill>
          <a:blip r:embed="rId5"/>
          <a:srcRect l="4549"/>
          <a:stretch/>
        </p:blipFill>
        <p:spPr>
          <a:xfrm>
            <a:off x="44655" y="4437672"/>
            <a:ext cx="2768139" cy="1454759"/>
          </a:xfrm>
          <a:prstGeom prst="rect">
            <a:avLst/>
          </a:prstGeom>
        </p:spPr>
      </p:pic>
      <p:sp>
        <p:nvSpPr>
          <p:cNvPr id="26" name="矢印: 右 25">
            <a:extLst>
              <a:ext uri="{FF2B5EF4-FFF2-40B4-BE49-F238E27FC236}">
                <a16:creationId xmlns:a16="http://schemas.microsoft.com/office/drawing/2014/main" id="{83B3D5F4-03EC-58F7-3B79-A90CA5E39745}"/>
              </a:ext>
            </a:extLst>
          </p:cNvPr>
          <p:cNvSpPr/>
          <p:nvPr/>
        </p:nvSpPr>
        <p:spPr>
          <a:xfrm>
            <a:off x="2833252" y="5048360"/>
            <a:ext cx="450279" cy="163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491D2E0-374D-1F5D-DA11-75BB24D3BC47}"/>
              </a:ext>
            </a:extLst>
          </p:cNvPr>
          <p:cNvSpPr txBox="1"/>
          <p:nvPr/>
        </p:nvSpPr>
        <p:spPr>
          <a:xfrm>
            <a:off x="3283531" y="4132903"/>
            <a:ext cx="1561641" cy="369332"/>
          </a:xfrm>
          <a:prstGeom prst="rect">
            <a:avLst/>
          </a:prstGeom>
          <a:noFill/>
        </p:spPr>
        <p:txBody>
          <a:bodyPr wrap="square" rtlCol="0">
            <a:spAutoFit/>
          </a:bodyPr>
          <a:lstStyle/>
          <a:p>
            <a:r>
              <a:rPr kumimoji="1" lang="en-US" altLang="ja-JP" b="1" dirty="0"/>
              <a:t>Offline action</a:t>
            </a:r>
          </a:p>
        </p:txBody>
      </p:sp>
      <p:sp>
        <p:nvSpPr>
          <p:cNvPr id="28" name="テキスト ボックス 27">
            <a:extLst>
              <a:ext uri="{FF2B5EF4-FFF2-40B4-BE49-F238E27FC236}">
                <a16:creationId xmlns:a16="http://schemas.microsoft.com/office/drawing/2014/main" id="{9AD2B291-3AB2-2E23-2C17-E373AA8AC33C}"/>
              </a:ext>
            </a:extLst>
          </p:cNvPr>
          <p:cNvSpPr txBox="1"/>
          <p:nvPr/>
        </p:nvSpPr>
        <p:spPr>
          <a:xfrm>
            <a:off x="1197707" y="4209049"/>
            <a:ext cx="827724" cy="400110"/>
          </a:xfrm>
          <a:prstGeom prst="rect">
            <a:avLst/>
          </a:prstGeom>
          <a:noFill/>
        </p:spPr>
        <p:txBody>
          <a:bodyPr wrap="square" rtlCol="0">
            <a:spAutoFit/>
          </a:bodyPr>
          <a:lstStyle/>
          <a:p>
            <a:r>
              <a:rPr kumimoji="1" lang="en-US" altLang="ja-JP" sz="2000" b="1" dirty="0">
                <a:solidFill>
                  <a:srgbClr val="FF0000"/>
                </a:solidFill>
              </a:rPr>
              <a:t>DQN</a:t>
            </a:r>
            <a:endParaRPr kumimoji="1" lang="ja-JP" altLang="en-US" sz="2000" b="1" dirty="0">
              <a:solidFill>
                <a:srgbClr val="FF0000"/>
              </a:solidFill>
            </a:endParaRPr>
          </a:p>
        </p:txBody>
      </p:sp>
      <p:sp>
        <p:nvSpPr>
          <p:cNvPr id="29" name="テキスト ボックス 28">
            <a:extLst>
              <a:ext uri="{FF2B5EF4-FFF2-40B4-BE49-F238E27FC236}">
                <a16:creationId xmlns:a16="http://schemas.microsoft.com/office/drawing/2014/main" id="{B9A61D25-F3F1-118D-B8F6-17E1756EC2B6}"/>
              </a:ext>
            </a:extLst>
          </p:cNvPr>
          <p:cNvSpPr txBox="1"/>
          <p:nvPr/>
        </p:nvSpPr>
        <p:spPr>
          <a:xfrm>
            <a:off x="517135" y="5827639"/>
            <a:ext cx="3516316" cy="369332"/>
          </a:xfrm>
          <a:prstGeom prst="rect">
            <a:avLst/>
          </a:prstGeom>
          <a:noFill/>
        </p:spPr>
        <p:txBody>
          <a:bodyPr wrap="square" rtlCol="0">
            <a:spAutoFit/>
          </a:bodyPr>
          <a:lstStyle/>
          <a:p>
            <a:r>
              <a:rPr kumimoji="1" lang="en-US" altLang="ja-JP" dirty="0"/>
              <a:t>Fig.4  Offline Agent </a:t>
            </a:r>
            <a:r>
              <a:rPr kumimoji="1" lang="ja-JP" altLang="en-US" dirty="0"/>
              <a:t>における</a:t>
            </a:r>
            <a:r>
              <a:rPr kumimoji="1" lang="en-US" altLang="ja-JP" dirty="0"/>
              <a:t>DQN</a:t>
            </a:r>
            <a:endParaRPr kumimoji="1" lang="ja-JP" altLang="en-US" dirty="0"/>
          </a:p>
        </p:txBody>
      </p:sp>
      <p:pic>
        <p:nvPicPr>
          <p:cNvPr id="6" name="図 5">
            <a:extLst>
              <a:ext uri="{FF2B5EF4-FFF2-40B4-BE49-F238E27FC236}">
                <a16:creationId xmlns:a16="http://schemas.microsoft.com/office/drawing/2014/main" id="{5577D045-FA34-22A5-D29E-2A2743B5D694}"/>
              </a:ext>
            </a:extLst>
          </p:cNvPr>
          <p:cNvPicPr>
            <a:picLocks noChangeAspect="1"/>
          </p:cNvPicPr>
          <p:nvPr/>
        </p:nvPicPr>
        <p:blipFill>
          <a:blip r:embed="rId6"/>
          <a:stretch>
            <a:fillRect/>
          </a:stretch>
        </p:blipFill>
        <p:spPr>
          <a:xfrm>
            <a:off x="3347834" y="4511989"/>
            <a:ext cx="1377047" cy="1315693"/>
          </a:xfrm>
          <a:prstGeom prst="rect">
            <a:avLst/>
          </a:prstGeom>
        </p:spPr>
      </p:pic>
    </p:spTree>
    <p:extLst>
      <p:ext uri="{BB962C8B-B14F-4D97-AF65-F5344CB8AC3E}">
        <p14:creationId xmlns:p14="http://schemas.microsoft.com/office/powerpoint/2010/main" val="285449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C920C-9BE5-5F56-448B-557BD36FD66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31C92C56-4FED-7DF1-CD04-7915F927DAFB}"/>
              </a:ext>
            </a:extLst>
          </p:cNvPr>
          <p:cNvPicPr>
            <a:picLocks noChangeAspect="1"/>
          </p:cNvPicPr>
          <p:nvPr/>
        </p:nvPicPr>
        <p:blipFill>
          <a:blip r:embed="rId3"/>
          <a:srcRect r="2765"/>
          <a:stretch/>
        </p:blipFill>
        <p:spPr>
          <a:xfrm>
            <a:off x="5264033" y="1196794"/>
            <a:ext cx="6786796" cy="3892750"/>
          </a:xfrm>
          <a:prstGeom prst="rect">
            <a:avLst/>
          </a:prstGeom>
        </p:spPr>
      </p:pic>
      <p:sp>
        <p:nvSpPr>
          <p:cNvPr id="3" name="タイトル 2">
            <a:extLst>
              <a:ext uri="{FF2B5EF4-FFF2-40B4-BE49-F238E27FC236}">
                <a16:creationId xmlns:a16="http://schemas.microsoft.com/office/drawing/2014/main" id="{125D2583-B375-874C-0B45-382CB0609C54}"/>
              </a:ext>
            </a:extLst>
          </p:cNvPr>
          <p:cNvSpPr>
            <a:spLocks noGrp="1"/>
          </p:cNvSpPr>
          <p:nvPr>
            <p:ph type="title"/>
          </p:nvPr>
        </p:nvSpPr>
        <p:spPr>
          <a:xfrm>
            <a:off x="1246909" y="-56083"/>
            <a:ext cx="9878291" cy="810190"/>
          </a:xfrm>
        </p:spPr>
        <p:txBody>
          <a:bodyPr>
            <a:normAutofit/>
          </a:bodyPr>
          <a:lstStyle/>
          <a:p>
            <a:r>
              <a:rPr kumimoji="1" lang="ja-JP" altLang="en-US" dirty="0"/>
              <a:t>提案手法</a:t>
            </a:r>
            <a:r>
              <a:rPr kumimoji="1" lang="en-US" altLang="ja-JP" dirty="0"/>
              <a:t>(3/4)</a:t>
            </a:r>
            <a:endParaRPr kumimoji="1" lang="ja-JP" altLang="en-US"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3A1878D-54B4-A00A-CDEE-27903C210DC8}"/>
                  </a:ext>
                </a:extLst>
              </p:cNvPr>
              <p:cNvSpPr txBox="1"/>
              <p:nvPr/>
            </p:nvSpPr>
            <p:spPr>
              <a:xfrm>
                <a:off x="-37285" y="1194293"/>
                <a:ext cx="5349237" cy="4031873"/>
              </a:xfrm>
              <a:prstGeom prst="rect">
                <a:avLst/>
              </a:prstGeom>
              <a:noFill/>
            </p:spPr>
            <p:txBody>
              <a:bodyPr wrap="square" rtlCol="0">
                <a:spAutoFit/>
              </a:bodyPr>
              <a:lstStyle/>
              <a:p>
                <a:pPr marL="285750" indent="-285750">
                  <a:buClr>
                    <a:srgbClr val="000000"/>
                  </a:buClr>
                  <a:buFont typeface="Wingdings" panose="05000000000000000000" pitchFamily="2" charset="2"/>
                  <a:buChar char="Ø"/>
                </a:pPr>
                <a:r>
                  <a:rPr kumimoji="1" lang="en-US" altLang="ja-JP" sz="2400" dirty="0">
                    <a:solidFill>
                      <a:srgbClr val="00B0F0"/>
                    </a:solidFill>
                  </a:rPr>
                  <a:t>Online Agent</a:t>
                </a:r>
                <a:r>
                  <a:rPr kumimoji="1" lang="en-US" altLang="ja-JP" sz="2400" dirty="0"/>
                  <a:t>: </a:t>
                </a:r>
                <a:r>
                  <a:rPr kumimoji="1" lang="ja-JP" altLang="en-US" sz="2400" dirty="0"/>
                  <a:t>入力された</a:t>
                </a:r>
                <a:r>
                  <a:rPr kumimoji="1" lang="en-US" altLang="ja-JP" sz="2400" dirty="0"/>
                  <a:t>state</a:t>
                </a:r>
                <a:r>
                  <a:rPr kumimoji="1" lang="ja-JP" altLang="en-US" sz="2400" dirty="0"/>
                  <a:t>に対して最も</a:t>
                </a:r>
                <a:r>
                  <a:rPr kumimoji="1" lang="en-US" altLang="ja-JP" sz="2400" dirty="0"/>
                  <a:t>Q</a:t>
                </a:r>
                <a:r>
                  <a:rPr kumimoji="1" lang="ja-JP" altLang="en-US" sz="2400" dirty="0"/>
                  <a:t>値が高い行動</a:t>
                </a:r>
                <a:r>
                  <a:rPr kumimoji="1" lang="en-US" altLang="ja-JP" sz="2400" dirty="0"/>
                  <a:t>(</a:t>
                </a:r>
                <a:r>
                  <a:rPr kumimoji="1" lang="ja-JP" altLang="en-US" sz="2400" dirty="0"/>
                  <a:t>投薬量</a:t>
                </a:r>
                <a:r>
                  <a:rPr kumimoji="1" lang="en-US" altLang="ja-JP" sz="2400" dirty="0"/>
                  <a:t>)</a:t>
                </a:r>
                <a:r>
                  <a:rPr kumimoji="1" lang="ja-JP" altLang="en-US" sz="2400" dirty="0"/>
                  <a:t>を</a:t>
                </a:r>
                <a:br>
                  <a:rPr kumimoji="1" lang="en-US" altLang="ja-JP" sz="2400" dirty="0"/>
                </a:br>
                <a14:m>
                  <m:oMath xmlns:m="http://schemas.openxmlformats.org/officeDocument/2006/math">
                    <m:r>
                      <a:rPr kumimoji="1" lang="ja-JP" altLang="en-US" sz="2400" i="1" smtClean="0">
                        <a:latin typeface="Cambria Math" panose="02040503050406030204" pitchFamily="18" charset="0"/>
                      </a:rPr>
                      <m:t>𝜀</m:t>
                    </m:r>
                  </m:oMath>
                </a14:m>
                <a:r>
                  <a:rPr kumimoji="1" lang="en-US" altLang="ja-JP" sz="2400" dirty="0"/>
                  <a:t>-greedy</a:t>
                </a:r>
                <a:r>
                  <a:rPr kumimoji="1" lang="ja-JP" altLang="en-US" sz="2400" dirty="0"/>
                  <a:t>法で選択 </a:t>
                </a:r>
                <a:endParaRPr kumimoji="1" lang="en-US" altLang="ja-JP" sz="2400" dirty="0"/>
              </a:p>
              <a:p>
                <a:pPr marL="285750" indent="-285750">
                  <a:buClr>
                    <a:srgbClr val="000000"/>
                  </a:buClr>
                  <a:buFont typeface="Wingdings" panose="05000000000000000000" pitchFamily="2" charset="2"/>
                  <a:buChar char="Ø"/>
                </a:pPr>
                <a:endParaRPr kumimoji="1" lang="en-US" altLang="ja-JP" sz="2400" dirty="0"/>
              </a:p>
              <a:p>
                <a:pPr marL="285750" indent="-285750">
                  <a:buClr>
                    <a:srgbClr val="000000"/>
                  </a:buClr>
                  <a:buFont typeface="Wingdings" panose="05000000000000000000" pitchFamily="2" charset="2"/>
                  <a:buChar char="Ø"/>
                </a:pPr>
                <a:r>
                  <a:rPr kumimoji="1" lang="en-US" altLang="ja-JP" sz="2400" dirty="0"/>
                  <a:t>Online action: [0,1]</a:t>
                </a:r>
                <a:r>
                  <a:rPr kumimoji="1" lang="ja-JP" altLang="en-US" sz="2400" dirty="0"/>
                  <a:t>を</a:t>
                </a:r>
                <a:r>
                  <a:rPr kumimoji="1" lang="en-US" altLang="ja-JP" sz="2400" dirty="0"/>
                  <a:t>5</a:t>
                </a:r>
                <a:r>
                  <a:rPr kumimoji="1" lang="ja-JP" altLang="en-US" sz="2400" dirty="0"/>
                  <a:t>等分した値を投薬量として出力 </a:t>
                </a:r>
                <a:br>
                  <a:rPr kumimoji="1" lang="en-US" altLang="ja-JP" sz="2400" dirty="0"/>
                </a:br>
                <a:r>
                  <a:rPr kumimoji="1" lang="ja-JP" altLang="en-US" sz="2400" dirty="0"/>
                  <a:t>➡同期間に</a:t>
                </a:r>
                <a:r>
                  <a:rPr kumimoji="1" lang="ja-JP" altLang="en-US" sz="2400" b="1" dirty="0">
                    <a:solidFill>
                      <a:srgbClr val="00B0F0"/>
                    </a:solidFill>
                  </a:rPr>
                  <a:t>何種類投薬すべきか</a:t>
                </a:r>
                <a:br>
                  <a:rPr kumimoji="1" lang="en-US" altLang="ja-JP" sz="2400" b="1" dirty="0">
                    <a:solidFill>
                      <a:srgbClr val="00B0F0"/>
                    </a:solidFill>
                  </a:rPr>
                </a:br>
                <a:r>
                  <a:rPr kumimoji="1" lang="en-US" altLang="ja-JP" sz="2400" dirty="0"/>
                  <a:t>(</a:t>
                </a:r>
                <a:r>
                  <a:rPr kumimoji="1" lang="ja-JP" altLang="en-US" sz="2400" dirty="0"/>
                  <a:t>最大</a:t>
                </a:r>
                <a:r>
                  <a:rPr kumimoji="1" lang="en-US" altLang="ja-JP" sz="2400" dirty="0"/>
                  <a:t>5</a:t>
                </a:r>
                <a:r>
                  <a:rPr kumimoji="1" lang="ja-JP" altLang="en-US" sz="2400" dirty="0"/>
                  <a:t>種類として正規化</a:t>
                </a:r>
                <a:r>
                  <a:rPr kumimoji="1" lang="en-US" altLang="ja-JP" sz="2400" dirty="0"/>
                  <a:t>)</a:t>
                </a:r>
                <a:br>
                  <a:rPr kumimoji="1" lang="en-US" altLang="ja-JP" sz="2400" dirty="0"/>
                </a:br>
                <a:endParaRPr kumimoji="1" lang="en-US" altLang="ja-JP" sz="2400" dirty="0"/>
              </a:p>
              <a:p>
                <a:pPr marL="285750" indent="-285750">
                  <a:buClr>
                    <a:srgbClr val="000000"/>
                  </a:buClr>
                  <a:buFont typeface="Wingdings" panose="05000000000000000000" pitchFamily="2" charset="2"/>
                  <a:buChar char="Ø"/>
                </a:pPr>
                <a:endParaRPr kumimoji="1" lang="en-US" altLang="ja-JP" sz="2000" dirty="0"/>
              </a:p>
              <a:p>
                <a:endParaRPr kumimoji="1" lang="ja-JP" altLang="en-US" sz="2000" dirty="0"/>
              </a:p>
            </p:txBody>
          </p:sp>
        </mc:Choice>
        <mc:Fallback xmlns="">
          <p:sp>
            <p:nvSpPr>
              <p:cNvPr id="9" name="テキスト ボックス 8">
                <a:extLst>
                  <a:ext uri="{FF2B5EF4-FFF2-40B4-BE49-F238E27FC236}">
                    <a16:creationId xmlns:a16="http://schemas.microsoft.com/office/drawing/2014/main" id="{43A1878D-54B4-A00A-CDEE-27903C210DC8}"/>
                  </a:ext>
                </a:extLst>
              </p:cNvPr>
              <p:cNvSpPr txBox="1">
                <a:spLocks noRot="1" noChangeAspect="1" noMove="1" noResize="1" noEditPoints="1" noAdjustHandles="1" noChangeArrowheads="1" noChangeShapeType="1" noTextEdit="1"/>
              </p:cNvSpPr>
              <p:nvPr/>
            </p:nvSpPr>
            <p:spPr>
              <a:xfrm>
                <a:off x="-37285" y="1194293"/>
                <a:ext cx="5349237" cy="4031873"/>
              </a:xfrm>
              <a:prstGeom prst="rect">
                <a:avLst/>
              </a:prstGeom>
              <a:blipFill>
                <a:blip r:embed="rId4"/>
                <a:stretch>
                  <a:fillRect l="-1596" t="-1815"/>
                </a:stretch>
              </a:blipFill>
            </p:spPr>
            <p:txBody>
              <a:bodyPr/>
              <a:lstStyle/>
              <a:p>
                <a:r>
                  <a:rPr lang="ja-JP" altLang="en-US">
                    <a:noFill/>
                  </a:rPr>
                  <a:t> </a:t>
                </a:r>
              </a:p>
            </p:txBody>
          </p:sp>
        </mc:Fallback>
      </mc:AlternateContent>
      <p:sp>
        <p:nvSpPr>
          <p:cNvPr id="15" name="テキスト ボックス 14">
            <a:extLst>
              <a:ext uri="{FF2B5EF4-FFF2-40B4-BE49-F238E27FC236}">
                <a16:creationId xmlns:a16="http://schemas.microsoft.com/office/drawing/2014/main" id="{B0F2CB7A-DE84-2088-8226-5114DADCF409}"/>
              </a:ext>
            </a:extLst>
          </p:cNvPr>
          <p:cNvSpPr txBox="1"/>
          <p:nvPr/>
        </p:nvSpPr>
        <p:spPr>
          <a:xfrm>
            <a:off x="6041109" y="5601594"/>
            <a:ext cx="6067759" cy="369332"/>
          </a:xfrm>
          <a:prstGeom prst="rect">
            <a:avLst/>
          </a:prstGeom>
          <a:noFill/>
        </p:spPr>
        <p:txBody>
          <a:bodyPr wrap="square" rtlCol="0">
            <a:spAutoFit/>
          </a:bodyPr>
          <a:lstStyle/>
          <a:p>
            <a:r>
              <a:rPr kumimoji="1" lang="en-US" altLang="ja-JP" dirty="0"/>
              <a:t>Fig.7  </a:t>
            </a:r>
            <a:r>
              <a:rPr kumimoji="1" lang="ja-JP" altLang="en-US" dirty="0"/>
              <a:t>オフライン・オフライン</a:t>
            </a:r>
            <a:r>
              <a:rPr kumimoji="1" lang="en-US" altLang="ja-JP" dirty="0"/>
              <a:t>RL</a:t>
            </a:r>
            <a:r>
              <a:rPr kumimoji="1" lang="ja-JP" altLang="en-US" dirty="0"/>
              <a:t>融合システムの全体図 </a:t>
            </a:r>
            <a:r>
              <a:rPr kumimoji="1" lang="en-US" altLang="ja-JP" dirty="0"/>
              <a:t>(</a:t>
            </a:r>
            <a:r>
              <a:rPr kumimoji="1" lang="ja-JP" altLang="en-US" dirty="0"/>
              <a:t>再掲</a:t>
            </a:r>
            <a:r>
              <a:rPr kumimoji="1" lang="en-US" altLang="ja-JP" dirty="0"/>
              <a:t>)</a:t>
            </a:r>
            <a:endParaRPr kumimoji="1" lang="ja-JP" altLang="en-US" dirty="0"/>
          </a:p>
        </p:txBody>
      </p:sp>
      <p:sp>
        <p:nvSpPr>
          <p:cNvPr id="16" name="テキスト ボックス 15">
            <a:extLst>
              <a:ext uri="{FF2B5EF4-FFF2-40B4-BE49-F238E27FC236}">
                <a16:creationId xmlns:a16="http://schemas.microsoft.com/office/drawing/2014/main" id="{2EB6C44D-97D8-3A09-E333-4F0AD378A308}"/>
              </a:ext>
            </a:extLst>
          </p:cNvPr>
          <p:cNvSpPr txBox="1"/>
          <p:nvPr/>
        </p:nvSpPr>
        <p:spPr>
          <a:xfrm>
            <a:off x="156596" y="754107"/>
            <a:ext cx="4871259" cy="461665"/>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400" dirty="0"/>
              <a:t>オンライン</a:t>
            </a:r>
            <a:r>
              <a:rPr kumimoji="1" lang="en-US" altLang="ja-JP" sz="2400" dirty="0"/>
              <a:t>RL </a:t>
            </a:r>
            <a:endParaRPr kumimoji="1" lang="ja-JP" altLang="en-US" sz="2400" dirty="0"/>
          </a:p>
        </p:txBody>
      </p:sp>
      <p:sp>
        <p:nvSpPr>
          <p:cNvPr id="18" name="テキスト ボックス 17">
            <a:extLst>
              <a:ext uri="{FF2B5EF4-FFF2-40B4-BE49-F238E27FC236}">
                <a16:creationId xmlns:a16="http://schemas.microsoft.com/office/drawing/2014/main" id="{0F13734B-6010-9CA3-DD2C-4495E8C7E92A}"/>
              </a:ext>
            </a:extLst>
          </p:cNvPr>
          <p:cNvSpPr txBox="1"/>
          <p:nvPr/>
        </p:nvSpPr>
        <p:spPr>
          <a:xfrm>
            <a:off x="525780" y="6409149"/>
            <a:ext cx="6122322" cy="369332"/>
          </a:xfrm>
          <a:prstGeom prst="rect">
            <a:avLst/>
          </a:prstGeom>
          <a:noFill/>
        </p:spPr>
        <p:txBody>
          <a:bodyPr wrap="square">
            <a:spAutoFit/>
          </a:bodyPr>
          <a:lstStyle/>
          <a:p>
            <a:r>
              <a:rPr lang="en-US" altLang="ja-JP" sz="1800" u="sng" dirty="0">
                <a:solidFill>
                  <a:schemeClr val="bg1"/>
                </a:solidFill>
                <a:effectLst/>
                <a:latin typeface="Times New Roman" panose="02020603050405020304" pitchFamily="18" charset="0"/>
                <a:ea typeface="ＭＳ 明朝" panose="02020609040205080304" pitchFamily="17" charset="-128"/>
                <a:cs typeface="Century" panose="02040604050505020304" pitchFamily="18" charset="0"/>
                <a:hlinkClick r:id="rId5">
                  <a:extLst>
                    <a:ext uri="{A12FA001-AC4F-418D-AE19-62706E023703}">
                      <ahyp:hlinkClr xmlns:ahyp="http://schemas.microsoft.com/office/drawing/2018/hyperlinkcolor" val="tx"/>
                    </a:ext>
                  </a:extLst>
                </a:hlinkClick>
              </a:rPr>
              <a:t>https://hivdb.stanford.edu/</a:t>
            </a:r>
            <a:endParaRPr lang="ja-JP" altLang="en-US" dirty="0">
              <a:solidFill>
                <a:schemeClr val="bg1"/>
              </a:solidFill>
            </a:endParaRPr>
          </a:p>
        </p:txBody>
      </p:sp>
      <p:sp>
        <p:nvSpPr>
          <p:cNvPr id="19" name="テキスト ボックス 18">
            <a:extLst>
              <a:ext uri="{FF2B5EF4-FFF2-40B4-BE49-F238E27FC236}">
                <a16:creationId xmlns:a16="http://schemas.microsoft.com/office/drawing/2014/main" id="{F0279BD4-3EAD-2CF0-0FE5-744AE95F5B18}"/>
              </a:ext>
            </a:extLst>
          </p:cNvPr>
          <p:cNvSpPr txBox="1"/>
          <p:nvPr/>
        </p:nvSpPr>
        <p:spPr>
          <a:xfrm>
            <a:off x="207818" y="6417462"/>
            <a:ext cx="515389" cy="369332"/>
          </a:xfrm>
          <a:prstGeom prst="rect">
            <a:avLst/>
          </a:prstGeom>
          <a:noFill/>
        </p:spPr>
        <p:txBody>
          <a:bodyPr wrap="square" rtlCol="0">
            <a:spAutoFit/>
          </a:bodyPr>
          <a:lstStyle/>
          <a:p>
            <a:r>
              <a:rPr kumimoji="1" lang="en-US" altLang="ja-JP" dirty="0">
                <a:solidFill>
                  <a:schemeClr val="bg1"/>
                </a:solidFill>
              </a:rPr>
              <a:t>[3]</a:t>
            </a:r>
            <a:endParaRPr kumimoji="1" lang="ja-JP" altLang="en-US" dirty="0">
              <a:solidFill>
                <a:schemeClr val="bg1"/>
              </a:solidFill>
            </a:endParaRPr>
          </a:p>
        </p:txBody>
      </p:sp>
      <p:sp>
        <p:nvSpPr>
          <p:cNvPr id="20" name="スライド番号プレースホルダー 19">
            <a:extLst>
              <a:ext uri="{FF2B5EF4-FFF2-40B4-BE49-F238E27FC236}">
                <a16:creationId xmlns:a16="http://schemas.microsoft.com/office/drawing/2014/main" id="{C69C02B9-24F4-FB81-D702-6595A9E88D9A}"/>
              </a:ext>
            </a:extLst>
          </p:cNvPr>
          <p:cNvSpPr>
            <a:spLocks noGrp="1"/>
          </p:cNvSpPr>
          <p:nvPr>
            <p:ph type="sldNum" sz="quarter" idx="12"/>
          </p:nvPr>
        </p:nvSpPr>
        <p:spPr/>
        <p:txBody>
          <a:bodyPr/>
          <a:lstStyle/>
          <a:p>
            <a:fld id="{E0107F97-1CD5-41F0-B842-C38020C26506}" type="slidenum">
              <a:rPr kumimoji="1" lang="ja-JP" altLang="en-US" smtClean="0"/>
              <a:pPr/>
              <a:t>7</a:t>
            </a:fld>
            <a:endParaRPr kumimoji="1" lang="ja-JP" altLang="en-US" dirty="0"/>
          </a:p>
        </p:txBody>
      </p:sp>
      <p:sp>
        <p:nvSpPr>
          <p:cNvPr id="10" name="正方形/長方形 9">
            <a:extLst>
              <a:ext uri="{FF2B5EF4-FFF2-40B4-BE49-F238E27FC236}">
                <a16:creationId xmlns:a16="http://schemas.microsoft.com/office/drawing/2014/main" id="{C2D30202-0174-24DB-C870-D6BFEA8C6966}"/>
              </a:ext>
            </a:extLst>
          </p:cNvPr>
          <p:cNvSpPr/>
          <p:nvPr/>
        </p:nvSpPr>
        <p:spPr>
          <a:xfrm>
            <a:off x="5396751" y="1238903"/>
            <a:ext cx="4616825" cy="1690532"/>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0DE2917E-2CA6-BA2E-C140-36D969870C93}"/>
              </a:ext>
            </a:extLst>
          </p:cNvPr>
          <p:cNvSpPr/>
          <p:nvPr/>
        </p:nvSpPr>
        <p:spPr>
          <a:xfrm>
            <a:off x="5396751" y="3090566"/>
            <a:ext cx="6562167" cy="1941956"/>
          </a:xfrm>
          <a:prstGeom prst="rect">
            <a:avLst/>
          </a:prstGeom>
          <a:noFill/>
          <a:ln w="38100">
            <a:solidFill>
              <a:srgbClr val="00B0F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8E2B7878-151F-7EE0-2817-38590ACF3B3A}"/>
              </a:ext>
            </a:extLst>
          </p:cNvPr>
          <p:cNvSpPr txBox="1"/>
          <p:nvPr/>
        </p:nvSpPr>
        <p:spPr>
          <a:xfrm>
            <a:off x="8808802" y="647874"/>
            <a:ext cx="2768138" cy="400110"/>
          </a:xfrm>
          <a:prstGeom prst="rect">
            <a:avLst/>
          </a:prstGeom>
          <a:noFill/>
        </p:spPr>
        <p:txBody>
          <a:bodyPr wrap="square" rtlCol="0">
            <a:spAutoFit/>
          </a:bodyPr>
          <a:lstStyle/>
          <a:p>
            <a:r>
              <a:rPr kumimoji="1" lang="ja-JP" altLang="en-US" sz="2000" b="1" dirty="0">
                <a:solidFill>
                  <a:srgbClr val="FF0000"/>
                </a:solidFill>
              </a:rPr>
              <a:t>オフライン強化学習</a:t>
            </a:r>
          </a:p>
        </p:txBody>
      </p:sp>
      <p:sp>
        <p:nvSpPr>
          <p:cNvPr id="4" name="正方形/長方形 3">
            <a:extLst>
              <a:ext uri="{FF2B5EF4-FFF2-40B4-BE49-F238E27FC236}">
                <a16:creationId xmlns:a16="http://schemas.microsoft.com/office/drawing/2014/main" id="{BFE9BD3B-FDA9-C935-E2F7-2FCC020DB709}"/>
              </a:ext>
            </a:extLst>
          </p:cNvPr>
          <p:cNvSpPr/>
          <p:nvPr/>
        </p:nvSpPr>
        <p:spPr>
          <a:xfrm>
            <a:off x="5311952" y="625221"/>
            <a:ext cx="6880049" cy="2386317"/>
          </a:xfrm>
          <a:prstGeom prst="rect">
            <a:avLst/>
          </a:prstGeom>
          <a:solidFill>
            <a:schemeClr val="tx1">
              <a:lumMod val="95000"/>
              <a:lumOff val="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991C26DC-512E-B497-F497-DC06ECD4E4A6}"/>
              </a:ext>
            </a:extLst>
          </p:cNvPr>
          <p:cNvSpPr txBox="1"/>
          <p:nvPr/>
        </p:nvSpPr>
        <p:spPr>
          <a:xfrm>
            <a:off x="5264033" y="5053310"/>
            <a:ext cx="2768138" cy="400110"/>
          </a:xfrm>
          <a:prstGeom prst="rect">
            <a:avLst/>
          </a:prstGeom>
          <a:noFill/>
        </p:spPr>
        <p:txBody>
          <a:bodyPr wrap="square" rtlCol="0">
            <a:spAutoFit/>
          </a:bodyPr>
          <a:lstStyle/>
          <a:p>
            <a:r>
              <a:rPr kumimoji="1" lang="ja-JP" altLang="en-US" sz="2000" b="1" dirty="0">
                <a:solidFill>
                  <a:srgbClr val="00B0F0"/>
                </a:solidFill>
              </a:rPr>
              <a:t>オンライン強化学習</a:t>
            </a:r>
          </a:p>
        </p:txBody>
      </p:sp>
      <p:pic>
        <p:nvPicPr>
          <p:cNvPr id="25" name="図 24">
            <a:extLst>
              <a:ext uri="{FF2B5EF4-FFF2-40B4-BE49-F238E27FC236}">
                <a16:creationId xmlns:a16="http://schemas.microsoft.com/office/drawing/2014/main" id="{1016BD26-3C68-034A-796A-FEEE25AE829E}"/>
              </a:ext>
            </a:extLst>
          </p:cNvPr>
          <p:cNvPicPr>
            <a:picLocks noChangeAspect="1"/>
          </p:cNvPicPr>
          <p:nvPr/>
        </p:nvPicPr>
        <p:blipFill>
          <a:blip r:embed="rId6"/>
          <a:srcRect l="4549"/>
          <a:stretch/>
        </p:blipFill>
        <p:spPr>
          <a:xfrm>
            <a:off x="44655" y="4437672"/>
            <a:ext cx="2768139" cy="1454759"/>
          </a:xfrm>
          <a:prstGeom prst="rect">
            <a:avLst/>
          </a:prstGeom>
        </p:spPr>
      </p:pic>
      <p:sp>
        <p:nvSpPr>
          <p:cNvPr id="26" name="矢印: 右 25">
            <a:extLst>
              <a:ext uri="{FF2B5EF4-FFF2-40B4-BE49-F238E27FC236}">
                <a16:creationId xmlns:a16="http://schemas.microsoft.com/office/drawing/2014/main" id="{0B4D9139-82D9-1A47-C488-3F2365BC172B}"/>
              </a:ext>
            </a:extLst>
          </p:cNvPr>
          <p:cNvSpPr/>
          <p:nvPr/>
        </p:nvSpPr>
        <p:spPr>
          <a:xfrm>
            <a:off x="2833252" y="5048360"/>
            <a:ext cx="450279" cy="1635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F9716149-A390-385B-A3FF-3F378ACB12CF}"/>
              </a:ext>
            </a:extLst>
          </p:cNvPr>
          <p:cNvSpPr txBox="1"/>
          <p:nvPr/>
        </p:nvSpPr>
        <p:spPr>
          <a:xfrm>
            <a:off x="3303989" y="4842582"/>
            <a:ext cx="1561641" cy="646331"/>
          </a:xfrm>
          <a:prstGeom prst="rect">
            <a:avLst/>
          </a:prstGeom>
          <a:noFill/>
        </p:spPr>
        <p:txBody>
          <a:bodyPr wrap="square" rtlCol="0">
            <a:spAutoFit/>
          </a:bodyPr>
          <a:lstStyle/>
          <a:p>
            <a:r>
              <a:rPr kumimoji="1" lang="en-US" altLang="ja-JP" b="1" dirty="0"/>
              <a:t>Online action</a:t>
            </a:r>
          </a:p>
          <a:p>
            <a:pPr algn="ctr"/>
            <a:r>
              <a:rPr kumimoji="1" lang="en-US" altLang="ja-JP" b="1" dirty="0"/>
              <a:t>(1</a:t>
            </a:r>
            <a:r>
              <a:rPr kumimoji="1" lang="ja-JP" altLang="en-US" b="1" dirty="0"/>
              <a:t>次元</a:t>
            </a:r>
            <a:r>
              <a:rPr kumimoji="1" lang="en-US" altLang="ja-JP" b="1" dirty="0"/>
              <a:t>)</a:t>
            </a:r>
            <a:endParaRPr kumimoji="1" lang="ja-JP" altLang="en-US" b="1" dirty="0"/>
          </a:p>
        </p:txBody>
      </p:sp>
      <p:sp>
        <p:nvSpPr>
          <p:cNvPr id="28" name="テキスト ボックス 27">
            <a:extLst>
              <a:ext uri="{FF2B5EF4-FFF2-40B4-BE49-F238E27FC236}">
                <a16:creationId xmlns:a16="http://schemas.microsoft.com/office/drawing/2014/main" id="{E41E66DA-5C66-C037-AC51-760FE089C0B0}"/>
              </a:ext>
            </a:extLst>
          </p:cNvPr>
          <p:cNvSpPr txBox="1"/>
          <p:nvPr/>
        </p:nvSpPr>
        <p:spPr>
          <a:xfrm>
            <a:off x="1197707" y="4209049"/>
            <a:ext cx="827724" cy="400110"/>
          </a:xfrm>
          <a:prstGeom prst="rect">
            <a:avLst/>
          </a:prstGeom>
          <a:noFill/>
        </p:spPr>
        <p:txBody>
          <a:bodyPr wrap="square" rtlCol="0">
            <a:spAutoFit/>
          </a:bodyPr>
          <a:lstStyle/>
          <a:p>
            <a:r>
              <a:rPr kumimoji="1" lang="en-US" altLang="ja-JP" sz="2000" b="1" dirty="0">
                <a:solidFill>
                  <a:srgbClr val="FF0000"/>
                </a:solidFill>
              </a:rPr>
              <a:t>DQN</a:t>
            </a:r>
            <a:endParaRPr kumimoji="1" lang="ja-JP" altLang="en-US" sz="2000" b="1" dirty="0">
              <a:solidFill>
                <a:srgbClr val="FF0000"/>
              </a:solidFill>
            </a:endParaRPr>
          </a:p>
        </p:txBody>
      </p:sp>
      <p:sp>
        <p:nvSpPr>
          <p:cNvPr id="29" name="テキスト ボックス 28">
            <a:extLst>
              <a:ext uri="{FF2B5EF4-FFF2-40B4-BE49-F238E27FC236}">
                <a16:creationId xmlns:a16="http://schemas.microsoft.com/office/drawing/2014/main" id="{5DE11080-D937-84F7-5DA4-7266EB49718D}"/>
              </a:ext>
            </a:extLst>
          </p:cNvPr>
          <p:cNvSpPr txBox="1"/>
          <p:nvPr/>
        </p:nvSpPr>
        <p:spPr>
          <a:xfrm>
            <a:off x="517135" y="5827639"/>
            <a:ext cx="3516316" cy="369332"/>
          </a:xfrm>
          <a:prstGeom prst="rect">
            <a:avLst/>
          </a:prstGeom>
          <a:noFill/>
        </p:spPr>
        <p:txBody>
          <a:bodyPr wrap="square" rtlCol="0">
            <a:spAutoFit/>
          </a:bodyPr>
          <a:lstStyle/>
          <a:p>
            <a:r>
              <a:rPr kumimoji="1" lang="en-US" altLang="ja-JP" dirty="0"/>
              <a:t>Fig.6  Online Agent </a:t>
            </a:r>
            <a:r>
              <a:rPr kumimoji="1" lang="ja-JP" altLang="en-US" dirty="0"/>
              <a:t>における</a:t>
            </a:r>
            <a:r>
              <a:rPr kumimoji="1" lang="en-US" altLang="ja-JP" dirty="0"/>
              <a:t>DQN</a:t>
            </a:r>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289335C-F780-D439-A94E-3535CC3DCA00}"/>
                  </a:ext>
                </a:extLst>
              </p:cNvPr>
              <p:cNvSpPr txBox="1"/>
              <p:nvPr/>
            </p:nvSpPr>
            <p:spPr>
              <a:xfrm>
                <a:off x="2592225" y="4533672"/>
                <a:ext cx="1129170" cy="400110"/>
              </a:xfrm>
              <a:prstGeom prst="rect">
                <a:avLst/>
              </a:prstGeom>
              <a:noFill/>
            </p:spPr>
            <p:txBody>
              <a:bodyPr wrap="square">
                <a:spAutoFit/>
              </a:bodyPr>
              <a:lstStyle/>
              <a:p>
                <a14:m>
                  <m:oMath xmlns:m="http://schemas.openxmlformats.org/officeDocument/2006/math">
                    <m:r>
                      <a:rPr kumimoji="1" lang="ja-JP" altLang="en-US" sz="2000" i="1" smtClean="0">
                        <a:solidFill>
                          <a:srgbClr val="FF0000"/>
                        </a:solidFill>
                        <a:latin typeface="Cambria Math" panose="02040503050406030204" pitchFamily="18" charset="0"/>
                      </a:rPr>
                      <m:t>𝜀</m:t>
                    </m:r>
                  </m:oMath>
                </a14:m>
                <a:r>
                  <a:rPr kumimoji="1" lang="en-US" altLang="ja-JP" sz="2000" dirty="0">
                    <a:solidFill>
                      <a:srgbClr val="FF0000"/>
                    </a:solidFill>
                  </a:rPr>
                  <a:t>-greedy</a:t>
                </a:r>
                <a:endParaRPr lang="ja-JP" altLang="en-US" sz="2000" dirty="0">
                  <a:solidFill>
                    <a:srgbClr val="FF0000"/>
                  </a:solidFill>
                </a:endParaRPr>
              </a:p>
            </p:txBody>
          </p:sp>
        </mc:Choice>
        <mc:Fallback xmlns="">
          <p:sp>
            <p:nvSpPr>
              <p:cNvPr id="6" name="テキスト ボックス 5">
                <a:extLst>
                  <a:ext uri="{FF2B5EF4-FFF2-40B4-BE49-F238E27FC236}">
                    <a16:creationId xmlns:a16="http://schemas.microsoft.com/office/drawing/2014/main" id="{0289335C-F780-D439-A94E-3535CC3DCA00}"/>
                  </a:ext>
                </a:extLst>
              </p:cNvPr>
              <p:cNvSpPr txBox="1">
                <a:spLocks noRot="1" noChangeAspect="1" noMove="1" noResize="1" noEditPoints="1" noAdjustHandles="1" noChangeArrowheads="1" noChangeShapeType="1" noTextEdit="1"/>
              </p:cNvSpPr>
              <p:nvPr/>
            </p:nvSpPr>
            <p:spPr>
              <a:xfrm>
                <a:off x="2592225" y="4533672"/>
                <a:ext cx="1129170" cy="400110"/>
              </a:xfrm>
              <a:prstGeom prst="rect">
                <a:avLst/>
              </a:prstGeom>
              <a:blipFill>
                <a:blip r:embed="rId7"/>
                <a:stretch>
                  <a:fillRect t="-9231" r="-3243" b="-276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43981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CE7A-9995-5494-7784-4CB3FA4A1AF0}"/>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214DCAC-3B03-98F9-1509-C4BBBA47DFCE}"/>
              </a:ext>
            </a:extLst>
          </p:cNvPr>
          <p:cNvSpPr>
            <a:spLocks noGrp="1"/>
          </p:cNvSpPr>
          <p:nvPr>
            <p:ph idx="1"/>
          </p:nvPr>
        </p:nvSpPr>
        <p:spPr>
          <a:xfrm>
            <a:off x="228600" y="904240"/>
            <a:ext cx="10058400" cy="509694"/>
          </a:xfrm>
        </p:spPr>
        <p:txBody>
          <a:bodyPr>
            <a:normAutofit/>
          </a:bodyPr>
          <a:lstStyle/>
          <a:p>
            <a:pPr>
              <a:buClr>
                <a:srgbClr val="000000"/>
              </a:buClr>
              <a:buFont typeface="Wingdings" panose="05000000000000000000" pitchFamily="2" charset="2"/>
              <a:buChar char="n"/>
            </a:pPr>
            <a:r>
              <a:rPr kumimoji="1" lang="en-US" altLang="ja-JP" sz="2400" dirty="0"/>
              <a:t>Experience Replay</a:t>
            </a:r>
            <a:r>
              <a:rPr lang="ja-JP" altLang="en-US" sz="2400" dirty="0"/>
              <a:t> </a:t>
            </a:r>
            <a:r>
              <a:rPr lang="en-US" altLang="ja-JP" sz="2400" dirty="0"/>
              <a:t>: DQN Agent</a:t>
            </a:r>
            <a:r>
              <a:rPr lang="ja-JP" altLang="en-US" sz="2400" dirty="0"/>
              <a:t>内部における学習安定化アルゴリズム</a:t>
            </a:r>
            <a:endParaRPr kumimoji="1" lang="en-US" altLang="ja-JP" sz="2400" dirty="0"/>
          </a:p>
        </p:txBody>
      </p:sp>
      <p:pic>
        <p:nvPicPr>
          <p:cNvPr id="5" name="図 4" descr="ダイアグラム&#10;&#10;自動的に生成された説明">
            <a:extLst>
              <a:ext uri="{FF2B5EF4-FFF2-40B4-BE49-F238E27FC236}">
                <a16:creationId xmlns:a16="http://schemas.microsoft.com/office/drawing/2014/main" id="{B7C1B7F8-2D72-0C5F-B8AA-4C0778BFB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7675" y="2072405"/>
            <a:ext cx="4548139" cy="3128655"/>
          </a:xfrm>
          <a:prstGeom prst="rect">
            <a:avLst/>
          </a:prstGeom>
        </p:spPr>
      </p:pic>
      <p:sp>
        <p:nvSpPr>
          <p:cNvPr id="6" name="テキスト ボックス 5">
            <a:extLst>
              <a:ext uri="{FF2B5EF4-FFF2-40B4-BE49-F238E27FC236}">
                <a16:creationId xmlns:a16="http://schemas.microsoft.com/office/drawing/2014/main" id="{B9F51FF8-F28A-9C35-7A31-FF555EAC6C7A}"/>
              </a:ext>
            </a:extLst>
          </p:cNvPr>
          <p:cNvSpPr txBox="1"/>
          <p:nvPr/>
        </p:nvSpPr>
        <p:spPr>
          <a:xfrm>
            <a:off x="7724000" y="5230257"/>
            <a:ext cx="3727266" cy="400110"/>
          </a:xfrm>
          <a:prstGeom prst="rect">
            <a:avLst/>
          </a:prstGeom>
          <a:noFill/>
        </p:spPr>
        <p:txBody>
          <a:bodyPr wrap="square" rtlCol="0">
            <a:spAutoFit/>
          </a:bodyPr>
          <a:lstStyle/>
          <a:p>
            <a:r>
              <a:rPr kumimoji="1" lang="en-US" altLang="ja-JP" sz="2000" dirty="0"/>
              <a:t>Fig. 8  Experience Replay</a:t>
            </a:r>
            <a:r>
              <a:rPr kumimoji="1" lang="ja-JP" altLang="en-US" sz="2000" dirty="0"/>
              <a:t>の概要</a:t>
            </a:r>
          </a:p>
        </p:txBody>
      </p:sp>
      <p:sp>
        <p:nvSpPr>
          <p:cNvPr id="7" name="テキスト ボックス 6">
            <a:extLst>
              <a:ext uri="{FF2B5EF4-FFF2-40B4-BE49-F238E27FC236}">
                <a16:creationId xmlns:a16="http://schemas.microsoft.com/office/drawing/2014/main" id="{DDCEA433-C911-65F0-7C3F-BE9D40542C37}"/>
              </a:ext>
            </a:extLst>
          </p:cNvPr>
          <p:cNvSpPr txBox="1"/>
          <p:nvPr/>
        </p:nvSpPr>
        <p:spPr>
          <a:xfrm>
            <a:off x="160866" y="1573666"/>
            <a:ext cx="6688667" cy="3785652"/>
          </a:xfrm>
          <a:prstGeom prst="rect">
            <a:avLst/>
          </a:prstGeom>
          <a:noFill/>
          <a:ln>
            <a:noFill/>
          </a:ln>
        </p:spPr>
        <p:txBody>
          <a:bodyPr wrap="square" rtlCol="0">
            <a:spAutoFit/>
          </a:bodyPr>
          <a:lstStyle/>
          <a:p>
            <a:pPr marL="285750" indent="-285750">
              <a:buFont typeface="Wingdings" panose="05000000000000000000" pitchFamily="2" charset="2"/>
              <a:buChar char="Ø"/>
            </a:pPr>
            <a:r>
              <a:rPr kumimoji="1" lang="ja-JP" altLang="en-US" sz="2400" dirty="0"/>
              <a:t>リプレイメモリには過去の経験が蓄積</a:t>
            </a:r>
            <a:br>
              <a:rPr kumimoji="1" lang="en-US" altLang="ja-JP" sz="2400" dirty="0"/>
            </a:br>
            <a:r>
              <a:rPr kumimoji="1" lang="en-US" altLang="ja-JP" sz="2400" dirty="0"/>
              <a:t>+</a:t>
            </a:r>
            <a:r>
              <a:rPr kumimoji="1" lang="ja-JP" altLang="en-US" sz="2400" dirty="0"/>
              <a:t>ランダムにサンプリング</a:t>
            </a:r>
            <a:br>
              <a:rPr kumimoji="1" lang="en-US" altLang="ja-JP" sz="2400" dirty="0"/>
            </a:br>
            <a:r>
              <a:rPr kumimoji="1" lang="ja-JP" altLang="en-US" sz="2400" dirty="0"/>
              <a:t>➡</a:t>
            </a:r>
            <a:r>
              <a:rPr kumimoji="1" lang="ja-JP" altLang="en-US" sz="2400" b="1" dirty="0">
                <a:solidFill>
                  <a:srgbClr val="00B0F0"/>
                </a:solidFill>
              </a:rPr>
              <a:t>サンプリング効率の上昇</a:t>
            </a:r>
            <a:r>
              <a:rPr kumimoji="1" lang="ja-JP" altLang="en-US" sz="2400" dirty="0"/>
              <a:t>による学習の安定化</a:t>
            </a:r>
            <a:br>
              <a:rPr kumimoji="1" lang="en-US" altLang="ja-JP" sz="2400" dirty="0"/>
            </a:br>
            <a:endParaRPr kumimoji="1" lang="en-US" altLang="ja-JP" sz="2400" dirty="0"/>
          </a:p>
          <a:p>
            <a:pPr marL="285750" indent="-285750">
              <a:buFont typeface="Wingdings" panose="05000000000000000000" pitchFamily="2" charset="2"/>
              <a:buChar char="Ø"/>
            </a:pPr>
            <a:r>
              <a:rPr kumimoji="1" lang="ja-JP" altLang="en-US" sz="2400" dirty="0"/>
              <a:t>ステップ数がバッチサイズを下回る場合</a:t>
            </a:r>
            <a:br>
              <a:rPr kumimoji="1" lang="en-US" altLang="ja-JP" sz="2400" dirty="0"/>
            </a:br>
            <a:r>
              <a:rPr kumimoji="1" lang="ja-JP" altLang="en-US" sz="2400" dirty="0"/>
              <a:t>➡モデルの更新は行わない</a:t>
            </a:r>
            <a:br>
              <a:rPr kumimoji="1" lang="en-US" altLang="ja-JP" sz="2400" dirty="0"/>
            </a:br>
            <a:endParaRPr kumimoji="1" lang="en-US" altLang="ja-JP" sz="2400" dirty="0"/>
          </a:p>
          <a:p>
            <a:pPr marL="285750" indent="-285750">
              <a:buFont typeface="Wingdings" panose="05000000000000000000" pitchFamily="2" charset="2"/>
              <a:buChar char="Ø"/>
            </a:pPr>
            <a:r>
              <a:rPr kumimoji="1" lang="ja-JP" altLang="en-US" sz="2400" dirty="0"/>
              <a:t>リプレイメモリによるバッチ学習を通じて </a:t>
            </a:r>
            <a:r>
              <a:rPr kumimoji="1" lang="en-US" altLang="ja-JP" sz="2400" dirty="0"/>
              <a:t>DNN(Deep Neural Network)</a:t>
            </a:r>
            <a:r>
              <a:rPr kumimoji="1" lang="ja-JP" altLang="en-US" sz="2400" dirty="0"/>
              <a:t>を訓練</a:t>
            </a:r>
            <a:br>
              <a:rPr kumimoji="1" lang="en-US" altLang="ja-JP" sz="2400" dirty="0"/>
            </a:br>
            <a:r>
              <a:rPr kumimoji="1" lang="ja-JP" altLang="en-US" sz="2400" dirty="0"/>
              <a:t>➡データの相関による不安定性を克服</a:t>
            </a:r>
          </a:p>
        </p:txBody>
      </p:sp>
      <p:sp>
        <p:nvSpPr>
          <p:cNvPr id="8" name="テキスト ボックス 7">
            <a:extLst>
              <a:ext uri="{FF2B5EF4-FFF2-40B4-BE49-F238E27FC236}">
                <a16:creationId xmlns:a16="http://schemas.microsoft.com/office/drawing/2014/main" id="{0E863208-956C-C1BD-E9D1-989C3B27FAC0}"/>
              </a:ext>
            </a:extLst>
          </p:cNvPr>
          <p:cNvSpPr txBox="1"/>
          <p:nvPr/>
        </p:nvSpPr>
        <p:spPr>
          <a:xfrm>
            <a:off x="228600" y="5570481"/>
            <a:ext cx="7188200" cy="461665"/>
          </a:xfrm>
          <a:prstGeom prst="rect">
            <a:avLst/>
          </a:prstGeom>
          <a:noFill/>
          <a:ln w="38100" cmpd="dbl">
            <a:solidFill>
              <a:srgbClr val="00B0F0"/>
            </a:solidFill>
          </a:ln>
        </p:spPr>
        <p:txBody>
          <a:bodyPr wrap="square" rtlCol="0">
            <a:spAutoFit/>
          </a:bodyPr>
          <a:lstStyle/>
          <a:p>
            <a:r>
              <a:rPr kumimoji="1" lang="ja-JP" altLang="en-US" sz="2400" dirty="0"/>
              <a:t>リプレイメモリの有無が報酬に与える影響を比較・検討</a:t>
            </a:r>
          </a:p>
        </p:txBody>
      </p:sp>
      <p:sp>
        <p:nvSpPr>
          <p:cNvPr id="9" name="スライド番号プレースホルダー 8">
            <a:extLst>
              <a:ext uri="{FF2B5EF4-FFF2-40B4-BE49-F238E27FC236}">
                <a16:creationId xmlns:a16="http://schemas.microsoft.com/office/drawing/2014/main" id="{76E1A09C-9C20-1F92-EDF1-15A23D45340A}"/>
              </a:ext>
            </a:extLst>
          </p:cNvPr>
          <p:cNvSpPr>
            <a:spLocks noGrp="1"/>
          </p:cNvSpPr>
          <p:nvPr>
            <p:ph type="sldNum" sz="quarter" idx="12"/>
          </p:nvPr>
        </p:nvSpPr>
        <p:spPr/>
        <p:txBody>
          <a:bodyPr/>
          <a:lstStyle/>
          <a:p>
            <a:fld id="{E0107F97-1CD5-41F0-B842-C38020C26506}" type="slidenum">
              <a:rPr kumimoji="1" lang="ja-JP" altLang="en-US" smtClean="0"/>
              <a:pPr/>
              <a:t>8</a:t>
            </a:fld>
            <a:endParaRPr kumimoji="1" lang="ja-JP" altLang="en-US" dirty="0"/>
          </a:p>
        </p:txBody>
      </p:sp>
      <p:sp>
        <p:nvSpPr>
          <p:cNvPr id="12" name="タイトル 2">
            <a:extLst>
              <a:ext uri="{FF2B5EF4-FFF2-40B4-BE49-F238E27FC236}">
                <a16:creationId xmlns:a16="http://schemas.microsoft.com/office/drawing/2014/main" id="{02414AA5-6294-A15A-5909-8CCE4DE6B21A}"/>
              </a:ext>
            </a:extLst>
          </p:cNvPr>
          <p:cNvSpPr>
            <a:spLocks noGrp="1"/>
          </p:cNvSpPr>
          <p:nvPr>
            <p:ph type="title"/>
          </p:nvPr>
        </p:nvSpPr>
        <p:spPr>
          <a:xfrm>
            <a:off x="1246909" y="-56083"/>
            <a:ext cx="9878291" cy="810190"/>
          </a:xfrm>
        </p:spPr>
        <p:txBody>
          <a:bodyPr>
            <a:normAutofit/>
          </a:bodyPr>
          <a:lstStyle/>
          <a:p>
            <a:r>
              <a:rPr kumimoji="1" lang="ja-JP" altLang="en-US" dirty="0"/>
              <a:t>提案手法</a:t>
            </a:r>
            <a:r>
              <a:rPr kumimoji="1" lang="en-US" altLang="ja-JP" dirty="0"/>
              <a:t>(</a:t>
            </a:r>
            <a:r>
              <a:rPr lang="en-US" altLang="ja-JP" dirty="0"/>
              <a:t>4</a:t>
            </a:r>
            <a:r>
              <a:rPr kumimoji="1" lang="en-US" altLang="ja-JP" dirty="0"/>
              <a:t>/4)</a:t>
            </a:r>
            <a:endParaRPr kumimoji="1" lang="ja-JP" altLang="en-US" dirty="0"/>
          </a:p>
        </p:txBody>
      </p:sp>
    </p:spTree>
    <p:extLst>
      <p:ext uri="{BB962C8B-B14F-4D97-AF65-F5344CB8AC3E}">
        <p14:creationId xmlns:p14="http://schemas.microsoft.com/office/powerpoint/2010/main" val="3344728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239C59B-D7D5-903B-60BA-9AEB2259A4A2}"/>
              </a:ext>
            </a:extLst>
          </p:cNvPr>
          <p:cNvSpPr/>
          <p:nvPr/>
        </p:nvSpPr>
        <p:spPr>
          <a:xfrm>
            <a:off x="8074791" y="2217562"/>
            <a:ext cx="3976839" cy="92333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graphicFrame>
            <p:nvGraphicFramePr>
              <p:cNvPr id="4" name="コンテンツ プレースホルダー 3">
                <a:extLst>
                  <a:ext uri="{FF2B5EF4-FFF2-40B4-BE49-F238E27FC236}">
                    <a16:creationId xmlns:a16="http://schemas.microsoft.com/office/drawing/2014/main" id="{E995526D-DA21-092D-87FC-01162CC4B559}"/>
                  </a:ext>
                </a:extLst>
              </p:cNvPr>
              <p:cNvGraphicFramePr>
                <a:graphicFrameLocks noGrp="1"/>
              </p:cNvGraphicFramePr>
              <p:nvPr>
                <p:ph idx="1"/>
                <p:extLst>
                  <p:ext uri="{D42A27DB-BD31-4B8C-83A1-F6EECF244321}">
                    <p14:modId xmlns:p14="http://schemas.microsoft.com/office/powerpoint/2010/main" val="1569999007"/>
                  </p:ext>
                </p:extLst>
              </p:nvPr>
            </p:nvGraphicFramePr>
            <p:xfrm>
              <a:off x="267907" y="1128636"/>
              <a:ext cx="7480430" cy="4593971"/>
            </p:xfrm>
            <a:graphic>
              <a:graphicData uri="http://schemas.openxmlformats.org/drawingml/2006/table">
                <a:tbl>
                  <a:tblPr firstRow="1" bandRow="1">
                    <a:tableStyleId>{5C22544A-7EE6-4342-B048-85BDC9FD1C3A}</a:tableStyleId>
                  </a:tblPr>
                  <a:tblGrid>
                    <a:gridCol w="1449329">
                      <a:extLst>
                        <a:ext uri="{9D8B030D-6E8A-4147-A177-3AD203B41FA5}">
                          <a16:colId xmlns:a16="http://schemas.microsoft.com/office/drawing/2014/main" val="2195195075"/>
                        </a:ext>
                      </a:extLst>
                    </a:gridCol>
                    <a:gridCol w="2956393">
                      <a:extLst>
                        <a:ext uri="{9D8B030D-6E8A-4147-A177-3AD203B41FA5}">
                          <a16:colId xmlns:a16="http://schemas.microsoft.com/office/drawing/2014/main" val="933600374"/>
                        </a:ext>
                      </a:extLst>
                    </a:gridCol>
                    <a:gridCol w="3074708">
                      <a:extLst>
                        <a:ext uri="{9D8B030D-6E8A-4147-A177-3AD203B41FA5}">
                          <a16:colId xmlns:a16="http://schemas.microsoft.com/office/drawing/2014/main" val="4210876019"/>
                        </a:ext>
                      </a:extLst>
                    </a:gridCol>
                  </a:tblGrid>
                  <a:tr h="370840">
                    <a:tc>
                      <a:txBody>
                        <a:bodyPr/>
                        <a:lstStyle/>
                        <a:p>
                          <a:pPr algn="ctr"/>
                          <a:r>
                            <a:rPr kumimoji="1" lang="ja-JP" altLang="en-US" dirty="0"/>
                            <a:t>パラメータ</a:t>
                          </a:r>
                        </a:p>
                      </a:txBody>
                      <a:tcPr/>
                    </a:tc>
                    <a:tc>
                      <a:txBody>
                        <a:bodyPr/>
                        <a:lstStyle/>
                        <a:p>
                          <a:pPr algn="ctr"/>
                          <a:r>
                            <a:rPr kumimoji="1" lang="ja-JP" altLang="en-US" dirty="0"/>
                            <a:t>従来手法</a:t>
                          </a:r>
                          <a:r>
                            <a:rPr kumimoji="1" lang="en-US" altLang="ja-JP" dirty="0"/>
                            <a:t>(Q-learning)</a:t>
                          </a:r>
                          <a:endParaRPr kumimoji="1" lang="ja-JP" altLang="en-US" dirty="0"/>
                        </a:p>
                      </a:txBody>
                      <a:tcPr/>
                    </a:tc>
                    <a:tc>
                      <a:txBody>
                        <a:bodyPr/>
                        <a:lstStyle/>
                        <a:p>
                          <a:pPr algn="ctr"/>
                          <a:r>
                            <a:rPr kumimoji="1" lang="ja-JP" altLang="en-US" dirty="0"/>
                            <a:t>提案手法</a:t>
                          </a:r>
                          <a:r>
                            <a:rPr kumimoji="1" lang="en-US" altLang="ja-JP" dirty="0"/>
                            <a:t>(DQN)</a:t>
                          </a:r>
                          <a:endParaRPr kumimoji="1" lang="ja-JP" altLang="en-US" dirty="0"/>
                        </a:p>
                      </a:txBody>
                      <a:tcPr/>
                    </a:tc>
                    <a:extLst>
                      <a:ext uri="{0D108BD9-81ED-4DB2-BD59-A6C34878D82A}">
                        <a16:rowId xmlns:a16="http://schemas.microsoft.com/office/drawing/2014/main" val="2770443578"/>
                      </a:ext>
                    </a:extLst>
                  </a:tr>
                  <a:tr h="370840">
                    <a:tc>
                      <a:txBody>
                        <a:bodyPr/>
                        <a:lstStyle/>
                        <a:p>
                          <a:pPr algn="ctr"/>
                          <a:r>
                            <a:rPr kumimoji="1" lang="en-US" altLang="ja-JP" dirty="0"/>
                            <a:t>X</a:t>
                          </a:r>
                          <a:r>
                            <a:rPr kumimoji="1" lang="ja-JP" altLang="en-US" dirty="0"/>
                            <a:t>の初期値</a:t>
                          </a:r>
                        </a:p>
                      </a:txBody>
                      <a:tcPr/>
                    </a:tc>
                    <a:tc gridSpan="2">
                      <a:txBody>
                        <a:bodyPr/>
                        <a:lstStyle/>
                        <a:p>
                          <a:pPr algn="ctr"/>
                          <a:r>
                            <a:rPr kumimoji="1" lang="en-US" altLang="ja-JP" dirty="0"/>
                            <a:t>[0, 1000]</a:t>
                          </a:r>
                          <a:r>
                            <a:rPr kumimoji="1" lang="ja-JP" altLang="en-US" dirty="0"/>
                            <a:t>のうちランダムな整数</a:t>
                          </a:r>
                        </a:p>
                      </a:txBody>
                      <a:tcPr/>
                    </a:tc>
                    <a:tc hMerge="1">
                      <a:txBody>
                        <a:bodyPr/>
                        <a:lstStyle/>
                        <a:p>
                          <a:endParaRPr kumimoji="1" lang="ja-JP" altLang="en-US" dirty="0"/>
                        </a:p>
                      </a:txBody>
                      <a:tcPr/>
                    </a:tc>
                    <a:extLst>
                      <a:ext uri="{0D108BD9-81ED-4DB2-BD59-A6C34878D82A}">
                        <a16:rowId xmlns:a16="http://schemas.microsoft.com/office/drawing/2014/main" val="2513083369"/>
                      </a:ext>
                    </a:extLst>
                  </a:tr>
                  <a:tr h="370840">
                    <a:tc>
                      <a:txBody>
                        <a:bodyPr/>
                        <a:lstStyle/>
                        <a:p>
                          <a:pPr algn="ctr"/>
                          <a:r>
                            <a:rPr kumimoji="1" lang="en-US" altLang="ja-JP" dirty="0"/>
                            <a:t>V</a:t>
                          </a:r>
                          <a:r>
                            <a:rPr kumimoji="1" lang="ja-JP" altLang="en-US" dirty="0"/>
                            <a:t>の初期値</a:t>
                          </a:r>
                        </a:p>
                      </a:txBody>
                      <a:tcPr/>
                    </a:tc>
                    <a:tc gridSpan="2">
                      <a:txBody>
                        <a:bodyPr/>
                        <a:lstStyle/>
                        <a:p>
                          <a:pPr algn="ctr"/>
                          <a:r>
                            <a:rPr kumimoji="1" lang="en-US" altLang="ja-JP" dirty="0"/>
                            <a:t>[0.0, 5.0]</a:t>
                          </a:r>
                          <a:r>
                            <a:rPr kumimoji="1" lang="ja-JP" altLang="en-US" dirty="0"/>
                            <a:t>のうち</a:t>
                          </a:r>
                          <a:r>
                            <a:rPr kumimoji="1" lang="en-US" altLang="ja-JP" dirty="0"/>
                            <a:t>1</a:t>
                          </a:r>
                          <a:r>
                            <a:rPr kumimoji="1" lang="ja-JP" altLang="en-US" dirty="0"/>
                            <a:t>次までの小数</a:t>
                          </a:r>
                        </a:p>
                      </a:txBody>
                      <a:tcPr/>
                    </a:tc>
                    <a:tc hMerge="1">
                      <a:txBody>
                        <a:bodyPr/>
                        <a:lstStyle/>
                        <a:p>
                          <a:endParaRPr kumimoji="1" lang="ja-JP" altLang="en-US" dirty="0"/>
                        </a:p>
                      </a:txBody>
                      <a:tcPr/>
                    </a:tc>
                    <a:extLst>
                      <a:ext uri="{0D108BD9-81ED-4DB2-BD59-A6C34878D82A}">
                        <a16:rowId xmlns:a16="http://schemas.microsoft.com/office/drawing/2014/main" val="1046203805"/>
                      </a:ext>
                    </a:extLst>
                  </a:tr>
                  <a:tr h="370840">
                    <a:tc>
                      <a:txBody>
                        <a:bodyPr/>
                        <a:lstStyle/>
                        <a:p>
                          <a:pPr algn="ctr"/>
                          <a:r>
                            <a:rPr kumimoji="1" lang="ja-JP" altLang="en-US" dirty="0"/>
                            <a:t>割引率</a:t>
                          </a:r>
                          <a14:m>
                            <m:oMath xmlns:m="http://schemas.openxmlformats.org/officeDocument/2006/math">
                              <m:r>
                                <a:rPr kumimoji="1" lang="ja-JP" altLang="en-US" i="1" smtClean="0">
                                  <a:latin typeface="Cambria Math" panose="02040503050406030204" pitchFamily="18" charset="0"/>
                                </a:rPr>
                                <m:t>𝛾</m:t>
                              </m:r>
                            </m:oMath>
                          </a14:m>
                          <a:endParaRPr kumimoji="1" lang="ja-JP" altLang="en-US" dirty="0"/>
                        </a:p>
                      </a:txBody>
                      <a:tcPr/>
                    </a:tc>
                    <a:tc gridSpan="2">
                      <a:txBody>
                        <a:bodyPr/>
                        <a:lstStyle/>
                        <a:p>
                          <a:pPr algn="ctr"/>
                          <a:r>
                            <a:rPr kumimoji="1" lang="ja-JP" altLang="en-US" dirty="0"/>
                            <a:t>初期 </a:t>
                          </a:r>
                          <a:r>
                            <a:rPr kumimoji="1" lang="en-US" altLang="ja-JP" dirty="0"/>
                            <a:t>: 0.5 , </a:t>
                          </a:r>
                          <a:r>
                            <a:rPr kumimoji="1" lang="ja-JP" altLang="en-US" dirty="0"/>
                            <a:t>以降 </a:t>
                          </a:r>
                          <a:r>
                            <a:rPr kumimoji="1" lang="en-US" altLang="ja-JP" dirty="0"/>
                            <a:t>: 0</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2145567343"/>
                      </a:ext>
                    </a:extLst>
                  </a:tr>
                  <a:tr h="370840">
                    <a:tc>
                      <a:txBody>
                        <a:bodyPr/>
                        <a:lstStyle/>
                        <a:p>
                          <a:pPr algn="ctr"/>
                          <a:r>
                            <a:rPr kumimoji="1" lang="ja-JP" altLang="en-US" dirty="0"/>
                            <a:t>学習率</a:t>
                          </a:r>
                          <a14:m>
                            <m:oMath xmlns:m="http://schemas.openxmlformats.org/officeDocument/2006/math">
                              <m:r>
                                <a:rPr kumimoji="1" lang="ja-JP" altLang="en-US" i="1" smtClean="0">
                                  <a:latin typeface="Cambria Math" panose="02040503050406030204" pitchFamily="18" charset="0"/>
                                </a:rPr>
                                <m:t>𝛼</m:t>
                              </m:r>
                            </m:oMath>
                          </a14:m>
                          <a:endParaRPr kumimoji="1" lang="en-US" altLang="ja-JP" dirty="0"/>
                        </a:p>
                      </a:txBody>
                      <a:tcPr/>
                    </a:tc>
                    <a:tc gridSpan="2">
                      <a:txBody>
                        <a:bodyPr/>
                        <a:lstStyle/>
                        <a:p>
                          <a:pPr algn="ctr"/>
                          <a:r>
                            <a:rPr kumimoji="1" lang="en-US" altLang="ja-JP" dirty="0"/>
                            <a:t>0.5</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2106617706"/>
                      </a:ext>
                    </a:extLst>
                  </a:tr>
                  <a:tr h="370840">
                    <a:tc>
                      <a:txBody>
                        <a:bodyPr/>
                        <a:lstStyle/>
                        <a:p>
                          <a:pPr algn="ctr"/>
                          <a:r>
                            <a:rPr kumimoji="1" lang="ja-JP" altLang="en-US" dirty="0"/>
                            <a:t>行動選択</a:t>
                          </a:r>
                        </a:p>
                      </a:txBody>
                      <a:tcPr/>
                    </a:tc>
                    <a:tc>
                      <a:txBody>
                        <a:bodyPr/>
                        <a:lstStyle/>
                        <a:p>
                          <a:pPr algn="ctr"/>
                          <a:r>
                            <a:rPr kumimoji="1" lang="en-US" altLang="ja-JP" dirty="0"/>
                            <a:t>softmax</a:t>
                          </a:r>
                          <a:endParaRPr kumimoji="1" lang="ja-JP" altLang="en-US" dirty="0"/>
                        </a:p>
                      </a:txBody>
                      <a:tcPr/>
                    </a:tc>
                    <a:tc>
                      <a:txBody>
                        <a:bodyPr/>
                        <a:lstStyle/>
                        <a:p>
                          <a:pPr algn="ctr"/>
                          <a14:m>
                            <m:oMath xmlns:m="http://schemas.openxmlformats.org/officeDocument/2006/math">
                              <m:r>
                                <a:rPr kumimoji="1" lang="ja-JP" altLang="en-US" i="1" smtClean="0">
                                  <a:latin typeface="Cambria Math" panose="02040503050406030204" pitchFamily="18" charset="0"/>
                                </a:rPr>
                                <m:t>𝜖</m:t>
                              </m:r>
                            </m:oMath>
                          </a14:m>
                          <a:r>
                            <a:rPr kumimoji="1" lang="en-US" altLang="ja-JP" dirty="0"/>
                            <a:t>-greedy</a:t>
                          </a:r>
                          <a:endParaRPr kumimoji="1" lang="ja-JP" altLang="en-US" dirty="0"/>
                        </a:p>
                      </a:txBody>
                      <a:tcPr/>
                    </a:tc>
                    <a:extLst>
                      <a:ext uri="{0D108BD9-81ED-4DB2-BD59-A6C34878D82A}">
                        <a16:rowId xmlns:a16="http://schemas.microsoft.com/office/drawing/2014/main" val="1332832412"/>
                      </a:ext>
                    </a:extLst>
                  </a:tr>
                  <a:tr h="370840">
                    <a:tc>
                      <a:txBody>
                        <a:bodyPr/>
                        <a:lstStyle/>
                        <a:p>
                          <a:pPr algn="ctr"/>
                          <a:r>
                            <a:rPr kumimoji="1" lang="ja-JP" altLang="en-US" dirty="0"/>
                            <a:t>状態数</a:t>
                          </a:r>
                        </a:p>
                      </a:txBody>
                      <a:tcPr/>
                    </a:tc>
                    <a:tc>
                      <a:txBody>
                        <a:bodyPr/>
                        <a:lstStyle/>
                        <a:p>
                          <a:pPr algn="ctr"/>
                          <a:r>
                            <a:rPr kumimoji="1" lang="en-US" altLang="ja-JP" dirty="0"/>
                            <a:t>2</a:t>
                          </a:r>
                          <a:endParaRPr kumimoji="1" lang="ja-JP" altLang="en-US" dirty="0"/>
                        </a:p>
                      </a:txBody>
                      <a:tcPr/>
                    </a:tc>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3699714799"/>
                      </a:ext>
                    </a:extLst>
                  </a:tr>
                  <a:tr h="370840">
                    <a:tc>
                      <a:txBody>
                        <a:bodyPr/>
                        <a:lstStyle/>
                        <a:p>
                          <a:pPr algn="ctr"/>
                          <a:r>
                            <a:rPr kumimoji="1" lang="ja-JP" altLang="en-US" dirty="0"/>
                            <a:t>報酬</a:t>
                          </a: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初期 </a:t>
                          </a:r>
                          <a:r>
                            <a:rPr kumimoji="1" lang="en-US" altLang="ja-JP" dirty="0"/>
                            <a:t>: 0, </a:t>
                          </a:r>
                          <a:r>
                            <a:rPr kumimoji="1" lang="ja-JP" altLang="en-US" dirty="0"/>
                            <a:t>以降 </a:t>
                          </a:r>
                          <a:r>
                            <a:rPr kumimoji="1" lang="en-US" altLang="ja-JP" dirty="0"/>
                            <a:t>:</a:t>
                          </a:r>
                          <a:r>
                            <a:rPr kumimoji="1" lang="en-US" altLang="ja-JP" baseline="0" dirty="0"/>
                            <a:t> </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1" lang="en-US" altLang="ja-JP" sz="1800" b="0" i="1" smtClean="0">
                                        <a:latin typeface="Cambria Math" panose="02040503050406030204" pitchFamily="18" charset="0"/>
                                      </a:rPr>
                                    </m:ctrlPr>
                                  </m:funcPr>
                                  <m:fName>
                                    <m:r>
                                      <m:rPr>
                                        <m:sty m:val="p"/>
                                      </m:rPr>
                                      <a:rPr kumimoji="1" lang="en-US" altLang="ja-JP" sz="1800" b="0" i="0" smtClean="0">
                                        <a:latin typeface="Cambria Math" panose="02040503050406030204" pitchFamily="18" charset="0"/>
                                      </a:rPr>
                                      <m:t>log</m:t>
                                    </m:r>
                                  </m:fName>
                                  <m:e>
                                    <m:d>
                                      <m:dPr>
                                        <m:ctrlPr>
                                          <a:rPr kumimoji="1" lang="en-US" altLang="ja-JP" sz="1800" b="0" i="1" smtClean="0">
                                            <a:latin typeface="Cambria Math" panose="02040503050406030204" pitchFamily="18" charset="0"/>
                                          </a:rPr>
                                        </m:ctrlPr>
                                      </m:dPr>
                                      <m:e>
                                        <m:f>
                                          <m:fPr>
                                            <m:ctrlPr>
                                              <a:rPr kumimoji="1" lang="en-US" altLang="ja-JP" sz="1800" b="0" i="1" smtClean="0">
                                                <a:latin typeface="Cambria Math" panose="02040503050406030204" pitchFamily="18" charset="0"/>
                                              </a:rPr>
                                            </m:ctrlPr>
                                          </m:fPr>
                                          <m:num>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𝑉</m:t>
                                                </m:r>
                                              </m:e>
                                              <m:sub>
                                                <m:r>
                                                  <a:rPr kumimoji="1" lang="en-US" altLang="ja-JP" sz="1800" b="0" i="1" smtClean="0">
                                                    <a:latin typeface="Cambria Math" panose="02040503050406030204" pitchFamily="18" charset="0"/>
                                                  </a:rPr>
                                                  <m:t>𝑜𝑙𝑑</m:t>
                                                </m:r>
                                              </m:sub>
                                            </m:sSub>
                                          </m:num>
                                          <m:den>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𝑉</m:t>
                                                </m:r>
                                              </m:e>
                                              <m:sub>
                                                <m:r>
                                                  <a:rPr kumimoji="1" lang="en-US" altLang="ja-JP" sz="1800" b="0" i="1" smtClean="0">
                                                    <a:latin typeface="Cambria Math" panose="02040503050406030204" pitchFamily="18" charset="0"/>
                                                  </a:rPr>
                                                  <m:t>𝑛𝑒𝑤</m:t>
                                                </m:r>
                                              </m:sub>
                                            </m:sSub>
                                          </m:den>
                                        </m:f>
                                      </m:e>
                                    </m:d>
                                  </m:e>
                                </m:func>
                                <m:r>
                                  <a:rPr kumimoji="1" lang="en-US" altLang="ja-JP" sz="1800" b="0" i="1" smtClean="0">
                                    <a:latin typeface="Cambria Math" panose="02040503050406030204" pitchFamily="18" charset="0"/>
                                  </a:rPr>
                                  <m:t>−</m:t>
                                </m:r>
                                <m:d>
                                  <m:dPr>
                                    <m:ctrlPr>
                                      <a:rPr kumimoji="1" lang="en-US" altLang="ja-JP" sz="1800" b="0" i="1" smtClean="0">
                                        <a:latin typeface="Cambria Math" panose="02040503050406030204" pitchFamily="18" charset="0"/>
                                      </a:rPr>
                                    </m:ctrlPr>
                                  </m:dPr>
                                  <m:e>
                                    <m:r>
                                      <a:rPr kumimoji="1" lang="en-US" altLang="ja-JP" sz="1800" b="0" i="1" smtClean="0">
                                        <a:latin typeface="Cambria Math" panose="02040503050406030204" pitchFamily="18" charset="0"/>
                                      </a:rPr>
                                      <m:t>𝑑𝑜𝑠</m:t>
                                    </m:r>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𝑒</m:t>
                                        </m:r>
                                      </m:e>
                                      <m:sub>
                                        <m:r>
                                          <a:rPr kumimoji="1" lang="en-US" altLang="ja-JP" sz="1800" b="0" i="1" smtClean="0">
                                            <a:latin typeface="Cambria Math" panose="02040503050406030204" pitchFamily="18" charset="0"/>
                                          </a:rPr>
                                          <m:t>𝑛𝑒𝑤</m:t>
                                        </m:r>
                                      </m:sub>
                                    </m:sSub>
                                    <m:r>
                                      <a:rPr kumimoji="1" lang="en-US" altLang="ja-JP" sz="1800" b="0" i="1" smtClean="0">
                                        <a:latin typeface="Cambria Math" panose="02040503050406030204" pitchFamily="18" charset="0"/>
                                      </a:rPr>
                                      <m:t>− </m:t>
                                    </m:r>
                                    <m:r>
                                      <a:rPr kumimoji="1" lang="en-US" altLang="ja-JP" sz="1800" b="0" i="1" smtClean="0">
                                        <a:latin typeface="Cambria Math" panose="02040503050406030204" pitchFamily="18" charset="0"/>
                                      </a:rPr>
                                      <m:t>𝑑𝑜𝑠</m:t>
                                    </m:r>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𝑒</m:t>
                                        </m:r>
                                      </m:e>
                                      <m:sub>
                                        <m:r>
                                          <a:rPr kumimoji="1" lang="en-US" altLang="ja-JP" sz="1800" b="0" i="1" smtClean="0">
                                            <a:latin typeface="Cambria Math" panose="02040503050406030204" pitchFamily="18" charset="0"/>
                                          </a:rPr>
                                          <m:t>𝑜𝑙𝑑</m:t>
                                        </m:r>
                                      </m:sub>
                                    </m:sSub>
                                  </m:e>
                                </m:d>
                                <m:r>
                                  <m:rPr>
                                    <m:sty m:val="p"/>
                                  </m:rPr>
                                  <a:rPr kumimoji="1" lang="en-US" altLang="ja-JP" sz="1800" b="0" i="0" smtClean="0">
                                    <a:latin typeface="Cambria Math" panose="02040503050406030204" pitchFamily="18" charset="0"/>
                                  </a:rPr>
                                  <m:t>log</m:t>
                                </m:r>
                                <m:r>
                                  <a:rPr kumimoji="1" lang="en-US" altLang="ja-JP" sz="1800" b="0" i="1" smtClean="0">
                                    <a:latin typeface="Cambria Math" panose="02040503050406030204" pitchFamily="18" charset="0"/>
                                  </a:rPr>
                                  <m:t>⁡(</m:t>
                                </m:r>
                                <m:r>
                                  <a:rPr kumimoji="1" lang="en-US" altLang="ja-JP" sz="1800" b="0" i="1" smtClean="0">
                                    <a:latin typeface="Cambria Math" panose="02040503050406030204" pitchFamily="18" charset="0"/>
                                  </a:rPr>
                                  <m:t>𝑑𝑜𝑠</m:t>
                                </m:r>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𝑒</m:t>
                                    </m:r>
                                  </m:e>
                                  <m:sub>
                                    <m:r>
                                      <a:rPr kumimoji="1" lang="en-US" altLang="ja-JP" sz="1800" b="0" i="1" smtClean="0">
                                        <a:latin typeface="Cambria Math" panose="02040503050406030204" pitchFamily="18" charset="0"/>
                                      </a:rPr>
                                      <m:t>𝑛𝑒𝑤</m:t>
                                    </m:r>
                                  </m:sub>
                                </m:sSub>
                                <m:r>
                                  <a:rPr kumimoji="1" lang="en-US" altLang="ja-JP" sz="1800" b="0" i="1" smtClean="0">
                                    <a:latin typeface="Cambria Math" panose="02040503050406030204" pitchFamily="18" charset="0"/>
                                  </a:rPr>
                                  <m:t>)</m:t>
                                </m:r>
                              </m:oMath>
                            </m:oMathPara>
                          </a14:m>
                          <a:endParaRPr kumimoji="1" lang="en-US" altLang="ja-JP" sz="1800" dirty="0"/>
                        </a:p>
                        <a:p>
                          <a:pPr algn="ct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539471130"/>
                      </a:ext>
                    </a:extLst>
                  </a:tr>
                  <a:tr h="370840">
                    <a:tc>
                      <a:txBody>
                        <a:bodyPr/>
                        <a:lstStyle/>
                        <a:p>
                          <a:pPr algn="ctr"/>
                          <a:r>
                            <a:rPr kumimoji="1" lang="ja-JP" altLang="en-US" dirty="0"/>
                            <a:t>行動</a:t>
                          </a:r>
                        </a:p>
                      </a:txBody>
                      <a:tcPr/>
                    </a:tc>
                    <a:tc>
                      <a:txBody>
                        <a:bodyPr/>
                        <a:lstStyle/>
                        <a:p>
                          <a:pPr algn="ctr"/>
                          <a:r>
                            <a:rPr kumimoji="1" lang="en-US" altLang="ja-JP" dirty="0"/>
                            <a:t>[0,1]</a:t>
                          </a:r>
                          <a:r>
                            <a:rPr kumimoji="1" lang="ja-JP" altLang="en-US" dirty="0"/>
                            <a:t>を</a:t>
                          </a:r>
                          <a:r>
                            <a:rPr kumimoji="1" lang="en-US" altLang="ja-JP" dirty="0"/>
                            <a:t>10</a:t>
                          </a:r>
                          <a:r>
                            <a:rPr kumimoji="1" lang="ja-JP" altLang="en-US" dirty="0"/>
                            <a:t>等分したもの</a:t>
                          </a:r>
                        </a:p>
                      </a:txBody>
                      <a:tcPr/>
                    </a:tc>
                    <a:tc>
                      <a:txBody>
                        <a:bodyPr/>
                        <a:lstStyle/>
                        <a:p>
                          <a:pPr algn="ctr"/>
                          <a:r>
                            <a:rPr kumimoji="1" lang="en-US" altLang="ja-JP" dirty="0"/>
                            <a:t>[0,1]</a:t>
                          </a:r>
                          <a:r>
                            <a:rPr kumimoji="1" lang="ja-JP" altLang="en-US" dirty="0"/>
                            <a:t>を</a:t>
                          </a:r>
                          <a:r>
                            <a:rPr kumimoji="1" lang="en-US" altLang="ja-JP" dirty="0"/>
                            <a:t>5</a:t>
                          </a:r>
                          <a:r>
                            <a:rPr kumimoji="1" lang="ja-JP" altLang="en-US" dirty="0"/>
                            <a:t>等分したもの</a:t>
                          </a:r>
                        </a:p>
                      </a:txBody>
                      <a:tcPr/>
                    </a:tc>
                    <a:extLst>
                      <a:ext uri="{0D108BD9-81ED-4DB2-BD59-A6C34878D82A}">
                        <a16:rowId xmlns:a16="http://schemas.microsoft.com/office/drawing/2014/main" val="3136683782"/>
                      </a:ext>
                    </a:extLst>
                  </a:tr>
                  <a:tr h="370840">
                    <a:tc>
                      <a:txBody>
                        <a:bodyPr/>
                        <a:lstStyle/>
                        <a:p>
                          <a:pPr algn="ctr"/>
                          <a:r>
                            <a:rPr kumimoji="1" lang="ja-JP" altLang="en-US" dirty="0"/>
                            <a:t>行動頻度</a:t>
                          </a:r>
                        </a:p>
                      </a:txBody>
                      <a:tcPr/>
                    </a:tc>
                    <a:tc>
                      <a:txBody>
                        <a:bodyPr/>
                        <a:lstStyle/>
                        <a:p>
                          <a:pPr algn="ctr"/>
                          <a:r>
                            <a:rPr kumimoji="1" lang="en-US" altLang="ja-JP" dirty="0"/>
                            <a:t>1</a:t>
                          </a:r>
                          <a:r>
                            <a:rPr kumimoji="1" lang="ja-JP" altLang="en-US" dirty="0"/>
                            <a:t>日に</a:t>
                          </a:r>
                          <a:r>
                            <a:rPr kumimoji="1" lang="en-US" altLang="ja-JP" dirty="0"/>
                            <a:t>1</a:t>
                          </a:r>
                          <a:r>
                            <a:rPr kumimoji="1" lang="ja-JP" altLang="en-US" dirty="0"/>
                            <a:t>回</a:t>
                          </a:r>
                        </a:p>
                      </a:txBody>
                      <a:tcPr/>
                    </a:tc>
                    <a:tc>
                      <a:txBody>
                        <a:bodyPr/>
                        <a:lstStyle/>
                        <a:p>
                          <a:pPr algn="ctr"/>
                          <a:r>
                            <a:rPr kumimoji="1" lang="en-US" altLang="ja-JP" dirty="0"/>
                            <a:t>7</a:t>
                          </a:r>
                          <a:r>
                            <a:rPr kumimoji="1" lang="ja-JP" altLang="en-US" dirty="0"/>
                            <a:t>日に</a:t>
                          </a:r>
                          <a:r>
                            <a:rPr kumimoji="1" lang="en-US" altLang="ja-JP" dirty="0"/>
                            <a:t>1</a:t>
                          </a:r>
                          <a:r>
                            <a:rPr kumimoji="1" lang="ja-JP" altLang="en-US" dirty="0"/>
                            <a:t>回</a:t>
                          </a:r>
                        </a:p>
                      </a:txBody>
                      <a:tcPr/>
                    </a:tc>
                    <a:extLst>
                      <a:ext uri="{0D108BD9-81ED-4DB2-BD59-A6C34878D82A}">
                        <a16:rowId xmlns:a16="http://schemas.microsoft.com/office/drawing/2014/main" val="2876227820"/>
                      </a:ext>
                    </a:extLst>
                  </a:tr>
                </a:tbl>
              </a:graphicData>
            </a:graphic>
          </p:graphicFrame>
        </mc:Choice>
        <mc:Fallback xmlns="">
          <p:graphicFrame>
            <p:nvGraphicFramePr>
              <p:cNvPr id="4" name="コンテンツ プレースホルダー 3">
                <a:extLst>
                  <a:ext uri="{FF2B5EF4-FFF2-40B4-BE49-F238E27FC236}">
                    <a16:creationId xmlns:a16="http://schemas.microsoft.com/office/drawing/2014/main" id="{E995526D-DA21-092D-87FC-01162CC4B559}"/>
                  </a:ext>
                </a:extLst>
              </p:cNvPr>
              <p:cNvGraphicFramePr>
                <a:graphicFrameLocks noGrp="1"/>
              </p:cNvGraphicFramePr>
              <p:nvPr>
                <p:ph idx="1"/>
                <p:extLst>
                  <p:ext uri="{D42A27DB-BD31-4B8C-83A1-F6EECF244321}">
                    <p14:modId xmlns:p14="http://schemas.microsoft.com/office/powerpoint/2010/main" val="1569999007"/>
                  </p:ext>
                </p:extLst>
              </p:nvPr>
            </p:nvGraphicFramePr>
            <p:xfrm>
              <a:off x="267907" y="1128636"/>
              <a:ext cx="7480430" cy="4593971"/>
            </p:xfrm>
            <a:graphic>
              <a:graphicData uri="http://schemas.openxmlformats.org/drawingml/2006/table">
                <a:tbl>
                  <a:tblPr firstRow="1" bandRow="1">
                    <a:tableStyleId>{5C22544A-7EE6-4342-B048-85BDC9FD1C3A}</a:tableStyleId>
                  </a:tblPr>
                  <a:tblGrid>
                    <a:gridCol w="1449329">
                      <a:extLst>
                        <a:ext uri="{9D8B030D-6E8A-4147-A177-3AD203B41FA5}">
                          <a16:colId xmlns:a16="http://schemas.microsoft.com/office/drawing/2014/main" val="2195195075"/>
                        </a:ext>
                      </a:extLst>
                    </a:gridCol>
                    <a:gridCol w="2956393">
                      <a:extLst>
                        <a:ext uri="{9D8B030D-6E8A-4147-A177-3AD203B41FA5}">
                          <a16:colId xmlns:a16="http://schemas.microsoft.com/office/drawing/2014/main" val="933600374"/>
                        </a:ext>
                      </a:extLst>
                    </a:gridCol>
                    <a:gridCol w="3074708">
                      <a:extLst>
                        <a:ext uri="{9D8B030D-6E8A-4147-A177-3AD203B41FA5}">
                          <a16:colId xmlns:a16="http://schemas.microsoft.com/office/drawing/2014/main" val="4210876019"/>
                        </a:ext>
                      </a:extLst>
                    </a:gridCol>
                  </a:tblGrid>
                  <a:tr h="370840">
                    <a:tc>
                      <a:txBody>
                        <a:bodyPr/>
                        <a:lstStyle/>
                        <a:p>
                          <a:pPr algn="ctr"/>
                          <a:r>
                            <a:rPr kumimoji="1" lang="ja-JP" altLang="en-US" dirty="0"/>
                            <a:t>パラメータ</a:t>
                          </a:r>
                        </a:p>
                      </a:txBody>
                      <a:tcPr/>
                    </a:tc>
                    <a:tc>
                      <a:txBody>
                        <a:bodyPr/>
                        <a:lstStyle/>
                        <a:p>
                          <a:pPr algn="ctr"/>
                          <a:r>
                            <a:rPr kumimoji="1" lang="ja-JP" altLang="en-US" dirty="0"/>
                            <a:t>従来手法</a:t>
                          </a:r>
                          <a:r>
                            <a:rPr kumimoji="1" lang="en-US" altLang="ja-JP" dirty="0"/>
                            <a:t>(Q-learning)</a:t>
                          </a:r>
                          <a:endParaRPr kumimoji="1" lang="ja-JP" altLang="en-US" dirty="0"/>
                        </a:p>
                      </a:txBody>
                      <a:tcPr/>
                    </a:tc>
                    <a:tc>
                      <a:txBody>
                        <a:bodyPr/>
                        <a:lstStyle/>
                        <a:p>
                          <a:pPr algn="ctr"/>
                          <a:r>
                            <a:rPr kumimoji="1" lang="ja-JP" altLang="en-US" dirty="0"/>
                            <a:t>提案手法</a:t>
                          </a:r>
                          <a:r>
                            <a:rPr kumimoji="1" lang="en-US" altLang="ja-JP" dirty="0"/>
                            <a:t>(DQN)</a:t>
                          </a:r>
                          <a:endParaRPr kumimoji="1" lang="ja-JP" altLang="en-US" dirty="0"/>
                        </a:p>
                      </a:txBody>
                      <a:tcPr/>
                    </a:tc>
                    <a:extLst>
                      <a:ext uri="{0D108BD9-81ED-4DB2-BD59-A6C34878D82A}">
                        <a16:rowId xmlns:a16="http://schemas.microsoft.com/office/drawing/2014/main" val="2770443578"/>
                      </a:ext>
                    </a:extLst>
                  </a:tr>
                  <a:tr h="370840">
                    <a:tc>
                      <a:txBody>
                        <a:bodyPr/>
                        <a:lstStyle/>
                        <a:p>
                          <a:pPr algn="ctr"/>
                          <a:r>
                            <a:rPr kumimoji="1" lang="en-US" altLang="ja-JP" dirty="0"/>
                            <a:t>X</a:t>
                          </a:r>
                          <a:r>
                            <a:rPr kumimoji="1" lang="ja-JP" altLang="en-US" dirty="0"/>
                            <a:t>の初期値</a:t>
                          </a:r>
                        </a:p>
                      </a:txBody>
                      <a:tcPr/>
                    </a:tc>
                    <a:tc gridSpan="2">
                      <a:txBody>
                        <a:bodyPr/>
                        <a:lstStyle/>
                        <a:p>
                          <a:pPr algn="ctr"/>
                          <a:r>
                            <a:rPr kumimoji="1" lang="en-US" altLang="ja-JP" dirty="0"/>
                            <a:t>[0, 1000]</a:t>
                          </a:r>
                          <a:r>
                            <a:rPr kumimoji="1" lang="ja-JP" altLang="en-US" dirty="0"/>
                            <a:t>のうちランダムな整数</a:t>
                          </a:r>
                        </a:p>
                      </a:txBody>
                      <a:tcPr/>
                    </a:tc>
                    <a:tc hMerge="1">
                      <a:txBody>
                        <a:bodyPr/>
                        <a:lstStyle/>
                        <a:p>
                          <a:endParaRPr kumimoji="1" lang="ja-JP" altLang="en-US" dirty="0"/>
                        </a:p>
                      </a:txBody>
                      <a:tcPr/>
                    </a:tc>
                    <a:extLst>
                      <a:ext uri="{0D108BD9-81ED-4DB2-BD59-A6C34878D82A}">
                        <a16:rowId xmlns:a16="http://schemas.microsoft.com/office/drawing/2014/main" val="2513083369"/>
                      </a:ext>
                    </a:extLst>
                  </a:tr>
                  <a:tr h="370840">
                    <a:tc>
                      <a:txBody>
                        <a:bodyPr/>
                        <a:lstStyle/>
                        <a:p>
                          <a:pPr algn="ctr"/>
                          <a:r>
                            <a:rPr kumimoji="1" lang="en-US" altLang="ja-JP" dirty="0"/>
                            <a:t>V</a:t>
                          </a:r>
                          <a:r>
                            <a:rPr kumimoji="1" lang="ja-JP" altLang="en-US" dirty="0"/>
                            <a:t>の初期値</a:t>
                          </a:r>
                        </a:p>
                      </a:txBody>
                      <a:tcPr/>
                    </a:tc>
                    <a:tc gridSpan="2">
                      <a:txBody>
                        <a:bodyPr/>
                        <a:lstStyle/>
                        <a:p>
                          <a:pPr algn="ctr"/>
                          <a:r>
                            <a:rPr kumimoji="1" lang="en-US" altLang="ja-JP" dirty="0"/>
                            <a:t>[0.0, 5.0]</a:t>
                          </a:r>
                          <a:r>
                            <a:rPr kumimoji="1" lang="ja-JP" altLang="en-US" dirty="0"/>
                            <a:t>のうち</a:t>
                          </a:r>
                          <a:r>
                            <a:rPr kumimoji="1" lang="en-US" altLang="ja-JP" dirty="0"/>
                            <a:t>1</a:t>
                          </a:r>
                          <a:r>
                            <a:rPr kumimoji="1" lang="ja-JP" altLang="en-US" dirty="0"/>
                            <a:t>次までの小数</a:t>
                          </a:r>
                        </a:p>
                      </a:txBody>
                      <a:tcPr/>
                    </a:tc>
                    <a:tc hMerge="1">
                      <a:txBody>
                        <a:bodyPr/>
                        <a:lstStyle/>
                        <a:p>
                          <a:endParaRPr kumimoji="1" lang="ja-JP" altLang="en-US" dirty="0"/>
                        </a:p>
                      </a:txBody>
                      <a:tcPr/>
                    </a:tc>
                    <a:extLst>
                      <a:ext uri="{0D108BD9-81ED-4DB2-BD59-A6C34878D82A}">
                        <a16:rowId xmlns:a16="http://schemas.microsoft.com/office/drawing/2014/main" val="1046203805"/>
                      </a:ext>
                    </a:extLst>
                  </a:tr>
                  <a:tr h="370840">
                    <a:tc>
                      <a:txBody>
                        <a:bodyPr/>
                        <a:lstStyle/>
                        <a:p>
                          <a:endParaRPr lang="ja-JP"/>
                        </a:p>
                      </a:txBody>
                      <a:tcPr>
                        <a:blipFill>
                          <a:blip r:embed="rId3"/>
                          <a:stretch>
                            <a:fillRect l="-420" t="-318333" r="-418067" b="-878333"/>
                          </a:stretch>
                        </a:blipFill>
                      </a:tcPr>
                    </a:tc>
                    <a:tc gridSpan="2">
                      <a:txBody>
                        <a:bodyPr/>
                        <a:lstStyle/>
                        <a:p>
                          <a:pPr algn="ctr"/>
                          <a:r>
                            <a:rPr kumimoji="1" lang="ja-JP" altLang="en-US" dirty="0"/>
                            <a:t>初期 </a:t>
                          </a:r>
                          <a:r>
                            <a:rPr kumimoji="1" lang="en-US" altLang="ja-JP" dirty="0"/>
                            <a:t>: 0.5 , </a:t>
                          </a:r>
                          <a:r>
                            <a:rPr kumimoji="1" lang="ja-JP" altLang="en-US" dirty="0"/>
                            <a:t>以降 </a:t>
                          </a:r>
                          <a:r>
                            <a:rPr kumimoji="1" lang="en-US" altLang="ja-JP" dirty="0"/>
                            <a:t>: 0</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2145567343"/>
                      </a:ext>
                    </a:extLst>
                  </a:tr>
                  <a:tr h="370840">
                    <a:tc>
                      <a:txBody>
                        <a:bodyPr/>
                        <a:lstStyle/>
                        <a:p>
                          <a:endParaRPr lang="ja-JP"/>
                        </a:p>
                      </a:txBody>
                      <a:tcPr>
                        <a:blipFill>
                          <a:blip r:embed="rId3"/>
                          <a:stretch>
                            <a:fillRect l="-420" t="-411475" r="-418067" b="-763934"/>
                          </a:stretch>
                        </a:blipFill>
                      </a:tcPr>
                    </a:tc>
                    <a:tc gridSpan="2">
                      <a:txBody>
                        <a:bodyPr/>
                        <a:lstStyle/>
                        <a:p>
                          <a:pPr algn="ctr"/>
                          <a:r>
                            <a:rPr kumimoji="1" lang="en-US" altLang="ja-JP" dirty="0"/>
                            <a:t>0.5</a:t>
                          </a:r>
                          <a:endParaRPr kumimoji="1" lang="ja-JP" altLang="en-US" dirty="0"/>
                        </a:p>
                      </a:txBody>
                      <a:tcPr/>
                    </a:tc>
                    <a:tc hMerge="1">
                      <a:txBody>
                        <a:bodyPr/>
                        <a:lstStyle/>
                        <a:p>
                          <a:endParaRPr kumimoji="1" lang="ja-JP" altLang="en-US" dirty="0"/>
                        </a:p>
                      </a:txBody>
                      <a:tcPr/>
                    </a:tc>
                    <a:extLst>
                      <a:ext uri="{0D108BD9-81ED-4DB2-BD59-A6C34878D82A}">
                        <a16:rowId xmlns:a16="http://schemas.microsoft.com/office/drawing/2014/main" val="2106617706"/>
                      </a:ext>
                    </a:extLst>
                  </a:tr>
                  <a:tr h="370840">
                    <a:tc>
                      <a:txBody>
                        <a:bodyPr/>
                        <a:lstStyle/>
                        <a:p>
                          <a:pPr algn="ctr"/>
                          <a:r>
                            <a:rPr kumimoji="1" lang="ja-JP" altLang="en-US" dirty="0"/>
                            <a:t>行動選択</a:t>
                          </a:r>
                        </a:p>
                      </a:txBody>
                      <a:tcPr/>
                    </a:tc>
                    <a:tc>
                      <a:txBody>
                        <a:bodyPr/>
                        <a:lstStyle/>
                        <a:p>
                          <a:pPr algn="ctr"/>
                          <a:r>
                            <a:rPr kumimoji="1" lang="en-US" altLang="ja-JP" dirty="0"/>
                            <a:t>softmax</a:t>
                          </a:r>
                          <a:endParaRPr kumimoji="1" lang="ja-JP" altLang="en-US" dirty="0"/>
                        </a:p>
                      </a:txBody>
                      <a:tcPr/>
                    </a:tc>
                    <a:tc>
                      <a:txBody>
                        <a:bodyPr/>
                        <a:lstStyle/>
                        <a:p>
                          <a:endParaRPr lang="ja-JP"/>
                        </a:p>
                      </a:txBody>
                      <a:tcPr>
                        <a:blipFill>
                          <a:blip r:embed="rId3"/>
                          <a:stretch>
                            <a:fillRect l="-143564" t="-511475" r="-792" b="-663934"/>
                          </a:stretch>
                        </a:blipFill>
                      </a:tcPr>
                    </a:tc>
                    <a:extLst>
                      <a:ext uri="{0D108BD9-81ED-4DB2-BD59-A6C34878D82A}">
                        <a16:rowId xmlns:a16="http://schemas.microsoft.com/office/drawing/2014/main" val="1332832412"/>
                      </a:ext>
                    </a:extLst>
                  </a:tr>
                  <a:tr h="370840">
                    <a:tc>
                      <a:txBody>
                        <a:bodyPr/>
                        <a:lstStyle/>
                        <a:p>
                          <a:pPr algn="ctr"/>
                          <a:r>
                            <a:rPr kumimoji="1" lang="ja-JP" altLang="en-US" dirty="0"/>
                            <a:t>状態数</a:t>
                          </a:r>
                        </a:p>
                      </a:txBody>
                      <a:tcPr/>
                    </a:tc>
                    <a:tc>
                      <a:txBody>
                        <a:bodyPr/>
                        <a:lstStyle/>
                        <a:p>
                          <a:pPr algn="ctr"/>
                          <a:r>
                            <a:rPr kumimoji="1" lang="en-US" altLang="ja-JP" dirty="0"/>
                            <a:t>2</a:t>
                          </a:r>
                          <a:endParaRPr kumimoji="1" lang="ja-JP" altLang="en-US" dirty="0"/>
                        </a:p>
                      </a:txBody>
                      <a:tcPr/>
                    </a:tc>
                    <a:tc>
                      <a:txBody>
                        <a:bodyPr/>
                        <a:lstStyle/>
                        <a:p>
                          <a:pPr algn="ctr"/>
                          <a:r>
                            <a:rPr kumimoji="1" lang="en-US" altLang="ja-JP" dirty="0"/>
                            <a:t>5</a:t>
                          </a:r>
                          <a:endParaRPr kumimoji="1" lang="ja-JP" altLang="en-US" dirty="0"/>
                        </a:p>
                      </a:txBody>
                      <a:tcPr/>
                    </a:tc>
                    <a:extLst>
                      <a:ext uri="{0D108BD9-81ED-4DB2-BD59-A6C34878D82A}">
                        <a16:rowId xmlns:a16="http://schemas.microsoft.com/office/drawing/2014/main" val="3699714799"/>
                      </a:ext>
                    </a:extLst>
                  </a:tr>
                  <a:tr h="1256411">
                    <a:tc>
                      <a:txBody>
                        <a:bodyPr/>
                        <a:lstStyle/>
                        <a:p>
                          <a:pPr algn="ctr"/>
                          <a:r>
                            <a:rPr kumimoji="1" lang="ja-JP" altLang="en-US" dirty="0"/>
                            <a:t>報酬</a:t>
                          </a:r>
                        </a:p>
                      </a:txBody>
                      <a:tcPr/>
                    </a:tc>
                    <a:tc gridSpan="2">
                      <a:txBody>
                        <a:bodyPr/>
                        <a:lstStyle/>
                        <a:p>
                          <a:endParaRPr lang="ja-JP"/>
                        </a:p>
                      </a:txBody>
                      <a:tcPr>
                        <a:blipFill>
                          <a:blip r:embed="rId3"/>
                          <a:stretch>
                            <a:fillRect l="-24117" t="-210680" r="-404" b="-66990"/>
                          </a:stretch>
                        </a:blipFill>
                      </a:tcPr>
                    </a:tc>
                    <a:tc hMerge="1">
                      <a:txBody>
                        <a:bodyPr/>
                        <a:lstStyle/>
                        <a:p>
                          <a:endParaRPr kumimoji="1" lang="ja-JP" altLang="en-US" dirty="0"/>
                        </a:p>
                      </a:txBody>
                      <a:tcPr/>
                    </a:tc>
                    <a:extLst>
                      <a:ext uri="{0D108BD9-81ED-4DB2-BD59-A6C34878D82A}">
                        <a16:rowId xmlns:a16="http://schemas.microsoft.com/office/drawing/2014/main" val="539471130"/>
                      </a:ext>
                    </a:extLst>
                  </a:tr>
                  <a:tr h="370840">
                    <a:tc>
                      <a:txBody>
                        <a:bodyPr/>
                        <a:lstStyle/>
                        <a:p>
                          <a:pPr algn="ctr"/>
                          <a:r>
                            <a:rPr kumimoji="1" lang="ja-JP" altLang="en-US" dirty="0"/>
                            <a:t>行動</a:t>
                          </a:r>
                        </a:p>
                      </a:txBody>
                      <a:tcPr/>
                    </a:tc>
                    <a:tc>
                      <a:txBody>
                        <a:bodyPr/>
                        <a:lstStyle/>
                        <a:p>
                          <a:pPr algn="ctr"/>
                          <a:r>
                            <a:rPr kumimoji="1" lang="en-US" altLang="ja-JP" dirty="0"/>
                            <a:t>[0,1]</a:t>
                          </a:r>
                          <a:r>
                            <a:rPr kumimoji="1" lang="ja-JP" altLang="en-US" dirty="0"/>
                            <a:t>を</a:t>
                          </a:r>
                          <a:r>
                            <a:rPr kumimoji="1" lang="en-US" altLang="ja-JP" dirty="0"/>
                            <a:t>10</a:t>
                          </a:r>
                          <a:r>
                            <a:rPr kumimoji="1" lang="ja-JP" altLang="en-US" dirty="0"/>
                            <a:t>等分したもの</a:t>
                          </a:r>
                        </a:p>
                      </a:txBody>
                      <a:tcPr/>
                    </a:tc>
                    <a:tc>
                      <a:txBody>
                        <a:bodyPr/>
                        <a:lstStyle/>
                        <a:p>
                          <a:pPr algn="ctr"/>
                          <a:r>
                            <a:rPr kumimoji="1" lang="en-US" altLang="ja-JP" dirty="0"/>
                            <a:t>[0,1]</a:t>
                          </a:r>
                          <a:r>
                            <a:rPr kumimoji="1" lang="ja-JP" altLang="en-US" dirty="0"/>
                            <a:t>を</a:t>
                          </a:r>
                          <a:r>
                            <a:rPr kumimoji="1" lang="en-US" altLang="ja-JP" dirty="0"/>
                            <a:t>5</a:t>
                          </a:r>
                          <a:r>
                            <a:rPr kumimoji="1" lang="ja-JP" altLang="en-US" dirty="0"/>
                            <a:t>等分したもの</a:t>
                          </a:r>
                        </a:p>
                      </a:txBody>
                      <a:tcPr/>
                    </a:tc>
                    <a:extLst>
                      <a:ext uri="{0D108BD9-81ED-4DB2-BD59-A6C34878D82A}">
                        <a16:rowId xmlns:a16="http://schemas.microsoft.com/office/drawing/2014/main" val="3136683782"/>
                      </a:ext>
                    </a:extLst>
                  </a:tr>
                  <a:tr h="370840">
                    <a:tc>
                      <a:txBody>
                        <a:bodyPr/>
                        <a:lstStyle/>
                        <a:p>
                          <a:pPr algn="ctr"/>
                          <a:r>
                            <a:rPr kumimoji="1" lang="ja-JP" altLang="en-US" dirty="0"/>
                            <a:t>行動頻度</a:t>
                          </a:r>
                        </a:p>
                      </a:txBody>
                      <a:tcPr/>
                    </a:tc>
                    <a:tc>
                      <a:txBody>
                        <a:bodyPr/>
                        <a:lstStyle/>
                        <a:p>
                          <a:pPr algn="ctr"/>
                          <a:r>
                            <a:rPr kumimoji="1" lang="en-US" altLang="ja-JP" dirty="0"/>
                            <a:t>1</a:t>
                          </a:r>
                          <a:r>
                            <a:rPr kumimoji="1" lang="ja-JP" altLang="en-US" dirty="0"/>
                            <a:t>日に</a:t>
                          </a:r>
                          <a:r>
                            <a:rPr kumimoji="1" lang="en-US" altLang="ja-JP" dirty="0"/>
                            <a:t>1</a:t>
                          </a:r>
                          <a:r>
                            <a:rPr kumimoji="1" lang="ja-JP" altLang="en-US" dirty="0"/>
                            <a:t>回</a:t>
                          </a:r>
                        </a:p>
                      </a:txBody>
                      <a:tcPr/>
                    </a:tc>
                    <a:tc>
                      <a:txBody>
                        <a:bodyPr/>
                        <a:lstStyle/>
                        <a:p>
                          <a:pPr algn="ctr"/>
                          <a:r>
                            <a:rPr kumimoji="1" lang="en-US" altLang="ja-JP" dirty="0"/>
                            <a:t>7</a:t>
                          </a:r>
                          <a:r>
                            <a:rPr kumimoji="1" lang="ja-JP" altLang="en-US" dirty="0"/>
                            <a:t>日に</a:t>
                          </a:r>
                          <a:r>
                            <a:rPr kumimoji="1" lang="en-US" altLang="ja-JP" dirty="0"/>
                            <a:t>1</a:t>
                          </a:r>
                          <a:r>
                            <a:rPr kumimoji="1" lang="ja-JP" altLang="en-US" dirty="0"/>
                            <a:t>回</a:t>
                          </a:r>
                        </a:p>
                      </a:txBody>
                      <a:tcPr/>
                    </a:tc>
                    <a:extLst>
                      <a:ext uri="{0D108BD9-81ED-4DB2-BD59-A6C34878D82A}">
                        <a16:rowId xmlns:a16="http://schemas.microsoft.com/office/drawing/2014/main" val="2876227820"/>
                      </a:ext>
                    </a:extLst>
                  </a:tr>
                </a:tbl>
              </a:graphicData>
            </a:graphic>
          </p:graphicFrame>
        </mc:Fallback>
      </mc:AlternateContent>
      <p:sp>
        <p:nvSpPr>
          <p:cNvPr id="3" name="タイトル 2">
            <a:extLst>
              <a:ext uri="{FF2B5EF4-FFF2-40B4-BE49-F238E27FC236}">
                <a16:creationId xmlns:a16="http://schemas.microsoft.com/office/drawing/2014/main" id="{961C0BC7-D770-957A-6155-3BF415F810D9}"/>
              </a:ext>
            </a:extLst>
          </p:cNvPr>
          <p:cNvSpPr>
            <a:spLocks noGrp="1"/>
          </p:cNvSpPr>
          <p:nvPr>
            <p:ph type="title"/>
          </p:nvPr>
        </p:nvSpPr>
        <p:spPr/>
        <p:txBody>
          <a:bodyPr/>
          <a:lstStyle/>
          <a:p>
            <a:r>
              <a:rPr kumimoji="1" lang="ja-JP" altLang="en-US" dirty="0"/>
              <a:t>数値シミュレーション</a:t>
            </a:r>
            <a:r>
              <a:rPr kumimoji="1" lang="en-US" altLang="ja-JP" dirty="0"/>
              <a:t>(1/6)</a:t>
            </a:r>
            <a:endParaRPr kumimoji="1" lang="ja-JP" altLang="en-US" dirty="0"/>
          </a:p>
        </p:txBody>
      </p:sp>
      <p:sp>
        <p:nvSpPr>
          <p:cNvPr id="5" name="テキスト ボックス 4">
            <a:extLst>
              <a:ext uri="{FF2B5EF4-FFF2-40B4-BE49-F238E27FC236}">
                <a16:creationId xmlns:a16="http://schemas.microsoft.com/office/drawing/2014/main" id="{1CF21B11-7479-A8D5-676C-2F26A25459D7}"/>
              </a:ext>
            </a:extLst>
          </p:cNvPr>
          <p:cNvSpPr txBox="1"/>
          <p:nvPr/>
        </p:nvSpPr>
        <p:spPr>
          <a:xfrm>
            <a:off x="2560320" y="754107"/>
            <a:ext cx="4716379" cy="400110"/>
          </a:xfrm>
          <a:prstGeom prst="rect">
            <a:avLst/>
          </a:prstGeom>
          <a:noFill/>
        </p:spPr>
        <p:txBody>
          <a:bodyPr wrap="square" rtlCol="0">
            <a:spAutoFit/>
          </a:bodyPr>
          <a:lstStyle/>
          <a:p>
            <a:r>
              <a:rPr kumimoji="1" lang="en-US" altLang="ja-JP" sz="2000" dirty="0"/>
              <a:t>Table.1  </a:t>
            </a:r>
            <a:r>
              <a:rPr kumimoji="1" lang="ja-JP" altLang="en-US" sz="2000" dirty="0"/>
              <a:t>数値シミュレーション設定</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1FE4542-5C07-0F35-85F9-A3B462FD90B4}"/>
                  </a:ext>
                </a:extLst>
              </p:cNvPr>
              <p:cNvSpPr txBox="1"/>
              <p:nvPr/>
            </p:nvSpPr>
            <p:spPr>
              <a:xfrm>
                <a:off x="0" y="5729364"/>
                <a:ext cx="7815714" cy="584775"/>
              </a:xfrm>
              <a:prstGeom prst="rect">
                <a:avLst/>
              </a:prstGeom>
              <a:noFill/>
            </p:spPr>
            <p:txBody>
              <a:bodyPr wrap="square" rtlCol="0">
                <a:spAutoFit/>
              </a:bodyPr>
              <a:lstStyle/>
              <a:p>
                <a:r>
                  <a:rPr kumimoji="1" lang="en-US" altLang="ja-JP" sz="1600" dirty="0"/>
                  <a:t>※</a:t>
                </a:r>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 </m:t>
                        </m:r>
                        <m:r>
                          <a:rPr kumimoji="1" lang="en-US" altLang="ja-JP" sz="1600" b="0" i="1" smtClean="0">
                            <a:latin typeface="Cambria Math" panose="02040503050406030204" pitchFamily="18" charset="0"/>
                          </a:rPr>
                          <m:t>𝑉</m:t>
                        </m:r>
                      </m:e>
                      <m:sub>
                        <m:r>
                          <a:rPr kumimoji="1" lang="en-US" altLang="ja-JP" sz="1600" b="0" i="1" smtClean="0">
                            <a:latin typeface="Cambria Math" panose="02040503050406030204" pitchFamily="18" charset="0"/>
                          </a:rPr>
                          <m:t>𝑜𝑙𝑑</m:t>
                        </m:r>
                      </m:sub>
                    </m:sSub>
                    <m:r>
                      <a:rPr kumimoji="1" lang="en-US" altLang="ja-JP" sz="1600" b="0" i="0" smtClean="0">
                        <a:latin typeface="Cambria Math" panose="02040503050406030204" pitchFamily="18" charset="0"/>
                      </a:rPr>
                      <m:t> : </m:t>
                    </m:r>
                  </m:oMath>
                </a14:m>
                <a:r>
                  <a:rPr kumimoji="1" lang="ja-JP" altLang="en-US" sz="1600" dirty="0"/>
                  <a:t>前ステップの遊離ウイルス量</a:t>
                </a:r>
                <a:r>
                  <a:rPr kumimoji="1" lang="en-US" altLang="ja-JP" sz="1600" dirty="0"/>
                  <a:t>, </a:t>
                </a:r>
                <a14:m>
                  <m:oMath xmlns:m="http://schemas.openxmlformats.org/officeDocument/2006/math">
                    <m:sSub>
                      <m:sSubPr>
                        <m:ctrlPr>
                          <a:rPr kumimoji="1" lang="en-US" altLang="ja-JP" sz="1600" i="1">
                            <a:latin typeface="Cambria Math" panose="02040503050406030204" pitchFamily="18" charset="0"/>
                          </a:rPr>
                        </m:ctrlPr>
                      </m:sSubPr>
                      <m:e>
                        <m:r>
                          <a:rPr kumimoji="1" lang="en-US" altLang="ja-JP" sz="1600" i="1">
                            <a:latin typeface="Cambria Math" panose="02040503050406030204" pitchFamily="18" charset="0"/>
                          </a:rPr>
                          <m:t>𝑉</m:t>
                        </m:r>
                      </m:e>
                      <m:sub>
                        <m:r>
                          <a:rPr kumimoji="1" lang="en-US" altLang="ja-JP" sz="1600" i="1">
                            <a:latin typeface="Cambria Math" panose="02040503050406030204" pitchFamily="18" charset="0"/>
                          </a:rPr>
                          <m:t>𝑛𝑒𝑤</m:t>
                        </m:r>
                      </m:sub>
                    </m:sSub>
                  </m:oMath>
                </a14:m>
                <a:r>
                  <a:rPr kumimoji="1" lang="en-US" altLang="ja-JP" sz="1600" dirty="0"/>
                  <a:t>: </a:t>
                </a:r>
                <a:r>
                  <a:rPr kumimoji="1" lang="ja-JP" altLang="en-US" sz="1600" dirty="0"/>
                  <a:t>現在の遊離ウイルス量</a:t>
                </a:r>
                <a:endParaRPr kumimoji="1" lang="en-US" altLang="ja-JP" sz="1600" dirty="0"/>
              </a:p>
              <a:p>
                <a:r>
                  <a:rPr kumimoji="1" lang="en-US" altLang="ja-JP" sz="1600" dirty="0"/>
                  <a:t> </a:t>
                </a:r>
                <a14:m>
                  <m:oMath xmlns:m="http://schemas.openxmlformats.org/officeDocument/2006/math">
                    <m:r>
                      <a:rPr kumimoji="1" lang="en-US" altLang="ja-JP" sz="1600" b="0" i="1" smtClean="0">
                        <a:latin typeface="Cambria Math" panose="02040503050406030204" pitchFamily="18" charset="0"/>
                      </a:rPr>
                      <m:t>𝑑𝑜𝑠</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𝑒</m:t>
                        </m:r>
                      </m:e>
                      <m:sub>
                        <m:r>
                          <a:rPr kumimoji="1" lang="en-US" altLang="ja-JP" sz="1600" b="0" i="1" smtClean="0">
                            <a:latin typeface="Cambria Math" panose="02040503050406030204" pitchFamily="18" charset="0"/>
                          </a:rPr>
                          <m:t>𝑜𝑙𝑑</m:t>
                        </m:r>
                      </m:sub>
                    </m:sSub>
                  </m:oMath>
                </a14:m>
                <a:r>
                  <a:rPr kumimoji="1" lang="en-US" altLang="ja-JP" sz="1600" dirty="0"/>
                  <a:t>: </a:t>
                </a:r>
                <a:r>
                  <a:rPr kumimoji="1" lang="ja-JP" altLang="en-US" sz="1600" dirty="0"/>
                  <a:t>前ステップの投薬量</a:t>
                </a:r>
                <a:r>
                  <a:rPr kumimoji="1" lang="en-US" altLang="ja-JP" sz="1600" dirty="0"/>
                  <a:t>, </a:t>
                </a:r>
                <a14:m>
                  <m:oMath xmlns:m="http://schemas.openxmlformats.org/officeDocument/2006/math">
                    <m:r>
                      <a:rPr kumimoji="1" lang="en-US" altLang="ja-JP" sz="1600" i="1">
                        <a:latin typeface="Cambria Math" panose="02040503050406030204" pitchFamily="18" charset="0"/>
                      </a:rPr>
                      <m:t>𝑑𝑜𝑠</m:t>
                    </m:r>
                    <m:sSub>
                      <m:sSubPr>
                        <m:ctrlPr>
                          <a:rPr kumimoji="1" lang="en-US" altLang="ja-JP" sz="1600" i="1">
                            <a:latin typeface="Cambria Math" panose="02040503050406030204" pitchFamily="18" charset="0"/>
                          </a:rPr>
                        </m:ctrlPr>
                      </m:sSubPr>
                      <m:e>
                        <m:r>
                          <a:rPr kumimoji="1" lang="en-US" altLang="ja-JP" sz="1600" i="1">
                            <a:latin typeface="Cambria Math" panose="02040503050406030204" pitchFamily="18" charset="0"/>
                          </a:rPr>
                          <m:t>𝑒</m:t>
                        </m:r>
                      </m:e>
                      <m:sub>
                        <m:r>
                          <a:rPr kumimoji="1" lang="en-US" altLang="ja-JP" sz="1600" i="1">
                            <a:latin typeface="Cambria Math" panose="02040503050406030204" pitchFamily="18" charset="0"/>
                          </a:rPr>
                          <m:t>𝑛𝑒𝑤</m:t>
                        </m:r>
                      </m:sub>
                    </m:sSub>
                  </m:oMath>
                </a14:m>
                <a:r>
                  <a:rPr kumimoji="1" lang="en-US" altLang="ja-JP" sz="1600" dirty="0"/>
                  <a:t>: </a:t>
                </a:r>
                <a:r>
                  <a:rPr kumimoji="1" lang="ja-JP" altLang="en-US" sz="1600" dirty="0"/>
                  <a:t>現在の投薬量</a:t>
                </a:r>
                <a:endParaRPr kumimoji="1" lang="en-US" altLang="ja-JP" sz="1600" dirty="0"/>
              </a:p>
            </p:txBody>
          </p:sp>
        </mc:Choice>
        <mc:Fallback xmlns="">
          <p:sp>
            <p:nvSpPr>
              <p:cNvPr id="6" name="テキスト ボックス 5">
                <a:extLst>
                  <a:ext uri="{FF2B5EF4-FFF2-40B4-BE49-F238E27FC236}">
                    <a16:creationId xmlns:a16="http://schemas.microsoft.com/office/drawing/2014/main" id="{71FE4542-5C07-0F35-85F9-A3B462FD90B4}"/>
                  </a:ext>
                </a:extLst>
              </p:cNvPr>
              <p:cNvSpPr txBox="1">
                <a:spLocks noRot="1" noChangeAspect="1" noMove="1" noResize="1" noEditPoints="1" noAdjustHandles="1" noChangeArrowheads="1" noChangeShapeType="1" noTextEdit="1"/>
              </p:cNvSpPr>
              <p:nvPr/>
            </p:nvSpPr>
            <p:spPr>
              <a:xfrm>
                <a:off x="0" y="5729364"/>
                <a:ext cx="7815714" cy="584775"/>
              </a:xfrm>
              <a:prstGeom prst="rect">
                <a:avLst/>
              </a:prstGeom>
              <a:blipFill>
                <a:blip r:embed="rId4"/>
                <a:stretch>
                  <a:fillRect l="-390" t="-5208" b="-13542"/>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7FBE5121-F1FB-512D-B9B8-27AFC6981616}"/>
              </a:ext>
            </a:extLst>
          </p:cNvPr>
          <p:cNvSpPr txBox="1"/>
          <p:nvPr/>
        </p:nvSpPr>
        <p:spPr>
          <a:xfrm>
            <a:off x="8074792" y="1026482"/>
            <a:ext cx="3976839" cy="646331"/>
          </a:xfrm>
          <a:prstGeom prst="rect">
            <a:avLst/>
          </a:prstGeom>
          <a:noFill/>
          <a:ln>
            <a:solidFill>
              <a:schemeClr val="tx1"/>
            </a:solidFill>
          </a:ln>
        </p:spPr>
        <p:txBody>
          <a:bodyPr wrap="square" rtlCol="0">
            <a:spAutoFit/>
          </a:bodyPr>
          <a:lstStyle/>
          <a:p>
            <a:r>
              <a:rPr kumimoji="1" lang="ja-JP" altLang="en-US" dirty="0"/>
              <a:t>従来手法</a:t>
            </a:r>
            <a:endParaRPr kumimoji="1" lang="en-US" altLang="ja-JP" dirty="0"/>
          </a:p>
          <a:p>
            <a:r>
              <a:rPr kumimoji="1" lang="en-US" altLang="ja-JP" dirty="0"/>
              <a:t>[</a:t>
            </a:r>
            <a:r>
              <a:rPr kumimoji="1" lang="ja-JP" altLang="en-US" dirty="0"/>
              <a:t>未感染</a:t>
            </a:r>
            <a:r>
              <a:rPr kumimoji="1" lang="en-US" altLang="ja-JP" dirty="0"/>
              <a:t>CD4</a:t>
            </a:r>
            <a:r>
              <a:rPr kumimoji="1" lang="ja-JP" altLang="en-US" dirty="0"/>
              <a:t>細胞数</a:t>
            </a:r>
            <a:r>
              <a:rPr kumimoji="1" lang="en-US" altLang="ja-JP" dirty="0"/>
              <a:t>X, </a:t>
            </a:r>
            <a:r>
              <a:rPr kumimoji="1" lang="ja-JP" altLang="en-US" dirty="0"/>
              <a:t>遊離ウイルス量</a:t>
            </a:r>
            <a:r>
              <a:rPr kumimoji="1" lang="en-US" altLang="ja-JP" dirty="0"/>
              <a:t>V]</a:t>
            </a:r>
            <a:endParaRPr kumimoji="1" lang="ja-JP" altLang="en-US" dirty="0"/>
          </a:p>
        </p:txBody>
      </p:sp>
      <p:sp>
        <p:nvSpPr>
          <p:cNvPr id="8" name="テキスト ボックス 7">
            <a:extLst>
              <a:ext uri="{FF2B5EF4-FFF2-40B4-BE49-F238E27FC236}">
                <a16:creationId xmlns:a16="http://schemas.microsoft.com/office/drawing/2014/main" id="{E605768F-318C-A27C-5E36-08ADFC368CF7}"/>
              </a:ext>
            </a:extLst>
          </p:cNvPr>
          <p:cNvSpPr txBox="1"/>
          <p:nvPr/>
        </p:nvSpPr>
        <p:spPr>
          <a:xfrm>
            <a:off x="8074792" y="2217562"/>
            <a:ext cx="4052236" cy="923330"/>
          </a:xfrm>
          <a:prstGeom prst="rect">
            <a:avLst/>
          </a:prstGeom>
          <a:noFill/>
        </p:spPr>
        <p:txBody>
          <a:bodyPr wrap="square" rtlCol="0">
            <a:spAutoFit/>
          </a:bodyPr>
          <a:lstStyle/>
          <a:p>
            <a:r>
              <a:rPr kumimoji="1" lang="ja-JP" altLang="en-US" dirty="0"/>
              <a:t>提案手法</a:t>
            </a:r>
            <a:endParaRPr kumimoji="1" lang="en-US" altLang="ja-JP" dirty="0"/>
          </a:p>
          <a:p>
            <a:r>
              <a:rPr kumimoji="1" lang="en-US" altLang="ja-JP" dirty="0"/>
              <a:t>[</a:t>
            </a:r>
            <a:r>
              <a:rPr kumimoji="1" lang="ja-JP" altLang="en-US" dirty="0"/>
              <a:t>未感染</a:t>
            </a:r>
            <a:r>
              <a:rPr kumimoji="1" lang="en-US" altLang="ja-JP" dirty="0"/>
              <a:t>CD4</a:t>
            </a:r>
            <a:r>
              <a:rPr kumimoji="1" lang="ja-JP" altLang="en-US" dirty="0"/>
              <a:t>細胞数</a:t>
            </a:r>
            <a:r>
              <a:rPr kumimoji="1" lang="en-US" altLang="ja-JP" dirty="0"/>
              <a:t>X, </a:t>
            </a:r>
            <a:r>
              <a:rPr kumimoji="1" lang="ja-JP" altLang="en-US" dirty="0"/>
              <a:t>遊離ウイルス量</a:t>
            </a:r>
            <a:r>
              <a:rPr kumimoji="1" lang="en-US" altLang="ja-JP" dirty="0"/>
              <a:t>V, </a:t>
            </a:r>
            <a:r>
              <a:rPr kumimoji="1" lang="en-US" altLang="ja-JP" dirty="0">
                <a:solidFill>
                  <a:srgbClr val="FF0000"/>
                </a:solidFill>
              </a:rPr>
              <a:t>HIV-Subtype</a:t>
            </a:r>
            <a:r>
              <a:rPr kumimoji="1" lang="en-US" altLang="ja-JP" dirty="0"/>
              <a:t>, </a:t>
            </a:r>
            <a:r>
              <a:rPr kumimoji="1" lang="ja-JP" altLang="en-US" dirty="0">
                <a:solidFill>
                  <a:srgbClr val="FF0000"/>
                </a:solidFill>
              </a:rPr>
              <a:t>投薬開始日</a:t>
            </a:r>
            <a:r>
              <a:rPr kumimoji="1" lang="en-US" altLang="ja-JP" dirty="0"/>
              <a:t>, </a:t>
            </a:r>
            <a:r>
              <a:rPr kumimoji="1" lang="ja-JP" altLang="en-US" dirty="0">
                <a:solidFill>
                  <a:srgbClr val="FF0000"/>
                </a:solidFill>
              </a:rPr>
              <a:t>投薬終了日</a:t>
            </a:r>
            <a:r>
              <a:rPr kumimoji="1" lang="en-US" altLang="ja-JP" dirty="0"/>
              <a:t>]</a:t>
            </a:r>
            <a:endParaRPr kumimoji="1" lang="ja-JP" altLang="en-US" dirty="0"/>
          </a:p>
        </p:txBody>
      </p:sp>
      <p:sp>
        <p:nvSpPr>
          <p:cNvPr id="12" name="矢印: 下 11">
            <a:extLst>
              <a:ext uri="{FF2B5EF4-FFF2-40B4-BE49-F238E27FC236}">
                <a16:creationId xmlns:a16="http://schemas.microsoft.com/office/drawing/2014/main" id="{71F9D4AF-91CC-1038-6A7E-5BF56983132B}"/>
              </a:ext>
            </a:extLst>
          </p:cNvPr>
          <p:cNvSpPr/>
          <p:nvPr/>
        </p:nvSpPr>
        <p:spPr>
          <a:xfrm>
            <a:off x="9951567" y="1755668"/>
            <a:ext cx="223288" cy="379039"/>
          </a:xfrm>
          <a:prstGeom prst="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D98B4DF-C4A4-17F8-103A-C39E7A03BFDC}"/>
              </a:ext>
            </a:extLst>
          </p:cNvPr>
          <p:cNvSpPr txBox="1"/>
          <p:nvPr/>
        </p:nvSpPr>
        <p:spPr>
          <a:xfrm>
            <a:off x="7814759" y="560809"/>
            <a:ext cx="2136808" cy="400110"/>
          </a:xfrm>
          <a:prstGeom prst="rect">
            <a:avLst/>
          </a:prstGeom>
          <a:noFill/>
        </p:spPr>
        <p:txBody>
          <a:bodyPr wrap="square" rtlCol="0">
            <a:spAutoFit/>
          </a:bodyPr>
          <a:lstStyle/>
          <a:p>
            <a:r>
              <a:rPr kumimoji="1" lang="ja-JP" altLang="en-US" sz="2000" b="1" dirty="0">
                <a:highlight>
                  <a:srgbClr val="FFFF00"/>
                </a:highlight>
              </a:rPr>
              <a:t>状態</a:t>
            </a:r>
            <a:r>
              <a:rPr kumimoji="1" lang="en-US" altLang="ja-JP" sz="2000" b="1" dirty="0">
                <a:highlight>
                  <a:srgbClr val="FFFF00"/>
                </a:highlight>
              </a:rPr>
              <a:t>(state)</a:t>
            </a:r>
            <a:endParaRPr kumimoji="1" lang="ja-JP" altLang="en-US" sz="2000" b="1" dirty="0">
              <a:highlight>
                <a:srgbClr val="FFFF00"/>
              </a:highlight>
            </a:endParaRPr>
          </a:p>
        </p:txBody>
      </p:sp>
      <p:sp>
        <p:nvSpPr>
          <p:cNvPr id="16" name="テキスト ボックス 15">
            <a:extLst>
              <a:ext uri="{FF2B5EF4-FFF2-40B4-BE49-F238E27FC236}">
                <a16:creationId xmlns:a16="http://schemas.microsoft.com/office/drawing/2014/main" id="{138E1140-5BA9-EE8A-92B7-3D4E2118B7D5}"/>
              </a:ext>
            </a:extLst>
          </p:cNvPr>
          <p:cNvSpPr txBox="1"/>
          <p:nvPr/>
        </p:nvSpPr>
        <p:spPr>
          <a:xfrm>
            <a:off x="8478256" y="3246934"/>
            <a:ext cx="3713744" cy="369332"/>
          </a:xfrm>
          <a:prstGeom prst="rect">
            <a:avLst/>
          </a:prstGeom>
          <a:noFill/>
        </p:spPr>
        <p:txBody>
          <a:bodyPr wrap="square" rtlCol="0">
            <a:spAutoFit/>
          </a:bodyPr>
          <a:lstStyle/>
          <a:p>
            <a:r>
              <a:rPr kumimoji="1" lang="en-US" altLang="ja-JP" dirty="0"/>
              <a:t>※HIV-Subtype: HIV</a:t>
            </a:r>
            <a:r>
              <a:rPr kumimoji="1" lang="ja-JP" altLang="en-US" dirty="0"/>
              <a:t>ウイルスの種類</a:t>
            </a:r>
          </a:p>
        </p:txBody>
      </p:sp>
      <p:sp>
        <p:nvSpPr>
          <p:cNvPr id="17" name="テキスト ボックス 16">
            <a:extLst>
              <a:ext uri="{FF2B5EF4-FFF2-40B4-BE49-F238E27FC236}">
                <a16:creationId xmlns:a16="http://schemas.microsoft.com/office/drawing/2014/main" id="{ECB81EB8-3563-BC69-40AA-2E4D84160469}"/>
              </a:ext>
            </a:extLst>
          </p:cNvPr>
          <p:cNvSpPr txBox="1"/>
          <p:nvPr/>
        </p:nvSpPr>
        <p:spPr>
          <a:xfrm>
            <a:off x="7814759" y="3616266"/>
            <a:ext cx="2136808" cy="400110"/>
          </a:xfrm>
          <a:prstGeom prst="rect">
            <a:avLst/>
          </a:prstGeom>
          <a:noFill/>
        </p:spPr>
        <p:txBody>
          <a:bodyPr wrap="square" rtlCol="0">
            <a:spAutoFit/>
          </a:bodyPr>
          <a:lstStyle/>
          <a:p>
            <a:r>
              <a:rPr kumimoji="1" lang="ja-JP" altLang="en-US" sz="2000" b="1" dirty="0">
                <a:highlight>
                  <a:srgbClr val="FFFF00"/>
                </a:highlight>
              </a:rPr>
              <a:t>行動</a:t>
            </a:r>
            <a:r>
              <a:rPr kumimoji="1" lang="en-US" altLang="ja-JP" sz="2000" b="1" dirty="0">
                <a:highlight>
                  <a:srgbClr val="FFFF00"/>
                </a:highlight>
              </a:rPr>
              <a:t>(action)</a:t>
            </a:r>
            <a:endParaRPr kumimoji="1" lang="ja-JP" altLang="en-US" sz="2000" b="1" dirty="0">
              <a:highlight>
                <a:srgbClr val="FFFF00"/>
              </a:highlight>
            </a:endParaRPr>
          </a:p>
        </p:txBody>
      </p:sp>
      <p:sp>
        <p:nvSpPr>
          <p:cNvPr id="18" name="テキスト ボックス 17">
            <a:extLst>
              <a:ext uri="{FF2B5EF4-FFF2-40B4-BE49-F238E27FC236}">
                <a16:creationId xmlns:a16="http://schemas.microsoft.com/office/drawing/2014/main" id="{033DD17B-F282-4FBE-9ECB-CB80CFB17FF5}"/>
              </a:ext>
            </a:extLst>
          </p:cNvPr>
          <p:cNvSpPr txBox="1"/>
          <p:nvPr/>
        </p:nvSpPr>
        <p:spPr>
          <a:xfrm>
            <a:off x="7911967" y="4016376"/>
            <a:ext cx="4139663" cy="1908215"/>
          </a:xfrm>
          <a:prstGeom prst="rect">
            <a:avLst/>
          </a:prstGeom>
          <a:noFill/>
        </p:spPr>
        <p:txBody>
          <a:bodyPr wrap="square" rtlCol="0">
            <a:spAutoFit/>
          </a:bodyPr>
          <a:lstStyle/>
          <a:p>
            <a:pPr marL="285750" indent="-285750">
              <a:buFont typeface="Wingdings" panose="05000000000000000000" pitchFamily="2" charset="2"/>
              <a:buChar char="p"/>
            </a:pPr>
            <a:r>
              <a:rPr kumimoji="1" lang="ja-JP" altLang="en-US" sz="2000" dirty="0"/>
              <a:t>最大の投薬量</a:t>
            </a:r>
            <a:r>
              <a:rPr kumimoji="1" lang="en-US" altLang="ja-JP" sz="2000" dirty="0"/>
              <a:t> : 1.0</a:t>
            </a:r>
            <a:r>
              <a:rPr kumimoji="1" lang="ja-JP" altLang="en-US" sz="2000" dirty="0"/>
              <a:t>　として正規化</a:t>
            </a:r>
            <a:endParaRPr kumimoji="1" lang="en-US" altLang="ja-JP" sz="2000" dirty="0"/>
          </a:p>
          <a:p>
            <a:pPr marL="285750" indent="-285750">
              <a:buFont typeface="Wingdings" panose="05000000000000000000" pitchFamily="2" charset="2"/>
              <a:buChar char="p"/>
            </a:pPr>
            <a:r>
              <a:rPr kumimoji="1" lang="ja-JP" altLang="en-US" sz="2000" dirty="0"/>
              <a:t>従来手法の方が投薬量を細かく調整可能</a:t>
            </a:r>
            <a:endParaRPr kumimoji="1" lang="en-US" altLang="ja-JP" sz="2000" dirty="0"/>
          </a:p>
          <a:p>
            <a:pPr marL="285750" indent="-285750">
              <a:buFont typeface="Wingdings" panose="05000000000000000000" pitchFamily="2" charset="2"/>
              <a:buChar char="p"/>
            </a:pPr>
            <a:r>
              <a:rPr kumimoji="1" lang="ja-JP" altLang="en-US" sz="2000" dirty="0"/>
              <a:t>従来手法の方が高頻度で投薬量を調整可能</a:t>
            </a:r>
            <a:endParaRPr kumimoji="1" lang="en-US" altLang="ja-JP" sz="2000" dirty="0"/>
          </a:p>
          <a:p>
            <a:endParaRPr kumimoji="1" lang="ja-JP" altLang="en-US" dirty="0"/>
          </a:p>
        </p:txBody>
      </p:sp>
      <p:sp>
        <p:nvSpPr>
          <p:cNvPr id="19" name="テキスト ボックス 18">
            <a:extLst>
              <a:ext uri="{FF2B5EF4-FFF2-40B4-BE49-F238E27FC236}">
                <a16:creationId xmlns:a16="http://schemas.microsoft.com/office/drawing/2014/main" id="{E800301E-9638-16C1-751C-B300757349E4}"/>
              </a:ext>
            </a:extLst>
          </p:cNvPr>
          <p:cNvSpPr txBox="1"/>
          <p:nvPr/>
        </p:nvSpPr>
        <p:spPr>
          <a:xfrm>
            <a:off x="6522252" y="5837085"/>
            <a:ext cx="5669748" cy="369332"/>
          </a:xfrm>
          <a:prstGeom prst="rect">
            <a:avLst/>
          </a:prstGeom>
          <a:noFill/>
        </p:spPr>
        <p:txBody>
          <a:bodyPr wrap="square" rtlCol="0">
            <a:spAutoFit/>
          </a:bodyPr>
          <a:lstStyle/>
          <a:p>
            <a:pPr marL="285750" indent="-285750">
              <a:buFont typeface="Arial" panose="020B0604020202020204" pitchFamily="34" charset="0"/>
              <a:buChar char="•"/>
            </a:pPr>
            <a:r>
              <a:rPr kumimoji="1" lang="en-US" altLang="ja-JP" dirty="0"/>
              <a:t>140</a:t>
            </a:r>
            <a:r>
              <a:rPr kumimoji="1" lang="ja-JP" altLang="en-US" dirty="0"/>
              <a:t>日間</a:t>
            </a:r>
            <a:r>
              <a:rPr kumimoji="1" lang="en-US" altLang="ja-JP" dirty="0"/>
              <a:t>, 200</a:t>
            </a:r>
            <a:r>
              <a:rPr kumimoji="1" lang="ja-JP" altLang="en-US" dirty="0"/>
              <a:t>人の患者で数値シミュレーションを実施</a:t>
            </a:r>
          </a:p>
        </p:txBody>
      </p:sp>
      <p:sp>
        <p:nvSpPr>
          <p:cNvPr id="20" name="スライド番号プレースホルダー 19">
            <a:extLst>
              <a:ext uri="{FF2B5EF4-FFF2-40B4-BE49-F238E27FC236}">
                <a16:creationId xmlns:a16="http://schemas.microsoft.com/office/drawing/2014/main" id="{254FB524-FFBB-A1B7-3FBD-EF0BB39722DE}"/>
              </a:ext>
            </a:extLst>
          </p:cNvPr>
          <p:cNvSpPr>
            <a:spLocks noGrp="1"/>
          </p:cNvSpPr>
          <p:nvPr>
            <p:ph type="sldNum" sz="quarter" idx="12"/>
          </p:nvPr>
        </p:nvSpPr>
        <p:spPr/>
        <p:txBody>
          <a:bodyPr/>
          <a:lstStyle/>
          <a:p>
            <a:fld id="{E0107F97-1CD5-41F0-B842-C38020C26506}" type="slidenum">
              <a:rPr kumimoji="1" lang="ja-JP" altLang="en-US" smtClean="0"/>
              <a:pPr/>
              <a:t>9</a:t>
            </a:fld>
            <a:endParaRPr kumimoji="1" lang="ja-JP" altLang="en-US" dirty="0"/>
          </a:p>
        </p:txBody>
      </p:sp>
    </p:spTree>
    <p:extLst>
      <p:ext uri="{BB962C8B-B14F-4D97-AF65-F5344CB8AC3E}">
        <p14:creationId xmlns:p14="http://schemas.microsoft.com/office/powerpoint/2010/main" val="657611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5143C-2BCB-3C63-DEAF-44A209728D0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8E676D7-F7DD-7FCB-558D-3EFE23AAAB03}"/>
              </a:ext>
            </a:extLst>
          </p:cNvPr>
          <p:cNvSpPr>
            <a:spLocks noGrp="1"/>
          </p:cNvSpPr>
          <p:nvPr>
            <p:ph type="title"/>
          </p:nvPr>
        </p:nvSpPr>
        <p:spPr/>
        <p:txBody>
          <a:bodyPr/>
          <a:lstStyle/>
          <a:p>
            <a:r>
              <a:rPr kumimoji="1" lang="ja-JP" altLang="en-US" dirty="0"/>
              <a:t>数値シミュレーション</a:t>
            </a:r>
            <a:r>
              <a:rPr kumimoji="1" lang="en-US" altLang="ja-JP" dirty="0"/>
              <a:t>(2/6)</a:t>
            </a:r>
            <a:endParaRPr kumimoji="1" lang="ja-JP" altLang="en-US" dirty="0"/>
          </a:p>
        </p:txBody>
      </p:sp>
      <p:sp>
        <p:nvSpPr>
          <p:cNvPr id="11" name="テキスト ボックス 10">
            <a:extLst>
              <a:ext uri="{FF2B5EF4-FFF2-40B4-BE49-F238E27FC236}">
                <a16:creationId xmlns:a16="http://schemas.microsoft.com/office/drawing/2014/main" id="{361DCC41-44C9-96BF-C76D-C4A3D12A9A18}"/>
              </a:ext>
            </a:extLst>
          </p:cNvPr>
          <p:cNvSpPr txBox="1"/>
          <p:nvPr/>
        </p:nvSpPr>
        <p:spPr>
          <a:xfrm>
            <a:off x="481263" y="842687"/>
            <a:ext cx="4014537" cy="400110"/>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000" dirty="0"/>
              <a:t>シミュレーション結果</a:t>
            </a:r>
            <a:r>
              <a:rPr kumimoji="1" lang="en-US" altLang="ja-JP" sz="2000" dirty="0"/>
              <a:t>1  </a:t>
            </a:r>
            <a:r>
              <a:rPr kumimoji="1" lang="ja-JP" altLang="en-US" sz="2000" b="1" dirty="0"/>
              <a:t>累積報酬　</a:t>
            </a:r>
          </a:p>
        </p:txBody>
      </p:sp>
      <p:pic>
        <p:nvPicPr>
          <p:cNvPr id="13" name="Picture 6">
            <a:extLst>
              <a:ext uri="{FF2B5EF4-FFF2-40B4-BE49-F238E27FC236}">
                <a16:creationId xmlns:a16="http://schemas.microsoft.com/office/drawing/2014/main" id="{06146541-283E-96BE-25AA-3D1EAD36C6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44" r="49302" b="49890"/>
          <a:stretch/>
        </p:blipFill>
        <p:spPr bwMode="auto">
          <a:xfrm>
            <a:off x="171735" y="1455898"/>
            <a:ext cx="5241564" cy="346605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a:extLst>
              <a:ext uri="{FF2B5EF4-FFF2-40B4-BE49-F238E27FC236}">
                <a16:creationId xmlns:a16="http://schemas.microsoft.com/office/drawing/2014/main" id="{27A99C9C-EBCF-B673-B1B2-9573F2495A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1334" r="49099"/>
          <a:stretch/>
        </p:blipFill>
        <p:spPr bwMode="auto">
          <a:xfrm>
            <a:off x="5790502" y="1455898"/>
            <a:ext cx="5512781" cy="3573265"/>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4952B634-7344-C104-2DA6-10A98FA689C7}"/>
              </a:ext>
            </a:extLst>
          </p:cNvPr>
          <p:cNvSpPr txBox="1"/>
          <p:nvPr/>
        </p:nvSpPr>
        <p:spPr>
          <a:xfrm>
            <a:off x="2998539" y="5102867"/>
            <a:ext cx="6862813" cy="400110"/>
          </a:xfrm>
          <a:prstGeom prst="rect">
            <a:avLst/>
          </a:prstGeom>
          <a:noFill/>
        </p:spPr>
        <p:txBody>
          <a:bodyPr wrap="square" rtlCol="0">
            <a:spAutoFit/>
          </a:bodyPr>
          <a:lstStyle/>
          <a:p>
            <a:r>
              <a:rPr kumimoji="1" lang="en-US" altLang="ja-JP" sz="2000" dirty="0"/>
              <a:t>Fig.9  </a:t>
            </a:r>
            <a:r>
              <a:rPr kumimoji="1" lang="ja-JP" altLang="en-US" sz="2000" dirty="0"/>
              <a:t>累積報酬の分布</a:t>
            </a:r>
            <a:r>
              <a:rPr kumimoji="1" lang="en-US" altLang="ja-JP" sz="2000" dirty="0"/>
              <a:t>(</a:t>
            </a:r>
            <a:r>
              <a:rPr kumimoji="1" lang="ja-JP" altLang="en-US" sz="2000" dirty="0"/>
              <a:t>左</a:t>
            </a:r>
            <a:r>
              <a:rPr kumimoji="1" lang="en-US" altLang="ja-JP" sz="2000" dirty="0"/>
              <a:t> : </a:t>
            </a:r>
            <a:r>
              <a:rPr kumimoji="1" lang="ja-JP" altLang="en-US" sz="2000" dirty="0"/>
              <a:t>従来手法 　右 </a:t>
            </a:r>
            <a:r>
              <a:rPr kumimoji="1" lang="en-US" altLang="ja-JP" sz="2000" dirty="0"/>
              <a:t>: </a:t>
            </a:r>
            <a:r>
              <a:rPr kumimoji="1" lang="ja-JP" altLang="en-US" sz="2000" dirty="0"/>
              <a:t>提案手法</a:t>
            </a:r>
            <a:r>
              <a:rPr kumimoji="1" lang="en-US" altLang="ja-JP" sz="2000" dirty="0"/>
              <a:t>)</a:t>
            </a:r>
            <a:endParaRPr kumimoji="1" lang="ja-JP" altLang="en-US" sz="2000" dirty="0"/>
          </a:p>
        </p:txBody>
      </p:sp>
      <p:sp>
        <p:nvSpPr>
          <p:cNvPr id="21" name="テキスト ボックス 20">
            <a:extLst>
              <a:ext uri="{FF2B5EF4-FFF2-40B4-BE49-F238E27FC236}">
                <a16:creationId xmlns:a16="http://schemas.microsoft.com/office/drawing/2014/main" id="{FD011733-F60D-E9F2-8289-F7CAEE176621}"/>
              </a:ext>
            </a:extLst>
          </p:cNvPr>
          <p:cNvSpPr txBox="1"/>
          <p:nvPr/>
        </p:nvSpPr>
        <p:spPr>
          <a:xfrm>
            <a:off x="404261" y="1271232"/>
            <a:ext cx="154004" cy="369332"/>
          </a:xfrm>
          <a:prstGeom prst="rect">
            <a:avLst/>
          </a:prstGeom>
          <a:noFill/>
        </p:spPr>
        <p:txBody>
          <a:bodyPr wrap="square" rtlCol="0">
            <a:spAutoFit/>
          </a:bodyPr>
          <a:lstStyle/>
          <a:p>
            <a:r>
              <a:rPr kumimoji="1" lang="en-US" altLang="ja-JP" b="1" dirty="0">
                <a:solidFill>
                  <a:srgbClr val="FF0000"/>
                </a:solidFill>
              </a:rPr>
              <a:t>0</a:t>
            </a:r>
            <a:endParaRPr kumimoji="1" lang="ja-JP" altLang="en-US" b="1" dirty="0">
              <a:solidFill>
                <a:srgbClr val="FF0000"/>
              </a:solidFill>
            </a:endParaRPr>
          </a:p>
        </p:txBody>
      </p:sp>
      <p:sp>
        <p:nvSpPr>
          <p:cNvPr id="23" name="テキスト ボックス 22">
            <a:extLst>
              <a:ext uri="{FF2B5EF4-FFF2-40B4-BE49-F238E27FC236}">
                <a16:creationId xmlns:a16="http://schemas.microsoft.com/office/drawing/2014/main" id="{5F45EA81-B5A3-26E3-2022-CC8621D7CE4D}"/>
              </a:ext>
            </a:extLst>
          </p:cNvPr>
          <p:cNvSpPr txBox="1"/>
          <p:nvPr/>
        </p:nvSpPr>
        <p:spPr>
          <a:xfrm>
            <a:off x="698307" y="5683890"/>
            <a:ext cx="10795385" cy="461665"/>
          </a:xfrm>
          <a:prstGeom prst="rect">
            <a:avLst/>
          </a:prstGeom>
          <a:noFill/>
        </p:spPr>
        <p:txBody>
          <a:bodyPr wrap="square" rtlCol="0">
            <a:spAutoFit/>
          </a:bodyPr>
          <a:lstStyle/>
          <a:p>
            <a:pPr marL="285750" indent="-285750">
              <a:buFont typeface="Wingdings" panose="05000000000000000000" pitchFamily="2" charset="2"/>
              <a:buChar char="ü"/>
            </a:pPr>
            <a:r>
              <a:rPr kumimoji="1" lang="ja-JP" altLang="en-US" sz="2400" dirty="0"/>
              <a:t>左</a:t>
            </a:r>
            <a:r>
              <a:rPr kumimoji="1" lang="en-US" altLang="ja-JP" sz="2400" dirty="0"/>
              <a:t>(</a:t>
            </a:r>
            <a:r>
              <a:rPr kumimoji="1" lang="ja-JP" altLang="en-US" sz="2400" dirty="0"/>
              <a:t>従来手法</a:t>
            </a:r>
            <a:r>
              <a:rPr kumimoji="1" lang="en-US" altLang="ja-JP" sz="2400" dirty="0"/>
              <a:t>)</a:t>
            </a:r>
            <a:r>
              <a:rPr kumimoji="1" lang="ja-JP" altLang="en-US" sz="2400" dirty="0"/>
              <a:t>の累積報酬平均 </a:t>
            </a:r>
            <a:r>
              <a:rPr kumimoji="1" lang="en-US" altLang="ja-JP" sz="2400" dirty="0"/>
              <a:t>: </a:t>
            </a:r>
            <a:r>
              <a:rPr kumimoji="1" lang="en-US" altLang="ja-JP" sz="2400" b="1" dirty="0"/>
              <a:t>-48.821</a:t>
            </a:r>
            <a:r>
              <a:rPr kumimoji="1" lang="en-US" altLang="ja-JP" sz="2400" dirty="0"/>
              <a:t>,</a:t>
            </a:r>
            <a:r>
              <a:rPr kumimoji="1" lang="ja-JP" altLang="en-US" sz="2400" dirty="0"/>
              <a:t>　右</a:t>
            </a:r>
            <a:r>
              <a:rPr kumimoji="1" lang="en-US" altLang="ja-JP" sz="2400" dirty="0"/>
              <a:t>(</a:t>
            </a:r>
            <a:r>
              <a:rPr kumimoji="1" lang="ja-JP" altLang="en-US" sz="2400" b="1" dirty="0"/>
              <a:t>提案手法</a:t>
            </a:r>
            <a:r>
              <a:rPr kumimoji="1" lang="en-US" altLang="ja-JP" sz="2400" dirty="0"/>
              <a:t>)</a:t>
            </a:r>
            <a:r>
              <a:rPr kumimoji="1" lang="ja-JP" altLang="en-US" sz="2400" dirty="0"/>
              <a:t>の累積報酬平均 </a:t>
            </a:r>
            <a:r>
              <a:rPr kumimoji="1" lang="en-US" altLang="ja-JP" sz="2400" dirty="0"/>
              <a:t>: </a:t>
            </a:r>
            <a:r>
              <a:rPr kumimoji="1" lang="en-US" altLang="ja-JP" sz="2400" b="1" dirty="0">
                <a:solidFill>
                  <a:srgbClr val="FF0000"/>
                </a:solidFill>
              </a:rPr>
              <a:t>22.809</a:t>
            </a:r>
            <a:r>
              <a:rPr kumimoji="1" lang="ja-JP" altLang="en-US" sz="2400" b="1" dirty="0">
                <a:solidFill>
                  <a:srgbClr val="FF0000"/>
                </a:solidFill>
              </a:rPr>
              <a:t>　</a:t>
            </a:r>
            <a:endParaRPr kumimoji="1" lang="en-US" altLang="ja-JP" sz="2400" dirty="0"/>
          </a:p>
        </p:txBody>
      </p:sp>
      <p:sp>
        <p:nvSpPr>
          <p:cNvPr id="24" name="テキスト ボックス 23">
            <a:extLst>
              <a:ext uri="{FF2B5EF4-FFF2-40B4-BE49-F238E27FC236}">
                <a16:creationId xmlns:a16="http://schemas.microsoft.com/office/drawing/2014/main" id="{9CD1137C-C8F6-0CE2-E75E-F13CA1D89AA9}"/>
              </a:ext>
            </a:extLst>
          </p:cNvPr>
          <p:cNvSpPr txBox="1"/>
          <p:nvPr/>
        </p:nvSpPr>
        <p:spPr>
          <a:xfrm>
            <a:off x="6095999" y="858076"/>
            <a:ext cx="4851400" cy="369332"/>
          </a:xfrm>
          <a:prstGeom prst="rect">
            <a:avLst/>
          </a:prstGeom>
          <a:noFill/>
        </p:spPr>
        <p:txBody>
          <a:bodyPr wrap="square" rtlCol="0">
            <a:spAutoFit/>
          </a:bodyPr>
          <a:lstStyle/>
          <a:p>
            <a:r>
              <a:rPr kumimoji="1" lang="en-US" altLang="ja-JP" dirty="0"/>
              <a:t>※</a:t>
            </a:r>
            <a:r>
              <a:rPr kumimoji="1" lang="ja-JP" altLang="en-US" dirty="0"/>
              <a:t>累積報酬 </a:t>
            </a:r>
            <a:r>
              <a:rPr kumimoji="1" lang="en-US" altLang="ja-JP" dirty="0"/>
              <a:t>: 140</a:t>
            </a:r>
            <a:r>
              <a:rPr kumimoji="1" lang="ja-JP" altLang="en-US" dirty="0"/>
              <a:t>日間の報酬和の分布</a:t>
            </a:r>
          </a:p>
        </p:txBody>
      </p:sp>
      <p:sp>
        <p:nvSpPr>
          <p:cNvPr id="25" name="スライド番号プレースホルダー 24">
            <a:extLst>
              <a:ext uri="{FF2B5EF4-FFF2-40B4-BE49-F238E27FC236}">
                <a16:creationId xmlns:a16="http://schemas.microsoft.com/office/drawing/2014/main" id="{BFAC586F-FB79-832D-07BC-79075485AAC6}"/>
              </a:ext>
            </a:extLst>
          </p:cNvPr>
          <p:cNvSpPr>
            <a:spLocks noGrp="1"/>
          </p:cNvSpPr>
          <p:nvPr>
            <p:ph type="sldNum" sz="quarter" idx="12"/>
          </p:nvPr>
        </p:nvSpPr>
        <p:spPr/>
        <p:txBody>
          <a:bodyPr/>
          <a:lstStyle/>
          <a:p>
            <a:fld id="{E0107F97-1CD5-41F0-B842-C38020C26506}" type="slidenum">
              <a:rPr kumimoji="1" lang="ja-JP" altLang="en-US" smtClean="0"/>
              <a:pPr/>
              <a:t>10</a:t>
            </a:fld>
            <a:endParaRPr kumimoji="1" lang="ja-JP" altLang="en-US" dirty="0"/>
          </a:p>
        </p:txBody>
      </p:sp>
    </p:spTree>
    <p:extLst>
      <p:ext uri="{BB962C8B-B14F-4D97-AF65-F5344CB8AC3E}">
        <p14:creationId xmlns:p14="http://schemas.microsoft.com/office/powerpoint/2010/main" val="3662918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29941-826D-1A88-5DA3-30A862CE68E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E36C35C9-D71B-55D3-EA1C-346CC5C37395}"/>
              </a:ext>
            </a:extLst>
          </p:cNvPr>
          <p:cNvSpPr>
            <a:spLocks noGrp="1"/>
          </p:cNvSpPr>
          <p:nvPr>
            <p:ph type="title"/>
          </p:nvPr>
        </p:nvSpPr>
        <p:spPr/>
        <p:txBody>
          <a:bodyPr/>
          <a:lstStyle/>
          <a:p>
            <a:r>
              <a:rPr kumimoji="1" lang="ja-JP" altLang="en-US" dirty="0"/>
              <a:t>数値シミュレーション</a:t>
            </a:r>
            <a:r>
              <a:rPr kumimoji="1" lang="en-US" altLang="ja-JP" dirty="0"/>
              <a:t>(3/6)</a:t>
            </a:r>
            <a:endParaRPr kumimoji="1" lang="ja-JP" altLang="en-US" dirty="0"/>
          </a:p>
        </p:txBody>
      </p:sp>
      <p:sp>
        <p:nvSpPr>
          <p:cNvPr id="11" name="テキスト ボックス 10">
            <a:extLst>
              <a:ext uri="{FF2B5EF4-FFF2-40B4-BE49-F238E27FC236}">
                <a16:creationId xmlns:a16="http://schemas.microsoft.com/office/drawing/2014/main" id="{06B603AD-A54A-DC18-CB40-D298A93D70FA}"/>
              </a:ext>
            </a:extLst>
          </p:cNvPr>
          <p:cNvSpPr txBox="1"/>
          <p:nvPr/>
        </p:nvSpPr>
        <p:spPr>
          <a:xfrm>
            <a:off x="438710" y="787544"/>
            <a:ext cx="4776537" cy="400110"/>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000" dirty="0"/>
              <a:t>シミュレーション結果</a:t>
            </a:r>
            <a:r>
              <a:rPr kumimoji="1" lang="en-US" altLang="ja-JP" sz="2000" dirty="0"/>
              <a:t>2  </a:t>
            </a:r>
            <a:r>
              <a:rPr kumimoji="1" lang="ja-JP" altLang="en-US" sz="2000" b="1" dirty="0"/>
              <a:t>報酬平均の推移　</a:t>
            </a:r>
          </a:p>
        </p:txBody>
      </p:sp>
      <p:pic>
        <p:nvPicPr>
          <p:cNvPr id="14" name="Picture 6">
            <a:extLst>
              <a:ext uri="{FF2B5EF4-FFF2-40B4-BE49-F238E27FC236}">
                <a16:creationId xmlns:a16="http://schemas.microsoft.com/office/drawing/2014/main" id="{F035B072-4580-6C62-24AB-067C3B8FD7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727" t="2811" b="49890"/>
          <a:stretch/>
        </p:blipFill>
        <p:spPr bwMode="auto">
          <a:xfrm>
            <a:off x="211756" y="1278258"/>
            <a:ext cx="5230447" cy="355552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A275F5D8-1AD0-E9E4-D68C-EF671595B8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255" t="51379"/>
          <a:stretch/>
        </p:blipFill>
        <p:spPr bwMode="auto">
          <a:xfrm>
            <a:off x="5993702" y="1278258"/>
            <a:ext cx="5230447" cy="364595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948619C4-51B0-8A99-ABC9-86482CE36213}"/>
              </a:ext>
            </a:extLst>
          </p:cNvPr>
          <p:cNvSpPr txBox="1"/>
          <p:nvPr/>
        </p:nvSpPr>
        <p:spPr>
          <a:xfrm>
            <a:off x="2913951" y="4833786"/>
            <a:ext cx="7671695" cy="400110"/>
          </a:xfrm>
          <a:prstGeom prst="rect">
            <a:avLst/>
          </a:prstGeom>
          <a:noFill/>
        </p:spPr>
        <p:txBody>
          <a:bodyPr wrap="square" rtlCol="0">
            <a:spAutoFit/>
          </a:bodyPr>
          <a:lstStyle/>
          <a:p>
            <a:r>
              <a:rPr kumimoji="1" lang="en-US" altLang="ja-JP" sz="2000" dirty="0"/>
              <a:t>Fig.10  </a:t>
            </a:r>
            <a:r>
              <a:rPr kumimoji="1" lang="ja-JP" altLang="en-US" sz="2000" dirty="0"/>
              <a:t>平均報酬の推移</a:t>
            </a:r>
            <a:r>
              <a:rPr kumimoji="1" lang="en-US" altLang="ja-JP" sz="2000" dirty="0"/>
              <a:t>(</a:t>
            </a:r>
            <a:r>
              <a:rPr kumimoji="1" lang="ja-JP" altLang="en-US" sz="2000" dirty="0"/>
              <a:t>左</a:t>
            </a:r>
            <a:r>
              <a:rPr kumimoji="1" lang="en-US" altLang="ja-JP" sz="2000" dirty="0"/>
              <a:t> : </a:t>
            </a:r>
            <a:r>
              <a:rPr kumimoji="1" lang="ja-JP" altLang="en-US" sz="2000" dirty="0"/>
              <a:t>従来手法 　右 </a:t>
            </a:r>
            <a:r>
              <a:rPr kumimoji="1" lang="en-US" altLang="ja-JP" sz="2000" dirty="0"/>
              <a:t>: </a:t>
            </a:r>
            <a:r>
              <a:rPr kumimoji="1" lang="ja-JP" altLang="en-US" sz="2000" dirty="0"/>
              <a:t>提案手法</a:t>
            </a:r>
            <a:r>
              <a:rPr kumimoji="1" lang="en-US" altLang="ja-JP" sz="2000" dirty="0"/>
              <a:t>)</a:t>
            </a:r>
            <a:endParaRPr kumimoji="1" lang="ja-JP" altLang="en-US" sz="2000" dirty="0"/>
          </a:p>
        </p:txBody>
      </p:sp>
      <p:sp>
        <p:nvSpPr>
          <p:cNvPr id="5" name="テキスト ボックス 4">
            <a:extLst>
              <a:ext uri="{FF2B5EF4-FFF2-40B4-BE49-F238E27FC236}">
                <a16:creationId xmlns:a16="http://schemas.microsoft.com/office/drawing/2014/main" id="{30A282BE-FD6F-FDA4-7D19-DB407A3E561B}"/>
              </a:ext>
            </a:extLst>
          </p:cNvPr>
          <p:cNvSpPr txBox="1"/>
          <p:nvPr/>
        </p:nvSpPr>
        <p:spPr>
          <a:xfrm>
            <a:off x="630618" y="5154048"/>
            <a:ext cx="10726168" cy="1200329"/>
          </a:xfrm>
          <a:prstGeom prst="rect">
            <a:avLst/>
          </a:prstGeom>
          <a:noFill/>
        </p:spPr>
        <p:txBody>
          <a:bodyPr wrap="square" rtlCol="0">
            <a:spAutoFit/>
          </a:bodyPr>
          <a:lstStyle/>
          <a:p>
            <a:pPr marL="285750" indent="-285750">
              <a:buFont typeface="Wingdings" panose="05000000000000000000" pitchFamily="2" charset="2"/>
              <a:buChar char="ü"/>
            </a:pPr>
            <a:r>
              <a:rPr kumimoji="1" lang="ja-JP" altLang="en-US" sz="2400" dirty="0"/>
              <a:t>左</a:t>
            </a:r>
            <a:r>
              <a:rPr kumimoji="1" lang="en-US" altLang="ja-JP" sz="2400" dirty="0"/>
              <a:t>(</a:t>
            </a:r>
            <a:r>
              <a:rPr kumimoji="1" lang="ja-JP" altLang="en-US" sz="2400" dirty="0"/>
              <a:t>従来手法</a:t>
            </a:r>
            <a:r>
              <a:rPr kumimoji="1" lang="en-US" altLang="ja-JP" sz="2400" dirty="0"/>
              <a:t>)</a:t>
            </a:r>
            <a:r>
              <a:rPr kumimoji="1" lang="ja-JP" altLang="en-US" sz="2400" dirty="0"/>
              <a:t>の報酬平均 </a:t>
            </a:r>
            <a:r>
              <a:rPr kumimoji="1" lang="en-US" altLang="ja-JP" sz="2400" dirty="0"/>
              <a:t>: </a:t>
            </a:r>
            <a:r>
              <a:rPr kumimoji="1" lang="en-US" altLang="ja-JP" sz="2400" b="1" dirty="0"/>
              <a:t>-0.349</a:t>
            </a:r>
            <a:r>
              <a:rPr kumimoji="1" lang="en-US" altLang="ja-JP" sz="2400" dirty="0"/>
              <a:t>,</a:t>
            </a:r>
            <a:r>
              <a:rPr kumimoji="1" lang="ja-JP" altLang="en-US" sz="2400" dirty="0"/>
              <a:t>　右</a:t>
            </a:r>
            <a:r>
              <a:rPr kumimoji="1" lang="en-US" altLang="ja-JP" sz="2400" dirty="0"/>
              <a:t>(</a:t>
            </a:r>
            <a:r>
              <a:rPr kumimoji="1" lang="ja-JP" altLang="en-US" sz="2400" b="1" dirty="0"/>
              <a:t>提案手法</a:t>
            </a:r>
            <a:r>
              <a:rPr kumimoji="1" lang="en-US" altLang="ja-JP" sz="2400" dirty="0"/>
              <a:t>)</a:t>
            </a:r>
            <a:r>
              <a:rPr kumimoji="1" lang="ja-JP" altLang="en-US" sz="2400" dirty="0"/>
              <a:t>の報酬平均 </a:t>
            </a:r>
            <a:r>
              <a:rPr kumimoji="1" lang="en-US" altLang="ja-JP" sz="2400" dirty="0"/>
              <a:t>: </a:t>
            </a:r>
            <a:r>
              <a:rPr kumimoji="1" lang="en-US" altLang="ja-JP" sz="2400" b="1" dirty="0">
                <a:solidFill>
                  <a:srgbClr val="FF0000"/>
                </a:solidFill>
              </a:rPr>
              <a:t>0.163</a:t>
            </a:r>
            <a:r>
              <a:rPr kumimoji="1" lang="ja-JP" altLang="en-US" sz="2400" b="1" dirty="0">
                <a:solidFill>
                  <a:srgbClr val="FF0000"/>
                </a:solidFill>
              </a:rPr>
              <a:t>　</a:t>
            </a:r>
            <a:endParaRPr kumimoji="1" lang="en-US" altLang="ja-JP" sz="2400" b="1" dirty="0">
              <a:solidFill>
                <a:srgbClr val="FF0000"/>
              </a:solidFill>
            </a:endParaRPr>
          </a:p>
          <a:p>
            <a:pPr marL="285750" indent="-285750">
              <a:buFont typeface="Wingdings" panose="05000000000000000000" pitchFamily="2" charset="2"/>
              <a:buChar char="ü"/>
            </a:pPr>
            <a:r>
              <a:rPr kumimoji="1" lang="en-US" altLang="ja-JP" sz="2400" dirty="0"/>
              <a:t>Q-learning</a:t>
            </a:r>
            <a:r>
              <a:rPr kumimoji="1" lang="ja-JP" altLang="en-US" sz="2400" dirty="0"/>
              <a:t>から</a:t>
            </a:r>
            <a:r>
              <a:rPr kumimoji="1" lang="en-US" altLang="ja-JP" sz="2400" dirty="0"/>
              <a:t>Deep Q-learning</a:t>
            </a:r>
            <a:r>
              <a:rPr kumimoji="1" lang="ja-JP" altLang="en-US" sz="2400" dirty="0"/>
              <a:t>への切り替えで</a:t>
            </a:r>
            <a:r>
              <a:rPr kumimoji="1" lang="en-US" altLang="ja-JP" sz="2400" dirty="0"/>
              <a:t>, </a:t>
            </a:r>
            <a:r>
              <a:rPr kumimoji="1" lang="ja-JP" altLang="en-US" sz="2400" dirty="0"/>
              <a:t>より最適な行動の選択が可能に</a:t>
            </a:r>
            <a:br>
              <a:rPr kumimoji="1" lang="en-US" altLang="ja-JP" sz="2400" dirty="0"/>
            </a:br>
            <a:r>
              <a:rPr kumimoji="1" lang="en-US" altLang="ja-JP" sz="2400" dirty="0"/>
              <a:t>(</a:t>
            </a:r>
            <a:r>
              <a:rPr kumimoji="1" lang="ja-JP" altLang="en-US" sz="2400" dirty="0"/>
              <a:t>サンプリング効率の上昇</a:t>
            </a:r>
            <a:r>
              <a:rPr kumimoji="1" lang="en-US" altLang="ja-JP" sz="2400" dirty="0"/>
              <a:t>, </a:t>
            </a:r>
            <a:r>
              <a:rPr kumimoji="1" lang="ja-JP" altLang="en-US" sz="2400" dirty="0"/>
              <a:t>状態行動空間を離散化する必要がない 等</a:t>
            </a:r>
            <a:r>
              <a:rPr kumimoji="1" lang="en-US" altLang="ja-JP" sz="2400" dirty="0"/>
              <a:t>)</a:t>
            </a:r>
          </a:p>
        </p:txBody>
      </p:sp>
      <p:sp>
        <p:nvSpPr>
          <p:cNvPr id="6" name="テキスト ボックス 5">
            <a:extLst>
              <a:ext uri="{FF2B5EF4-FFF2-40B4-BE49-F238E27FC236}">
                <a16:creationId xmlns:a16="http://schemas.microsoft.com/office/drawing/2014/main" id="{E759910F-36B5-261B-F498-A9636B21FB4D}"/>
              </a:ext>
            </a:extLst>
          </p:cNvPr>
          <p:cNvSpPr txBox="1"/>
          <p:nvPr/>
        </p:nvSpPr>
        <p:spPr>
          <a:xfrm>
            <a:off x="6095999" y="858076"/>
            <a:ext cx="4851400" cy="369332"/>
          </a:xfrm>
          <a:prstGeom prst="rect">
            <a:avLst/>
          </a:prstGeom>
          <a:noFill/>
        </p:spPr>
        <p:txBody>
          <a:bodyPr wrap="square" rtlCol="0">
            <a:spAutoFit/>
          </a:bodyPr>
          <a:lstStyle/>
          <a:p>
            <a:r>
              <a:rPr kumimoji="1" lang="en-US" altLang="ja-JP" dirty="0"/>
              <a:t>※</a:t>
            </a:r>
            <a:r>
              <a:rPr kumimoji="1" lang="ja-JP" altLang="en-US" dirty="0"/>
              <a:t>報酬平均 </a:t>
            </a:r>
            <a:r>
              <a:rPr kumimoji="1" lang="en-US" altLang="ja-JP" dirty="0"/>
              <a:t>: </a:t>
            </a:r>
            <a:r>
              <a:rPr kumimoji="1" lang="ja-JP" altLang="en-US" dirty="0"/>
              <a:t>各日の報酬の時系列推移</a:t>
            </a:r>
          </a:p>
        </p:txBody>
      </p:sp>
      <p:sp>
        <p:nvSpPr>
          <p:cNvPr id="7" name="スライド番号プレースホルダー 6">
            <a:extLst>
              <a:ext uri="{FF2B5EF4-FFF2-40B4-BE49-F238E27FC236}">
                <a16:creationId xmlns:a16="http://schemas.microsoft.com/office/drawing/2014/main" id="{56AEC2BF-B6EE-3AF7-398E-D3DEF09EA0EA}"/>
              </a:ext>
            </a:extLst>
          </p:cNvPr>
          <p:cNvSpPr>
            <a:spLocks noGrp="1"/>
          </p:cNvSpPr>
          <p:nvPr>
            <p:ph type="sldNum" sz="quarter" idx="12"/>
          </p:nvPr>
        </p:nvSpPr>
        <p:spPr/>
        <p:txBody>
          <a:bodyPr/>
          <a:lstStyle/>
          <a:p>
            <a:fld id="{E0107F97-1CD5-41F0-B842-C38020C26506}" type="slidenum">
              <a:rPr kumimoji="1" lang="ja-JP" altLang="en-US" smtClean="0"/>
              <a:pPr/>
              <a:t>11</a:t>
            </a:fld>
            <a:endParaRPr kumimoji="1" lang="ja-JP" altLang="en-US" dirty="0"/>
          </a:p>
        </p:txBody>
      </p:sp>
    </p:spTree>
    <p:extLst>
      <p:ext uri="{BB962C8B-B14F-4D97-AF65-F5344CB8AC3E}">
        <p14:creationId xmlns:p14="http://schemas.microsoft.com/office/powerpoint/2010/main" val="230521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6F7B-E33E-92FE-A373-BA6E4BE43DD6}"/>
            </a:ext>
          </a:extLst>
        </p:cNvPr>
        <p:cNvGrpSpPr/>
        <p:nvPr/>
      </p:nvGrpSpPr>
      <p:grpSpPr>
        <a:xfrm>
          <a:off x="0" y="0"/>
          <a:ext cx="0" cy="0"/>
          <a:chOff x="0" y="0"/>
          <a:chExt cx="0" cy="0"/>
        </a:xfrm>
      </p:grpSpPr>
      <p:pic>
        <p:nvPicPr>
          <p:cNvPr id="10" name="Picture 2">
            <a:extLst>
              <a:ext uri="{FF2B5EF4-FFF2-40B4-BE49-F238E27FC236}">
                <a16:creationId xmlns:a16="http://schemas.microsoft.com/office/drawing/2014/main" id="{A74F2FC1-0D29-9F5B-2EF5-F1D85EE08B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1304" r="49484" b="-1"/>
          <a:stretch/>
        </p:blipFill>
        <p:spPr bwMode="auto">
          <a:xfrm>
            <a:off x="309783" y="1270000"/>
            <a:ext cx="5337483" cy="3664674"/>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C4D083B7-2822-9841-6A55-038DD9F03B03}"/>
              </a:ext>
            </a:extLst>
          </p:cNvPr>
          <p:cNvSpPr txBox="1"/>
          <p:nvPr/>
        </p:nvSpPr>
        <p:spPr>
          <a:xfrm>
            <a:off x="309783" y="754107"/>
            <a:ext cx="6345017" cy="369332"/>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dirty="0"/>
              <a:t>数値シミュレーション結果</a:t>
            </a:r>
            <a:r>
              <a:rPr kumimoji="1" lang="en-US" altLang="ja-JP" dirty="0"/>
              <a:t>3</a:t>
            </a:r>
            <a:r>
              <a:rPr kumimoji="1" lang="ja-JP" altLang="en-US" dirty="0"/>
              <a:t>　</a:t>
            </a:r>
            <a:r>
              <a:rPr kumimoji="1" lang="en-US" altLang="ja-JP" dirty="0"/>
              <a:t>(</a:t>
            </a:r>
            <a:r>
              <a:rPr kumimoji="1" lang="ja-JP" altLang="en-US" b="1" dirty="0">
                <a:solidFill>
                  <a:srgbClr val="FF0000"/>
                </a:solidFill>
              </a:rPr>
              <a:t>リプレイメモリなし</a:t>
            </a:r>
            <a:r>
              <a:rPr kumimoji="1" lang="en-US" altLang="ja-JP" dirty="0"/>
              <a:t>)</a:t>
            </a:r>
            <a:endParaRPr kumimoji="1" lang="ja-JP" altLang="en-US" dirty="0"/>
          </a:p>
        </p:txBody>
      </p:sp>
      <p:pic>
        <p:nvPicPr>
          <p:cNvPr id="12" name="Picture 2">
            <a:extLst>
              <a:ext uri="{FF2B5EF4-FFF2-40B4-BE49-F238E27FC236}">
                <a16:creationId xmlns:a16="http://schemas.microsoft.com/office/drawing/2014/main" id="{8712266F-DE4B-0814-0556-CD24115DBE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516" t="51465"/>
          <a:stretch/>
        </p:blipFill>
        <p:spPr bwMode="auto">
          <a:xfrm>
            <a:off x="5911925" y="1269999"/>
            <a:ext cx="5441876" cy="3801534"/>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BC0DFB01-FAE1-AD9E-25F5-4A63FE906426}"/>
              </a:ext>
            </a:extLst>
          </p:cNvPr>
          <p:cNvSpPr txBox="1"/>
          <p:nvPr/>
        </p:nvSpPr>
        <p:spPr>
          <a:xfrm>
            <a:off x="2324100" y="4966374"/>
            <a:ext cx="7543800" cy="369332"/>
          </a:xfrm>
          <a:prstGeom prst="rect">
            <a:avLst/>
          </a:prstGeom>
          <a:noFill/>
        </p:spPr>
        <p:txBody>
          <a:bodyPr wrap="square" rtlCol="0">
            <a:spAutoFit/>
          </a:bodyPr>
          <a:lstStyle/>
          <a:p>
            <a:r>
              <a:rPr kumimoji="1" lang="en-US" altLang="ja-JP" dirty="0"/>
              <a:t>Fig. 11</a:t>
            </a:r>
            <a:r>
              <a:rPr kumimoji="1" lang="ja-JP" altLang="en-US" dirty="0"/>
              <a:t>　</a:t>
            </a:r>
            <a:r>
              <a:rPr kumimoji="1" lang="en-US" altLang="ja-JP" dirty="0"/>
              <a:t> </a:t>
            </a:r>
            <a:r>
              <a:rPr kumimoji="1" lang="ja-JP" altLang="en-US" dirty="0"/>
              <a:t>リプレイメモリなしの場合の報酬</a:t>
            </a:r>
            <a:r>
              <a:rPr kumimoji="1" lang="en-US" altLang="ja-JP" dirty="0"/>
              <a:t>(</a:t>
            </a:r>
            <a:r>
              <a:rPr kumimoji="1" lang="ja-JP" altLang="en-US" dirty="0"/>
              <a:t>左</a:t>
            </a:r>
            <a:r>
              <a:rPr kumimoji="1" lang="en-US" altLang="ja-JP" dirty="0"/>
              <a:t>: </a:t>
            </a:r>
            <a:r>
              <a:rPr kumimoji="1" lang="ja-JP" altLang="en-US" dirty="0"/>
              <a:t>累積報酬　　右</a:t>
            </a:r>
            <a:r>
              <a:rPr kumimoji="1" lang="en-US" altLang="ja-JP" dirty="0"/>
              <a:t>: </a:t>
            </a:r>
            <a:r>
              <a:rPr kumimoji="1" lang="ja-JP" altLang="en-US" dirty="0"/>
              <a:t>時系列報酬</a:t>
            </a:r>
            <a:r>
              <a:rPr kumimoji="1" lang="en-US" altLang="ja-JP" dirty="0"/>
              <a:t>)</a:t>
            </a:r>
            <a:endParaRPr kumimoji="1" lang="ja-JP" altLang="en-US" dirty="0"/>
          </a:p>
        </p:txBody>
      </p:sp>
      <p:sp>
        <p:nvSpPr>
          <p:cNvPr id="16" name="テキスト ボックス 15">
            <a:extLst>
              <a:ext uri="{FF2B5EF4-FFF2-40B4-BE49-F238E27FC236}">
                <a16:creationId xmlns:a16="http://schemas.microsoft.com/office/drawing/2014/main" id="{6BE3BDB2-9343-14C7-8360-CF873932E684}"/>
              </a:ext>
            </a:extLst>
          </p:cNvPr>
          <p:cNvSpPr txBox="1"/>
          <p:nvPr/>
        </p:nvSpPr>
        <p:spPr>
          <a:xfrm>
            <a:off x="381001" y="5356592"/>
            <a:ext cx="10972800" cy="830997"/>
          </a:xfrm>
          <a:prstGeom prst="rect">
            <a:avLst/>
          </a:prstGeom>
          <a:noFill/>
        </p:spPr>
        <p:txBody>
          <a:bodyPr wrap="square">
            <a:spAutoFit/>
          </a:bodyPr>
          <a:lstStyle/>
          <a:p>
            <a:pPr marL="285750" indent="-285750">
              <a:buFont typeface="Wingdings" panose="05000000000000000000" pitchFamily="2" charset="2"/>
              <a:buChar char="ü"/>
            </a:pPr>
            <a:r>
              <a:rPr kumimoji="1" lang="ja-JP" altLang="en-US" sz="2400" dirty="0"/>
              <a:t>左</a:t>
            </a:r>
            <a:r>
              <a:rPr kumimoji="1" lang="en-US" altLang="ja-JP" sz="2400" dirty="0"/>
              <a:t>(</a:t>
            </a:r>
            <a:r>
              <a:rPr kumimoji="1" lang="ja-JP" altLang="en-US" sz="2400" dirty="0"/>
              <a:t>累積報酬</a:t>
            </a:r>
            <a:r>
              <a:rPr kumimoji="1" lang="en-US" altLang="ja-JP" sz="2400" dirty="0"/>
              <a:t>)</a:t>
            </a:r>
            <a:r>
              <a:rPr kumimoji="1" lang="ja-JP" altLang="en-US" sz="2400" dirty="0"/>
              <a:t>の報酬平均 </a:t>
            </a:r>
            <a:r>
              <a:rPr kumimoji="1" lang="en-US" altLang="ja-JP" sz="2400" dirty="0"/>
              <a:t>: </a:t>
            </a:r>
            <a:r>
              <a:rPr kumimoji="1" lang="en-US" altLang="ja-JP" sz="2400" b="1" dirty="0">
                <a:solidFill>
                  <a:srgbClr val="00B0F0"/>
                </a:solidFill>
              </a:rPr>
              <a:t>-6.071</a:t>
            </a:r>
            <a:r>
              <a:rPr kumimoji="1" lang="en-US" altLang="ja-JP" sz="2400" dirty="0"/>
              <a:t>,</a:t>
            </a:r>
            <a:r>
              <a:rPr kumimoji="1" lang="ja-JP" altLang="en-US" sz="2400" dirty="0"/>
              <a:t>　右</a:t>
            </a:r>
            <a:r>
              <a:rPr kumimoji="1" lang="en-US" altLang="ja-JP" sz="2400" dirty="0"/>
              <a:t>(</a:t>
            </a:r>
            <a:r>
              <a:rPr kumimoji="1" lang="ja-JP" altLang="en-US" sz="2400" dirty="0"/>
              <a:t>時系列報酬</a:t>
            </a:r>
            <a:r>
              <a:rPr kumimoji="1" lang="en-US" altLang="ja-JP" sz="2400" dirty="0"/>
              <a:t>)</a:t>
            </a:r>
            <a:r>
              <a:rPr kumimoji="1" lang="ja-JP" altLang="en-US" sz="2400" dirty="0"/>
              <a:t>の報酬平均 </a:t>
            </a:r>
            <a:r>
              <a:rPr kumimoji="1" lang="en-US" altLang="ja-JP" sz="2400" dirty="0"/>
              <a:t>: </a:t>
            </a:r>
            <a:r>
              <a:rPr kumimoji="1" lang="en-US" altLang="ja-JP" sz="2400" b="1" dirty="0">
                <a:solidFill>
                  <a:srgbClr val="00B0F0"/>
                </a:solidFill>
              </a:rPr>
              <a:t>-0.043</a:t>
            </a:r>
          </a:p>
          <a:p>
            <a:pPr marL="285750" indent="-285750">
              <a:buFont typeface="Wingdings" panose="05000000000000000000" pitchFamily="2" charset="2"/>
              <a:buChar char="ü"/>
            </a:pPr>
            <a:r>
              <a:rPr kumimoji="1" lang="ja-JP" altLang="en-US" sz="2400" dirty="0"/>
              <a:t>リプレイメモリを除去➡報酬の低下 </a:t>
            </a:r>
            <a:r>
              <a:rPr kumimoji="1" lang="en-US" altLang="ja-JP" sz="2400" dirty="0"/>
              <a:t>(</a:t>
            </a:r>
            <a:r>
              <a:rPr kumimoji="1" lang="ja-JP" altLang="en-US" sz="2400" dirty="0"/>
              <a:t>最適な行動の発見が困難</a:t>
            </a:r>
            <a:r>
              <a:rPr kumimoji="1" lang="en-US" altLang="ja-JP" sz="2400" dirty="0"/>
              <a:t>)</a:t>
            </a:r>
            <a:endParaRPr kumimoji="1" lang="en-US" altLang="ja-JP" sz="2400" dirty="0">
              <a:solidFill>
                <a:srgbClr val="000000"/>
              </a:solidFill>
            </a:endParaRPr>
          </a:p>
        </p:txBody>
      </p:sp>
      <p:sp>
        <p:nvSpPr>
          <p:cNvPr id="17" name="スライド番号プレースホルダー 16">
            <a:extLst>
              <a:ext uri="{FF2B5EF4-FFF2-40B4-BE49-F238E27FC236}">
                <a16:creationId xmlns:a16="http://schemas.microsoft.com/office/drawing/2014/main" id="{BB244CDB-69C5-EA11-72D6-B55246E15F69}"/>
              </a:ext>
            </a:extLst>
          </p:cNvPr>
          <p:cNvSpPr>
            <a:spLocks noGrp="1"/>
          </p:cNvSpPr>
          <p:nvPr>
            <p:ph type="sldNum" sz="quarter" idx="12"/>
          </p:nvPr>
        </p:nvSpPr>
        <p:spPr/>
        <p:txBody>
          <a:bodyPr/>
          <a:lstStyle/>
          <a:p>
            <a:fld id="{E0107F97-1CD5-41F0-B842-C38020C26506}" type="slidenum">
              <a:rPr kumimoji="1" lang="ja-JP" altLang="en-US" smtClean="0"/>
              <a:pPr/>
              <a:t>12</a:t>
            </a:fld>
            <a:endParaRPr kumimoji="1" lang="ja-JP" altLang="en-US" dirty="0"/>
          </a:p>
        </p:txBody>
      </p:sp>
      <p:sp>
        <p:nvSpPr>
          <p:cNvPr id="6" name="タイトル 2">
            <a:extLst>
              <a:ext uri="{FF2B5EF4-FFF2-40B4-BE49-F238E27FC236}">
                <a16:creationId xmlns:a16="http://schemas.microsoft.com/office/drawing/2014/main" id="{E98EBBB2-9BC2-F51E-D2D0-9C160F132977}"/>
              </a:ext>
            </a:extLst>
          </p:cNvPr>
          <p:cNvSpPr>
            <a:spLocks noGrp="1"/>
          </p:cNvSpPr>
          <p:nvPr>
            <p:ph type="title"/>
          </p:nvPr>
        </p:nvSpPr>
        <p:spPr>
          <a:xfrm>
            <a:off x="1066800" y="-56083"/>
            <a:ext cx="10058400" cy="810190"/>
          </a:xfrm>
        </p:spPr>
        <p:txBody>
          <a:bodyPr/>
          <a:lstStyle/>
          <a:p>
            <a:r>
              <a:rPr kumimoji="1" lang="ja-JP" altLang="en-US" dirty="0"/>
              <a:t>数値シミュレーション</a:t>
            </a:r>
            <a:r>
              <a:rPr kumimoji="1" lang="en-US" altLang="ja-JP" dirty="0"/>
              <a:t>(</a:t>
            </a:r>
            <a:r>
              <a:rPr lang="en-US" altLang="ja-JP" dirty="0"/>
              <a:t>4</a:t>
            </a:r>
            <a:r>
              <a:rPr kumimoji="1" lang="en-US" altLang="ja-JP" dirty="0"/>
              <a:t>/6)</a:t>
            </a:r>
            <a:endParaRPr kumimoji="1" lang="ja-JP" altLang="en-US" dirty="0"/>
          </a:p>
        </p:txBody>
      </p:sp>
    </p:spTree>
    <p:extLst>
      <p:ext uri="{BB962C8B-B14F-4D97-AF65-F5344CB8AC3E}">
        <p14:creationId xmlns:p14="http://schemas.microsoft.com/office/powerpoint/2010/main" val="1220964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41664F79-DDB8-4F3F-7FCC-30B223D092F1}"/>
              </a:ext>
            </a:extLst>
          </p:cNvPr>
          <p:cNvSpPr>
            <a:spLocks noGrp="1"/>
          </p:cNvSpPr>
          <p:nvPr>
            <p:ph type="title"/>
          </p:nvPr>
        </p:nvSpPr>
        <p:spPr/>
        <p:txBody>
          <a:bodyPr/>
          <a:lstStyle/>
          <a:p>
            <a:r>
              <a:rPr kumimoji="1" lang="ja-JP" altLang="en-US" dirty="0"/>
              <a:t>数値シミュレーション</a:t>
            </a:r>
            <a:r>
              <a:rPr kumimoji="1" lang="en-US" altLang="ja-JP" dirty="0"/>
              <a:t>(5/6)</a:t>
            </a:r>
            <a:endParaRPr kumimoji="1" lang="ja-JP" altLang="en-US" dirty="0"/>
          </a:p>
        </p:txBody>
      </p:sp>
      <p:pic>
        <p:nvPicPr>
          <p:cNvPr id="5" name="図 4">
            <a:extLst>
              <a:ext uri="{FF2B5EF4-FFF2-40B4-BE49-F238E27FC236}">
                <a16:creationId xmlns:a16="http://schemas.microsoft.com/office/drawing/2014/main" id="{7CC6D586-E213-F9AB-9C9F-F6820B7CE38C}"/>
              </a:ext>
            </a:extLst>
          </p:cNvPr>
          <p:cNvPicPr>
            <a:picLocks noChangeAspect="1"/>
          </p:cNvPicPr>
          <p:nvPr/>
        </p:nvPicPr>
        <p:blipFill>
          <a:blip r:embed="rId3"/>
          <a:srcRect l="5557"/>
          <a:stretch/>
        </p:blipFill>
        <p:spPr>
          <a:xfrm>
            <a:off x="5384800" y="848318"/>
            <a:ext cx="6603121" cy="5131064"/>
          </a:xfrm>
          <a:prstGeom prst="rect">
            <a:avLst/>
          </a:prstGeom>
        </p:spPr>
      </p:pic>
      <p:sp>
        <p:nvSpPr>
          <p:cNvPr id="6" name="テキスト ボックス 5">
            <a:extLst>
              <a:ext uri="{FF2B5EF4-FFF2-40B4-BE49-F238E27FC236}">
                <a16:creationId xmlns:a16="http://schemas.microsoft.com/office/drawing/2014/main" id="{93B3CC99-A253-B916-4AB9-5510633DD218}"/>
              </a:ext>
            </a:extLst>
          </p:cNvPr>
          <p:cNvSpPr txBox="1"/>
          <p:nvPr/>
        </p:nvSpPr>
        <p:spPr>
          <a:xfrm>
            <a:off x="7137400" y="5955781"/>
            <a:ext cx="5054600" cy="369332"/>
          </a:xfrm>
          <a:prstGeom prst="rect">
            <a:avLst/>
          </a:prstGeom>
          <a:noFill/>
        </p:spPr>
        <p:txBody>
          <a:bodyPr wrap="square" rtlCol="0">
            <a:spAutoFit/>
          </a:bodyPr>
          <a:lstStyle/>
          <a:p>
            <a:r>
              <a:rPr kumimoji="1" lang="en-US" altLang="ja-JP" dirty="0"/>
              <a:t>Fig. 12  </a:t>
            </a:r>
            <a:r>
              <a:rPr kumimoji="1" lang="ja-JP" altLang="en-US" dirty="0"/>
              <a:t>オフライン</a:t>
            </a:r>
            <a:r>
              <a:rPr kumimoji="1" lang="en-US" altLang="ja-JP" dirty="0"/>
              <a:t>RL</a:t>
            </a:r>
            <a:r>
              <a:rPr kumimoji="1" lang="ja-JP" altLang="en-US" dirty="0"/>
              <a:t>による出力結果</a:t>
            </a:r>
          </a:p>
        </p:txBody>
      </p:sp>
      <p:sp>
        <p:nvSpPr>
          <p:cNvPr id="7" name="正方形/長方形 6">
            <a:extLst>
              <a:ext uri="{FF2B5EF4-FFF2-40B4-BE49-F238E27FC236}">
                <a16:creationId xmlns:a16="http://schemas.microsoft.com/office/drawing/2014/main" id="{5B37F2D8-1396-AE9E-A455-884A207C7F8B}"/>
              </a:ext>
            </a:extLst>
          </p:cNvPr>
          <p:cNvSpPr/>
          <p:nvPr/>
        </p:nvSpPr>
        <p:spPr>
          <a:xfrm>
            <a:off x="10089572" y="223819"/>
            <a:ext cx="179786" cy="18468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CE1676F0-F1A5-4C54-8E8F-51FD76AFBA03}"/>
              </a:ext>
            </a:extLst>
          </p:cNvPr>
          <p:cNvSpPr/>
          <p:nvPr/>
        </p:nvSpPr>
        <p:spPr>
          <a:xfrm>
            <a:off x="10089572" y="517869"/>
            <a:ext cx="179786" cy="184689"/>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CC4C016-0A3D-9F36-A758-A651ED1C56A6}"/>
              </a:ext>
            </a:extLst>
          </p:cNvPr>
          <p:cNvSpPr txBox="1"/>
          <p:nvPr/>
        </p:nvSpPr>
        <p:spPr>
          <a:xfrm>
            <a:off x="10340265" y="121446"/>
            <a:ext cx="1600424" cy="646331"/>
          </a:xfrm>
          <a:prstGeom prst="rect">
            <a:avLst/>
          </a:prstGeom>
          <a:noFill/>
        </p:spPr>
        <p:txBody>
          <a:bodyPr wrap="square" rtlCol="0">
            <a:spAutoFit/>
          </a:bodyPr>
          <a:lstStyle/>
          <a:p>
            <a:r>
              <a:rPr kumimoji="1" lang="en-US" altLang="ja-JP" dirty="0"/>
              <a:t>Final action</a:t>
            </a:r>
          </a:p>
          <a:p>
            <a:r>
              <a:rPr kumimoji="1" lang="en-US" altLang="ja-JP" dirty="0"/>
              <a:t>Offline action</a:t>
            </a:r>
          </a:p>
        </p:txBody>
      </p:sp>
      <p:sp>
        <p:nvSpPr>
          <p:cNvPr id="10" name="正方形/長方形 9">
            <a:extLst>
              <a:ext uri="{FF2B5EF4-FFF2-40B4-BE49-F238E27FC236}">
                <a16:creationId xmlns:a16="http://schemas.microsoft.com/office/drawing/2014/main" id="{7A2F8B09-6D3E-5EE9-0C13-92BE19703F5A}"/>
              </a:ext>
            </a:extLst>
          </p:cNvPr>
          <p:cNvSpPr/>
          <p:nvPr/>
        </p:nvSpPr>
        <p:spPr>
          <a:xfrm>
            <a:off x="9948333" y="135116"/>
            <a:ext cx="186266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1163DC4-4556-F59B-2A19-1669F751EFFB}"/>
              </a:ext>
            </a:extLst>
          </p:cNvPr>
          <p:cNvSpPr txBox="1"/>
          <p:nvPr/>
        </p:nvSpPr>
        <p:spPr>
          <a:xfrm>
            <a:off x="274487" y="860415"/>
            <a:ext cx="4038600" cy="646331"/>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dirty="0"/>
              <a:t>投薬の種類のシミュレーション結果</a:t>
            </a:r>
            <a:br>
              <a:rPr kumimoji="1" lang="en-US" altLang="ja-JP" dirty="0"/>
            </a:br>
            <a:r>
              <a:rPr kumimoji="1" lang="en-US" altLang="ja-JP" dirty="0"/>
              <a:t>(</a:t>
            </a:r>
            <a:r>
              <a:rPr kumimoji="1" lang="ja-JP" altLang="en-US" b="1" dirty="0">
                <a:solidFill>
                  <a:srgbClr val="FF0000"/>
                </a:solidFill>
              </a:rPr>
              <a:t>提案手法</a:t>
            </a:r>
            <a:r>
              <a:rPr kumimoji="1" lang="en-US" altLang="ja-JP" dirty="0"/>
              <a:t>)</a:t>
            </a:r>
          </a:p>
        </p:txBody>
      </p:sp>
      <p:sp>
        <p:nvSpPr>
          <p:cNvPr id="15" name="テキスト ボックス 14">
            <a:extLst>
              <a:ext uri="{FF2B5EF4-FFF2-40B4-BE49-F238E27FC236}">
                <a16:creationId xmlns:a16="http://schemas.microsoft.com/office/drawing/2014/main" id="{2CBDED20-3B45-8E64-A20D-C0702905A151}"/>
              </a:ext>
            </a:extLst>
          </p:cNvPr>
          <p:cNvSpPr txBox="1"/>
          <p:nvPr/>
        </p:nvSpPr>
        <p:spPr>
          <a:xfrm>
            <a:off x="-2016" y="1492196"/>
            <a:ext cx="4648857" cy="4832092"/>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2000" dirty="0"/>
              <a:t>同期間あたり最大</a:t>
            </a:r>
            <a:r>
              <a:rPr kumimoji="1" lang="en-US" altLang="ja-JP" sz="2000" dirty="0"/>
              <a:t>5</a:t>
            </a:r>
            <a:r>
              <a:rPr kumimoji="1" lang="ja-JP" altLang="en-US" sz="2000" dirty="0"/>
              <a:t>種類の薬剤の投与</a:t>
            </a:r>
            <a:br>
              <a:rPr kumimoji="1" lang="en-US" altLang="ja-JP" sz="2000" dirty="0"/>
            </a:br>
            <a:r>
              <a:rPr kumimoji="1" lang="ja-JP" altLang="en-US" sz="2000" dirty="0"/>
              <a:t>➡計算コストを考慮</a:t>
            </a:r>
            <a:br>
              <a:rPr kumimoji="1" lang="en-US" altLang="ja-JP" sz="2000" dirty="0"/>
            </a:br>
            <a:endParaRPr kumimoji="1" lang="en-US" altLang="ja-JP" sz="2000" dirty="0"/>
          </a:p>
          <a:p>
            <a:pPr marL="285750" indent="-285750">
              <a:buFont typeface="Wingdings" panose="05000000000000000000" pitchFamily="2" charset="2"/>
              <a:buChar char="Ø"/>
            </a:pPr>
            <a:r>
              <a:rPr kumimoji="1" lang="ja-JP" altLang="en-US" sz="2000" dirty="0"/>
              <a:t>薬剤の種類は</a:t>
            </a:r>
            <a:r>
              <a:rPr kumimoji="1" lang="en-US" altLang="ja-JP" sz="2000" dirty="0"/>
              <a:t>PI(</a:t>
            </a:r>
            <a:r>
              <a:rPr kumimoji="1" lang="ja-JP" altLang="en-US" sz="2000" dirty="0"/>
              <a:t>プロテアーゼ阻害剤</a:t>
            </a:r>
            <a:r>
              <a:rPr kumimoji="1" lang="en-US" altLang="ja-JP" sz="2000" dirty="0"/>
              <a:t>), NRTI (</a:t>
            </a:r>
            <a:r>
              <a:rPr kumimoji="1" lang="ja-JP" altLang="en-US" sz="2000" dirty="0"/>
              <a:t>逆転写酵素阻害剤</a:t>
            </a:r>
            <a:r>
              <a:rPr kumimoji="1" lang="en-US" altLang="ja-JP" sz="2000" dirty="0"/>
              <a:t>), NNRTI(</a:t>
            </a:r>
            <a:r>
              <a:rPr kumimoji="1" lang="ja-JP" altLang="en-US" sz="2000" dirty="0"/>
              <a:t>非核酸系逆転写酵素阻害剤</a:t>
            </a:r>
            <a:r>
              <a:rPr kumimoji="1" lang="en-US" altLang="ja-JP" sz="2000" dirty="0"/>
              <a:t>), INSTI(</a:t>
            </a:r>
            <a:r>
              <a:rPr kumimoji="1" lang="ja-JP" altLang="en-US" sz="2000" dirty="0"/>
              <a:t>インテグラーゼ阻害剤</a:t>
            </a:r>
            <a:r>
              <a:rPr kumimoji="1" lang="en-US" altLang="ja-JP" sz="2000" dirty="0"/>
              <a:t>)</a:t>
            </a:r>
            <a:r>
              <a:rPr kumimoji="1" lang="ja-JP" altLang="en-US" sz="2000" dirty="0"/>
              <a:t>の</a:t>
            </a:r>
            <a:r>
              <a:rPr kumimoji="1" lang="en-US" altLang="ja-JP" sz="2000" dirty="0"/>
              <a:t>4</a:t>
            </a:r>
            <a:r>
              <a:rPr kumimoji="1" lang="ja-JP" altLang="en-US" sz="2000" dirty="0"/>
              <a:t>つに分類</a:t>
            </a:r>
            <a:endParaRPr kumimoji="1" lang="en-US" altLang="ja-JP" sz="2000" dirty="0"/>
          </a:p>
          <a:p>
            <a:pPr marL="285750" indent="-285750">
              <a:buFont typeface="Wingdings" panose="05000000000000000000" pitchFamily="2" charset="2"/>
              <a:buChar char="Ø"/>
            </a:pPr>
            <a:endParaRPr kumimoji="1" lang="en-US" altLang="ja-JP" sz="2000" dirty="0"/>
          </a:p>
          <a:p>
            <a:pPr marL="285750" indent="-285750">
              <a:buFont typeface="Wingdings" panose="05000000000000000000" pitchFamily="2" charset="2"/>
              <a:buChar char="Ø"/>
            </a:pPr>
            <a:r>
              <a:rPr kumimoji="1" lang="ja-JP" altLang="en-US" sz="2000" dirty="0"/>
              <a:t>臨床試験当時</a:t>
            </a:r>
            <a:r>
              <a:rPr kumimoji="1" lang="en-US" altLang="ja-JP" sz="2000" dirty="0"/>
              <a:t>(2005~2007</a:t>
            </a:r>
            <a:r>
              <a:rPr kumimoji="1" lang="ja-JP" altLang="en-US" sz="2000" dirty="0"/>
              <a:t>年</a:t>
            </a:r>
            <a:r>
              <a:rPr kumimoji="1" lang="en-US" altLang="ja-JP" sz="2000" dirty="0"/>
              <a:t>)</a:t>
            </a:r>
            <a:r>
              <a:rPr kumimoji="1" lang="ja-JP" altLang="en-US" sz="2000" dirty="0"/>
              <a:t>は</a:t>
            </a:r>
            <a:r>
              <a:rPr kumimoji="1" lang="en-US" altLang="ja-JP" sz="2000" b="1" dirty="0"/>
              <a:t>NRTI2</a:t>
            </a:r>
            <a:r>
              <a:rPr kumimoji="1" lang="ja-JP" altLang="en-US" sz="2000" b="1" dirty="0"/>
              <a:t>種類</a:t>
            </a:r>
            <a:r>
              <a:rPr kumimoji="1" lang="en-US" altLang="ja-JP" sz="2000" b="1" dirty="0"/>
              <a:t> + PI/NNRTI</a:t>
            </a:r>
            <a:r>
              <a:rPr kumimoji="1" lang="ja-JP" altLang="en-US" sz="2000" dirty="0"/>
              <a:t>が主流</a:t>
            </a:r>
            <a:r>
              <a:rPr kumimoji="1" lang="en-US" altLang="ja-JP" sz="2000" dirty="0"/>
              <a:t>(60%</a:t>
            </a:r>
            <a:r>
              <a:rPr kumimoji="1" lang="ja-JP" altLang="en-US" sz="2000" dirty="0"/>
              <a:t>一致</a:t>
            </a:r>
            <a:r>
              <a:rPr kumimoji="1" lang="en-US" altLang="ja-JP" sz="2000" dirty="0"/>
              <a:t>)</a:t>
            </a:r>
          </a:p>
          <a:p>
            <a:pPr marL="285750" indent="-285750">
              <a:buFont typeface="Wingdings" panose="05000000000000000000" pitchFamily="2" charset="2"/>
              <a:buChar char="Ø"/>
            </a:pPr>
            <a:endParaRPr kumimoji="1" lang="en-US" altLang="ja-JP" dirty="0"/>
          </a:p>
          <a:p>
            <a:pPr marL="285750" indent="-285750">
              <a:buFont typeface="Wingdings" panose="05000000000000000000" pitchFamily="2" charset="2"/>
              <a:buChar char="Ø"/>
            </a:pPr>
            <a:r>
              <a:rPr kumimoji="1" lang="ja-JP" altLang="en-US" dirty="0"/>
              <a:t>当時未使用で臨床試験以降に認められた治療法 </a:t>
            </a:r>
            <a:r>
              <a:rPr kumimoji="1" lang="en-US" altLang="ja-JP" dirty="0"/>
              <a:t>: 15%</a:t>
            </a:r>
          </a:p>
          <a:p>
            <a:pPr marL="285750" indent="-285750">
              <a:buFont typeface="Wingdings" panose="05000000000000000000" pitchFamily="2" charset="2"/>
              <a:buChar char="Ø"/>
            </a:pPr>
            <a:endParaRPr kumimoji="1" lang="en-US" altLang="ja-JP" dirty="0"/>
          </a:p>
          <a:p>
            <a:pPr marL="285750" indent="-285750">
              <a:buFont typeface="Wingdings" panose="05000000000000000000" pitchFamily="2" charset="2"/>
              <a:buChar char="Ø"/>
            </a:pPr>
            <a:r>
              <a:rPr kumimoji="1" lang="ja-JP" altLang="en-US" b="1" dirty="0"/>
              <a:t>医師の判断サポート</a:t>
            </a:r>
            <a:r>
              <a:rPr kumimoji="1" lang="ja-JP" altLang="en-US" dirty="0"/>
              <a:t>としての採用が目標</a:t>
            </a:r>
            <a:br>
              <a:rPr kumimoji="1" lang="en-US" altLang="ja-JP" dirty="0"/>
            </a:br>
            <a:r>
              <a:rPr kumimoji="1" lang="ja-JP" altLang="en-US" dirty="0"/>
              <a:t>➡従来にはない治療法の開拓支援が可能</a:t>
            </a:r>
          </a:p>
        </p:txBody>
      </p:sp>
      <p:sp>
        <p:nvSpPr>
          <p:cNvPr id="16" name="テキスト ボックス 15">
            <a:extLst>
              <a:ext uri="{FF2B5EF4-FFF2-40B4-BE49-F238E27FC236}">
                <a16:creationId xmlns:a16="http://schemas.microsoft.com/office/drawing/2014/main" id="{5BCF4057-8121-1743-1FF5-B4A25F47E539}"/>
              </a:ext>
            </a:extLst>
          </p:cNvPr>
          <p:cNvSpPr txBox="1"/>
          <p:nvPr/>
        </p:nvSpPr>
        <p:spPr>
          <a:xfrm>
            <a:off x="4901168" y="4290451"/>
            <a:ext cx="508790" cy="369332"/>
          </a:xfrm>
          <a:prstGeom prst="rect">
            <a:avLst/>
          </a:prstGeom>
          <a:noFill/>
        </p:spPr>
        <p:txBody>
          <a:bodyPr wrap="square" rtlCol="0">
            <a:spAutoFit/>
          </a:bodyPr>
          <a:lstStyle/>
          <a:p>
            <a:r>
              <a:rPr kumimoji="1" lang="en-US" altLang="ja-JP" b="1" dirty="0">
                <a:solidFill>
                  <a:schemeClr val="accent1"/>
                </a:solidFill>
              </a:rPr>
              <a:t>PI</a:t>
            </a:r>
            <a:endParaRPr kumimoji="1" lang="ja-JP" altLang="en-US" b="1" dirty="0">
              <a:solidFill>
                <a:schemeClr val="accent1"/>
              </a:solidFill>
            </a:endParaRPr>
          </a:p>
        </p:txBody>
      </p:sp>
      <p:sp>
        <p:nvSpPr>
          <p:cNvPr id="17" name="テキスト ボックス 16">
            <a:extLst>
              <a:ext uri="{FF2B5EF4-FFF2-40B4-BE49-F238E27FC236}">
                <a16:creationId xmlns:a16="http://schemas.microsoft.com/office/drawing/2014/main" id="{06A14375-7B58-E498-56C0-5510E3B6F894}"/>
              </a:ext>
            </a:extLst>
          </p:cNvPr>
          <p:cNvSpPr txBox="1"/>
          <p:nvPr/>
        </p:nvSpPr>
        <p:spPr>
          <a:xfrm>
            <a:off x="4693736" y="2620353"/>
            <a:ext cx="923655" cy="369332"/>
          </a:xfrm>
          <a:prstGeom prst="rect">
            <a:avLst/>
          </a:prstGeom>
          <a:noFill/>
        </p:spPr>
        <p:txBody>
          <a:bodyPr wrap="square" rtlCol="0">
            <a:spAutoFit/>
          </a:bodyPr>
          <a:lstStyle/>
          <a:p>
            <a:r>
              <a:rPr kumimoji="1" lang="en-US" altLang="ja-JP" b="1" dirty="0">
                <a:solidFill>
                  <a:schemeClr val="accent1"/>
                </a:solidFill>
              </a:rPr>
              <a:t>NRTI</a:t>
            </a:r>
            <a:endParaRPr kumimoji="1" lang="ja-JP" altLang="en-US" b="1" dirty="0">
              <a:solidFill>
                <a:schemeClr val="accent1"/>
              </a:solidFill>
            </a:endParaRPr>
          </a:p>
        </p:txBody>
      </p:sp>
      <p:sp>
        <p:nvSpPr>
          <p:cNvPr id="18" name="テキスト ボックス 17">
            <a:extLst>
              <a:ext uri="{FF2B5EF4-FFF2-40B4-BE49-F238E27FC236}">
                <a16:creationId xmlns:a16="http://schemas.microsoft.com/office/drawing/2014/main" id="{AB177B6E-E365-AE1F-422F-9EF00BDDC1A5}"/>
              </a:ext>
            </a:extLst>
          </p:cNvPr>
          <p:cNvSpPr txBox="1"/>
          <p:nvPr/>
        </p:nvSpPr>
        <p:spPr>
          <a:xfrm>
            <a:off x="4646841" y="1457097"/>
            <a:ext cx="923655" cy="369332"/>
          </a:xfrm>
          <a:prstGeom prst="rect">
            <a:avLst/>
          </a:prstGeom>
          <a:noFill/>
        </p:spPr>
        <p:txBody>
          <a:bodyPr wrap="square" rtlCol="0">
            <a:spAutoFit/>
          </a:bodyPr>
          <a:lstStyle/>
          <a:p>
            <a:r>
              <a:rPr kumimoji="1" lang="en-US" altLang="ja-JP" b="1" dirty="0">
                <a:solidFill>
                  <a:schemeClr val="accent1"/>
                </a:solidFill>
              </a:rPr>
              <a:t>NNRTI</a:t>
            </a:r>
            <a:endParaRPr kumimoji="1" lang="ja-JP" altLang="en-US" b="1" dirty="0">
              <a:solidFill>
                <a:schemeClr val="accent1"/>
              </a:solidFill>
            </a:endParaRPr>
          </a:p>
        </p:txBody>
      </p:sp>
      <p:sp>
        <p:nvSpPr>
          <p:cNvPr id="19" name="テキスト ボックス 18">
            <a:extLst>
              <a:ext uri="{FF2B5EF4-FFF2-40B4-BE49-F238E27FC236}">
                <a16:creationId xmlns:a16="http://schemas.microsoft.com/office/drawing/2014/main" id="{C9239A72-3D14-7791-09E7-EB7E2033117C}"/>
              </a:ext>
            </a:extLst>
          </p:cNvPr>
          <p:cNvSpPr txBox="1"/>
          <p:nvPr/>
        </p:nvSpPr>
        <p:spPr>
          <a:xfrm>
            <a:off x="4682066" y="974133"/>
            <a:ext cx="702734" cy="369332"/>
          </a:xfrm>
          <a:prstGeom prst="rect">
            <a:avLst/>
          </a:prstGeom>
          <a:noFill/>
        </p:spPr>
        <p:txBody>
          <a:bodyPr wrap="square" rtlCol="0">
            <a:spAutoFit/>
          </a:bodyPr>
          <a:lstStyle/>
          <a:p>
            <a:r>
              <a:rPr kumimoji="1" lang="en-US" altLang="ja-JP" b="1" dirty="0">
                <a:solidFill>
                  <a:schemeClr val="accent1"/>
                </a:solidFill>
              </a:rPr>
              <a:t>INSTI</a:t>
            </a:r>
            <a:endParaRPr kumimoji="1" lang="ja-JP" altLang="en-US" b="1" dirty="0">
              <a:solidFill>
                <a:schemeClr val="accent1"/>
              </a:solidFill>
            </a:endParaRPr>
          </a:p>
        </p:txBody>
      </p:sp>
      <p:sp>
        <p:nvSpPr>
          <p:cNvPr id="20" name="四角形: 角を丸くする 19">
            <a:extLst>
              <a:ext uri="{FF2B5EF4-FFF2-40B4-BE49-F238E27FC236}">
                <a16:creationId xmlns:a16="http://schemas.microsoft.com/office/drawing/2014/main" id="{45A40BC0-63A2-EBB7-2575-AF4D728F43CB}"/>
              </a:ext>
            </a:extLst>
          </p:cNvPr>
          <p:cNvSpPr/>
          <p:nvPr/>
        </p:nvSpPr>
        <p:spPr>
          <a:xfrm>
            <a:off x="5384800" y="3598516"/>
            <a:ext cx="448249" cy="175320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A18A278E-CE36-3809-11E2-1389C5D73476}"/>
              </a:ext>
            </a:extLst>
          </p:cNvPr>
          <p:cNvSpPr/>
          <p:nvPr/>
        </p:nvSpPr>
        <p:spPr>
          <a:xfrm>
            <a:off x="5386906" y="2011523"/>
            <a:ext cx="438904" cy="158699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87E6668F-DFB9-63BF-6811-0C3E5F44768E}"/>
              </a:ext>
            </a:extLst>
          </p:cNvPr>
          <p:cNvSpPr/>
          <p:nvPr/>
        </p:nvSpPr>
        <p:spPr>
          <a:xfrm>
            <a:off x="5384800" y="1215772"/>
            <a:ext cx="448249" cy="7916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四角形: 角を丸くする 22">
            <a:extLst>
              <a:ext uri="{FF2B5EF4-FFF2-40B4-BE49-F238E27FC236}">
                <a16:creationId xmlns:a16="http://schemas.microsoft.com/office/drawing/2014/main" id="{BC653C26-E2B4-E22F-771C-1435F9337CD3}"/>
              </a:ext>
            </a:extLst>
          </p:cNvPr>
          <p:cNvSpPr/>
          <p:nvPr/>
        </p:nvSpPr>
        <p:spPr>
          <a:xfrm>
            <a:off x="5372428" y="1029686"/>
            <a:ext cx="453382" cy="18096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8B58016-11C0-F1DC-832D-A2F62F1B62B6}"/>
              </a:ext>
            </a:extLst>
          </p:cNvPr>
          <p:cNvSpPr txBox="1"/>
          <p:nvPr/>
        </p:nvSpPr>
        <p:spPr>
          <a:xfrm rot="10800000">
            <a:off x="4387103" y="1927087"/>
            <a:ext cx="430887" cy="2036544"/>
          </a:xfrm>
          <a:prstGeom prst="rect">
            <a:avLst/>
          </a:prstGeom>
          <a:noFill/>
        </p:spPr>
        <p:txBody>
          <a:bodyPr vert="eaVert" wrap="square" rtlCol="0">
            <a:spAutoFit/>
          </a:bodyPr>
          <a:lstStyle/>
          <a:p>
            <a:r>
              <a:rPr kumimoji="1" lang="en-US" altLang="ja-JP" sz="1600" dirty="0"/>
              <a:t>Medication type</a:t>
            </a:r>
            <a:endParaRPr kumimoji="1" lang="ja-JP" altLang="en-US" sz="1600" dirty="0"/>
          </a:p>
        </p:txBody>
      </p:sp>
      <p:sp>
        <p:nvSpPr>
          <p:cNvPr id="25" name="スライド番号プレースホルダー 24">
            <a:extLst>
              <a:ext uri="{FF2B5EF4-FFF2-40B4-BE49-F238E27FC236}">
                <a16:creationId xmlns:a16="http://schemas.microsoft.com/office/drawing/2014/main" id="{C7226F94-8E61-1C8D-8A57-316EEDDABE88}"/>
              </a:ext>
            </a:extLst>
          </p:cNvPr>
          <p:cNvSpPr>
            <a:spLocks noGrp="1"/>
          </p:cNvSpPr>
          <p:nvPr>
            <p:ph type="sldNum" sz="quarter" idx="12"/>
          </p:nvPr>
        </p:nvSpPr>
        <p:spPr/>
        <p:txBody>
          <a:bodyPr/>
          <a:lstStyle/>
          <a:p>
            <a:fld id="{E0107F97-1CD5-41F0-B842-C38020C26506}" type="slidenum">
              <a:rPr kumimoji="1" lang="ja-JP" altLang="en-US" smtClean="0"/>
              <a:pPr/>
              <a:t>13</a:t>
            </a:fld>
            <a:endParaRPr kumimoji="1" lang="ja-JP" altLang="en-US" dirty="0"/>
          </a:p>
        </p:txBody>
      </p:sp>
    </p:spTree>
    <p:extLst>
      <p:ext uri="{BB962C8B-B14F-4D97-AF65-F5344CB8AC3E}">
        <p14:creationId xmlns:p14="http://schemas.microsoft.com/office/powerpoint/2010/main" val="2312951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6274-43D1-EAC0-B3FB-8CF557F2F34F}"/>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AD7C1228-9AD1-9044-8B7C-6A7E88778033}"/>
              </a:ext>
            </a:extLst>
          </p:cNvPr>
          <p:cNvSpPr txBox="1"/>
          <p:nvPr/>
        </p:nvSpPr>
        <p:spPr>
          <a:xfrm>
            <a:off x="309783" y="805257"/>
            <a:ext cx="6345017" cy="707886"/>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000" dirty="0"/>
              <a:t>投薬の種類のシミュレーション結果</a:t>
            </a:r>
            <a:br>
              <a:rPr kumimoji="1" lang="en-US" altLang="ja-JP" sz="2000" dirty="0"/>
            </a:br>
            <a:r>
              <a:rPr kumimoji="1" lang="en-US" altLang="ja-JP" sz="2000" dirty="0"/>
              <a:t>(</a:t>
            </a:r>
            <a:r>
              <a:rPr kumimoji="1" lang="ja-JP" altLang="en-US" sz="2000" b="1" dirty="0">
                <a:solidFill>
                  <a:srgbClr val="FF0000"/>
                </a:solidFill>
              </a:rPr>
              <a:t>リプレイメモリなし</a:t>
            </a:r>
            <a:r>
              <a:rPr kumimoji="1" lang="en-US" altLang="ja-JP" sz="2000" dirty="0"/>
              <a:t>)</a:t>
            </a:r>
            <a:endParaRPr kumimoji="1" lang="ja-JP" altLang="en-US" sz="2000" dirty="0"/>
          </a:p>
        </p:txBody>
      </p:sp>
      <p:pic>
        <p:nvPicPr>
          <p:cNvPr id="4" name="図 3">
            <a:extLst>
              <a:ext uri="{FF2B5EF4-FFF2-40B4-BE49-F238E27FC236}">
                <a16:creationId xmlns:a16="http://schemas.microsoft.com/office/drawing/2014/main" id="{D69419AF-8C03-59A9-F62F-785EB6C68403}"/>
              </a:ext>
            </a:extLst>
          </p:cNvPr>
          <p:cNvPicPr>
            <a:picLocks noChangeAspect="1"/>
          </p:cNvPicPr>
          <p:nvPr/>
        </p:nvPicPr>
        <p:blipFill>
          <a:blip r:embed="rId2"/>
          <a:srcRect l="5436"/>
          <a:stretch/>
        </p:blipFill>
        <p:spPr>
          <a:xfrm>
            <a:off x="5341605" y="914705"/>
            <a:ext cx="6570995" cy="5161935"/>
          </a:xfrm>
          <a:prstGeom prst="rect">
            <a:avLst/>
          </a:prstGeom>
        </p:spPr>
      </p:pic>
      <p:sp>
        <p:nvSpPr>
          <p:cNvPr id="5" name="テキスト ボックス 4">
            <a:extLst>
              <a:ext uri="{FF2B5EF4-FFF2-40B4-BE49-F238E27FC236}">
                <a16:creationId xmlns:a16="http://schemas.microsoft.com/office/drawing/2014/main" id="{FBA5C0B5-8DAA-DDBE-87D3-C22D0931FDDA}"/>
              </a:ext>
            </a:extLst>
          </p:cNvPr>
          <p:cNvSpPr txBox="1"/>
          <p:nvPr/>
        </p:nvSpPr>
        <p:spPr>
          <a:xfrm>
            <a:off x="6104468" y="5765914"/>
            <a:ext cx="5678088" cy="369332"/>
          </a:xfrm>
          <a:prstGeom prst="rect">
            <a:avLst/>
          </a:prstGeom>
          <a:noFill/>
        </p:spPr>
        <p:txBody>
          <a:bodyPr wrap="square" rtlCol="0">
            <a:spAutoFit/>
          </a:bodyPr>
          <a:lstStyle/>
          <a:p>
            <a:r>
              <a:rPr kumimoji="1" lang="en-US" altLang="ja-JP" dirty="0"/>
              <a:t>Fig. 13  </a:t>
            </a:r>
            <a:r>
              <a:rPr kumimoji="1" lang="ja-JP" altLang="en-US" dirty="0"/>
              <a:t>オフライン</a:t>
            </a:r>
            <a:r>
              <a:rPr kumimoji="1" lang="en-US" altLang="ja-JP" dirty="0"/>
              <a:t>RL</a:t>
            </a:r>
            <a:r>
              <a:rPr kumimoji="1" lang="ja-JP" altLang="en-US" dirty="0"/>
              <a:t>による出力結果</a:t>
            </a:r>
            <a:r>
              <a:rPr kumimoji="1" lang="en-US" altLang="ja-JP" dirty="0"/>
              <a:t>(</a:t>
            </a:r>
            <a:r>
              <a:rPr kumimoji="1" lang="ja-JP" altLang="en-US" dirty="0"/>
              <a:t>リプレイメモリなし</a:t>
            </a:r>
            <a:r>
              <a:rPr kumimoji="1" lang="en-US" altLang="ja-JP" dirty="0"/>
              <a:t>)</a:t>
            </a:r>
            <a:endParaRPr kumimoji="1" lang="ja-JP" altLang="en-US" dirty="0"/>
          </a:p>
        </p:txBody>
      </p:sp>
      <p:sp>
        <p:nvSpPr>
          <p:cNvPr id="6" name="テキスト ボックス 5">
            <a:extLst>
              <a:ext uri="{FF2B5EF4-FFF2-40B4-BE49-F238E27FC236}">
                <a16:creationId xmlns:a16="http://schemas.microsoft.com/office/drawing/2014/main" id="{2034DBBF-741D-CFFF-C15A-06F14BBC5487}"/>
              </a:ext>
            </a:extLst>
          </p:cNvPr>
          <p:cNvSpPr txBox="1"/>
          <p:nvPr/>
        </p:nvSpPr>
        <p:spPr>
          <a:xfrm>
            <a:off x="-46020" y="1927087"/>
            <a:ext cx="4609069" cy="2862322"/>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2000" dirty="0"/>
              <a:t>リプレイメモリなしの場合</a:t>
            </a:r>
            <a:r>
              <a:rPr kumimoji="1" lang="en-US" altLang="ja-JP" sz="2000" dirty="0"/>
              <a:t>, </a:t>
            </a:r>
            <a:r>
              <a:rPr kumimoji="1" lang="ja-JP" altLang="en-US" sz="2000" dirty="0"/>
              <a:t>出力される投薬の種類は大きく減少</a:t>
            </a:r>
            <a:br>
              <a:rPr kumimoji="1" lang="en-US" altLang="ja-JP" sz="2000" dirty="0"/>
            </a:br>
            <a:r>
              <a:rPr kumimoji="1" lang="ja-JP" altLang="en-US" sz="2000" dirty="0"/>
              <a:t>➡過去の経験を活用することが不可能</a:t>
            </a:r>
            <a:endParaRPr kumimoji="1" lang="en-US" altLang="ja-JP" sz="2000" dirty="0"/>
          </a:p>
          <a:p>
            <a:br>
              <a:rPr kumimoji="1" lang="en-US" altLang="ja-JP" sz="2000" dirty="0"/>
            </a:br>
            <a:endParaRPr kumimoji="1" lang="en-US" altLang="ja-JP" sz="2000" dirty="0"/>
          </a:p>
          <a:p>
            <a:pPr marL="285750" indent="-285750">
              <a:buFont typeface="Wingdings" panose="05000000000000000000" pitchFamily="2" charset="2"/>
              <a:buChar char="Ø"/>
            </a:pPr>
            <a:r>
              <a:rPr kumimoji="1" lang="ja-JP" altLang="en-US" sz="2000" dirty="0"/>
              <a:t>一定期間経過すると</a:t>
            </a:r>
            <a:r>
              <a:rPr kumimoji="1" lang="en-US" altLang="ja-JP" sz="2000" dirty="0"/>
              <a:t>, </a:t>
            </a:r>
            <a:r>
              <a:rPr kumimoji="1" lang="ja-JP" altLang="en-US" sz="2000" dirty="0"/>
              <a:t>固定された組み合わせに偏りがみられる</a:t>
            </a:r>
            <a:br>
              <a:rPr kumimoji="1" lang="en-US" altLang="ja-JP" sz="2000" dirty="0"/>
            </a:br>
            <a:r>
              <a:rPr kumimoji="1" lang="ja-JP" altLang="en-US" sz="2000" dirty="0"/>
              <a:t>➡経験数が少ないことによる</a:t>
            </a:r>
            <a:r>
              <a:rPr kumimoji="1" lang="en-US" altLang="ja-JP" sz="2000" b="1" dirty="0"/>
              <a:t>Q</a:t>
            </a:r>
            <a:r>
              <a:rPr kumimoji="1" lang="ja-JP" altLang="en-US" sz="2000" b="1" dirty="0"/>
              <a:t>値の過大評価</a:t>
            </a:r>
            <a:endParaRPr kumimoji="1" lang="ja-JP" altLang="en-US" sz="2000" dirty="0"/>
          </a:p>
        </p:txBody>
      </p:sp>
      <p:sp>
        <p:nvSpPr>
          <p:cNvPr id="7" name="テキスト ボックス 6">
            <a:extLst>
              <a:ext uri="{FF2B5EF4-FFF2-40B4-BE49-F238E27FC236}">
                <a16:creationId xmlns:a16="http://schemas.microsoft.com/office/drawing/2014/main" id="{476FAE26-1BC2-6DDE-265D-2D1D9D3E0DD8}"/>
              </a:ext>
            </a:extLst>
          </p:cNvPr>
          <p:cNvSpPr txBox="1"/>
          <p:nvPr/>
        </p:nvSpPr>
        <p:spPr>
          <a:xfrm>
            <a:off x="596525" y="5654258"/>
            <a:ext cx="5190818" cy="461665"/>
          </a:xfrm>
          <a:prstGeom prst="rect">
            <a:avLst/>
          </a:prstGeom>
          <a:noFill/>
        </p:spPr>
        <p:txBody>
          <a:bodyPr wrap="square" rtlCol="0">
            <a:spAutoFit/>
          </a:bodyPr>
          <a:lstStyle/>
          <a:p>
            <a:r>
              <a:rPr kumimoji="1" lang="ja-JP" altLang="en-US" sz="2400" u="sng" dirty="0"/>
              <a:t>リプライメモリの追加による報酬の向上</a:t>
            </a: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D61A57E-D155-1371-17AF-6A43B32F4546}"/>
                  </a:ext>
                </a:extLst>
              </p:cNvPr>
              <p:cNvSpPr txBox="1"/>
              <p:nvPr/>
            </p:nvSpPr>
            <p:spPr>
              <a:xfrm>
                <a:off x="279400" y="5269859"/>
                <a:ext cx="1354667" cy="461665"/>
              </a:xfrm>
              <a:prstGeom prst="rect">
                <a:avLst/>
              </a:prstGeom>
              <a:noFill/>
            </p:spPr>
            <p:txBody>
              <a:bodyPr wrap="square" rtlCol="0">
                <a:spAutoFit/>
              </a:bodyPr>
              <a:lstStyle/>
              <a:p>
                <a:r>
                  <a:rPr kumimoji="1" lang="en-US" altLang="ja-JP" sz="2400" dirty="0"/>
                  <a:t>+</a:t>
                </a:r>
                <a14:m>
                  <m:oMath xmlns:m="http://schemas.openxmlformats.org/officeDocument/2006/math">
                    <m:r>
                      <a:rPr kumimoji="1" lang="ja-JP" altLang="en-US" sz="2400" i="1" smtClean="0">
                        <a:latin typeface="Cambria Math" panose="02040503050406030204" pitchFamily="18" charset="0"/>
                      </a:rPr>
                      <m:t>𝛼</m:t>
                    </m:r>
                  </m:oMath>
                </a14:m>
                <a:endParaRPr kumimoji="1" lang="ja-JP" altLang="en-US" sz="2400" dirty="0"/>
              </a:p>
            </p:txBody>
          </p:sp>
        </mc:Choice>
        <mc:Fallback xmlns="">
          <p:sp>
            <p:nvSpPr>
              <p:cNvPr id="8" name="テキスト ボックス 7">
                <a:extLst>
                  <a:ext uri="{FF2B5EF4-FFF2-40B4-BE49-F238E27FC236}">
                    <a16:creationId xmlns:a16="http://schemas.microsoft.com/office/drawing/2014/main" id="{ED61A57E-D155-1371-17AF-6A43B32F4546}"/>
                  </a:ext>
                </a:extLst>
              </p:cNvPr>
              <p:cNvSpPr txBox="1">
                <a:spLocks noRot="1" noChangeAspect="1" noMove="1" noResize="1" noEditPoints="1" noAdjustHandles="1" noChangeArrowheads="1" noChangeShapeType="1" noTextEdit="1"/>
              </p:cNvSpPr>
              <p:nvPr/>
            </p:nvSpPr>
            <p:spPr>
              <a:xfrm>
                <a:off x="279400" y="5269859"/>
                <a:ext cx="1354667" cy="461665"/>
              </a:xfrm>
              <a:prstGeom prst="rect">
                <a:avLst/>
              </a:prstGeom>
              <a:blipFill>
                <a:blip r:embed="rId3"/>
                <a:stretch>
                  <a:fillRect l="-7207" t="-10526" b="-28947"/>
                </a:stretch>
              </a:blipFill>
            </p:spPr>
            <p:txBody>
              <a:bodyPr/>
              <a:lstStyle/>
              <a:p>
                <a:r>
                  <a:rPr lang="ja-JP" altLang="en-US">
                    <a:noFill/>
                  </a:rPr>
                  <a:t> </a:t>
                </a:r>
              </a:p>
            </p:txBody>
          </p:sp>
        </mc:Fallback>
      </mc:AlternateContent>
      <p:sp>
        <p:nvSpPr>
          <p:cNvPr id="9" name="スライド番号プレースホルダー 8">
            <a:extLst>
              <a:ext uri="{FF2B5EF4-FFF2-40B4-BE49-F238E27FC236}">
                <a16:creationId xmlns:a16="http://schemas.microsoft.com/office/drawing/2014/main" id="{07313D66-F478-1983-D5C2-D07681EFC305}"/>
              </a:ext>
            </a:extLst>
          </p:cNvPr>
          <p:cNvSpPr>
            <a:spLocks noGrp="1"/>
          </p:cNvSpPr>
          <p:nvPr>
            <p:ph type="sldNum" sz="quarter" idx="12"/>
          </p:nvPr>
        </p:nvSpPr>
        <p:spPr/>
        <p:txBody>
          <a:bodyPr/>
          <a:lstStyle/>
          <a:p>
            <a:fld id="{E0107F97-1CD5-41F0-B842-C38020C26506}" type="slidenum">
              <a:rPr kumimoji="1" lang="ja-JP" altLang="en-US" smtClean="0"/>
              <a:pPr/>
              <a:t>14</a:t>
            </a:fld>
            <a:endParaRPr kumimoji="1" lang="ja-JP" altLang="en-US" dirty="0"/>
          </a:p>
        </p:txBody>
      </p:sp>
      <p:sp>
        <p:nvSpPr>
          <p:cNvPr id="12" name="タイトル 2">
            <a:extLst>
              <a:ext uri="{FF2B5EF4-FFF2-40B4-BE49-F238E27FC236}">
                <a16:creationId xmlns:a16="http://schemas.microsoft.com/office/drawing/2014/main" id="{28B57A46-3E58-6431-056E-5548295B2687}"/>
              </a:ext>
            </a:extLst>
          </p:cNvPr>
          <p:cNvSpPr>
            <a:spLocks noGrp="1"/>
          </p:cNvSpPr>
          <p:nvPr>
            <p:ph type="title"/>
          </p:nvPr>
        </p:nvSpPr>
        <p:spPr>
          <a:xfrm>
            <a:off x="1066800" y="-56083"/>
            <a:ext cx="10058400" cy="810190"/>
          </a:xfrm>
        </p:spPr>
        <p:txBody>
          <a:bodyPr/>
          <a:lstStyle/>
          <a:p>
            <a:r>
              <a:rPr kumimoji="1" lang="ja-JP" altLang="en-US" dirty="0"/>
              <a:t>数値シミュレーション</a:t>
            </a:r>
            <a:r>
              <a:rPr kumimoji="1" lang="en-US" altLang="ja-JP" dirty="0"/>
              <a:t>(</a:t>
            </a:r>
            <a:r>
              <a:rPr lang="en-US" altLang="ja-JP" dirty="0"/>
              <a:t>6</a:t>
            </a:r>
            <a:r>
              <a:rPr kumimoji="1" lang="en-US" altLang="ja-JP" dirty="0"/>
              <a:t>/6)</a:t>
            </a:r>
            <a:endParaRPr kumimoji="1" lang="ja-JP" altLang="en-US" dirty="0"/>
          </a:p>
        </p:txBody>
      </p:sp>
      <p:sp>
        <p:nvSpPr>
          <p:cNvPr id="13" name="正方形/長方形 12">
            <a:extLst>
              <a:ext uri="{FF2B5EF4-FFF2-40B4-BE49-F238E27FC236}">
                <a16:creationId xmlns:a16="http://schemas.microsoft.com/office/drawing/2014/main" id="{2AB03EA9-71B7-0DEB-B425-9DDB3C6133AD}"/>
              </a:ext>
            </a:extLst>
          </p:cNvPr>
          <p:cNvSpPr/>
          <p:nvPr/>
        </p:nvSpPr>
        <p:spPr>
          <a:xfrm>
            <a:off x="9948333" y="135116"/>
            <a:ext cx="1862667" cy="6463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9D83A0F-EDEF-5968-ECB3-1D6268DF17C8}"/>
              </a:ext>
            </a:extLst>
          </p:cNvPr>
          <p:cNvSpPr txBox="1"/>
          <p:nvPr/>
        </p:nvSpPr>
        <p:spPr>
          <a:xfrm>
            <a:off x="10340265" y="121446"/>
            <a:ext cx="1600424" cy="646331"/>
          </a:xfrm>
          <a:prstGeom prst="rect">
            <a:avLst/>
          </a:prstGeom>
          <a:noFill/>
        </p:spPr>
        <p:txBody>
          <a:bodyPr wrap="square" rtlCol="0">
            <a:spAutoFit/>
          </a:bodyPr>
          <a:lstStyle/>
          <a:p>
            <a:r>
              <a:rPr kumimoji="1" lang="en-US" altLang="ja-JP" dirty="0"/>
              <a:t>Final action</a:t>
            </a:r>
          </a:p>
          <a:p>
            <a:r>
              <a:rPr kumimoji="1" lang="en-US" altLang="ja-JP" dirty="0"/>
              <a:t>Offline action</a:t>
            </a:r>
          </a:p>
        </p:txBody>
      </p:sp>
      <p:sp>
        <p:nvSpPr>
          <p:cNvPr id="15" name="正方形/長方形 14">
            <a:extLst>
              <a:ext uri="{FF2B5EF4-FFF2-40B4-BE49-F238E27FC236}">
                <a16:creationId xmlns:a16="http://schemas.microsoft.com/office/drawing/2014/main" id="{EAABFAEB-059A-3043-8D94-4F82108935C9}"/>
              </a:ext>
            </a:extLst>
          </p:cNvPr>
          <p:cNvSpPr/>
          <p:nvPr/>
        </p:nvSpPr>
        <p:spPr>
          <a:xfrm>
            <a:off x="10089572" y="223819"/>
            <a:ext cx="179786" cy="18468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77AD9CBF-F27B-3DEB-9DE2-12E6F21BE083}"/>
              </a:ext>
            </a:extLst>
          </p:cNvPr>
          <p:cNvSpPr/>
          <p:nvPr/>
        </p:nvSpPr>
        <p:spPr>
          <a:xfrm>
            <a:off x="10089572" y="517869"/>
            <a:ext cx="179786" cy="184689"/>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212E18D2-D150-B843-DB71-2A290FC4D981}"/>
              </a:ext>
            </a:extLst>
          </p:cNvPr>
          <p:cNvSpPr/>
          <p:nvPr/>
        </p:nvSpPr>
        <p:spPr>
          <a:xfrm>
            <a:off x="5384800" y="3598516"/>
            <a:ext cx="448249" cy="175320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BBF6B9BD-4008-12CC-FE7F-5F8921591C2A}"/>
              </a:ext>
            </a:extLst>
          </p:cNvPr>
          <p:cNvSpPr/>
          <p:nvPr/>
        </p:nvSpPr>
        <p:spPr>
          <a:xfrm>
            <a:off x="5386906" y="2011523"/>
            <a:ext cx="438904" cy="158699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77CB6C14-0775-2F15-4368-F992C4C25E16}"/>
              </a:ext>
            </a:extLst>
          </p:cNvPr>
          <p:cNvSpPr/>
          <p:nvPr/>
        </p:nvSpPr>
        <p:spPr>
          <a:xfrm>
            <a:off x="5384800" y="1215772"/>
            <a:ext cx="448249" cy="79165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7A2BE50-6D6A-B3E2-39A1-4B6CA40D26DE}"/>
              </a:ext>
            </a:extLst>
          </p:cNvPr>
          <p:cNvSpPr/>
          <p:nvPr/>
        </p:nvSpPr>
        <p:spPr>
          <a:xfrm>
            <a:off x="5372428" y="1029686"/>
            <a:ext cx="453382" cy="18096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4817407-197E-6510-F5BE-35F20970B5DA}"/>
              </a:ext>
            </a:extLst>
          </p:cNvPr>
          <p:cNvSpPr txBox="1"/>
          <p:nvPr/>
        </p:nvSpPr>
        <p:spPr>
          <a:xfrm rot="10800000">
            <a:off x="4387103" y="1927087"/>
            <a:ext cx="430887" cy="2036544"/>
          </a:xfrm>
          <a:prstGeom prst="rect">
            <a:avLst/>
          </a:prstGeom>
          <a:noFill/>
        </p:spPr>
        <p:txBody>
          <a:bodyPr vert="eaVert" wrap="square" rtlCol="0">
            <a:spAutoFit/>
          </a:bodyPr>
          <a:lstStyle/>
          <a:p>
            <a:r>
              <a:rPr kumimoji="1" lang="en-US" altLang="ja-JP" sz="1600" dirty="0"/>
              <a:t>Medication type</a:t>
            </a:r>
            <a:endParaRPr kumimoji="1" lang="ja-JP" altLang="en-US" sz="1600" dirty="0"/>
          </a:p>
        </p:txBody>
      </p:sp>
      <p:sp>
        <p:nvSpPr>
          <p:cNvPr id="22" name="テキスト ボックス 21">
            <a:extLst>
              <a:ext uri="{FF2B5EF4-FFF2-40B4-BE49-F238E27FC236}">
                <a16:creationId xmlns:a16="http://schemas.microsoft.com/office/drawing/2014/main" id="{E78F5763-65F4-8F52-7900-D34154F1B7D3}"/>
              </a:ext>
            </a:extLst>
          </p:cNvPr>
          <p:cNvSpPr txBox="1"/>
          <p:nvPr/>
        </p:nvSpPr>
        <p:spPr>
          <a:xfrm>
            <a:off x="4901168" y="4290451"/>
            <a:ext cx="508790" cy="369332"/>
          </a:xfrm>
          <a:prstGeom prst="rect">
            <a:avLst/>
          </a:prstGeom>
          <a:noFill/>
        </p:spPr>
        <p:txBody>
          <a:bodyPr wrap="square" rtlCol="0">
            <a:spAutoFit/>
          </a:bodyPr>
          <a:lstStyle/>
          <a:p>
            <a:r>
              <a:rPr kumimoji="1" lang="en-US" altLang="ja-JP" b="1" dirty="0">
                <a:solidFill>
                  <a:schemeClr val="accent1"/>
                </a:solidFill>
              </a:rPr>
              <a:t>PI</a:t>
            </a:r>
            <a:endParaRPr kumimoji="1" lang="ja-JP" altLang="en-US" b="1" dirty="0">
              <a:solidFill>
                <a:schemeClr val="accent1"/>
              </a:solidFill>
            </a:endParaRPr>
          </a:p>
        </p:txBody>
      </p:sp>
      <p:sp>
        <p:nvSpPr>
          <p:cNvPr id="23" name="テキスト ボックス 22">
            <a:extLst>
              <a:ext uri="{FF2B5EF4-FFF2-40B4-BE49-F238E27FC236}">
                <a16:creationId xmlns:a16="http://schemas.microsoft.com/office/drawing/2014/main" id="{63C0EB77-B298-192B-3A0F-EEA794FD8095}"/>
              </a:ext>
            </a:extLst>
          </p:cNvPr>
          <p:cNvSpPr txBox="1"/>
          <p:nvPr/>
        </p:nvSpPr>
        <p:spPr>
          <a:xfrm>
            <a:off x="4693736" y="2620353"/>
            <a:ext cx="923655" cy="369332"/>
          </a:xfrm>
          <a:prstGeom prst="rect">
            <a:avLst/>
          </a:prstGeom>
          <a:noFill/>
        </p:spPr>
        <p:txBody>
          <a:bodyPr wrap="square" rtlCol="0">
            <a:spAutoFit/>
          </a:bodyPr>
          <a:lstStyle/>
          <a:p>
            <a:r>
              <a:rPr kumimoji="1" lang="en-US" altLang="ja-JP" b="1" dirty="0">
                <a:solidFill>
                  <a:schemeClr val="accent1"/>
                </a:solidFill>
              </a:rPr>
              <a:t>NRTI</a:t>
            </a:r>
            <a:endParaRPr kumimoji="1" lang="ja-JP" altLang="en-US" b="1" dirty="0">
              <a:solidFill>
                <a:schemeClr val="accent1"/>
              </a:solidFill>
            </a:endParaRPr>
          </a:p>
        </p:txBody>
      </p:sp>
      <p:sp>
        <p:nvSpPr>
          <p:cNvPr id="24" name="テキスト ボックス 23">
            <a:extLst>
              <a:ext uri="{FF2B5EF4-FFF2-40B4-BE49-F238E27FC236}">
                <a16:creationId xmlns:a16="http://schemas.microsoft.com/office/drawing/2014/main" id="{E4B903BA-7C90-1CCA-1D16-F2D3F3584D5D}"/>
              </a:ext>
            </a:extLst>
          </p:cNvPr>
          <p:cNvSpPr txBox="1"/>
          <p:nvPr/>
        </p:nvSpPr>
        <p:spPr>
          <a:xfrm>
            <a:off x="4646841" y="1457097"/>
            <a:ext cx="923655" cy="369332"/>
          </a:xfrm>
          <a:prstGeom prst="rect">
            <a:avLst/>
          </a:prstGeom>
          <a:noFill/>
        </p:spPr>
        <p:txBody>
          <a:bodyPr wrap="square" rtlCol="0">
            <a:spAutoFit/>
          </a:bodyPr>
          <a:lstStyle/>
          <a:p>
            <a:r>
              <a:rPr kumimoji="1" lang="en-US" altLang="ja-JP" b="1" dirty="0">
                <a:solidFill>
                  <a:schemeClr val="accent1"/>
                </a:solidFill>
              </a:rPr>
              <a:t>NNRTI</a:t>
            </a:r>
            <a:endParaRPr kumimoji="1" lang="ja-JP" altLang="en-US" b="1" dirty="0">
              <a:solidFill>
                <a:schemeClr val="accent1"/>
              </a:solidFill>
            </a:endParaRPr>
          </a:p>
        </p:txBody>
      </p:sp>
      <p:sp>
        <p:nvSpPr>
          <p:cNvPr id="25" name="テキスト ボックス 24">
            <a:extLst>
              <a:ext uri="{FF2B5EF4-FFF2-40B4-BE49-F238E27FC236}">
                <a16:creationId xmlns:a16="http://schemas.microsoft.com/office/drawing/2014/main" id="{0DBEBC93-C1DF-AB33-DCA6-095702486B38}"/>
              </a:ext>
            </a:extLst>
          </p:cNvPr>
          <p:cNvSpPr txBox="1"/>
          <p:nvPr/>
        </p:nvSpPr>
        <p:spPr>
          <a:xfrm>
            <a:off x="4682066" y="974133"/>
            <a:ext cx="702734" cy="369332"/>
          </a:xfrm>
          <a:prstGeom prst="rect">
            <a:avLst/>
          </a:prstGeom>
          <a:noFill/>
        </p:spPr>
        <p:txBody>
          <a:bodyPr wrap="square" rtlCol="0">
            <a:spAutoFit/>
          </a:bodyPr>
          <a:lstStyle/>
          <a:p>
            <a:r>
              <a:rPr kumimoji="1" lang="en-US" altLang="ja-JP" b="1" dirty="0">
                <a:solidFill>
                  <a:schemeClr val="accent1"/>
                </a:solidFill>
              </a:rPr>
              <a:t>INSTI</a:t>
            </a:r>
            <a:endParaRPr kumimoji="1" lang="ja-JP" altLang="en-US" b="1" dirty="0">
              <a:solidFill>
                <a:schemeClr val="accent1"/>
              </a:solidFill>
            </a:endParaRPr>
          </a:p>
        </p:txBody>
      </p:sp>
    </p:spTree>
    <p:extLst>
      <p:ext uri="{BB962C8B-B14F-4D97-AF65-F5344CB8AC3E}">
        <p14:creationId xmlns:p14="http://schemas.microsoft.com/office/powerpoint/2010/main" val="3887507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9E1F400-7D98-746D-3E10-61E78923CF15}"/>
              </a:ext>
            </a:extLst>
          </p:cNvPr>
          <p:cNvSpPr>
            <a:spLocks noGrp="1"/>
          </p:cNvSpPr>
          <p:nvPr>
            <p:ph idx="1"/>
          </p:nvPr>
        </p:nvSpPr>
        <p:spPr>
          <a:xfrm>
            <a:off x="795867" y="1391014"/>
            <a:ext cx="10329332" cy="2135294"/>
          </a:xfrm>
          <a:ln w="38100">
            <a:solidFill>
              <a:schemeClr val="tx1"/>
            </a:solidFill>
          </a:ln>
        </p:spPr>
        <p:txBody>
          <a:bodyPr>
            <a:normAutofit fontScale="92500" lnSpcReduction="10000"/>
          </a:bodyPr>
          <a:lstStyle/>
          <a:p>
            <a:pPr>
              <a:buFont typeface="Wingdings" panose="05000000000000000000" pitchFamily="2" charset="2"/>
              <a:buChar char="ü"/>
            </a:pPr>
            <a:r>
              <a:rPr kumimoji="1" lang="en-US" altLang="ja-JP" sz="2400" dirty="0"/>
              <a:t>Deep Q-Network</a:t>
            </a:r>
            <a:r>
              <a:rPr kumimoji="1" lang="ja-JP" altLang="en-US" sz="2400" dirty="0"/>
              <a:t>を用いたオフライン・オンライン強化学習融合システムを設計することができた</a:t>
            </a:r>
            <a:endParaRPr kumimoji="1" lang="en-US" altLang="ja-JP" sz="2400" dirty="0"/>
          </a:p>
          <a:p>
            <a:pPr>
              <a:buFont typeface="Wingdings" panose="05000000000000000000" pitchFamily="2" charset="2"/>
              <a:buChar char="ü"/>
            </a:pPr>
            <a:r>
              <a:rPr lang="ja-JP" altLang="en-US" sz="2400" dirty="0"/>
              <a:t>臨床試験</a:t>
            </a:r>
            <a:r>
              <a:rPr lang="en-US" altLang="ja-JP" sz="2400" dirty="0"/>
              <a:t>CSV</a:t>
            </a:r>
            <a:r>
              <a:rPr lang="ja-JP" altLang="en-US" sz="2400" dirty="0"/>
              <a:t>データセットを活用して</a:t>
            </a:r>
            <a:r>
              <a:rPr lang="en-US" altLang="ja-JP" sz="2400" dirty="0"/>
              <a:t>, </a:t>
            </a:r>
            <a:r>
              <a:rPr lang="ja-JP" altLang="en-US" sz="2400" dirty="0"/>
              <a:t>特定の時間と状態に応じた最適な投薬の種類と投薬量を導くことができた</a:t>
            </a:r>
            <a:endParaRPr lang="en-US" altLang="ja-JP" sz="2400" dirty="0"/>
          </a:p>
          <a:p>
            <a:pPr>
              <a:buFont typeface="Wingdings" panose="05000000000000000000" pitchFamily="2" charset="2"/>
              <a:buChar char="ü"/>
            </a:pPr>
            <a:r>
              <a:rPr kumimoji="1" lang="ja-JP" altLang="en-US" sz="2400" dirty="0"/>
              <a:t>導出された治療法の多くが実際の臨床試験結果と一致し</a:t>
            </a:r>
            <a:r>
              <a:rPr kumimoji="1" lang="en-US" altLang="ja-JP" sz="2400" dirty="0"/>
              <a:t>, </a:t>
            </a:r>
            <a:r>
              <a:rPr kumimoji="1" lang="ja-JP" altLang="en-US" sz="2400" dirty="0"/>
              <a:t>一部は後に採用された治療法と一致することが確認された</a:t>
            </a:r>
          </a:p>
        </p:txBody>
      </p:sp>
      <p:sp>
        <p:nvSpPr>
          <p:cNvPr id="3" name="タイトル 2">
            <a:extLst>
              <a:ext uri="{FF2B5EF4-FFF2-40B4-BE49-F238E27FC236}">
                <a16:creationId xmlns:a16="http://schemas.microsoft.com/office/drawing/2014/main" id="{EFFBE337-5C24-C904-B7EE-ECD1538754B4}"/>
              </a:ext>
            </a:extLst>
          </p:cNvPr>
          <p:cNvSpPr>
            <a:spLocks noGrp="1"/>
          </p:cNvSpPr>
          <p:nvPr>
            <p:ph type="title"/>
          </p:nvPr>
        </p:nvSpPr>
        <p:spPr/>
        <p:txBody>
          <a:bodyPr/>
          <a:lstStyle/>
          <a:p>
            <a:r>
              <a:rPr kumimoji="1" lang="ja-JP" altLang="en-US" dirty="0"/>
              <a:t>結論と課題</a:t>
            </a:r>
          </a:p>
        </p:txBody>
      </p:sp>
      <p:sp>
        <p:nvSpPr>
          <p:cNvPr id="4" name="テキスト ボックス 3">
            <a:extLst>
              <a:ext uri="{FF2B5EF4-FFF2-40B4-BE49-F238E27FC236}">
                <a16:creationId xmlns:a16="http://schemas.microsoft.com/office/drawing/2014/main" id="{4AE04C8B-CD7F-4873-D929-B973AA52900D}"/>
              </a:ext>
            </a:extLst>
          </p:cNvPr>
          <p:cNvSpPr txBox="1"/>
          <p:nvPr/>
        </p:nvSpPr>
        <p:spPr>
          <a:xfrm>
            <a:off x="160867" y="754107"/>
            <a:ext cx="1574800" cy="523220"/>
          </a:xfrm>
          <a:prstGeom prst="rect">
            <a:avLst/>
          </a:prstGeom>
          <a:noFill/>
        </p:spPr>
        <p:txBody>
          <a:bodyPr wrap="square" rtlCol="0">
            <a:spAutoFit/>
          </a:bodyPr>
          <a:lstStyle/>
          <a:p>
            <a:r>
              <a:rPr kumimoji="1" lang="ja-JP" altLang="en-US" sz="2800" dirty="0">
                <a:highlight>
                  <a:srgbClr val="00FFFF"/>
                </a:highlight>
              </a:rPr>
              <a:t>結論</a:t>
            </a:r>
          </a:p>
        </p:txBody>
      </p:sp>
      <p:sp>
        <p:nvSpPr>
          <p:cNvPr id="5" name="テキスト ボックス 4">
            <a:extLst>
              <a:ext uri="{FF2B5EF4-FFF2-40B4-BE49-F238E27FC236}">
                <a16:creationId xmlns:a16="http://schemas.microsoft.com/office/drawing/2014/main" id="{500CE297-DC35-1C3B-BF69-91C8420C7224}"/>
              </a:ext>
            </a:extLst>
          </p:cNvPr>
          <p:cNvSpPr txBox="1"/>
          <p:nvPr/>
        </p:nvSpPr>
        <p:spPr>
          <a:xfrm>
            <a:off x="795866" y="4696091"/>
            <a:ext cx="10329333" cy="1107996"/>
          </a:xfrm>
          <a:prstGeom prst="rect">
            <a:avLst/>
          </a:prstGeom>
          <a:noFill/>
          <a:ln w="38100">
            <a:solidFill>
              <a:schemeClr val="tx1"/>
            </a:solidFill>
          </a:ln>
        </p:spPr>
        <p:txBody>
          <a:bodyPr wrap="square" rtlCol="0">
            <a:spAutoFit/>
          </a:bodyPr>
          <a:lstStyle/>
          <a:p>
            <a:pPr marL="285750" indent="-285750">
              <a:buFont typeface="Wingdings" panose="05000000000000000000" pitchFamily="2" charset="2"/>
              <a:buChar char="Ø"/>
            </a:pPr>
            <a:r>
              <a:rPr kumimoji="1" lang="ja-JP" altLang="en-US" sz="2200" dirty="0"/>
              <a:t>使用した</a:t>
            </a:r>
            <a:r>
              <a:rPr kumimoji="1" lang="en-US" altLang="ja-JP" sz="2200" dirty="0"/>
              <a:t>HIV</a:t>
            </a:r>
            <a:r>
              <a:rPr kumimoji="1" lang="ja-JP" altLang="en-US" sz="2200" dirty="0"/>
              <a:t>数理モデルに対するロバスト性の確認</a:t>
            </a:r>
            <a:endParaRPr kumimoji="1" lang="en-US" altLang="ja-JP" sz="2200" dirty="0"/>
          </a:p>
          <a:p>
            <a:pPr marL="285750" indent="-285750">
              <a:buFont typeface="Wingdings" panose="05000000000000000000" pitchFamily="2" charset="2"/>
              <a:buChar char="Ø"/>
            </a:pPr>
            <a:r>
              <a:rPr kumimoji="1" lang="ja-JP" altLang="en-US" sz="2200" dirty="0"/>
              <a:t>導出される投薬の種類の増加</a:t>
            </a:r>
            <a:r>
              <a:rPr kumimoji="1" lang="en-US" altLang="ja-JP" sz="2200" dirty="0"/>
              <a:t>(</a:t>
            </a:r>
            <a:r>
              <a:rPr kumimoji="1" lang="ja-JP" altLang="en-US" sz="2200" dirty="0"/>
              <a:t>計算コストとトレードオフ</a:t>
            </a:r>
            <a:r>
              <a:rPr kumimoji="1" lang="en-US" altLang="ja-JP" sz="2200" dirty="0"/>
              <a:t>)</a:t>
            </a:r>
          </a:p>
          <a:p>
            <a:pPr marL="285750" indent="-285750">
              <a:buFont typeface="Wingdings" panose="05000000000000000000" pitchFamily="2" charset="2"/>
              <a:buChar char="Ø"/>
            </a:pPr>
            <a:r>
              <a:rPr kumimoji="1" lang="ja-JP" altLang="en-US" sz="2200" dirty="0"/>
              <a:t>よりサンプル数の多い臨床試験データの活用</a:t>
            </a:r>
          </a:p>
        </p:txBody>
      </p:sp>
      <p:sp>
        <p:nvSpPr>
          <p:cNvPr id="6" name="テキスト ボックス 5">
            <a:extLst>
              <a:ext uri="{FF2B5EF4-FFF2-40B4-BE49-F238E27FC236}">
                <a16:creationId xmlns:a16="http://schemas.microsoft.com/office/drawing/2014/main" id="{3DF5C0D5-99A7-4B8E-123A-57B3877F5BD5}"/>
              </a:ext>
            </a:extLst>
          </p:cNvPr>
          <p:cNvSpPr txBox="1"/>
          <p:nvPr/>
        </p:nvSpPr>
        <p:spPr>
          <a:xfrm>
            <a:off x="160867" y="3968599"/>
            <a:ext cx="1574800" cy="523220"/>
          </a:xfrm>
          <a:prstGeom prst="rect">
            <a:avLst/>
          </a:prstGeom>
          <a:noFill/>
        </p:spPr>
        <p:txBody>
          <a:bodyPr wrap="square" rtlCol="0">
            <a:spAutoFit/>
          </a:bodyPr>
          <a:lstStyle/>
          <a:p>
            <a:r>
              <a:rPr kumimoji="1" lang="ja-JP" altLang="en-US" sz="2800" dirty="0">
                <a:highlight>
                  <a:srgbClr val="00FFFF"/>
                </a:highlight>
              </a:rPr>
              <a:t>課題</a:t>
            </a:r>
          </a:p>
        </p:txBody>
      </p:sp>
      <p:sp>
        <p:nvSpPr>
          <p:cNvPr id="7" name="スライド番号プレースホルダー 6">
            <a:extLst>
              <a:ext uri="{FF2B5EF4-FFF2-40B4-BE49-F238E27FC236}">
                <a16:creationId xmlns:a16="http://schemas.microsoft.com/office/drawing/2014/main" id="{61680395-3E3A-F01A-AD5D-31EE4E2C984A}"/>
              </a:ext>
            </a:extLst>
          </p:cNvPr>
          <p:cNvSpPr>
            <a:spLocks noGrp="1"/>
          </p:cNvSpPr>
          <p:nvPr>
            <p:ph type="sldNum" sz="quarter" idx="12"/>
          </p:nvPr>
        </p:nvSpPr>
        <p:spPr/>
        <p:txBody>
          <a:bodyPr/>
          <a:lstStyle/>
          <a:p>
            <a:fld id="{E0107F97-1CD5-41F0-B842-C38020C26506}" type="slidenum">
              <a:rPr kumimoji="1" lang="ja-JP" altLang="en-US" smtClean="0"/>
              <a:pPr/>
              <a:t>15</a:t>
            </a:fld>
            <a:endParaRPr kumimoji="1" lang="ja-JP" altLang="en-US" dirty="0"/>
          </a:p>
        </p:txBody>
      </p:sp>
    </p:spTree>
    <p:extLst>
      <p:ext uri="{BB962C8B-B14F-4D97-AF65-F5344CB8AC3E}">
        <p14:creationId xmlns:p14="http://schemas.microsoft.com/office/powerpoint/2010/main" val="291784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BF8195F-4945-3095-6F99-DE4B340D9757}"/>
              </a:ext>
            </a:extLst>
          </p:cNvPr>
          <p:cNvSpPr>
            <a:spLocks noGrp="1"/>
          </p:cNvSpPr>
          <p:nvPr>
            <p:ph idx="1"/>
          </p:nvPr>
        </p:nvSpPr>
        <p:spPr>
          <a:xfrm>
            <a:off x="1066800" y="2616200"/>
            <a:ext cx="10058400" cy="990600"/>
          </a:xfrm>
        </p:spPr>
        <p:txBody>
          <a:bodyPr>
            <a:normAutofit/>
          </a:bodyPr>
          <a:lstStyle/>
          <a:p>
            <a:r>
              <a:rPr kumimoji="1" lang="ja-JP" altLang="en-US" sz="6000" dirty="0"/>
              <a:t>ご清聴ありがとうございました</a:t>
            </a:r>
          </a:p>
        </p:txBody>
      </p:sp>
      <p:sp>
        <p:nvSpPr>
          <p:cNvPr id="4" name="スライド番号プレースホルダー 3">
            <a:extLst>
              <a:ext uri="{FF2B5EF4-FFF2-40B4-BE49-F238E27FC236}">
                <a16:creationId xmlns:a16="http://schemas.microsoft.com/office/drawing/2014/main" id="{6CC10C8C-CCDF-6EA6-0E75-13239DE2EDB6}"/>
              </a:ext>
            </a:extLst>
          </p:cNvPr>
          <p:cNvSpPr>
            <a:spLocks noGrp="1"/>
          </p:cNvSpPr>
          <p:nvPr>
            <p:ph type="sldNum" sz="quarter" idx="12"/>
          </p:nvPr>
        </p:nvSpPr>
        <p:spPr/>
        <p:txBody>
          <a:bodyPr/>
          <a:lstStyle/>
          <a:p>
            <a:fld id="{E0107F97-1CD5-41F0-B842-C38020C26506}" type="slidenum">
              <a:rPr kumimoji="1" lang="ja-JP" altLang="en-US" smtClean="0"/>
              <a:pPr/>
              <a:t>16</a:t>
            </a:fld>
            <a:endParaRPr kumimoji="1" lang="ja-JP" altLang="en-US" dirty="0"/>
          </a:p>
        </p:txBody>
      </p:sp>
    </p:spTree>
    <p:extLst>
      <p:ext uri="{BB962C8B-B14F-4D97-AF65-F5344CB8AC3E}">
        <p14:creationId xmlns:p14="http://schemas.microsoft.com/office/powerpoint/2010/main" val="4129388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EF2198B6-6D4B-24E6-353A-1CC7AA38E6D7}"/>
              </a:ext>
            </a:extLst>
          </p:cNvPr>
          <p:cNvSpPr/>
          <p:nvPr/>
        </p:nvSpPr>
        <p:spPr>
          <a:xfrm>
            <a:off x="926199" y="1203468"/>
            <a:ext cx="10199001" cy="2849389"/>
          </a:xfrm>
          <a:prstGeom prst="roundRect">
            <a:avLst/>
          </a:prstGeom>
          <a:solidFill>
            <a:schemeClr val="accent3">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066800" y="-25283"/>
            <a:ext cx="10058400" cy="646439"/>
          </a:xfrm>
        </p:spPr>
        <p:txBody>
          <a:bodyPr>
            <a:normAutofit fontScale="90000"/>
          </a:bodyPr>
          <a:lstStyle/>
          <a:p>
            <a:r>
              <a:rPr lang="en-US" altLang="ja-JP" dirty="0"/>
              <a:t>Appendix1		HIV</a:t>
            </a:r>
            <a:r>
              <a:rPr lang="ja-JP" altLang="en-US" dirty="0"/>
              <a:t>感染のメカニズム</a:t>
            </a:r>
            <a:endParaRPr kumimoji="1" lang="ja-JP" altLang="en-US" dirty="0"/>
          </a:p>
        </p:txBody>
      </p:sp>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1154083" y="1355454"/>
            <a:ext cx="10058400" cy="4555066"/>
          </a:xfrm>
        </p:spPr>
        <p:txBody>
          <a:bodyPr>
            <a:normAutofit/>
          </a:bodyPr>
          <a:lstStyle/>
          <a:p>
            <a:pPr marL="457200" indent="-457200">
              <a:buClrTx/>
              <a:buAutoNum type="arabicPeriod"/>
            </a:pPr>
            <a:r>
              <a:rPr lang="en-US" altLang="ja-JP" sz="2400" dirty="0">
                <a:solidFill>
                  <a:schemeClr val="tx1"/>
                </a:solidFill>
              </a:rPr>
              <a:t>HIV</a:t>
            </a:r>
            <a:r>
              <a:rPr lang="ja-JP" altLang="en-US" sz="2400" dirty="0">
                <a:solidFill>
                  <a:schemeClr val="tx1"/>
                </a:solidFill>
              </a:rPr>
              <a:t>ウイルスがヒトの</a:t>
            </a:r>
            <a:r>
              <a:rPr lang="en-US" altLang="ja-JP" sz="2400" dirty="0">
                <a:solidFill>
                  <a:schemeClr val="tx1"/>
                </a:solidFill>
              </a:rPr>
              <a:t>CD4</a:t>
            </a:r>
            <a:r>
              <a:rPr lang="ja-JP" altLang="en-US" sz="2400" dirty="0">
                <a:solidFill>
                  <a:schemeClr val="tx1"/>
                </a:solidFill>
              </a:rPr>
              <a:t>細胞と結合</a:t>
            </a:r>
            <a:endParaRPr lang="en-US" altLang="ja-JP" sz="2400" dirty="0">
              <a:solidFill>
                <a:schemeClr val="tx1"/>
              </a:solidFill>
            </a:endParaRPr>
          </a:p>
          <a:p>
            <a:pPr marL="457200" indent="-457200">
              <a:buClrTx/>
              <a:buAutoNum type="arabicPeriod"/>
            </a:pPr>
            <a:r>
              <a:rPr kumimoji="1" lang="en-US" altLang="ja-JP" sz="2400" dirty="0">
                <a:solidFill>
                  <a:schemeClr val="tx1"/>
                </a:solidFill>
              </a:rPr>
              <a:t>CD4</a:t>
            </a:r>
            <a:r>
              <a:rPr kumimoji="1" lang="ja-JP" altLang="en-US" sz="2400" dirty="0">
                <a:solidFill>
                  <a:schemeClr val="tx1"/>
                </a:solidFill>
              </a:rPr>
              <a:t>細胞の中で</a:t>
            </a:r>
            <a:r>
              <a:rPr kumimoji="1" lang="en-US" altLang="ja-JP" sz="2400" dirty="0">
                <a:solidFill>
                  <a:schemeClr val="tx1"/>
                </a:solidFill>
              </a:rPr>
              <a:t>, HIV</a:t>
            </a:r>
            <a:r>
              <a:rPr lang="ja-JP" altLang="en-US" sz="2400" dirty="0">
                <a:solidFill>
                  <a:schemeClr val="tx1"/>
                </a:solidFill>
              </a:rPr>
              <a:t>ウイルスの逆転写酵素であるインテグラーゼが</a:t>
            </a:r>
            <a:r>
              <a:rPr lang="en-US" altLang="ja-JP" sz="2400" dirty="0">
                <a:solidFill>
                  <a:schemeClr val="tx1"/>
                </a:solidFill>
              </a:rPr>
              <a:t>HIV</a:t>
            </a:r>
            <a:r>
              <a:rPr lang="ja-JP" altLang="en-US" sz="2400" dirty="0">
                <a:solidFill>
                  <a:schemeClr val="tx1"/>
                </a:solidFill>
              </a:rPr>
              <a:t>の</a:t>
            </a:r>
            <a:r>
              <a:rPr lang="en-US" altLang="ja-JP" sz="2400" dirty="0">
                <a:solidFill>
                  <a:schemeClr val="tx1"/>
                </a:solidFill>
              </a:rPr>
              <a:t>DNA</a:t>
            </a:r>
            <a:r>
              <a:rPr lang="ja-JP" altLang="en-US" sz="2400" dirty="0">
                <a:solidFill>
                  <a:schemeClr val="tx1"/>
                </a:solidFill>
              </a:rPr>
              <a:t>情報を記憶させる</a:t>
            </a:r>
            <a:endParaRPr lang="en-US" altLang="ja-JP" sz="2400" dirty="0">
              <a:solidFill>
                <a:schemeClr val="tx1"/>
              </a:solidFill>
            </a:endParaRPr>
          </a:p>
          <a:p>
            <a:pPr marL="457200" indent="-457200">
              <a:buClrTx/>
              <a:buAutoNum type="arabicPeriod"/>
            </a:pPr>
            <a:r>
              <a:rPr kumimoji="1" lang="en-US" altLang="ja-JP" sz="2400" dirty="0">
                <a:solidFill>
                  <a:schemeClr val="tx1"/>
                </a:solidFill>
              </a:rPr>
              <a:t>CD</a:t>
            </a:r>
            <a:r>
              <a:rPr lang="en-US" altLang="ja-JP" sz="2400" dirty="0">
                <a:solidFill>
                  <a:schemeClr val="tx1"/>
                </a:solidFill>
              </a:rPr>
              <a:t>4</a:t>
            </a:r>
            <a:r>
              <a:rPr lang="ja-JP" altLang="en-US" sz="2400" dirty="0">
                <a:solidFill>
                  <a:schemeClr val="tx1"/>
                </a:solidFill>
              </a:rPr>
              <a:t>細胞が転写・翻訳の際に</a:t>
            </a:r>
            <a:r>
              <a:rPr lang="en-US" altLang="ja-JP" sz="2400" dirty="0">
                <a:solidFill>
                  <a:schemeClr val="tx1"/>
                </a:solidFill>
              </a:rPr>
              <a:t>, </a:t>
            </a:r>
            <a:r>
              <a:rPr lang="ja-JP" altLang="en-US" sz="2400" dirty="0">
                <a:solidFill>
                  <a:schemeClr val="tx1"/>
                </a:solidFill>
              </a:rPr>
              <a:t>記憶された</a:t>
            </a:r>
            <a:r>
              <a:rPr lang="en-US" altLang="ja-JP" sz="2400" dirty="0">
                <a:solidFill>
                  <a:schemeClr val="tx1"/>
                </a:solidFill>
              </a:rPr>
              <a:t>DNA</a:t>
            </a:r>
            <a:r>
              <a:rPr lang="ja-JP" altLang="en-US" sz="2400" dirty="0">
                <a:solidFill>
                  <a:schemeClr val="tx1"/>
                </a:solidFill>
              </a:rPr>
              <a:t>情報をもとに誤って</a:t>
            </a:r>
            <a:r>
              <a:rPr lang="en-US" altLang="ja-JP" sz="2400" dirty="0">
                <a:solidFill>
                  <a:schemeClr val="tx1"/>
                </a:solidFill>
              </a:rPr>
              <a:t>HIV</a:t>
            </a:r>
            <a:r>
              <a:rPr lang="ja-JP" altLang="en-US" sz="2400" dirty="0">
                <a:solidFill>
                  <a:schemeClr val="tx1"/>
                </a:solidFill>
              </a:rPr>
              <a:t>の材料も生産</a:t>
            </a:r>
            <a:endParaRPr lang="en-US" altLang="ja-JP" sz="2400" dirty="0">
              <a:solidFill>
                <a:schemeClr val="tx1"/>
              </a:solidFill>
            </a:endParaRPr>
          </a:p>
          <a:p>
            <a:pPr marL="457200" indent="-457200">
              <a:buClrTx/>
              <a:buAutoNum type="arabicPeriod"/>
            </a:pPr>
            <a:r>
              <a:rPr kumimoji="1" lang="ja-JP" altLang="en-US" sz="2400" dirty="0">
                <a:solidFill>
                  <a:schemeClr val="tx1"/>
                </a:solidFill>
              </a:rPr>
              <a:t>新たな</a:t>
            </a:r>
            <a:r>
              <a:rPr kumimoji="1" lang="en-US" altLang="ja-JP" sz="2400" dirty="0">
                <a:solidFill>
                  <a:schemeClr val="tx1"/>
                </a:solidFill>
              </a:rPr>
              <a:t>HIV</a:t>
            </a:r>
            <a:r>
              <a:rPr kumimoji="1" lang="ja-JP" altLang="en-US" sz="2400" dirty="0">
                <a:solidFill>
                  <a:schemeClr val="tx1"/>
                </a:solidFill>
              </a:rPr>
              <a:t>ウイルスが作成され</a:t>
            </a:r>
            <a:r>
              <a:rPr kumimoji="1" lang="en-US" altLang="ja-JP" sz="2400" dirty="0">
                <a:solidFill>
                  <a:schemeClr val="tx1"/>
                </a:solidFill>
              </a:rPr>
              <a:t>, </a:t>
            </a:r>
            <a:r>
              <a:rPr kumimoji="1" lang="ja-JP" altLang="en-US" sz="2400" dirty="0">
                <a:solidFill>
                  <a:schemeClr val="tx1"/>
                </a:solidFill>
              </a:rPr>
              <a:t>再び</a:t>
            </a:r>
            <a:r>
              <a:rPr kumimoji="1" lang="en-US" altLang="ja-JP" sz="2400" dirty="0">
                <a:solidFill>
                  <a:schemeClr val="tx1"/>
                </a:solidFill>
              </a:rPr>
              <a:t>CD4</a:t>
            </a:r>
            <a:r>
              <a:rPr kumimoji="1" lang="ja-JP" altLang="en-US" sz="2400" dirty="0">
                <a:solidFill>
                  <a:schemeClr val="tx1"/>
                </a:solidFill>
              </a:rPr>
              <a:t>細胞と結合</a:t>
            </a:r>
            <a:endParaRPr kumimoji="1" lang="en-US" altLang="ja-JP" sz="2400" dirty="0">
              <a:solidFill>
                <a:schemeClr val="tx1"/>
              </a:solidFill>
            </a:endParaRPr>
          </a:p>
        </p:txBody>
      </p:sp>
      <p:sp>
        <p:nvSpPr>
          <p:cNvPr id="7" name="スライド番号プレースホルダー 6">
            <a:extLst>
              <a:ext uri="{FF2B5EF4-FFF2-40B4-BE49-F238E27FC236}">
                <a16:creationId xmlns:a16="http://schemas.microsoft.com/office/drawing/2014/main" id="{2499E595-E1BC-3D2D-63CD-0180DE34061F}"/>
              </a:ext>
            </a:extLst>
          </p:cNvPr>
          <p:cNvSpPr>
            <a:spLocks noGrp="1"/>
          </p:cNvSpPr>
          <p:nvPr>
            <p:ph type="sldNum" sz="quarter" idx="12"/>
          </p:nvPr>
        </p:nvSpPr>
        <p:spPr>
          <a:xfrm>
            <a:off x="9900458" y="6459785"/>
            <a:ext cx="1312025" cy="365125"/>
          </a:xfrm>
        </p:spPr>
        <p:txBody>
          <a:bodyPr/>
          <a:lstStyle/>
          <a:p>
            <a:fld id="{E0107F97-1CD5-41F0-B842-C38020C26506}" type="slidenum">
              <a:rPr kumimoji="1" lang="ja-JP" altLang="en-US" smtClean="0"/>
              <a:t>17</a:t>
            </a:fld>
            <a:endParaRPr kumimoji="1" lang="ja-JP" altLang="en-US"/>
          </a:p>
        </p:txBody>
      </p:sp>
      <p:sp>
        <p:nvSpPr>
          <p:cNvPr id="4" name="テキスト ボックス 3">
            <a:extLst>
              <a:ext uri="{FF2B5EF4-FFF2-40B4-BE49-F238E27FC236}">
                <a16:creationId xmlns:a16="http://schemas.microsoft.com/office/drawing/2014/main" id="{C566C25A-44C7-3DA2-7D4F-DBA7EEC12F10}"/>
              </a:ext>
            </a:extLst>
          </p:cNvPr>
          <p:cNvSpPr txBox="1"/>
          <p:nvPr/>
        </p:nvSpPr>
        <p:spPr>
          <a:xfrm>
            <a:off x="1066800" y="4310081"/>
            <a:ext cx="9377995" cy="1200329"/>
          </a:xfrm>
          <a:prstGeom prst="rect">
            <a:avLst/>
          </a:prstGeom>
          <a:noFill/>
        </p:spPr>
        <p:txBody>
          <a:bodyPr wrap="square" rtlCol="0">
            <a:spAutoFit/>
          </a:bodyPr>
          <a:lstStyle/>
          <a:p>
            <a:r>
              <a:rPr kumimoji="1" lang="ja-JP" altLang="en-US" sz="2400" dirty="0"/>
              <a:t>本来</a:t>
            </a:r>
            <a:r>
              <a:rPr kumimoji="1" lang="en-US" altLang="ja-JP" sz="2400" dirty="0"/>
              <a:t>, CD4 </a:t>
            </a:r>
            <a:r>
              <a:rPr kumimoji="1" lang="ja-JP" altLang="en-US" sz="2400" dirty="0"/>
              <a:t>細胞の生成と寿命による消滅は均衡が保持</a:t>
            </a:r>
            <a:endParaRPr kumimoji="1" lang="en-US" altLang="ja-JP" sz="2400" dirty="0"/>
          </a:p>
          <a:p>
            <a:r>
              <a:rPr kumimoji="1" lang="ja-JP" altLang="en-US" sz="2400" dirty="0"/>
              <a:t>➡</a:t>
            </a:r>
            <a:r>
              <a:rPr kumimoji="1" lang="en-US" altLang="ja-JP" sz="2400" dirty="0"/>
              <a:t>HIV</a:t>
            </a:r>
            <a:r>
              <a:rPr kumimoji="1" lang="ja-JP" altLang="en-US" sz="2400" dirty="0"/>
              <a:t>ウイルスにより</a:t>
            </a:r>
            <a:r>
              <a:rPr kumimoji="1" lang="en-US" altLang="ja-JP" sz="2400" dirty="0"/>
              <a:t>CD4</a:t>
            </a:r>
            <a:r>
              <a:rPr kumimoji="1" lang="ja-JP" altLang="en-US" sz="2400" dirty="0"/>
              <a:t>細胞の寿命は減少するため</a:t>
            </a:r>
            <a:r>
              <a:rPr kumimoji="1" lang="en-US" altLang="ja-JP" sz="2400" dirty="0"/>
              <a:t>, </a:t>
            </a:r>
            <a:r>
              <a:rPr kumimoji="1" lang="ja-JP" altLang="en-US" sz="2400" dirty="0"/>
              <a:t>慢性的な</a:t>
            </a:r>
            <a:r>
              <a:rPr kumimoji="1" lang="en-US" altLang="ja-JP" sz="2400" dirty="0"/>
              <a:t>CD4</a:t>
            </a:r>
            <a:r>
              <a:rPr kumimoji="1" lang="ja-JP" altLang="en-US" sz="2400" dirty="0"/>
              <a:t>細胞の欠乏により</a:t>
            </a:r>
            <a:r>
              <a:rPr kumimoji="1" lang="en-US" altLang="ja-JP" sz="2400" dirty="0"/>
              <a:t>, </a:t>
            </a:r>
            <a:r>
              <a:rPr kumimoji="1" lang="ja-JP" altLang="en-US" sz="2400" b="1" dirty="0"/>
              <a:t>免疫不全</a:t>
            </a:r>
            <a:r>
              <a:rPr kumimoji="1" lang="ja-JP" altLang="en-US" sz="2400" dirty="0"/>
              <a:t>に</a:t>
            </a:r>
          </a:p>
        </p:txBody>
      </p:sp>
      <p:sp>
        <p:nvSpPr>
          <p:cNvPr id="5" name="吹き出し: 円形 4">
            <a:extLst>
              <a:ext uri="{FF2B5EF4-FFF2-40B4-BE49-F238E27FC236}">
                <a16:creationId xmlns:a16="http://schemas.microsoft.com/office/drawing/2014/main" id="{E8DD848C-A916-3933-7135-559D8B878226}"/>
              </a:ext>
            </a:extLst>
          </p:cNvPr>
          <p:cNvSpPr/>
          <p:nvPr/>
        </p:nvSpPr>
        <p:spPr>
          <a:xfrm rot="10800000">
            <a:off x="6321875" y="5229248"/>
            <a:ext cx="5145628" cy="712350"/>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8A07ED64-AFE8-56F5-6A73-8DD0F854EBE5}"/>
              </a:ext>
            </a:extLst>
          </p:cNvPr>
          <p:cNvSpPr txBox="1"/>
          <p:nvPr/>
        </p:nvSpPr>
        <p:spPr>
          <a:xfrm>
            <a:off x="7032740" y="5422958"/>
            <a:ext cx="3936274" cy="400110"/>
          </a:xfrm>
          <a:prstGeom prst="rect">
            <a:avLst/>
          </a:prstGeom>
          <a:noFill/>
        </p:spPr>
        <p:txBody>
          <a:bodyPr wrap="square" rtlCol="0">
            <a:spAutoFit/>
          </a:bodyPr>
          <a:lstStyle/>
          <a:p>
            <a:r>
              <a:rPr kumimoji="1" lang="en-US" altLang="ja-JP" sz="2000" b="1" dirty="0"/>
              <a:t>CD4</a:t>
            </a:r>
            <a:r>
              <a:rPr kumimoji="1" lang="ja-JP" altLang="en-US" sz="2000" b="1" dirty="0"/>
              <a:t>細胞</a:t>
            </a:r>
            <a:r>
              <a:rPr kumimoji="1" lang="en-US" altLang="ja-JP" sz="2000" b="1" dirty="0"/>
              <a:t>: </a:t>
            </a:r>
            <a:r>
              <a:rPr kumimoji="1" lang="ja-JP" altLang="en-US" sz="2000" b="1" dirty="0"/>
              <a:t>免疫システムの司令塔</a:t>
            </a:r>
          </a:p>
        </p:txBody>
      </p:sp>
    </p:spTree>
    <p:extLst>
      <p:ext uri="{BB962C8B-B14F-4D97-AF65-F5344CB8AC3E}">
        <p14:creationId xmlns:p14="http://schemas.microsoft.com/office/powerpoint/2010/main" val="2118926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C238FD62-2859-70AF-E888-1C8FDA621A0F}"/>
              </a:ext>
            </a:extLst>
          </p:cNvPr>
          <p:cNvSpPr/>
          <p:nvPr/>
        </p:nvSpPr>
        <p:spPr>
          <a:xfrm>
            <a:off x="1564783" y="2794715"/>
            <a:ext cx="3664655" cy="1287888"/>
          </a:xfrm>
          <a:prstGeom prst="roundRect">
            <a:avLst/>
          </a:prstGeom>
          <a:solidFill>
            <a:schemeClr val="accent3">
              <a:lumMod val="20000"/>
              <a:lumOff val="80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9E37C15B-3B46-E135-DFFC-96DDE68FA437}"/>
              </a:ext>
            </a:extLst>
          </p:cNvPr>
          <p:cNvSpPr>
            <a:spLocks noGrp="1"/>
          </p:cNvSpPr>
          <p:nvPr>
            <p:ph type="title"/>
          </p:nvPr>
        </p:nvSpPr>
        <p:spPr>
          <a:xfrm>
            <a:off x="1140164" y="-254176"/>
            <a:ext cx="9911671" cy="924782"/>
          </a:xfrm>
        </p:spPr>
        <p:txBody>
          <a:bodyPr/>
          <a:lstStyle/>
          <a:p>
            <a:r>
              <a:rPr lang="en-US" altLang="ja-JP" dirty="0"/>
              <a:t>Appendix2		</a:t>
            </a:r>
            <a:r>
              <a:rPr lang="en-US" altLang="ja-JP" b="1" dirty="0"/>
              <a:t>SoftMax</a:t>
            </a:r>
            <a:r>
              <a:rPr lang="ja-JP" altLang="en-US" sz="4000" dirty="0"/>
              <a:t>関数</a:t>
            </a:r>
            <a:endParaRPr kumimoji="1" lang="ja-JP" altLang="en-US" dirty="0"/>
          </a:p>
        </p:txBody>
      </p:sp>
      <p:pic>
        <p:nvPicPr>
          <p:cNvPr id="5" name="コンテンツ プレースホルダー 4">
            <a:extLst>
              <a:ext uri="{FF2B5EF4-FFF2-40B4-BE49-F238E27FC236}">
                <a16:creationId xmlns:a16="http://schemas.microsoft.com/office/drawing/2014/main" id="{8DB7EFEA-CD07-5131-043E-10C975B7E7F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207" t="10391" r="5947"/>
          <a:stretch/>
        </p:blipFill>
        <p:spPr>
          <a:xfrm>
            <a:off x="6859974" y="1341275"/>
            <a:ext cx="5263791" cy="3937438"/>
          </a:xfrm>
        </p:spPr>
      </p:pic>
      <p:sp>
        <p:nvSpPr>
          <p:cNvPr id="8" name="スライド番号プレースホルダー 7">
            <a:extLst>
              <a:ext uri="{FF2B5EF4-FFF2-40B4-BE49-F238E27FC236}">
                <a16:creationId xmlns:a16="http://schemas.microsoft.com/office/drawing/2014/main" id="{90BDCBB8-5D27-1DCC-5E15-16248973FA87}"/>
              </a:ext>
            </a:extLst>
          </p:cNvPr>
          <p:cNvSpPr>
            <a:spLocks noGrp="1"/>
          </p:cNvSpPr>
          <p:nvPr>
            <p:ph type="sldNum" sz="quarter" idx="12"/>
          </p:nvPr>
        </p:nvSpPr>
        <p:spPr>
          <a:xfrm>
            <a:off x="9900458" y="6459785"/>
            <a:ext cx="1312025" cy="365125"/>
          </a:xfrm>
        </p:spPr>
        <p:txBody>
          <a:bodyPr/>
          <a:lstStyle/>
          <a:p>
            <a:fld id="{E0107F97-1CD5-41F0-B842-C38020C26506}" type="slidenum">
              <a:rPr kumimoji="1" lang="ja-JP" altLang="en-US" smtClean="0"/>
              <a:t>18</a:t>
            </a:fld>
            <a:endParaRPr kumimoji="1" lang="ja-JP" altLang="en-US"/>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872FD9E7-BF1E-24DF-808D-12313707FD84}"/>
                  </a:ext>
                </a:extLst>
              </p:cNvPr>
              <p:cNvSpPr txBox="1"/>
              <p:nvPr/>
            </p:nvSpPr>
            <p:spPr>
              <a:xfrm>
                <a:off x="7806581" y="5259605"/>
                <a:ext cx="4725697" cy="400110"/>
              </a:xfrm>
              <a:prstGeom prst="rect">
                <a:avLst/>
              </a:prstGeom>
              <a:noFill/>
            </p:spPr>
            <p:txBody>
              <a:bodyPr wrap="square" rtlCol="0">
                <a:spAutoFit/>
              </a:bodyPr>
              <a:lstStyle/>
              <a:p>
                <a:r>
                  <a:rPr kumimoji="1" lang="en-US" altLang="ja-JP" sz="2000" dirty="0"/>
                  <a:t>Fig.14  </a:t>
                </a:r>
                <a14:m>
                  <m:oMath xmlns:m="http://schemas.openxmlformats.org/officeDocument/2006/math">
                    <m:r>
                      <a:rPr kumimoji="1" lang="en-US" altLang="ja-JP" sz="2000" b="0" i="1" smtClean="0">
                        <a:latin typeface="Cambria Math" panose="02040503050406030204" pitchFamily="18" charset="0"/>
                      </a:rPr>
                      <m:t>𝑠𝑜𝑓𝑡𝑚𝑎𝑥</m:t>
                    </m:r>
                  </m:oMath>
                </a14:m>
                <a:r>
                  <a:rPr kumimoji="1" lang="ja-JP" altLang="en-US" sz="2000" dirty="0"/>
                  <a:t>関数の</a:t>
                </a:r>
                <a:r>
                  <a:rPr kumimoji="1" lang="en-US" altLang="ja-JP" sz="2000" dirty="0"/>
                  <a:t>T</a:t>
                </a:r>
                <a:r>
                  <a:rPr kumimoji="1" lang="ja-JP" altLang="en-US" sz="2000" dirty="0"/>
                  <a:t>による挙動</a:t>
                </a:r>
              </a:p>
            </p:txBody>
          </p:sp>
        </mc:Choice>
        <mc:Fallback>
          <p:sp>
            <p:nvSpPr>
              <p:cNvPr id="6" name="テキスト ボックス 5">
                <a:extLst>
                  <a:ext uri="{FF2B5EF4-FFF2-40B4-BE49-F238E27FC236}">
                    <a16:creationId xmlns:a16="http://schemas.microsoft.com/office/drawing/2014/main" id="{872FD9E7-BF1E-24DF-808D-12313707FD84}"/>
                  </a:ext>
                </a:extLst>
              </p:cNvPr>
              <p:cNvSpPr txBox="1">
                <a:spLocks noRot="1" noChangeAspect="1" noMove="1" noResize="1" noEditPoints="1" noAdjustHandles="1" noChangeArrowheads="1" noChangeShapeType="1" noTextEdit="1"/>
              </p:cNvSpPr>
              <p:nvPr/>
            </p:nvSpPr>
            <p:spPr>
              <a:xfrm>
                <a:off x="7806581" y="5259605"/>
                <a:ext cx="4725697" cy="400110"/>
              </a:xfrm>
              <a:prstGeom prst="rect">
                <a:avLst/>
              </a:prstGeom>
              <a:blipFill>
                <a:blip r:embed="rId4"/>
                <a:stretch>
                  <a:fillRect l="-1419" t="-13846" b="-2923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D37361A5-F6F9-F6B6-15DC-ED410C52C77D}"/>
                  </a:ext>
                </a:extLst>
              </p:cNvPr>
              <p:cNvSpPr txBox="1"/>
              <p:nvPr/>
            </p:nvSpPr>
            <p:spPr>
              <a:xfrm>
                <a:off x="249820" y="2871379"/>
                <a:ext cx="6097508" cy="11152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000" b="1" i="1" smtClean="0">
                          <a:latin typeface="Cambria Math" panose="02040503050406030204" pitchFamily="18" charset="0"/>
                          <a:ea typeface="Cambria Math" panose="02040503050406030204" pitchFamily="18" charset="0"/>
                        </a:rPr>
                        <m:t>𝒑</m:t>
                      </m:r>
                      <m:d>
                        <m:dPr>
                          <m:ctrlPr>
                            <a:rPr kumimoji="1" lang="en-US" altLang="ja-JP" sz="2000" b="1" i="1" smtClean="0">
                              <a:latin typeface="Cambria Math" panose="02040503050406030204" pitchFamily="18" charset="0"/>
                              <a:ea typeface="Cambria Math" panose="02040503050406030204" pitchFamily="18" charset="0"/>
                            </a:rPr>
                          </m:ctrlPr>
                        </m:dPr>
                        <m:e>
                          <m:r>
                            <a:rPr kumimoji="1" lang="en-US" altLang="ja-JP" sz="2000" b="1" i="1" smtClean="0">
                              <a:latin typeface="Cambria Math" panose="02040503050406030204" pitchFamily="18" charset="0"/>
                              <a:ea typeface="Cambria Math" panose="02040503050406030204" pitchFamily="18" charset="0"/>
                            </a:rPr>
                            <m:t>𝒂</m:t>
                          </m:r>
                        </m:e>
                      </m:d>
                      <m:r>
                        <a:rPr kumimoji="1" lang="en-US" altLang="ja-JP" sz="2000" b="1" i="1" smtClean="0">
                          <a:latin typeface="Cambria Math" panose="02040503050406030204" pitchFamily="18" charset="0"/>
                          <a:ea typeface="Cambria Math" panose="02040503050406030204" pitchFamily="18" charset="0"/>
                        </a:rPr>
                        <m:t>=</m:t>
                      </m:r>
                      <m:f>
                        <m:fPr>
                          <m:ctrlPr>
                            <a:rPr lang="en-US" altLang="ja-JP" sz="2000" b="1" i="1">
                              <a:latin typeface="Cambria Math" panose="02040503050406030204" pitchFamily="18" charset="0"/>
                              <a:ea typeface="Cambria Math" panose="02040503050406030204" pitchFamily="18" charset="0"/>
                            </a:rPr>
                          </m:ctrlPr>
                        </m:fPr>
                        <m:num>
                          <m:sSup>
                            <m:sSupPr>
                              <m:ctrlPr>
                                <a:rPr lang="en-US" altLang="ja-JP" sz="2000" b="1" i="1">
                                  <a:latin typeface="Cambria Math" panose="02040503050406030204" pitchFamily="18" charset="0"/>
                                  <a:ea typeface="Cambria Math" panose="02040503050406030204" pitchFamily="18" charset="0"/>
                                </a:rPr>
                              </m:ctrlPr>
                            </m:sSupPr>
                            <m:e>
                              <m:r>
                                <a:rPr lang="en-US" altLang="ja-JP" sz="2000" b="1" i="1">
                                  <a:latin typeface="Cambria Math" panose="02040503050406030204" pitchFamily="18" charset="0"/>
                                  <a:ea typeface="Cambria Math" panose="02040503050406030204" pitchFamily="18" charset="0"/>
                                </a:rPr>
                                <m:t>𝒆</m:t>
                              </m:r>
                            </m:e>
                            <m:sup>
                              <m:f>
                                <m:fPr>
                                  <m:ctrlPr>
                                    <a:rPr lang="en-US" altLang="ja-JP" sz="2000" b="1" i="1">
                                      <a:latin typeface="Cambria Math" panose="02040503050406030204" pitchFamily="18" charset="0"/>
                                      <a:ea typeface="Cambria Math" panose="02040503050406030204" pitchFamily="18" charset="0"/>
                                    </a:rPr>
                                  </m:ctrlPr>
                                </m:fPr>
                                <m:num>
                                  <m:r>
                                    <a:rPr lang="en-US" altLang="ja-JP" sz="2000" b="1" i="1">
                                      <a:latin typeface="Cambria Math" panose="02040503050406030204" pitchFamily="18" charset="0"/>
                                      <a:ea typeface="Cambria Math" panose="02040503050406030204" pitchFamily="18" charset="0"/>
                                    </a:rPr>
                                    <m:t>𝑸</m:t>
                                  </m:r>
                                  <m:d>
                                    <m:dPr>
                                      <m:ctrlPr>
                                        <a:rPr lang="en-US" altLang="ja-JP" sz="2000" b="1" i="1">
                                          <a:latin typeface="Cambria Math" panose="02040503050406030204" pitchFamily="18" charset="0"/>
                                          <a:ea typeface="Cambria Math" panose="02040503050406030204" pitchFamily="18" charset="0"/>
                                        </a:rPr>
                                      </m:ctrlPr>
                                    </m:dPr>
                                    <m:e>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𝒔</m:t>
                                          </m:r>
                                        </m:e>
                                        <m:sub>
                                          <m:r>
                                            <a:rPr lang="en-US" altLang="ja-JP" sz="2000" b="1" i="1">
                                              <a:latin typeface="Cambria Math" panose="02040503050406030204" pitchFamily="18" charset="0"/>
                                              <a:ea typeface="Cambria Math" panose="02040503050406030204" pitchFamily="18" charset="0"/>
                                            </a:rPr>
                                            <m:t>𝒕</m:t>
                                          </m:r>
                                        </m:sub>
                                      </m:sSub>
                                      <m:r>
                                        <a:rPr lang="en-US" altLang="ja-JP" sz="2000" b="1" i="1">
                                          <a:latin typeface="Cambria Math" panose="02040503050406030204" pitchFamily="18" charset="0"/>
                                          <a:ea typeface="Cambria Math" panose="02040503050406030204" pitchFamily="18" charset="0"/>
                                        </a:rPr>
                                        <m:t>,</m:t>
                                      </m:r>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𝒂</m:t>
                                          </m:r>
                                        </m:e>
                                        <m:sub>
                                          <m:r>
                                            <a:rPr lang="en-US" altLang="ja-JP" sz="2000" b="1" i="1">
                                              <a:latin typeface="Cambria Math" panose="02040503050406030204" pitchFamily="18" charset="0"/>
                                              <a:ea typeface="Cambria Math" panose="02040503050406030204" pitchFamily="18" charset="0"/>
                                            </a:rPr>
                                            <m:t>𝒕</m:t>
                                          </m:r>
                                        </m:sub>
                                      </m:sSub>
                                    </m:e>
                                  </m:d>
                                </m:num>
                                <m:den>
                                  <m:r>
                                    <a:rPr lang="en-US" altLang="ja-JP" sz="2000" b="1" i="1">
                                      <a:latin typeface="Cambria Math" panose="02040503050406030204" pitchFamily="18" charset="0"/>
                                      <a:ea typeface="Cambria Math" panose="02040503050406030204" pitchFamily="18" charset="0"/>
                                    </a:rPr>
                                    <m:t>𝑻</m:t>
                                  </m:r>
                                </m:den>
                              </m:f>
                            </m:sup>
                          </m:sSup>
                        </m:num>
                        <m:den>
                          <m:nary>
                            <m:naryPr>
                              <m:chr m:val="∑"/>
                              <m:ctrlPr>
                                <a:rPr lang="en-US" altLang="ja-JP" sz="2000" b="1" i="1">
                                  <a:latin typeface="Cambria Math" panose="02040503050406030204" pitchFamily="18" charset="0"/>
                                  <a:ea typeface="Cambria Math" panose="02040503050406030204" pitchFamily="18" charset="0"/>
                                </a:rPr>
                              </m:ctrlPr>
                            </m:naryPr>
                            <m:sub>
                              <m:r>
                                <m:rPr>
                                  <m:brk m:alnAt="23"/>
                                </m:rPr>
                                <a:rPr lang="en-US" altLang="ja-JP" sz="2000" b="1" i="1">
                                  <a:latin typeface="Cambria Math" panose="02040503050406030204" pitchFamily="18" charset="0"/>
                                  <a:ea typeface="Cambria Math" panose="02040503050406030204" pitchFamily="18" charset="0"/>
                                </a:rPr>
                                <m:t>𝒌</m:t>
                              </m:r>
                              <m:r>
                                <a:rPr lang="en-US" altLang="ja-JP" sz="2000" b="1" i="1">
                                  <a:latin typeface="Cambria Math" panose="02040503050406030204" pitchFamily="18" charset="0"/>
                                  <a:ea typeface="Cambria Math" panose="02040503050406030204" pitchFamily="18" charset="0"/>
                                </a:rPr>
                                <m:t>=</m:t>
                              </m:r>
                              <m:r>
                                <a:rPr lang="en-US" altLang="ja-JP" sz="2000" b="1" i="1">
                                  <a:latin typeface="Cambria Math" panose="02040503050406030204" pitchFamily="18" charset="0"/>
                                  <a:ea typeface="Cambria Math" panose="02040503050406030204" pitchFamily="18" charset="0"/>
                                </a:rPr>
                                <m:t>𝟏</m:t>
                              </m:r>
                            </m:sub>
                            <m:sup>
                              <m:r>
                                <a:rPr lang="en-US" altLang="ja-JP" sz="2000" b="1" i="1">
                                  <a:latin typeface="Cambria Math" panose="02040503050406030204" pitchFamily="18" charset="0"/>
                                  <a:ea typeface="Cambria Math" panose="02040503050406030204" pitchFamily="18" charset="0"/>
                                </a:rPr>
                                <m:t>𝒏</m:t>
                              </m:r>
                            </m:sup>
                            <m:e>
                              <m:sSup>
                                <m:sSupPr>
                                  <m:ctrlPr>
                                    <a:rPr lang="en-US" altLang="ja-JP" sz="2000" b="1" i="1">
                                      <a:latin typeface="Cambria Math" panose="02040503050406030204" pitchFamily="18" charset="0"/>
                                      <a:ea typeface="Cambria Math" panose="02040503050406030204" pitchFamily="18" charset="0"/>
                                    </a:rPr>
                                  </m:ctrlPr>
                                </m:sSupPr>
                                <m:e>
                                  <m:r>
                                    <a:rPr lang="en-US" altLang="ja-JP" sz="2000" b="1" i="1">
                                      <a:latin typeface="Cambria Math" panose="02040503050406030204" pitchFamily="18" charset="0"/>
                                      <a:ea typeface="Cambria Math" panose="02040503050406030204" pitchFamily="18" charset="0"/>
                                    </a:rPr>
                                    <m:t>𝒆</m:t>
                                  </m:r>
                                </m:e>
                                <m:sup>
                                  <m:f>
                                    <m:fPr>
                                      <m:ctrlPr>
                                        <a:rPr lang="en-US" altLang="ja-JP" sz="2000" b="1" i="1">
                                          <a:latin typeface="Cambria Math" panose="02040503050406030204" pitchFamily="18" charset="0"/>
                                          <a:ea typeface="Cambria Math" panose="02040503050406030204" pitchFamily="18" charset="0"/>
                                        </a:rPr>
                                      </m:ctrlPr>
                                    </m:fPr>
                                    <m:num>
                                      <m:r>
                                        <a:rPr lang="en-US" altLang="ja-JP" sz="2000" b="1" i="1">
                                          <a:latin typeface="Cambria Math" panose="02040503050406030204" pitchFamily="18" charset="0"/>
                                          <a:ea typeface="Cambria Math" panose="02040503050406030204" pitchFamily="18" charset="0"/>
                                        </a:rPr>
                                        <m:t>𝑸</m:t>
                                      </m:r>
                                      <m:d>
                                        <m:dPr>
                                          <m:ctrlPr>
                                            <a:rPr lang="en-US" altLang="ja-JP" sz="2000" b="1" i="1">
                                              <a:latin typeface="Cambria Math" panose="02040503050406030204" pitchFamily="18" charset="0"/>
                                              <a:ea typeface="Cambria Math" panose="02040503050406030204" pitchFamily="18" charset="0"/>
                                            </a:rPr>
                                          </m:ctrlPr>
                                        </m:dPr>
                                        <m:e>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𝒔</m:t>
                                              </m:r>
                                            </m:e>
                                            <m:sub>
                                              <m:r>
                                                <a:rPr lang="en-US" altLang="ja-JP" sz="2000" b="1" i="1">
                                                  <a:latin typeface="Cambria Math" panose="02040503050406030204" pitchFamily="18" charset="0"/>
                                                  <a:ea typeface="Cambria Math" panose="02040503050406030204" pitchFamily="18" charset="0"/>
                                                </a:rPr>
                                                <m:t>𝒕</m:t>
                                              </m:r>
                                            </m:sub>
                                          </m:sSub>
                                          <m:r>
                                            <a:rPr lang="en-US" altLang="ja-JP" sz="2000" b="1" i="1">
                                              <a:latin typeface="Cambria Math" panose="02040503050406030204" pitchFamily="18" charset="0"/>
                                              <a:ea typeface="Cambria Math" panose="02040503050406030204" pitchFamily="18" charset="0"/>
                                            </a:rPr>
                                            <m:t>,</m:t>
                                          </m:r>
                                          <m:sSub>
                                            <m:sSubPr>
                                              <m:ctrlPr>
                                                <a:rPr lang="en-US" altLang="ja-JP" sz="2000" b="1" i="1">
                                                  <a:latin typeface="Cambria Math" panose="02040503050406030204" pitchFamily="18" charset="0"/>
                                                  <a:ea typeface="Cambria Math" panose="02040503050406030204" pitchFamily="18" charset="0"/>
                                                </a:rPr>
                                              </m:ctrlPr>
                                            </m:sSubPr>
                                            <m:e>
                                              <m:r>
                                                <a:rPr lang="en-US" altLang="ja-JP" sz="2000" b="1" i="1">
                                                  <a:latin typeface="Cambria Math" panose="02040503050406030204" pitchFamily="18" charset="0"/>
                                                  <a:ea typeface="Cambria Math" panose="02040503050406030204" pitchFamily="18" charset="0"/>
                                                </a:rPr>
                                                <m:t>𝒂</m:t>
                                              </m:r>
                                            </m:e>
                                            <m:sub>
                                              <m:r>
                                                <a:rPr lang="en-US" altLang="ja-JP" sz="2000" b="1" i="1">
                                                  <a:latin typeface="Cambria Math" panose="02040503050406030204" pitchFamily="18" charset="0"/>
                                                  <a:ea typeface="Cambria Math" panose="02040503050406030204" pitchFamily="18" charset="0"/>
                                                </a:rPr>
                                                <m:t>𝒌</m:t>
                                              </m:r>
                                            </m:sub>
                                          </m:sSub>
                                        </m:e>
                                      </m:d>
                                    </m:num>
                                    <m:den>
                                      <m:r>
                                        <a:rPr lang="en-US" altLang="ja-JP" sz="2000" b="1" i="1">
                                          <a:latin typeface="Cambria Math" panose="02040503050406030204" pitchFamily="18" charset="0"/>
                                          <a:ea typeface="Cambria Math" panose="02040503050406030204" pitchFamily="18" charset="0"/>
                                        </a:rPr>
                                        <m:t>𝑻</m:t>
                                      </m:r>
                                    </m:den>
                                  </m:f>
                                </m:sup>
                              </m:sSup>
                            </m:e>
                          </m:nary>
                        </m:den>
                      </m:f>
                    </m:oMath>
                  </m:oMathPara>
                </a14:m>
                <a:endParaRPr lang="ja-JP" altLang="en-US" sz="2000" b="1" dirty="0"/>
              </a:p>
            </p:txBody>
          </p:sp>
        </mc:Choice>
        <mc:Fallback xmlns="">
          <p:sp>
            <p:nvSpPr>
              <p:cNvPr id="4" name="テキスト ボックス 3">
                <a:extLst>
                  <a:ext uri="{FF2B5EF4-FFF2-40B4-BE49-F238E27FC236}">
                    <a16:creationId xmlns:a16="http://schemas.microsoft.com/office/drawing/2014/main" id="{D37361A5-F6F9-F6B6-15DC-ED410C52C77D}"/>
                  </a:ext>
                </a:extLst>
              </p:cNvPr>
              <p:cNvSpPr txBox="1">
                <a:spLocks noRot="1" noChangeAspect="1" noMove="1" noResize="1" noEditPoints="1" noAdjustHandles="1" noChangeArrowheads="1" noChangeShapeType="1" noTextEdit="1"/>
              </p:cNvSpPr>
              <p:nvPr/>
            </p:nvSpPr>
            <p:spPr>
              <a:xfrm>
                <a:off x="249820" y="2871379"/>
                <a:ext cx="6097508" cy="111524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C4ECA97C-BC94-559B-5BB5-2CAFCBE87DC0}"/>
                  </a:ext>
                </a:extLst>
              </p:cNvPr>
              <p:cNvSpPr txBox="1"/>
              <p:nvPr/>
            </p:nvSpPr>
            <p:spPr>
              <a:xfrm>
                <a:off x="68235" y="1278029"/>
                <a:ext cx="7225700" cy="4678204"/>
              </a:xfrm>
              <a:prstGeom prst="rect">
                <a:avLst/>
              </a:prstGeom>
              <a:noFill/>
            </p:spPr>
            <p:txBody>
              <a:bodyPr wrap="square" rtlCol="0">
                <a:spAutoFit/>
              </a:bodyPr>
              <a:lstStyle/>
              <a:p>
                <a:r>
                  <a:rPr kumimoji="1" lang="en-US" altLang="ja-JP" sz="2400" b="0" dirty="0"/>
                  <a:t>Q</a:t>
                </a:r>
                <a:r>
                  <a:rPr kumimoji="1" lang="ja-JP" altLang="en-US" sz="2400" b="0" dirty="0"/>
                  <a:t>学習</a:t>
                </a:r>
                <a14:m>
                  <m:oMath xmlns:m="http://schemas.openxmlformats.org/officeDocument/2006/math">
                    <m:r>
                      <a:rPr kumimoji="1" lang="ja-JP" altLang="en-US" sz="2400" i="1">
                        <a:latin typeface="Cambria Math" panose="02040503050406030204" pitchFamily="18" charset="0"/>
                      </a:rPr>
                      <m:t>における</m:t>
                    </m:r>
                    <m:r>
                      <a:rPr kumimoji="1" lang="en-US" altLang="ja-JP" sz="2400" b="0" i="1" smtClean="0">
                        <a:latin typeface="Cambria Math" panose="02040503050406030204" pitchFamily="18" charset="0"/>
                      </a:rPr>
                      <m:t> </m:t>
                    </m:r>
                    <m:r>
                      <a:rPr kumimoji="1" lang="en-US" altLang="ja-JP" sz="2400" b="0" i="1" smtClean="0">
                        <a:latin typeface="Cambria Math" panose="02040503050406030204" pitchFamily="18" charset="0"/>
                      </a:rPr>
                      <m:t>𝑆𝑜𝑓𝑡𝑚𝑎𝑥</m:t>
                    </m:r>
                  </m:oMath>
                </a14:m>
                <a:r>
                  <a:rPr kumimoji="1" lang="ja-JP" altLang="en-US" sz="2400" dirty="0"/>
                  <a:t>関数は</a:t>
                </a:r>
                <a14:m>
                  <m:oMath xmlns:m="http://schemas.openxmlformats.org/officeDocument/2006/math">
                    <m:r>
                      <a:rPr kumimoji="1" lang="en-US" altLang="ja-JP" sz="2400" b="0" i="1" smtClean="0">
                        <a:latin typeface="Cambria Math" panose="02040503050406030204" pitchFamily="18" charset="0"/>
                      </a:rPr>
                      <m:t>𝑝</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oMath>
                </a14:m>
                <a:r>
                  <a:rPr kumimoji="1" lang="ja-JP" altLang="en-US" sz="2400" dirty="0"/>
                  <a:t>で表される</a:t>
                </a:r>
                <a:r>
                  <a:rPr kumimoji="1" lang="en-US" altLang="ja-JP" sz="2400" dirty="0"/>
                  <a:t>.</a:t>
                </a:r>
              </a:p>
              <a:p>
                <a:r>
                  <a:rPr kumimoji="1" lang="ja-JP" altLang="en-US" sz="2400" b="1" dirty="0">
                    <a:solidFill>
                      <a:schemeClr val="accent2"/>
                    </a:solidFill>
                  </a:rPr>
                  <a:t>計算温度</a:t>
                </a:r>
                <a:r>
                  <a:rPr kumimoji="1" lang="en-US" altLang="ja-JP" sz="2400" b="1" dirty="0">
                    <a:solidFill>
                      <a:schemeClr val="accent2"/>
                    </a:solidFill>
                  </a:rPr>
                  <a:t>T</a:t>
                </a:r>
                <a:r>
                  <a:rPr kumimoji="1" lang="ja-JP" altLang="en-US" sz="2400" dirty="0"/>
                  <a:t>を調整</a:t>
                </a:r>
                <a:endParaRPr kumimoji="1" lang="en-US" altLang="ja-JP" sz="2400" dirty="0"/>
              </a:p>
              <a:p>
                <a:r>
                  <a:rPr kumimoji="1" lang="ja-JP" altLang="en-US" sz="2400" dirty="0"/>
                  <a:t>➡</a:t>
                </a:r>
                <a:r>
                  <a:rPr kumimoji="1" lang="en-US" altLang="ja-JP" sz="2400" dirty="0"/>
                  <a:t> </a:t>
                </a:r>
                <a:r>
                  <a:rPr kumimoji="1" lang="ja-JP" altLang="en-US" sz="2400" dirty="0"/>
                  <a:t>異なる</a:t>
                </a:r>
                <a:r>
                  <a:rPr kumimoji="1" lang="en-US" altLang="ja-JP" sz="2400" dirty="0"/>
                  <a:t>Q</a:t>
                </a:r>
                <a:r>
                  <a:rPr kumimoji="1" lang="ja-JP" altLang="en-US" sz="2400" dirty="0"/>
                  <a:t>値によるデータの重みを変化可能</a:t>
                </a:r>
                <a:r>
                  <a:rPr kumimoji="1" lang="en-US" altLang="ja-JP" sz="2400" dirty="0"/>
                  <a:t>. </a:t>
                </a:r>
              </a:p>
              <a:p>
                <a:endParaRPr kumimoji="1" lang="en-US" altLang="ja-JP" dirty="0"/>
              </a:p>
              <a:p>
                <a:endParaRPr kumimoji="1" lang="en-US" altLang="ja-JP" dirty="0"/>
              </a:p>
              <a:p>
                <a:endParaRPr kumimoji="1" lang="en-US" altLang="ja-JP" dirty="0"/>
              </a:p>
              <a:p>
                <a:endParaRPr kumimoji="1" lang="en-US" altLang="ja-JP" dirty="0"/>
              </a:p>
              <a:p>
                <a:endParaRPr kumimoji="1" lang="en-US" altLang="ja-JP" sz="2000" dirty="0"/>
              </a:p>
              <a:p>
                <a:endParaRPr kumimoji="1" lang="en-US" altLang="ja-JP" sz="2000" dirty="0"/>
              </a:p>
              <a:p>
                <a:endParaRPr kumimoji="1" lang="en-US" altLang="ja-JP" sz="2400" dirty="0"/>
              </a:p>
              <a:p>
                <a:endParaRPr kumimoji="1" lang="en-US" altLang="ja-JP" sz="2400" dirty="0"/>
              </a:p>
              <a:p>
                <a:pPr marL="342900" indent="-342900">
                  <a:buFont typeface="Wingdings" panose="05000000000000000000" pitchFamily="2" charset="2"/>
                  <a:buChar char="n"/>
                </a:pPr>
                <a:r>
                  <a:rPr kumimoji="1" lang="en-US" altLang="ja-JP" sz="2400" dirty="0"/>
                  <a:t>T</a:t>
                </a:r>
                <a:r>
                  <a:rPr kumimoji="1" lang="ja-JP" altLang="en-US" sz="2400" dirty="0"/>
                  <a:t>が</a:t>
                </a:r>
                <a:r>
                  <a:rPr kumimoji="1" lang="en-US" altLang="ja-JP" sz="2400" dirty="0"/>
                  <a:t>0</a:t>
                </a:r>
                <a:r>
                  <a:rPr kumimoji="1" lang="ja-JP" altLang="en-US" sz="2400" dirty="0"/>
                  <a:t>付近 </a:t>
                </a:r>
                <a:r>
                  <a:rPr kumimoji="1" lang="en-US" altLang="ja-JP" sz="2400" dirty="0"/>
                  <a:t>: Q</a:t>
                </a:r>
                <a:r>
                  <a:rPr kumimoji="1" lang="ja-JP" altLang="en-US" sz="2400" dirty="0"/>
                  <a:t>値が大きいデータの確率</a:t>
                </a:r>
                <a14:m>
                  <m:oMath xmlns:m="http://schemas.openxmlformats.org/officeDocument/2006/math">
                    <m:r>
                      <a:rPr kumimoji="1" lang="en-US" altLang="ja-JP" sz="2400" b="0" i="1" smtClean="0">
                        <a:latin typeface="Cambria Math" panose="02040503050406030204" pitchFamily="18" charset="0"/>
                      </a:rPr>
                      <m:t>𝑝</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𝑎</m:t>
                    </m:r>
                    <m:r>
                      <a:rPr kumimoji="1" lang="en-US" altLang="ja-JP" sz="2400" b="0" i="1" smtClean="0">
                        <a:latin typeface="Cambria Math" panose="02040503050406030204" pitchFamily="18" charset="0"/>
                      </a:rPr>
                      <m:t>)</m:t>
                    </m:r>
                  </m:oMath>
                </a14:m>
                <a:r>
                  <a:rPr kumimoji="1" lang="ja-JP" altLang="en-US" sz="2400" dirty="0"/>
                  <a:t>が際立つ</a:t>
                </a:r>
                <a:endParaRPr kumimoji="1" lang="en-US" altLang="ja-JP" sz="2400" dirty="0"/>
              </a:p>
              <a:p>
                <a:pPr marL="342900" indent="-342900">
                  <a:buFont typeface="Wingdings" panose="05000000000000000000" pitchFamily="2" charset="2"/>
                  <a:buChar char="n"/>
                </a:pPr>
                <a:r>
                  <a:rPr kumimoji="1" lang="en-US" altLang="ja-JP" sz="2400" dirty="0"/>
                  <a:t>T</a:t>
                </a:r>
                <a:r>
                  <a:rPr kumimoji="1" lang="ja-JP" altLang="en-US" sz="2400" dirty="0"/>
                  <a:t>が</a:t>
                </a:r>
                <a:r>
                  <a:rPr kumimoji="1" lang="en-US" altLang="ja-JP" sz="2400" dirty="0"/>
                  <a:t>10</a:t>
                </a:r>
                <a:r>
                  <a:rPr kumimoji="1" lang="ja-JP" altLang="en-US" sz="2400" dirty="0"/>
                  <a:t>付近 </a:t>
                </a:r>
                <a:r>
                  <a:rPr kumimoji="1" lang="en-US" altLang="ja-JP" sz="2400" dirty="0"/>
                  <a:t>: </a:t>
                </a:r>
                <a:r>
                  <a:rPr kumimoji="1" lang="ja-JP" altLang="en-US" sz="2400" dirty="0"/>
                  <a:t>データを均一に表現</a:t>
                </a:r>
                <a:endParaRPr kumimoji="1" lang="en-US" altLang="ja-JP" sz="2400" dirty="0"/>
              </a:p>
              <a:p>
                <a:endParaRPr kumimoji="1" lang="ja-JP" altLang="en-US" dirty="0"/>
              </a:p>
            </p:txBody>
          </p:sp>
        </mc:Choice>
        <mc:Fallback xmlns="">
          <p:sp>
            <p:nvSpPr>
              <p:cNvPr id="7" name="テキスト ボックス 6">
                <a:extLst>
                  <a:ext uri="{FF2B5EF4-FFF2-40B4-BE49-F238E27FC236}">
                    <a16:creationId xmlns:a16="http://schemas.microsoft.com/office/drawing/2014/main" id="{C4ECA97C-BC94-559B-5BB5-2CAFCBE87DC0}"/>
                  </a:ext>
                </a:extLst>
              </p:cNvPr>
              <p:cNvSpPr txBox="1">
                <a:spLocks noRot="1" noChangeAspect="1" noMove="1" noResize="1" noEditPoints="1" noAdjustHandles="1" noChangeArrowheads="1" noChangeShapeType="1" noTextEdit="1"/>
              </p:cNvSpPr>
              <p:nvPr/>
            </p:nvSpPr>
            <p:spPr>
              <a:xfrm>
                <a:off x="68235" y="1278029"/>
                <a:ext cx="7225700" cy="4678204"/>
              </a:xfrm>
              <a:prstGeom prst="rect">
                <a:avLst/>
              </a:prstGeom>
              <a:blipFill>
                <a:blip r:embed="rId6"/>
                <a:stretch>
                  <a:fillRect l="-1265" t="-1565" r="-42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2373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1A7F3E-5E86-3B75-0A33-74E96A2EFB58}"/>
              </a:ext>
            </a:extLst>
          </p:cNvPr>
          <p:cNvSpPr>
            <a:spLocks noGrp="1"/>
          </p:cNvSpPr>
          <p:nvPr>
            <p:ph type="title"/>
          </p:nvPr>
        </p:nvSpPr>
        <p:spPr>
          <a:xfrm>
            <a:off x="1154083" y="0"/>
            <a:ext cx="10058400" cy="755117"/>
          </a:xfrm>
        </p:spPr>
        <p:txBody>
          <a:bodyPr/>
          <a:lstStyle/>
          <a:p>
            <a:r>
              <a:rPr lang="en-US" altLang="ja-JP" dirty="0"/>
              <a:t>Appendix3		</a:t>
            </a:r>
            <a:r>
              <a:rPr lang="ja-JP" altLang="en-US" sz="4400" dirty="0"/>
              <a:t>学習アルゴリズム</a:t>
            </a:r>
            <a:endParaRPr kumimoji="1" lang="ja-JP" altLang="en-US" dirty="0"/>
          </a:p>
        </p:txBody>
      </p:sp>
      <p:sp>
        <p:nvSpPr>
          <p:cNvPr id="3" name="コンテンツ プレースホルダー 2">
            <a:extLst>
              <a:ext uri="{FF2B5EF4-FFF2-40B4-BE49-F238E27FC236}">
                <a16:creationId xmlns:a16="http://schemas.microsoft.com/office/drawing/2014/main" id="{B600AD19-FE5C-8D0E-AA4D-50F7A2CFD50B}"/>
              </a:ext>
            </a:extLst>
          </p:cNvPr>
          <p:cNvSpPr>
            <a:spLocks noGrp="1"/>
          </p:cNvSpPr>
          <p:nvPr>
            <p:ph idx="1"/>
          </p:nvPr>
        </p:nvSpPr>
        <p:spPr>
          <a:xfrm>
            <a:off x="907867" y="1910942"/>
            <a:ext cx="10058400" cy="4588520"/>
          </a:xfrm>
        </p:spPr>
        <p:txBody>
          <a:bodyPr>
            <a:normAutofit/>
          </a:bodyPr>
          <a:lstStyle/>
          <a:p>
            <a:pPr marL="0" indent="0">
              <a:buNone/>
            </a:pPr>
            <a:endParaRPr lang="en-US" altLang="ja-JP" sz="2400" dirty="0"/>
          </a:p>
          <a:p>
            <a:endParaRPr kumimoji="1" lang="ja-JP" altLang="en-US" sz="2400" dirty="0"/>
          </a:p>
        </p:txBody>
      </p:sp>
      <p:sp>
        <p:nvSpPr>
          <p:cNvPr id="6" name="スライド番号プレースホルダー 5">
            <a:extLst>
              <a:ext uri="{FF2B5EF4-FFF2-40B4-BE49-F238E27FC236}">
                <a16:creationId xmlns:a16="http://schemas.microsoft.com/office/drawing/2014/main" id="{F1BDA9BD-2E38-6B57-0B0C-1C5C9455FC7F}"/>
              </a:ext>
            </a:extLst>
          </p:cNvPr>
          <p:cNvSpPr>
            <a:spLocks noGrp="1"/>
          </p:cNvSpPr>
          <p:nvPr>
            <p:ph type="sldNum" sz="quarter" idx="12"/>
          </p:nvPr>
        </p:nvSpPr>
        <p:spPr>
          <a:xfrm>
            <a:off x="9900458" y="6459785"/>
            <a:ext cx="1312025" cy="365125"/>
          </a:xfrm>
        </p:spPr>
        <p:txBody>
          <a:bodyPr/>
          <a:lstStyle/>
          <a:p>
            <a:fld id="{E0107F97-1CD5-41F0-B842-C38020C26506}" type="slidenum">
              <a:rPr kumimoji="1" lang="ja-JP" altLang="en-US" smtClean="0"/>
              <a:t>19</a:t>
            </a:fld>
            <a:endParaRPr kumimoji="1" lang="ja-JP" altLang="en-US"/>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E3D9CFEF-30B4-2A93-A8FA-3ABB76A0C62D}"/>
                  </a:ext>
                </a:extLst>
              </p:cNvPr>
              <p:cNvSpPr txBox="1"/>
              <p:nvPr/>
            </p:nvSpPr>
            <p:spPr>
              <a:xfrm>
                <a:off x="642417" y="980205"/>
                <a:ext cx="9945291" cy="3178306"/>
              </a:xfrm>
              <a:prstGeom prst="rect">
                <a:avLst/>
              </a:prstGeom>
              <a:noFill/>
            </p:spPr>
            <p:txBody>
              <a:bodyPr wrap="square" rtlCol="0">
                <a:spAutoFit/>
              </a:bodyPr>
              <a:lstStyle/>
              <a:p>
                <a:pPr marL="457200" indent="-457200">
                  <a:buFont typeface="Wingdings" panose="05000000000000000000" pitchFamily="2" charset="2"/>
                  <a:buChar char="l"/>
                </a:pPr>
                <a:r>
                  <a:rPr kumimoji="1" lang="ja-JP" altLang="en-US" sz="2800" b="1" dirty="0"/>
                  <a:t>ベルマン方程式と行動価値関数</a:t>
                </a:r>
                <a:endParaRPr kumimoji="1" lang="en-US" altLang="ja-JP" sz="2800" b="1" dirty="0"/>
              </a:p>
              <a:p>
                <a:endParaRPr kumimoji="1" lang="en-US" altLang="ja-JP" sz="2400" dirty="0"/>
              </a:p>
              <a:p>
                <a:r>
                  <a:rPr kumimoji="1" lang="en-US" altLang="ja-JP" sz="2000" dirty="0"/>
                  <a:t>Q</a:t>
                </a:r>
                <a:r>
                  <a:rPr kumimoji="1" lang="ja-JP" altLang="en-US" sz="2000" dirty="0"/>
                  <a:t>学習においては</a:t>
                </a:r>
                <a:r>
                  <a:rPr kumimoji="1" lang="en-US" altLang="ja-JP" sz="2000" dirty="0"/>
                  <a:t>, </a:t>
                </a:r>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oMath>
                </a14:m>
                <a:r>
                  <a:rPr kumimoji="1" lang="ja-JP" altLang="en-US" sz="2000" dirty="0"/>
                  <a:t>を状態</a:t>
                </a:r>
                <a14:m>
                  <m:oMath xmlns:m="http://schemas.openxmlformats.org/officeDocument/2006/math">
                    <m:r>
                      <a:rPr kumimoji="1" lang="en-US" altLang="ja-JP" sz="2000" b="0" i="1" smtClean="0">
                        <a:latin typeface="Cambria Math" panose="02040503050406030204" pitchFamily="18" charset="0"/>
                      </a:rPr>
                      <m:t>𝑠</m:t>
                    </m:r>
                  </m:oMath>
                </a14:m>
                <a:r>
                  <a:rPr kumimoji="1" lang="ja-JP" altLang="en-US" sz="2000" dirty="0"/>
                  <a:t>から</a:t>
                </a:r>
                <a14:m>
                  <m:oMath xmlns:m="http://schemas.openxmlformats.org/officeDocument/2006/math">
                    <m:r>
                      <a:rPr kumimoji="1" lang="en-US" altLang="ja-JP" sz="2000" b="0" i="1" dirty="0" smtClean="0">
                        <a:latin typeface="Cambria Math" panose="02040503050406030204" pitchFamily="18" charset="0"/>
                      </a:rPr>
                      <m:t>𝑠</m:t>
                    </m:r>
                    <m:r>
                      <a:rPr kumimoji="1" lang="en-US" altLang="ja-JP" sz="2000" b="0" i="1" dirty="0" smtClean="0">
                        <a:latin typeface="Cambria Math" panose="02040503050406030204" pitchFamily="18" charset="0"/>
                      </a:rPr>
                      <m:t>′</m:t>
                    </m:r>
                  </m:oMath>
                </a14:m>
                <a:r>
                  <a:rPr kumimoji="1" lang="ja-JP" altLang="en-US" sz="2000" dirty="0"/>
                  <a:t>に変化するたびに更新</a:t>
                </a:r>
                <a:r>
                  <a:rPr kumimoji="1" lang="en-US" altLang="ja-JP" sz="2000" dirty="0"/>
                  <a:t>. </a:t>
                </a:r>
              </a:p>
              <a:p>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oMath>
                </a14:m>
                <a:r>
                  <a:rPr kumimoji="1" lang="ja-JP" altLang="en-US" sz="2000" dirty="0"/>
                  <a:t>は次の再帰方程式をみたす</a:t>
                </a:r>
                <a:r>
                  <a:rPr kumimoji="1" lang="en-US" altLang="ja-JP" sz="2000" dirty="0"/>
                  <a:t>. (</a:t>
                </a:r>
                <a:r>
                  <a:rPr kumimoji="1" lang="ja-JP" altLang="en-US" sz="2000" dirty="0"/>
                  <a:t>ベルマン方程式</a:t>
                </a:r>
                <a:r>
                  <a:rPr kumimoji="1" lang="en-US" altLang="ja-JP" sz="2000" dirty="0"/>
                  <a:t>)</a:t>
                </a:r>
              </a:p>
              <a:p>
                <a:endParaRPr kumimoji="1" lang="en-US" altLang="ja-JP" sz="2000" dirty="0"/>
              </a:p>
              <a:p>
                <a:pPr/>
                <a14:m>
                  <m:oMathPara xmlns:m="http://schemas.openxmlformats.org/officeDocument/2006/math">
                    <m:oMathParaPr>
                      <m:jc m:val="centerGroup"/>
                    </m:oMathParaPr>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r>
                        <a:rPr kumimoji="1" lang="en-US" altLang="ja-JP" sz="2000" b="0" i="1" smtClean="0">
                          <a:latin typeface="Cambria Math" panose="02040503050406030204" pitchFamily="18" charset="0"/>
                        </a:rPr>
                        <m:t>=</m:t>
                      </m:r>
                      <m:nary>
                        <m:naryPr>
                          <m:chr m:val="∑"/>
                          <m:supHide m:val="on"/>
                          <m:ctrlPr>
                            <a:rPr lang="en-US" altLang="ja-JP" sz="2000" i="1">
                              <a:latin typeface="Cambria Math" panose="02040503050406030204" pitchFamily="18" charset="0"/>
                            </a:rPr>
                          </m:ctrlPr>
                        </m:naryPr>
                        <m:sub>
                          <m:r>
                            <a:rPr lang="en-US" altLang="ja-JP" sz="2000" b="0" i="1" smtClean="0">
                              <a:latin typeface="Cambria Math" panose="02040503050406030204" pitchFamily="18" charset="0"/>
                            </a:rPr>
                            <m:t>𝑎</m:t>
                          </m:r>
                        </m:sub>
                        <m:sup/>
                        <m:e>
                          <m:r>
                            <a:rPr lang="ja-JP" altLang="en-US" sz="2000" i="1" smtClean="0">
                              <a:latin typeface="Cambria Math" panose="02040503050406030204" pitchFamily="18" charset="0"/>
                              <a:ea typeface="Cambria Math" panose="02040503050406030204" pitchFamily="18" charset="0"/>
                            </a:rPr>
                            <m:t>𝜋</m:t>
                          </m:r>
                          <m:d>
                            <m:dPr>
                              <m:ctrlPr>
                                <a:rPr lang="en-US" altLang="ja-JP" sz="2000" b="0" i="1" smtClean="0">
                                  <a:latin typeface="Cambria Math" panose="02040503050406030204" pitchFamily="18" charset="0"/>
                                  <a:ea typeface="Cambria Math" panose="02040503050406030204" pitchFamily="18" charset="0"/>
                                </a:rPr>
                              </m:ctrlPr>
                            </m:dPr>
                            <m:e>
                              <m:r>
                                <a:rPr lang="en-US" altLang="ja-JP" sz="2000" b="0" i="1" smtClean="0">
                                  <a:latin typeface="Cambria Math" panose="02040503050406030204" pitchFamily="18" charset="0"/>
                                  <a:ea typeface="Cambria Math" panose="02040503050406030204" pitchFamily="18" charset="0"/>
                                </a:rPr>
                                <m:t>𝑠</m:t>
                              </m:r>
                              <m:r>
                                <a:rPr lang="en-US" altLang="ja-JP" sz="2000" b="0" i="1" smtClean="0">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𝑎</m:t>
                              </m:r>
                            </m:e>
                          </m:d>
                          <m:nary>
                            <m:naryPr>
                              <m:chr m:val="∑"/>
                              <m:supHide m:val="on"/>
                              <m:ctrlPr>
                                <a:rPr lang="en-US" altLang="ja-JP" sz="2000" b="0" i="1" smtClean="0">
                                  <a:latin typeface="Cambria Math" panose="02040503050406030204" pitchFamily="18" charset="0"/>
                                  <a:ea typeface="Cambria Math" panose="02040503050406030204" pitchFamily="18" charset="0"/>
                                </a:rPr>
                              </m:ctrlPr>
                            </m:naryPr>
                            <m:sub>
                              <m:r>
                                <m:rPr>
                                  <m:brk m:alnAt="7"/>
                                </m:rPr>
                                <a:rPr lang="en-US" altLang="ja-JP" sz="2000" b="0" i="1" smtClean="0">
                                  <a:latin typeface="Cambria Math" panose="02040503050406030204" pitchFamily="18" charset="0"/>
                                  <a:ea typeface="Cambria Math" panose="02040503050406030204" pitchFamily="18" charset="0"/>
                                </a:rPr>
                                <m:t>𝑠</m:t>
                              </m:r>
                              <m:r>
                                <a:rPr lang="en-US" altLang="ja-JP" sz="2000" b="0" i="1" smtClean="0">
                                  <a:latin typeface="Cambria Math" panose="02040503050406030204" pitchFamily="18" charset="0"/>
                                  <a:ea typeface="Cambria Math" panose="02040503050406030204" pitchFamily="18" charset="0"/>
                                </a:rPr>
                                <m:t>′</m:t>
                              </m:r>
                            </m:sub>
                            <m:sup/>
                            <m:e>
                              <m:sSubSup>
                                <m:sSubSupPr>
                                  <m:ctrlPr>
                                    <a:rPr lang="en-US" altLang="ja-JP" sz="2000" b="0" i="1" smtClean="0">
                                      <a:latin typeface="Cambria Math" panose="02040503050406030204" pitchFamily="18" charset="0"/>
                                      <a:ea typeface="Cambria Math" panose="02040503050406030204" pitchFamily="18" charset="0"/>
                                    </a:rPr>
                                  </m:ctrlPr>
                                </m:sSubSupPr>
                                <m:e>
                                  <m:r>
                                    <a:rPr lang="en-US" altLang="ja-JP" sz="2000" b="0" i="1" smtClean="0">
                                      <a:latin typeface="Cambria Math" panose="02040503050406030204" pitchFamily="18" charset="0"/>
                                      <a:ea typeface="Cambria Math" panose="02040503050406030204" pitchFamily="18" charset="0"/>
                                    </a:rPr>
                                    <m:t>𝑃</m:t>
                                  </m:r>
                                </m:e>
                                <m:sub>
                                  <m:r>
                                    <a:rPr lang="en-US" altLang="ja-JP" sz="2000" b="0" i="1" smtClean="0">
                                      <a:latin typeface="Cambria Math" panose="02040503050406030204" pitchFamily="18" charset="0"/>
                                      <a:ea typeface="Cambria Math" panose="02040503050406030204" pitchFamily="18" charset="0"/>
                                    </a:rPr>
                                    <m:t>𝑠</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sub>
                                <m:sup>
                                  <m:r>
                                    <a:rPr lang="en-US" altLang="ja-JP" sz="2000" b="0" i="1" smtClean="0">
                                      <a:latin typeface="Cambria Math" panose="02040503050406030204" pitchFamily="18" charset="0"/>
                                      <a:ea typeface="Cambria Math" panose="02040503050406030204" pitchFamily="18" charset="0"/>
                                    </a:rPr>
                                    <m:t>𝑎</m:t>
                                  </m:r>
                                </m:sup>
                              </m:sSubSup>
                            </m:e>
                          </m:nary>
                          <m:r>
                            <a:rPr lang="en-US" altLang="ja-JP" sz="2000" b="0" i="1" smtClean="0">
                              <a:latin typeface="Cambria Math" panose="02040503050406030204" pitchFamily="18" charset="0"/>
                              <a:ea typeface="Cambria Math" panose="02040503050406030204" pitchFamily="18" charset="0"/>
                            </a:rPr>
                            <m:t>[</m:t>
                          </m:r>
                          <m:sSubSup>
                            <m:sSubSupPr>
                              <m:ctrlPr>
                                <a:rPr lang="en-US" altLang="ja-JP" sz="2000" b="0" i="1" smtClean="0">
                                  <a:latin typeface="Cambria Math" panose="02040503050406030204" pitchFamily="18" charset="0"/>
                                  <a:ea typeface="Cambria Math" panose="02040503050406030204" pitchFamily="18" charset="0"/>
                                </a:rPr>
                              </m:ctrlPr>
                            </m:sSubSupPr>
                            <m:e>
                              <m:r>
                                <a:rPr lang="en-US" altLang="ja-JP" sz="2000" b="0" i="1" smtClean="0">
                                  <a:latin typeface="Cambria Math" panose="02040503050406030204" pitchFamily="18" charset="0"/>
                                  <a:ea typeface="Cambria Math" panose="02040503050406030204" pitchFamily="18" charset="0"/>
                                </a:rPr>
                                <m:t>𝑅</m:t>
                              </m:r>
                            </m:e>
                            <m:sub>
                              <m:r>
                                <a:rPr lang="en-US" altLang="ja-JP" sz="2000" b="0" i="1" smtClean="0">
                                  <a:latin typeface="Cambria Math" panose="02040503050406030204" pitchFamily="18" charset="0"/>
                                  <a:ea typeface="Cambria Math" panose="02040503050406030204" pitchFamily="18" charset="0"/>
                                </a:rPr>
                                <m:t>𝑠</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sub>
                            <m:sup>
                              <m:r>
                                <a:rPr lang="en-US" altLang="ja-JP" sz="2000" b="0" i="1" smtClean="0">
                                  <a:latin typeface="Cambria Math" panose="02040503050406030204" pitchFamily="18" charset="0"/>
                                  <a:ea typeface="Cambria Math" panose="02040503050406030204" pitchFamily="18" charset="0"/>
                                </a:rPr>
                                <m:t>𝑎</m:t>
                              </m:r>
                            </m:sup>
                          </m:sSubSup>
                          <m:r>
                            <a:rPr lang="en-US" altLang="ja-JP" sz="2000" b="0" i="1" smtClean="0">
                              <a:latin typeface="Cambria Math" panose="02040503050406030204" pitchFamily="18" charset="0"/>
                              <a:ea typeface="Cambria Math" panose="02040503050406030204" pitchFamily="18" charset="0"/>
                            </a:rPr>
                            <m:t>+</m:t>
                          </m:r>
                          <m:r>
                            <a:rPr lang="ja-JP" altLang="en-US" sz="2000" b="0" i="1" smtClean="0">
                              <a:latin typeface="Cambria Math" panose="02040503050406030204" pitchFamily="18" charset="0"/>
                              <a:ea typeface="Cambria Math" panose="02040503050406030204" pitchFamily="18" charset="0"/>
                            </a:rPr>
                            <m:t>𝛾</m:t>
                          </m:r>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𝑉</m:t>
                              </m:r>
                            </m:e>
                            <m:sup>
                              <m:r>
                                <a:rPr lang="ja-JP" altLang="en-US" sz="2000" b="0" i="1" smtClean="0">
                                  <a:latin typeface="Cambria Math" panose="02040503050406030204" pitchFamily="18" charset="0"/>
                                  <a:ea typeface="Cambria Math" panose="02040503050406030204" pitchFamily="18" charset="0"/>
                                </a:rPr>
                                <m:t>𝜋</m:t>
                              </m:r>
                            </m:sup>
                          </m:sSup>
                          <m:d>
                            <m:dPr>
                              <m:ctrlPr>
                                <a:rPr lang="en-US" altLang="ja-JP" sz="2000" b="0" i="1" smtClean="0">
                                  <a:latin typeface="Cambria Math" panose="02040503050406030204" pitchFamily="18" charset="0"/>
                                  <a:ea typeface="Cambria Math" panose="02040503050406030204" pitchFamily="18" charset="0"/>
                                </a:rPr>
                              </m:ctrlPr>
                            </m:dPr>
                            <m:e>
                              <m:sSup>
                                <m:sSupPr>
                                  <m:ctrlPr>
                                    <a:rPr lang="en-US" altLang="ja-JP" sz="2000" b="0" i="1" smtClean="0">
                                      <a:latin typeface="Cambria Math" panose="02040503050406030204" pitchFamily="18" charset="0"/>
                                      <a:ea typeface="Cambria Math" panose="02040503050406030204" pitchFamily="18" charset="0"/>
                                    </a:rPr>
                                  </m:ctrlPr>
                                </m:sSupPr>
                                <m:e>
                                  <m:r>
                                    <a:rPr lang="en-US" altLang="ja-JP" sz="2000" b="0" i="1" smtClean="0">
                                      <a:latin typeface="Cambria Math" panose="02040503050406030204" pitchFamily="18" charset="0"/>
                                      <a:ea typeface="Cambria Math" panose="02040503050406030204" pitchFamily="18" charset="0"/>
                                    </a:rPr>
                                    <m:t>𝑠</m:t>
                                  </m:r>
                                </m:e>
                                <m:sup>
                                  <m:r>
                                    <a:rPr lang="en-US" altLang="ja-JP" sz="2000" b="0" i="1" smtClean="0">
                                      <a:latin typeface="Cambria Math" panose="02040503050406030204" pitchFamily="18" charset="0"/>
                                      <a:ea typeface="Cambria Math" panose="02040503050406030204" pitchFamily="18" charset="0"/>
                                    </a:rPr>
                                    <m:t>′</m:t>
                                  </m:r>
                                </m:sup>
                              </m:sSup>
                            </m:e>
                          </m:d>
                          <m:r>
                            <a:rPr lang="en-US" altLang="ja-JP" sz="2000" b="0" i="1" smtClean="0">
                              <a:latin typeface="Cambria Math" panose="02040503050406030204" pitchFamily="18" charset="0"/>
                              <a:ea typeface="Cambria Math" panose="02040503050406030204" pitchFamily="18" charset="0"/>
                            </a:rPr>
                            <m:t>]</m:t>
                          </m:r>
                        </m:e>
                      </m:nary>
                    </m:oMath>
                  </m:oMathPara>
                </a14:m>
                <a:endParaRPr kumimoji="1" lang="en-US" altLang="ja-JP" sz="2000" dirty="0"/>
              </a:p>
              <a:p>
                <a:endParaRPr kumimoji="1" lang="en-US" altLang="ja-JP" sz="2000" dirty="0"/>
              </a:p>
              <a:p>
                <a:endParaRPr kumimoji="1" lang="en-US" altLang="ja-JP" sz="2000" dirty="0"/>
              </a:p>
            </p:txBody>
          </p:sp>
        </mc:Choice>
        <mc:Fallback xmlns="">
          <p:sp>
            <p:nvSpPr>
              <p:cNvPr id="4" name="テキスト ボックス 3">
                <a:extLst>
                  <a:ext uri="{FF2B5EF4-FFF2-40B4-BE49-F238E27FC236}">
                    <a16:creationId xmlns:a16="http://schemas.microsoft.com/office/drawing/2014/main" id="{E3D9CFEF-30B4-2A93-A8FA-3ABB76A0C62D}"/>
                  </a:ext>
                </a:extLst>
              </p:cNvPr>
              <p:cNvSpPr txBox="1">
                <a:spLocks noRot="1" noChangeAspect="1" noMove="1" noResize="1" noEditPoints="1" noAdjustHandles="1" noChangeArrowheads="1" noChangeShapeType="1" noTextEdit="1"/>
              </p:cNvSpPr>
              <p:nvPr/>
            </p:nvSpPr>
            <p:spPr>
              <a:xfrm>
                <a:off x="642417" y="980205"/>
                <a:ext cx="9945291" cy="3178306"/>
              </a:xfrm>
              <a:prstGeom prst="rect">
                <a:avLst/>
              </a:prstGeom>
              <a:blipFill>
                <a:blip r:embed="rId3"/>
                <a:stretch>
                  <a:fillRect l="-1042" t="-28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6682F4A-524C-C60F-6369-0087FC036C95}"/>
                  </a:ext>
                </a:extLst>
              </p:cNvPr>
              <p:cNvSpPr txBox="1"/>
              <p:nvPr/>
            </p:nvSpPr>
            <p:spPr>
              <a:xfrm>
                <a:off x="8371937" y="2849546"/>
                <a:ext cx="3649054" cy="1158907"/>
              </a:xfrm>
              <a:prstGeom prst="rect">
                <a:avLst/>
              </a:prstGeom>
              <a:noFill/>
              <a:ln>
                <a:solidFill>
                  <a:srgbClr val="000000"/>
                </a:solidFill>
              </a:ln>
            </p:spPr>
            <p:txBody>
              <a:bodyPr wrap="square" rtlCol="0">
                <a:spAutoFit/>
              </a:bodyPr>
              <a:lstStyle/>
              <a:p>
                <a14:m>
                  <m:oMath xmlns:m="http://schemas.openxmlformats.org/officeDocument/2006/math">
                    <m:r>
                      <a:rPr lang="ja-JP" altLang="en-US" sz="1600" b="0" i="1" smtClean="0">
                        <a:latin typeface="Cambria Math" panose="02040503050406030204" pitchFamily="18" charset="0"/>
                        <a:ea typeface="Cambria Math" panose="02040503050406030204" pitchFamily="18" charset="0"/>
                      </a:rPr>
                      <m:t>𝜋</m:t>
                    </m:r>
                    <m:d>
                      <m:dPr>
                        <m:ctrlPr>
                          <a:rPr lang="en-US" altLang="ja-JP" sz="1600" i="1" smtClean="0">
                            <a:latin typeface="Cambria Math" panose="02040503050406030204" pitchFamily="18" charset="0"/>
                            <a:ea typeface="Cambria Math" panose="02040503050406030204" pitchFamily="18" charset="0"/>
                          </a:rPr>
                        </m:ctrlPr>
                      </m:dPr>
                      <m:e>
                        <m:r>
                          <a:rPr lang="en-US" altLang="ja-JP" sz="1600" b="0" i="1" smtClean="0">
                            <a:latin typeface="Cambria Math" panose="02040503050406030204" pitchFamily="18" charset="0"/>
                            <a:ea typeface="Cambria Math" panose="02040503050406030204" pitchFamily="18" charset="0"/>
                          </a:rPr>
                          <m:t>𝑠</m:t>
                        </m:r>
                        <m:r>
                          <a:rPr lang="en-US" altLang="ja-JP" sz="1600" b="0" i="1" smtClean="0">
                            <a:latin typeface="Cambria Math" panose="02040503050406030204" pitchFamily="18" charset="0"/>
                            <a:ea typeface="Cambria Math" panose="02040503050406030204" pitchFamily="18" charset="0"/>
                          </a:rPr>
                          <m:t>,</m:t>
                        </m:r>
                        <m:r>
                          <a:rPr lang="en-US" altLang="ja-JP" sz="1600" b="0" i="1" smtClean="0">
                            <a:latin typeface="Cambria Math" panose="02040503050406030204" pitchFamily="18" charset="0"/>
                            <a:ea typeface="Cambria Math" panose="02040503050406030204" pitchFamily="18" charset="0"/>
                          </a:rPr>
                          <m:t>𝑎</m:t>
                        </m:r>
                      </m:e>
                    </m:d>
                  </m:oMath>
                </a14:m>
                <a:r>
                  <a:rPr kumimoji="1" lang="en-US" altLang="ja-JP" sz="1600" dirty="0"/>
                  <a:t>: </a:t>
                </a:r>
                <a:r>
                  <a:rPr kumimoji="1" lang="ja-JP" altLang="en-US" sz="1600" dirty="0"/>
                  <a:t>状態</a:t>
                </a:r>
                <a14:m>
                  <m:oMath xmlns:m="http://schemas.openxmlformats.org/officeDocument/2006/math">
                    <m:r>
                      <a:rPr kumimoji="1" lang="en-US" altLang="ja-JP" sz="1600" b="0" i="1" smtClean="0">
                        <a:latin typeface="Cambria Math" panose="02040503050406030204" pitchFamily="18" charset="0"/>
                      </a:rPr>
                      <m:t>𝑠</m:t>
                    </m:r>
                  </m:oMath>
                </a14:m>
                <a:r>
                  <a:rPr kumimoji="1" lang="ja-JP" altLang="en-US" sz="1600" dirty="0"/>
                  <a:t>において行動</a:t>
                </a:r>
                <a14:m>
                  <m:oMath xmlns:m="http://schemas.openxmlformats.org/officeDocument/2006/math">
                    <m:r>
                      <a:rPr kumimoji="1" lang="en-US" altLang="ja-JP" sz="1600" b="0" i="1" smtClean="0">
                        <a:latin typeface="Cambria Math" panose="02040503050406030204" pitchFamily="18" charset="0"/>
                      </a:rPr>
                      <m:t>𝑎</m:t>
                    </m:r>
                  </m:oMath>
                </a14:m>
                <a:r>
                  <a:rPr kumimoji="1" lang="ja-JP" altLang="en-US" sz="1600" dirty="0"/>
                  <a:t>をとる確率</a:t>
                </a:r>
                <a:endParaRPr kumimoji="1" lang="en-US" altLang="ja-JP" sz="1600" dirty="0"/>
              </a:p>
              <a:p>
                <a14:m>
                  <m:oMath xmlns:m="http://schemas.openxmlformats.org/officeDocument/2006/math">
                    <m:sSubSup>
                      <m:sSubSupPr>
                        <m:ctrlPr>
                          <a:rPr lang="en-US" altLang="ja-JP" sz="1600" i="1">
                            <a:latin typeface="Cambria Math" panose="02040503050406030204" pitchFamily="18" charset="0"/>
                            <a:ea typeface="Cambria Math" panose="02040503050406030204" pitchFamily="18" charset="0"/>
                          </a:rPr>
                        </m:ctrlPr>
                      </m:sSubSupPr>
                      <m:e>
                        <m:r>
                          <a:rPr lang="en-US" altLang="ja-JP" sz="1600" b="0" i="1">
                            <a:latin typeface="Cambria Math" panose="02040503050406030204" pitchFamily="18" charset="0"/>
                            <a:ea typeface="Cambria Math" panose="02040503050406030204" pitchFamily="18" charset="0"/>
                          </a:rPr>
                          <m:t>𝑅</m:t>
                        </m:r>
                      </m:e>
                      <m:sub>
                        <m:r>
                          <a:rPr lang="en-US" altLang="ja-JP" sz="1600" b="0" i="1">
                            <a:latin typeface="Cambria Math" panose="02040503050406030204" pitchFamily="18" charset="0"/>
                            <a:ea typeface="Cambria Math" panose="02040503050406030204" pitchFamily="18" charset="0"/>
                          </a:rPr>
                          <m:t>𝑠</m:t>
                        </m:r>
                        <m:sSup>
                          <m:sSupPr>
                            <m:ctrlPr>
                              <a:rPr lang="en-US" altLang="ja-JP" sz="1600" i="1">
                                <a:latin typeface="Cambria Math" panose="02040503050406030204" pitchFamily="18" charset="0"/>
                                <a:ea typeface="Cambria Math" panose="02040503050406030204" pitchFamily="18" charset="0"/>
                              </a:rPr>
                            </m:ctrlPr>
                          </m:sSupPr>
                          <m:e>
                            <m:r>
                              <a:rPr lang="en-US" altLang="ja-JP" sz="1600" b="0" i="1">
                                <a:latin typeface="Cambria Math" panose="02040503050406030204" pitchFamily="18" charset="0"/>
                                <a:ea typeface="Cambria Math" panose="02040503050406030204" pitchFamily="18" charset="0"/>
                              </a:rPr>
                              <m:t>𝑠</m:t>
                            </m:r>
                          </m:e>
                          <m:sup>
                            <m:r>
                              <a:rPr lang="en-US" altLang="ja-JP" sz="1600" b="0" i="1">
                                <a:latin typeface="Cambria Math" panose="02040503050406030204" pitchFamily="18" charset="0"/>
                                <a:ea typeface="Cambria Math" panose="02040503050406030204" pitchFamily="18" charset="0"/>
                              </a:rPr>
                              <m:t>′</m:t>
                            </m:r>
                          </m:sup>
                        </m:sSup>
                      </m:sub>
                      <m:sup>
                        <m:r>
                          <a:rPr lang="en-US" altLang="ja-JP" sz="1600" b="0" i="1">
                            <a:latin typeface="Cambria Math" panose="02040503050406030204" pitchFamily="18" charset="0"/>
                            <a:ea typeface="Cambria Math" panose="02040503050406030204" pitchFamily="18" charset="0"/>
                          </a:rPr>
                          <m:t>𝑎</m:t>
                        </m:r>
                      </m:sup>
                    </m:sSubSup>
                    <m:r>
                      <a:rPr lang="en-US" altLang="ja-JP" sz="1600" b="0" i="1" smtClean="0">
                        <a:latin typeface="Cambria Math" panose="02040503050406030204" pitchFamily="18" charset="0"/>
                        <a:ea typeface="Cambria Math" panose="02040503050406030204" pitchFamily="18" charset="0"/>
                      </a:rPr>
                      <m:t>:</m:t>
                    </m:r>
                  </m:oMath>
                </a14:m>
                <a:r>
                  <a:rPr kumimoji="1" lang="ja-JP" altLang="en-US" sz="1600" dirty="0"/>
                  <a:t> 報酬</a:t>
                </a:r>
                <a14:m>
                  <m:oMath xmlns:m="http://schemas.openxmlformats.org/officeDocument/2006/math">
                    <m:sSub>
                      <m:sSubPr>
                        <m:ctrlPr>
                          <a:rPr kumimoji="1" lang="en-US" altLang="ja-JP" sz="1600" i="1" dirty="0" smtClean="0">
                            <a:latin typeface="Cambria Math" panose="02040503050406030204" pitchFamily="18" charset="0"/>
                          </a:rPr>
                        </m:ctrlPr>
                      </m:sSubPr>
                      <m:e>
                        <m:r>
                          <a:rPr kumimoji="1" lang="en-US" altLang="ja-JP" sz="1600" b="0" i="1" dirty="0" smtClean="0">
                            <a:latin typeface="Cambria Math" panose="02040503050406030204" pitchFamily="18" charset="0"/>
                          </a:rPr>
                          <m:t>𝑟</m:t>
                        </m:r>
                      </m:e>
                      <m:sub>
                        <m:r>
                          <a:rPr kumimoji="1" lang="en-US" altLang="ja-JP" sz="1600" b="0" i="1" dirty="0" smtClean="0">
                            <a:latin typeface="Cambria Math" panose="02040503050406030204" pitchFamily="18" charset="0"/>
                          </a:rPr>
                          <m:t>𝑡</m:t>
                        </m:r>
                        <m:r>
                          <a:rPr kumimoji="1" lang="en-US" altLang="ja-JP" sz="1600" b="0" i="1" dirty="0" smtClean="0">
                            <a:latin typeface="Cambria Math" panose="02040503050406030204" pitchFamily="18" charset="0"/>
                          </a:rPr>
                          <m:t>+1</m:t>
                        </m:r>
                      </m:sub>
                    </m:sSub>
                  </m:oMath>
                </a14:m>
                <a:r>
                  <a:rPr kumimoji="1" lang="ja-JP" altLang="en-US" sz="1600" dirty="0"/>
                  <a:t>の期待値</a:t>
                </a:r>
                <a:endParaRPr kumimoji="1" lang="en-US" altLang="ja-JP" sz="1600" dirty="0"/>
              </a:p>
              <a:p>
                <a14:m>
                  <m:oMath xmlns:m="http://schemas.openxmlformats.org/officeDocument/2006/math">
                    <m:sSubSup>
                      <m:sSubSupPr>
                        <m:ctrlPr>
                          <a:rPr lang="en-US" altLang="ja-JP" sz="1600" i="1" smtClean="0">
                            <a:latin typeface="Cambria Math" panose="02040503050406030204" pitchFamily="18" charset="0"/>
                            <a:ea typeface="Cambria Math" panose="02040503050406030204" pitchFamily="18" charset="0"/>
                          </a:rPr>
                        </m:ctrlPr>
                      </m:sSubSupPr>
                      <m:e>
                        <m:r>
                          <a:rPr lang="en-US" altLang="ja-JP" sz="1600" b="0" i="1" smtClean="0">
                            <a:latin typeface="Cambria Math" panose="02040503050406030204" pitchFamily="18" charset="0"/>
                            <a:ea typeface="Cambria Math" panose="02040503050406030204" pitchFamily="18" charset="0"/>
                          </a:rPr>
                          <m:t>𝑃</m:t>
                        </m:r>
                      </m:e>
                      <m:sub>
                        <m:r>
                          <a:rPr lang="en-US" altLang="ja-JP" sz="1600" b="0" i="1">
                            <a:latin typeface="Cambria Math" panose="02040503050406030204" pitchFamily="18" charset="0"/>
                            <a:ea typeface="Cambria Math" panose="02040503050406030204" pitchFamily="18" charset="0"/>
                          </a:rPr>
                          <m:t>𝑠</m:t>
                        </m:r>
                        <m:sSup>
                          <m:sSupPr>
                            <m:ctrlPr>
                              <a:rPr lang="en-US" altLang="ja-JP" sz="1600" i="1">
                                <a:latin typeface="Cambria Math" panose="02040503050406030204" pitchFamily="18" charset="0"/>
                                <a:ea typeface="Cambria Math" panose="02040503050406030204" pitchFamily="18" charset="0"/>
                              </a:rPr>
                            </m:ctrlPr>
                          </m:sSupPr>
                          <m:e>
                            <m:r>
                              <a:rPr lang="en-US" altLang="ja-JP" sz="1600" b="0" i="1">
                                <a:latin typeface="Cambria Math" panose="02040503050406030204" pitchFamily="18" charset="0"/>
                                <a:ea typeface="Cambria Math" panose="02040503050406030204" pitchFamily="18" charset="0"/>
                              </a:rPr>
                              <m:t>𝑠</m:t>
                            </m:r>
                          </m:e>
                          <m:sup>
                            <m:r>
                              <a:rPr lang="en-US" altLang="ja-JP" sz="1600" b="0" i="1">
                                <a:latin typeface="Cambria Math" panose="02040503050406030204" pitchFamily="18" charset="0"/>
                                <a:ea typeface="Cambria Math" panose="02040503050406030204" pitchFamily="18" charset="0"/>
                              </a:rPr>
                              <m:t>′</m:t>
                            </m:r>
                          </m:sup>
                        </m:sSup>
                      </m:sub>
                      <m:sup>
                        <m:r>
                          <a:rPr lang="en-US" altLang="ja-JP" sz="1600" b="0" i="1">
                            <a:latin typeface="Cambria Math" panose="02040503050406030204" pitchFamily="18" charset="0"/>
                            <a:ea typeface="Cambria Math" panose="02040503050406030204" pitchFamily="18" charset="0"/>
                          </a:rPr>
                          <m:t>𝑎</m:t>
                        </m:r>
                      </m:sup>
                    </m:sSubSup>
                  </m:oMath>
                </a14:m>
                <a:r>
                  <a:rPr kumimoji="1" lang="en-US" altLang="ja-JP" sz="1600" dirty="0"/>
                  <a:t>:</a:t>
                </a:r>
                <a:r>
                  <a:rPr kumimoji="1" lang="ja-JP" altLang="en-US" sz="1600" dirty="0"/>
                  <a:t>任意の状態</a:t>
                </a:r>
                <a14:m>
                  <m:oMath xmlns:m="http://schemas.openxmlformats.org/officeDocument/2006/math">
                    <m:r>
                      <a:rPr kumimoji="1" lang="en-US" altLang="ja-JP" sz="1600" b="0" i="1" smtClean="0">
                        <a:latin typeface="Cambria Math" panose="02040503050406030204" pitchFamily="18" charset="0"/>
                      </a:rPr>
                      <m:t>𝑠</m:t>
                    </m:r>
                    <m:r>
                      <a:rPr kumimoji="1" lang="en-US" altLang="ja-JP" sz="1600" b="0" i="1" smtClean="0">
                        <a:latin typeface="Cambria Math" panose="02040503050406030204" pitchFamily="18" charset="0"/>
                      </a:rPr>
                      <m:t>,</m:t>
                    </m:r>
                  </m:oMath>
                </a14:m>
                <a:r>
                  <a:rPr kumimoji="1" lang="ja-JP" altLang="en-US" sz="1600" dirty="0"/>
                  <a:t>行動</a:t>
                </a:r>
                <a14:m>
                  <m:oMath xmlns:m="http://schemas.openxmlformats.org/officeDocument/2006/math">
                    <m:r>
                      <a:rPr kumimoji="1" lang="en-US" altLang="ja-JP" sz="1600" b="0" i="1" dirty="0" smtClean="0">
                        <a:latin typeface="Cambria Math" panose="02040503050406030204" pitchFamily="18" charset="0"/>
                      </a:rPr>
                      <m:t>𝑎</m:t>
                    </m:r>
                    <m:r>
                      <a:rPr kumimoji="1" lang="ja-JP" altLang="en-US" sz="1600" b="0" i="1" dirty="0">
                        <a:latin typeface="Cambria Math" panose="02040503050406030204" pitchFamily="18" charset="0"/>
                      </a:rPr>
                      <m:t>において</m:t>
                    </m:r>
                  </m:oMath>
                </a14:m>
                <a:r>
                  <a:rPr kumimoji="1" lang="en-US" altLang="ja-JP" sz="1600" dirty="0"/>
                  <a:t>, </a:t>
                </a:r>
              </a:p>
              <a:p>
                <a:r>
                  <a:rPr kumimoji="1" lang="en-US" altLang="ja-JP" sz="1600" dirty="0"/>
                  <a:t>        </a:t>
                </a:r>
                <a:r>
                  <a:rPr kumimoji="1" lang="ja-JP" altLang="en-US" sz="1600" dirty="0"/>
                  <a:t>次に可能な状態</a:t>
                </a:r>
                <a14:m>
                  <m:oMath xmlns:m="http://schemas.openxmlformats.org/officeDocument/2006/math">
                    <m:r>
                      <a:rPr kumimoji="1" lang="en-US" altLang="ja-JP" sz="1600" b="0" i="1" smtClean="0">
                        <a:latin typeface="Cambria Math" panose="02040503050406030204" pitchFamily="18" charset="0"/>
                      </a:rPr>
                      <m:t>𝑠</m:t>
                    </m:r>
                    <m:r>
                      <a:rPr kumimoji="1" lang="en-US" altLang="ja-JP" sz="1600" b="0" i="1" smtClean="0">
                        <a:latin typeface="Cambria Math" panose="02040503050406030204" pitchFamily="18" charset="0"/>
                      </a:rPr>
                      <m:t>′</m:t>
                    </m:r>
                  </m:oMath>
                </a14:m>
                <a:r>
                  <a:rPr kumimoji="1" lang="ja-JP" altLang="en-US" sz="1600" dirty="0"/>
                  <a:t>の確率</a:t>
                </a:r>
              </a:p>
            </p:txBody>
          </p:sp>
        </mc:Choice>
        <mc:Fallback xmlns="">
          <p:sp>
            <p:nvSpPr>
              <p:cNvPr id="5" name="テキスト ボックス 4">
                <a:extLst>
                  <a:ext uri="{FF2B5EF4-FFF2-40B4-BE49-F238E27FC236}">
                    <a16:creationId xmlns:a16="http://schemas.microsoft.com/office/drawing/2014/main" id="{A6682F4A-524C-C60F-6369-0087FC036C95}"/>
                  </a:ext>
                </a:extLst>
              </p:cNvPr>
              <p:cNvSpPr txBox="1">
                <a:spLocks noRot="1" noChangeAspect="1" noMove="1" noResize="1" noEditPoints="1" noAdjustHandles="1" noChangeArrowheads="1" noChangeShapeType="1" noTextEdit="1"/>
              </p:cNvSpPr>
              <p:nvPr/>
            </p:nvSpPr>
            <p:spPr>
              <a:xfrm>
                <a:off x="8371937" y="2849546"/>
                <a:ext cx="3649054" cy="1158907"/>
              </a:xfrm>
              <a:prstGeom prst="rect">
                <a:avLst/>
              </a:prstGeom>
              <a:blipFill>
                <a:blip r:embed="rId4"/>
                <a:stretch>
                  <a:fillRect t="-2073"/>
                </a:stretch>
              </a:blipFill>
              <a:ln>
                <a:solidFill>
                  <a:srgbClr val="0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FAD9EC3-A0B4-267C-B5A0-A871D214A117}"/>
                  </a:ext>
                </a:extLst>
              </p:cNvPr>
              <p:cNvSpPr txBox="1"/>
              <p:nvPr/>
            </p:nvSpPr>
            <p:spPr>
              <a:xfrm>
                <a:off x="661651" y="3658288"/>
                <a:ext cx="6612467" cy="677108"/>
              </a:xfrm>
              <a:prstGeom prst="rect">
                <a:avLst/>
              </a:prstGeom>
              <a:noFill/>
            </p:spPr>
            <p:txBody>
              <a:bodyPr wrap="square" rtlCol="0">
                <a:spAutoFit/>
              </a:bodyPr>
              <a:lstStyle/>
              <a:p>
                <a:r>
                  <a:rPr kumimoji="1" lang="ja-JP" altLang="en-US" sz="2000" dirty="0"/>
                  <a:t>価値関数</a:t>
                </a:r>
                <a14:m>
                  <m:oMath xmlns:m="http://schemas.openxmlformats.org/officeDocument/2006/math">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𝑉</m:t>
                        </m:r>
                      </m:e>
                      <m:sup>
                        <m:r>
                          <a:rPr kumimoji="1" lang="ja-JP" altLang="en-US" sz="2000" b="0" i="1" smtClean="0">
                            <a:latin typeface="Cambria Math" panose="02040503050406030204" pitchFamily="18" charset="0"/>
                          </a:rPr>
                          <m:t>𝜋</m:t>
                        </m:r>
                      </m:sup>
                    </m:sSup>
                    <m:r>
                      <a:rPr kumimoji="1" lang="en-US" altLang="ja-JP" sz="2000" b="0" i="1" smtClean="0">
                        <a:latin typeface="Cambria Math" panose="02040503050406030204" pitchFamily="18" charset="0"/>
                      </a:rPr>
                      <m:t>, </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𝑄</m:t>
                        </m:r>
                      </m:e>
                      <m:sup>
                        <m:r>
                          <a:rPr kumimoji="1" lang="ja-JP" altLang="en-US" sz="2000" b="0" i="1" smtClean="0">
                            <a:latin typeface="Cambria Math" panose="02040503050406030204" pitchFamily="18" charset="0"/>
                          </a:rPr>
                          <m:t>𝜋</m:t>
                        </m:r>
                      </m:sup>
                    </m:sSup>
                  </m:oMath>
                </a14:m>
                <a:r>
                  <a:rPr kumimoji="1" lang="ja-JP" altLang="en-US" sz="2000" dirty="0"/>
                  <a:t>を近似する手法</a:t>
                </a:r>
                <a:r>
                  <a:rPr kumimoji="1" lang="en-US" altLang="ja-JP" sz="2000" dirty="0"/>
                  <a:t> :</a:t>
                </a:r>
                <a:r>
                  <a:rPr kumimoji="1" lang="ja-JP" altLang="en-US" sz="2000" dirty="0"/>
                  <a:t> </a:t>
                </a:r>
                <a:r>
                  <a:rPr kumimoji="1" lang="en-US" altLang="ja-JP" sz="2000" b="1" dirty="0">
                    <a:solidFill>
                      <a:schemeClr val="accent1"/>
                    </a:solidFill>
                  </a:rPr>
                  <a:t>TD</a:t>
                </a:r>
                <a:r>
                  <a:rPr kumimoji="1" lang="ja-JP" altLang="en-US" sz="2000" b="1" dirty="0">
                    <a:solidFill>
                      <a:schemeClr val="accent1"/>
                    </a:solidFill>
                  </a:rPr>
                  <a:t>法</a:t>
                </a:r>
                <a:r>
                  <a:rPr kumimoji="1" lang="en-US" altLang="ja-JP" sz="2000" dirty="0"/>
                  <a:t>, </a:t>
                </a:r>
                <a:r>
                  <a:rPr kumimoji="1" lang="ja-JP" altLang="en-US" sz="2000" b="1" dirty="0">
                    <a:solidFill>
                      <a:schemeClr val="accent1"/>
                    </a:solidFill>
                  </a:rPr>
                  <a:t>モンテカルロ法</a:t>
                </a:r>
                <a:endParaRPr kumimoji="1" lang="en-US" altLang="ja-JP" sz="2000" b="1" dirty="0">
                  <a:solidFill>
                    <a:schemeClr val="accent1"/>
                  </a:solidFill>
                </a:endParaRPr>
              </a:p>
              <a:p>
                <a:endParaRPr kumimoji="1" lang="ja-JP" altLang="en-US" dirty="0"/>
              </a:p>
            </p:txBody>
          </p:sp>
        </mc:Choice>
        <mc:Fallback xmlns="">
          <p:sp>
            <p:nvSpPr>
              <p:cNvPr id="7" name="テキスト ボックス 6">
                <a:extLst>
                  <a:ext uri="{FF2B5EF4-FFF2-40B4-BE49-F238E27FC236}">
                    <a16:creationId xmlns:a16="http://schemas.microsoft.com/office/drawing/2014/main" id="{7FAD9EC3-A0B4-267C-B5A0-A871D214A117}"/>
                  </a:ext>
                </a:extLst>
              </p:cNvPr>
              <p:cNvSpPr txBox="1">
                <a:spLocks noRot="1" noChangeAspect="1" noMove="1" noResize="1" noEditPoints="1" noAdjustHandles="1" noChangeArrowheads="1" noChangeShapeType="1" noTextEdit="1"/>
              </p:cNvSpPr>
              <p:nvPr/>
            </p:nvSpPr>
            <p:spPr>
              <a:xfrm>
                <a:off x="661651" y="3658288"/>
                <a:ext cx="6612467" cy="677108"/>
              </a:xfrm>
              <a:prstGeom prst="rect">
                <a:avLst/>
              </a:prstGeom>
              <a:blipFill>
                <a:blip r:embed="rId5"/>
                <a:stretch>
                  <a:fillRect l="-1015" t="-720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7D88D169-A816-4D30-13AD-473E4F28BB5C}"/>
                  </a:ext>
                </a:extLst>
              </p:cNvPr>
              <p:cNvSpPr txBox="1"/>
              <p:nvPr/>
            </p:nvSpPr>
            <p:spPr>
              <a:xfrm>
                <a:off x="599200" y="4483959"/>
                <a:ext cx="10684933" cy="1846659"/>
              </a:xfrm>
              <a:prstGeom prst="rect">
                <a:avLst/>
              </a:prstGeom>
              <a:noFill/>
            </p:spPr>
            <p:txBody>
              <a:bodyPr wrap="square" rtlCol="0">
                <a:spAutoFit/>
              </a:bodyPr>
              <a:lstStyle/>
              <a:p>
                <a:pPr marL="285750" indent="-285750">
                  <a:buFont typeface="Wingdings" panose="05000000000000000000" pitchFamily="2" charset="2"/>
                  <a:buChar char="n"/>
                </a:pPr>
                <a:r>
                  <a:rPr kumimoji="1" lang="ja-JP" altLang="en-US" sz="2400" dirty="0">
                    <a:solidFill>
                      <a:schemeClr val="accent1"/>
                    </a:solidFill>
                  </a:rPr>
                  <a:t>モンテカルロ法</a:t>
                </a:r>
                <a:r>
                  <a:rPr kumimoji="1" lang="en-US" altLang="ja-JP" sz="2400" dirty="0"/>
                  <a:t>: </a:t>
                </a:r>
                <a:r>
                  <a:rPr kumimoji="1" lang="ja-JP" altLang="en-US" sz="2400" dirty="0"/>
                  <a:t>ランダムな方策</a:t>
                </a:r>
                <a14:m>
                  <m:oMath xmlns:m="http://schemas.openxmlformats.org/officeDocument/2006/math">
                    <m:r>
                      <a:rPr kumimoji="1" lang="ja-JP" altLang="en-US" sz="2400" i="1" smtClean="0">
                        <a:latin typeface="Cambria Math" panose="02040503050406030204" pitchFamily="18" charset="0"/>
                      </a:rPr>
                      <m:t>𝜋</m:t>
                    </m:r>
                  </m:oMath>
                </a14:m>
                <a:r>
                  <a:rPr kumimoji="1" lang="ja-JP" altLang="en-US" sz="2400" dirty="0"/>
                  <a:t>のもとで行動し</a:t>
                </a:r>
                <a:r>
                  <a:rPr kumimoji="1" lang="en-US" altLang="ja-JP" sz="2400" dirty="0"/>
                  <a:t>, </a:t>
                </a:r>
                <a:r>
                  <a:rPr kumimoji="1" lang="ja-JP" altLang="en-US" sz="2400" dirty="0"/>
                  <a:t>得られた報酬</a:t>
                </a:r>
                <a14:m>
                  <m:oMath xmlns:m="http://schemas.openxmlformats.org/officeDocument/2006/math">
                    <m:r>
                      <a:rPr kumimoji="1" lang="en-US" altLang="ja-JP" sz="2400" b="0" i="1" smtClean="0">
                        <a:latin typeface="Cambria Math" panose="02040503050406030204" pitchFamily="18" charset="0"/>
                      </a:rPr>
                      <m:t>𝑟</m:t>
                    </m:r>
                  </m:oMath>
                </a14:m>
                <a:r>
                  <a:rPr kumimoji="1" lang="ja-JP" altLang="en-US" sz="2400" dirty="0"/>
                  <a:t>によって期待値を推定し価値関数を見積もる手法➡膨大な計算コスト</a:t>
                </a:r>
                <a:endParaRPr kumimoji="1" lang="en-US" altLang="ja-JP" sz="2400" dirty="0"/>
              </a:p>
              <a:p>
                <a:endParaRPr kumimoji="1" lang="en-US" altLang="ja-JP" sz="2400" dirty="0"/>
              </a:p>
              <a:p>
                <a:pPr marL="285750" indent="-285750">
                  <a:buFont typeface="Wingdings" panose="05000000000000000000" pitchFamily="2" charset="2"/>
                  <a:buChar char="n"/>
                </a:pPr>
                <a:r>
                  <a:rPr kumimoji="1" lang="en-US" altLang="ja-JP" sz="2400" dirty="0">
                    <a:solidFill>
                      <a:schemeClr val="accent1"/>
                    </a:solidFill>
                  </a:rPr>
                  <a:t>TD</a:t>
                </a:r>
                <a:r>
                  <a:rPr kumimoji="1" lang="ja-JP" altLang="en-US" sz="2400" dirty="0">
                    <a:solidFill>
                      <a:schemeClr val="accent1"/>
                    </a:solidFill>
                  </a:rPr>
                  <a:t>法</a:t>
                </a:r>
                <a:r>
                  <a:rPr kumimoji="1" lang="en-US" altLang="ja-JP" sz="2400" dirty="0"/>
                  <a:t>: </a:t>
                </a:r>
                <a:r>
                  <a:rPr kumimoji="1" lang="ja-JP" altLang="en-US" sz="2400" dirty="0"/>
                  <a:t>価値関数の近似を</a:t>
                </a:r>
                <a:r>
                  <a:rPr kumimoji="1" lang="en-US" altLang="ja-JP" sz="2400" dirty="0"/>
                  <a:t>Q</a:t>
                </a:r>
                <a:r>
                  <a:rPr kumimoji="1" lang="ja-JP" altLang="en-US" sz="2400" dirty="0"/>
                  <a:t>学習や</a:t>
                </a:r>
                <a:r>
                  <a:rPr kumimoji="1" lang="en-US" altLang="ja-JP" sz="2400" dirty="0"/>
                  <a:t>Sarsa</a:t>
                </a:r>
                <a:r>
                  <a:rPr kumimoji="1" lang="ja-JP" altLang="en-US" sz="2400" dirty="0"/>
                  <a:t>などで行うことで</a:t>
                </a:r>
                <a:r>
                  <a:rPr kumimoji="1" lang="en-US" altLang="ja-JP" sz="2400" dirty="0"/>
                  <a:t>, </a:t>
                </a:r>
                <a:r>
                  <a:rPr kumimoji="1" lang="ja-JP" altLang="en-US" sz="2400" dirty="0"/>
                  <a:t>計算コストを削減</a:t>
                </a:r>
                <a:r>
                  <a:rPr kumimoji="1" lang="en-US" altLang="ja-JP" sz="2400" dirty="0"/>
                  <a:t>. </a:t>
                </a:r>
                <a:endParaRPr kumimoji="1" lang="ja-JP" altLang="en-US" sz="2400" dirty="0"/>
              </a:p>
              <a:p>
                <a:endParaRPr kumimoji="1" lang="ja-JP" altLang="en-US" dirty="0"/>
              </a:p>
            </p:txBody>
          </p:sp>
        </mc:Choice>
        <mc:Fallback xmlns="">
          <p:sp>
            <p:nvSpPr>
              <p:cNvPr id="8" name="テキスト ボックス 7">
                <a:extLst>
                  <a:ext uri="{FF2B5EF4-FFF2-40B4-BE49-F238E27FC236}">
                    <a16:creationId xmlns:a16="http://schemas.microsoft.com/office/drawing/2014/main" id="{7D88D169-A816-4D30-13AD-473E4F28BB5C}"/>
                  </a:ext>
                </a:extLst>
              </p:cNvPr>
              <p:cNvSpPr txBox="1">
                <a:spLocks noRot="1" noChangeAspect="1" noMove="1" noResize="1" noEditPoints="1" noAdjustHandles="1" noChangeArrowheads="1" noChangeShapeType="1" noTextEdit="1"/>
              </p:cNvSpPr>
              <p:nvPr/>
            </p:nvSpPr>
            <p:spPr>
              <a:xfrm>
                <a:off x="599200" y="4483959"/>
                <a:ext cx="10684933" cy="1846659"/>
              </a:xfrm>
              <a:prstGeom prst="rect">
                <a:avLst/>
              </a:prstGeom>
              <a:blipFill>
                <a:blip r:embed="rId6"/>
                <a:stretch>
                  <a:fillRect l="-742" t="-3974" r="-45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41421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558DCD6B-7554-A1C1-D8E7-6DF2F2FE7FB1}"/>
              </a:ext>
            </a:extLst>
          </p:cNvPr>
          <p:cNvSpPr>
            <a:spLocks noGrp="1"/>
          </p:cNvSpPr>
          <p:nvPr>
            <p:ph type="title"/>
          </p:nvPr>
        </p:nvSpPr>
        <p:spPr/>
        <p:txBody>
          <a:bodyPr>
            <a:normAutofit/>
          </a:bodyPr>
          <a:lstStyle/>
          <a:p>
            <a:r>
              <a:rPr kumimoji="1" lang="en-US" altLang="ja-JP" dirty="0"/>
              <a:t>Appendix4</a:t>
            </a:r>
            <a:r>
              <a:rPr kumimoji="1" lang="ja-JP" altLang="en-US" dirty="0"/>
              <a:t>　　オフライン</a:t>
            </a:r>
            <a:r>
              <a:rPr kumimoji="1" lang="en-US" altLang="ja-JP" dirty="0"/>
              <a:t>RL</a:t>
            </a:r>
            <a:r>
              <a:rPr kumimoji="1" lang="ja-JP" altLang="en-US" dirty="0"/>
              <a:t>の行動選択</a:t>
            </a:r>
          </a:p>
        </p:txBody>
      </p:sp>
      <p:sp>
        <p:nvSpPr>
          <p:cNvPr id="6" name="テキスト ボックス 5">
            <a:extLst>
              <a:ext uri="{FF2B5EF4-FFF2-40B4-BE49-F238E27FC236}">
                <a16:creationId xmlns:a16="http://schemas.microsoft.com/office/drawing/2014/main" id="{2942D1F9-7270-A189-A49A-C080E8D11546}"/>
              </a:ext>
            </a:extLst>
          </p:cNvPr>
          <p:cNvSpPr txBox="1"/>
          <p:nvPr/>
        </p:nvSpPr>
        <p:spPr>
          <a:xfrm>
            <a:off x="6488963" y="1059202"/>
            <a:ext cx="4067507" cy="400110"/>
          </a:xfrm>
          <a:prstGeom prst="rect">
            <a:avLst/>
          </a:prstGeom>
          <a:noFill/>
        </p:spPr>
        <p:txBody>
          <a:bodyPr wrap="square" rtlCol="0">
            <a:spAutoFit/>
          </a:bodyPr>
          <a:lstStyle/>
          <a:p>
            <a:r>
              <a:rPr kumimoji="1" lang="en-US" altLang="ja-JP" sz="2000" dirty="0"/>
              <a:t>Table.2  CSV</a:t>
            </a:r>
            <a:r>
              <a:rPr kumimoji="1" lang="ja-JP" altLang="en-US" sz="2000" dirty="0"/>
              <a:t>データベース</a:t>
            </a:r>
            <a:r>
              <a:rPr kumimoji="1" lang="en-US" altLang="ja-JP" sz="2000" dirty="0"/>
              <a:t>[3]</a:t>
            </a:r>
            <a:r>
              <a:rPr kumimoji="1" lang="ja-JP" altLang="en-US" sz="2000" dirty="0"/>
              <a:t>の概要</a:t>
            </a:r>
            <a:r>
              <a:rPr kumimoji="1" lang="en-US" altLang="ja-JP" sz="2000" dirty="0"/>
              <a:t> </a:t>
            </a:r>
            <a:endParaRPr kumimoji="1" lang="ja-JP" altLang="en-US" sz="2000" dirty="0"/>
          </a:p>
        </p:txBody>
      </p:sp>
      <p:sp>
        <p:nvSpPr>
          <p:cNvPr id="7" name="テキスト ボックス 6">
            <a:extLst>
              <a:ext uri="{FF2B5EF4-FFF2-40B4-BE49-F238E27FC236}">
                <a16:creationId xmlns:a16="http://schemas.microsoft.com/office/drawing/2014/main" id="{3F3C40E5-1E29-9B1C-B4D9-BB74532DDFD7}"/>
              </a:ext>
            </a:extLst>
          </p:cNvPr>
          <p:cNvSpPr txBox="1"/>
          <p:nvPr/>
        </p:nvSpPr>
        <p:spPr>
          <a:xfrm>
            <a:off x="278761" y="940383"/>
            <a:ext cx="4580318" cy="3046988"/>
          </a:xfrm>
          <a:prstGeom prst="rect">
            <a:avLst/>
          </a:prstGeom>
          <a:noFill/>
          <a:ln>
            <a:solidFill>
              <a:schemeClr val="tx1"/>
            </a:solidFill>
          </a:ln>
        </p:spPr>
        <p:txBody>
          <a:bodyPr wrap="square" rtlCol="0">
            <a:spAutoFit/>
          </a:bodyPr>
          <a:lstStyle/>
          <a:p>
            <a:pPr marL="342900" indent="-342900">
              <a:buFont typeface="Wingdings" panose="05000000000000000000" pitchFamily="2" charset="2"/>
              <a:buChar char="p"/>
            </a:pPr>
            <a:r>
              <a:rPr kumimoji="1" lang="en-US" altLang="ja-JP" sz="2400" dirty="0"/>
              <a:t>PtID: </a:t>
            </a:r>
            <a:r>
              <a:rPr kumimoji="1" lang="ja-JP" altLang="en-US" sz="2400" dirty="0"/>
              <a:t>患者の番号</a:t>
            </a:r>
            <a:endParaRPr kumimoji="1" lang="en-US" altLang="ja-JP" sz="2400" dirty="0"/>
          </a:p>
          <a:p>
            <a:pPr marL="342900" indent="-342900">
              <a:buFont typeface="Wingdings" panose="05000000000000000000" pitchFamily="2" charset="2"/>
              <a:buChar char="p"/>
            </a:pPr>
            <a:r>
              <a:rPr kumimoji="1" lang="en-US" altLang="ja-JP" sz="2400" dirty="0"/>
              <a:t>Subtype: HIV</a:t>
            </a:r>
            <a:r>
              <a:rPr kumimoji="1" lang="ja-JP" altLang="en-US" sz="2400" dirty="0"/>
              <a:t>ウイルスの種類</a:t>
            </a:r>
            <a:endParaRPr kumimoji="1" lang="en-US" altLang="ja-JP" sz="2400" dirty="0"/>
          </a:p>
          <a:p>
            <a:pPr marL="342900" indent="-342900">
              <a:buFont typeface="Wingdings" panose="05000000000000000000" pitchFamily="2" charset="2"/>
              <a:buChar char="p"/>
            </a:pPr>
            <a:r>
              <a:rPr kumimoji="1" lang="en-US" altLang="ja-JP" sz="2400" dirty="0"/>
              <a:t>V Load: </a:t>
            </a:r>
            <a:r>
              <a:rPr kumimoji="1" lang="ja-JP" altLang="en-US" sz="2400" dirty="0"/>
              <a:t>遊離ウイルス量</a:t>
            </a:r>
            <a:endParaRPr kumimoji="1" lang="en-US" altLang="ja-JP" sz="2400" dirty="0"/>
          </a:p>
          <a:p>
            <a:pPr marL="342900" indent="-342900">
              <a:buFont typeface="Wingdings" panose="05000000000000000000" pitchFamily="2" charset="2"/>
              <a:buChar char="p"/>
            </a:pPr>
            <a:r>
              <a:rPr kumimoji="1" lang="en-US" altLang="ja-JP" sz="2400" dirty="0"/>
              <a:t>CD4 Count: </a:t>
            </a:r>
            <a:r>
              <a:rPr kumimoji="1" lang="ja-JP" altLang="en-US" sz="2400" dirty="0"/>
              <a:t>未感染</a:t>
            </a:r>
            <a:r>
              <a:rPr kumimoji="1" lang="en-US" altLang="ja-JP" sz="2400" dirty="0"/>
              <a:t>CD4</a:t>
            </a:r>
            <a:r>
              <a:rPr kumimoji="1" lang="ja-JP" altLang="en-US" sz="2400" dirty="0"/>
              <a:t>細胞数</a:t>
            </a:r>
            <a:endParaRPr kumimoji="1" lang="en-US" altLang="ja-JP" sz="2400" dirty="0"/>
          </a:p>
          <a:p>
            <a:pPr marL="342900" indent="-342900">
              <a:buFont typeface="Wingdings" panose="05000000000000000000" pitchFamily="2" charset="2"/>
              <a:buChar char="p"/>
            </a:pPr>
            <a:r>
              <a:rPr kumimoji="1" lang="en-US" altLang="ja-JP" sz="2400" dirty="0"/>
              <a:t>Start Date: </a:t>
            </a:r>
            <a:r>
              <a:rPr kumimoji="1" lang="ja-JP" altLang="en-US" sz="2400" dirty="0"/>
              <a:t>投薬開始日</a:t>
            </a:r>
            <a:endParaRPr kumimoji="1" lang="en-US" altLang="ja-JP" sz="2400" dirty="0"/>
          </a:p>
          <a:p>
            <a:pPr marL="342900" indent="-342900">
              <a:buFont typeface="Wingdings" panose="05000000000000000000" pitchFamily="2" charset="2"/>
              <a:buChar char="p"/>
            </a:pPr>
            <a:r>
              <a:rPr kumimoji="1" lang="en-US" altLang="ja-JP" sz="2400" dirty="0"/>
              <a:t>Stop Date: </a:t>
            </a:r>
            <a:r>
              <a:rPr kumimoji="1" lang="ja-JP" altLang="en-US" sz="2400" dirty="0"/>
              <a:t>投薬終了日</a:t>
            </a:r>
            <a:endParaRPr kumimoji="1" lang="en-US" altLang="ja-JP" sz="2400" dirty="0"/>
          </a:p>
          <a:p>
            <a:pPr marL="342900" indent="-342900">
              <a:buFont typeface="Wingdings" panose="05000000000000000000" pitchFamily="2" charset="2"/>
              <a:buChar char="p"/>
            </a:pPr>
            <a:r>
              <a:rPr kumimoji="1" lang="en-US" altLang="ja-JP" sz="2400" dirty="0"/>
              <a:t>APV~RAL: </a:t>
            </a:r>
            <a:r>
              <a:rPr kumimoji="1" lang="ja-JP" altLang="en-US" sz="2400" dirty="0"/>
              <a:t>薬剤の種類</a:t>
            </a:r>
            <a:br>
              <a:rPr kumimoji="1" lang="en-US" altLang="ja-JP" sz="2400" dirty="0"/>
            </a:br>
            <a:r>
              <a:rPr kumimoji="1" lang="ja-JP" altLang="en-US" sz="2400" dirty="0"/>
              <a:t>使用</a:t>
            </a:r>
            <a:r>
              <a:rPr kumimoji="1" lang="en-US" altLang="ja-JP" sz="2400" dirty="0"/>
              <a:t>: 1, </a:t>
            </a:r>
            <a:r>
              <a:rPr kumimoji="1" lang="ja-JP" altLang="en-US" sz="2400" dirty="0"/>
              <a:t>未使用</a:t>
            </a:r>
            <a:r>
              <a:rPr kumimoji="1" lang="en-US" altLang="ja-JP" sz="2400" dirty="0"/>
              <a:t>: 0</a:t>
            </a:r>
          </a:p>
        </p:txBody>
      </p:sp>
      <p:sp>
        <p:nvSpPr>
          <p:cNvPr id="9" name="スライド番号プレースホルダー 8">
            <a:extLst>
              <a:ext uri="{FF2B5EF4-FFF2-40B4-BE49-F238E27FC236}">
                <a16:creationId xmlns:a16="http://schemas.microsoft.com/office/drawing/2014/main" id="{996F6F01-93D7-08FF-AC3C-8070D9DFEB46}"/>
              </a:ext>
            </a:extLst>
          </p:cNvPr>
          <p:cNvSpPr>
            <a:spLocks noGrp="1"/>
          </p:cNvSpPr>
          <p:nvPr>
            <p:ph type="sldNum" sz="quarter" idx="12"/>
          </p:nvPr>
        </p:nvSpPr>
        <p:spPr/>
        <p:txBody>
          <a:bodyPr/>
          <a:lstStyle/>
          <a:p>
            <a:fld id="{E0107F97-1CD5-41F0-B842-C38020C26506}" type="slidenum">
              <a:rPr kumimoji="1" lang="ja-JP" altLang="en-US" smtClean="0"/>
              <a:pPr/>
              <a:t>20</a:t>
            </a:fld>
            <a:endParaRPr kumimoji="1" lang="ja-JP" altLang="en-US" dirty="0"/>
          </a:p>
        </p:txBody>
      </p:sp>
      <p:pic>
        <p:nvPicPr>
          <p:cNvPr id="12" name="図 11">
            <a:extLst>
              <a:ext uri="{FF2B5EF4-FFF2-40B4-BE49-F238E27FC236}">
                <a16:creationId xmlns:a16="http://schemas.microsoft.com/office/drawing/2014/main" id="{F417CB43-D498-A600-801D-63AA8D93ED70}"/>
              </a:ext>
            </a:extLst>
          </p:cNvPr>
          <p:cNvPicPr>
            <a:picLocks noChangeAspect="1"/>
          </p:cNvPicPr>
          <p:nvPr/>
        </p:nvPicPr>
        <p:blipFill>
          <a:blip r:embed="rId2"/>
          <a:stretch>
            <a:fillRect/>
          </a:stretch>
        </p:blipFill>
        <p:spPr>
          <a:xfrm>
            <a:off x="5040584" y="1459312"/>
            <a:ext cx="6767907" cy="2599269"/>
          </a:xfrm>
          <a:prstGeom prst="rect">
            <a:avLst/>
          </a:prstGeom>
        </p:spPr>
      </p:pic>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4D6FB511-8F37-AE01-5D5F-D7BBF72FCE0E}"/>
                  </a:ext>
                </a:extLst>
              </p:cNvPr>
              <p:cNvSpPr txBox="1"/>
              <p:nvPr/>
            </p:nvSpPr>
            <p:spPr>
              <a:xfrm>
                <a:off x="278761" y="4692576"/>
                <a:ext cx="8514365" cy="1204497"/>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400" dirty="0"/>
                  <a:t>APV(1)</a:t>
                </a:r>
                <a:r>
                  <a:rPr kumimoji="1" lang="ja-JP" altLang="en-US" sz="2400" dirty="0"/>
                  <a:t>～</a:t>
                </a:r>
                <a:r>
                  <a:rPr kumimoji="1" lang="en-US" altLang="ja-JP" sz="2400" dirty="0"/>
                  <a:t>RAL(22)</a:t>
                </a:r>
                <a:r>
                  <a:rPr kumimoji="1" lang="ja-JP" altLang="en-US" sz="2400" dirty="0"/>
                  <a:t>　としてナンバリング</a:t>
                </a:r>
                <a:endParaRPr kumimoji="1" lang="en-US" altLang="ja-JP" sz="2400" dirty="0"/>
              </a:p>
              <a:p>
                <a:pPr marL="342900" indent="-342900">
                  <a:buFont typeface="Arial" panose="020B0604020202020204" pitchFamily="34" charset="0"/>
                  <a:buChar char="•"/>
                </a:pPr>
                <a:r>
                  <a:rPr kumimoji="1" lang="ja-JP" altLang="en-US" sz="2400" dirty="0"/>
                  <a:t>未使用は</a:t>
                </a:r>
                <a:r>
                  <a:rPr kumimoji="1" lang="en-US" altLang="ja-JP" sz="2400" dirty="0"/>
                  <a:t>0</a:t>
                </a:r>
                <a:r>
                  <a:rPr kumimoji="1" lang="ja-JP" altLang="en-US" sz="2400" dirty="0"/>
                  <a:t>として定義</a:t>
                </a:r>
                <a:endParaRPr kumimoji="1" lang="en-US" altLang="ja-JP" sz="2400" dirty="0"/>
              </a:p>
              <a:p>
                <a:pPr marL="342900" indent="-342900">
                  <a:buFont typeface="Arial" panose="020B0604020202020204" pitchFamily="34" charset="0"/>
                  <a:buChar char="•"/>
                </a:pPr>
                <a:r>
                  <a:rPr kumimoji="1" lang="en-US" altLang="ja-JP" sz="2400" dirty="0"/>
                  <a:t>DQN</a:t>
                </a:r>
                <a:r>
                  <a:rPr kumimoji="1" lang="ja-JP" altLang="en-US" sz="2400" dirty="0"/>
                  <a:t>は</a:t>
                </a:r>
                <a14:m>
                  <m:oMath xmlns:m="http://schemas.openxmlformats.org/officeDocument/2006/math">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23</m:t>
                        </m:r>
                      </m:e>
                      <m:sup>
                        <m:r>
                          <a:rPr kumimoji="1" lang="en-US" altLang="ja-JP" sz="2400" b="0" i="1" smtClean="0">
                            <a:latin typeface="Cambria Math" panose="02040503050406030204" pitchFamily="18" charset="0"/>
                          </a:rPr>
                          <m:t>5</m:t>
                        </m:r>
                      </m:sup>
                    </m:sSup>
                  </m:oMath>
                </a14:m>
                <a:r>
                  <a:rPr kumimoji="1" lang="ja-JP" altLang="en-US" sz="2400" dirty="0"/>
                  <a:t>通りの出力のうち</a:t>
                </a:r>
                <a:r>
                  <a:rPr kumimoji="1" lang="en-US" altLang="ja-JP" sz="2400" dirty="0"/>
                  <a:t>, </a:t>
                </a:r>
                <a:r>
                  <a:rPr kumimoji="1" lang="ja-JP" altLang="en-US" sz="2400" dirty="0"/>
                  <a:t>最大の</a:t>
                </a:r>
                <a:r>
                  <a:rPr kumimoji="1" lang="en-US" altLang="ja-JP" sz="2400" dirty="0"/>
                  <a:t>Q</a:t>
                </a:r>
                <a:r>
                  <a:rPr kumimoji="1" lang="ja-JP" altLang="en-US" sz="2400" dirty="0"/>
                  <a:t>値のインデックスを返す</a:t>
                </a:r>
              </a:p>
            </p:txBody>
          </p:sp>
        </mc:Choice>
        <mc:Fallback xmlns="">
          <p:sp>
            <p:nvSpPr>
              <p:cNvPr id="13" name="テキスト ボックス 12">
                <a:extLst>
                  <a:ext uri="{FF2B5EF4-FFF2-40B4-BE49-F238E27FC236}">
                    <a16:creationId xmlns:a16="http://schemas.microsoft.com/office/drawing/2014/main" id="{4D6FB511-8F37-AE01-5D5F-D7BBF72FCE0E}"/>
                  </a:ext>
                </a:extLst>
              </p:cNvPr>
              <p:cNvSpPr txBox="1">
                <a:spLocks noRot="1" noChangeAspect="1" noMove="1" noResize="1" noEditPoints="1" noAdjustHandles="1" noChangeArrowheads="1" noChangeShapeType="1" noTextEdit="1"/>
              </p:cNvSpPr>
              <p:nvPr/>
            </p:nvSpPr>
            <p:spPr>
              <a:xfrm>
                <a:off x="278761" y="4692576"/>
                <a:ext cx="8514365" cy="1204497"/>
              </a:xfrm>
              <a:prstGeom prst="rect">
                <a:avLst/>
              </a:prstGeom>
              <a:blipFill>
                <a:blip r:embed="rId3"/>
                <a:stretch>
                  <a:fillRect l="-1003" t="-6091" b="-11168"/>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5F5B6DC2-25D6-0C1B-968A-F68635F554B9}"/>
              </a:ext>
            </a:extLst>
          </p:cNvPr>
          <p:cNvSpPr txBox="1"/>
          <p:nvPr/>
        </p:nvSpPr>
        <p:spPr>
          <a:xfrm>
            <a:off x="151170" y="4173647"/>
            <a:ext cx="3761611" cy="400110"/>
          </a:xfrm>
          <a:prstGeom prst="rect">
            <a:avLst/>
          </a:prstGeom>
          <a:noFill/>
        </p:spPr>
        <p:txBody>
          <a:bodyPr wrap="square" rtlCol="0">
            <a:spAutoFit/>
          </a:bodyPr>
          <a:lstStyle/>
          <a:p>
            <a:pPr marL="285750" indent="-285750">
              <a:buFont typeface="Wingdings" panose="05000000000000000000" pitchFamily="2" charset="2"/>
              <a:buChar char="n"/>
            </a:pPr>
            <a:r>
              <a:rPr kumimoji="1" lang="en-US" altLang="ja-JP" sz="2000" b="1" u="sng" dirty="0"/>
              <a:t>Offline action</a:t>
            </a:r>
            <a:r>
              <a:rPr kumimoji="1" lang="ja-JP" altLang="en-US" sz="2000" b="1" u="sng" dirty="0"/>
              <a:t> 決定ルール</a:t>
            </a:r>
          </a:p>
        </p:txBody>
      </p:sp>
      <p:sp>
        <p:nvSpPr>
          <p:cNvPr id="15" name="テキスト ボックス 14">
            <a:extLst>
              <a:ext uri="{FF2B5EF4-FFF2-40B4-BE49-F238E27FC236}">
                <a16:creationId xmlns:a16="http://schemas.microsoft.com/office/drawing/2014/main" id="{C0EDCAA7-D5B1-F28D-35B5-95D844811403}"/>
              </a:ext>
            </a:extLst>
          </p:cNvPr>
          <p:cNvSpPr txBox="1"/>
          <p:nvPr/>
        </p:nvSpPr>
        <p:spPr>
          <a:xfrm>
            <a:off x="7795980" y="4058581"/>
            <a:ext cx="4244850" cy="1200329"/>
          </a:xfrm>
          <a:prstGeom prst="rect">
            <a:avLst/>
          </a:prstGeom>
          <a:noFill/>
          <a:ln w="19050">
            <a:solidFill>
              <a:schemeClr val="tx1"/>
            </a:solidFill>
            <a:prstDash val="sysDot"/>
          </a:ln>
        </p:spPr>
        <p:txBody>
          <a:bodyPr wrap="square" rtlCol="0">
            <a:spAutoFit/>
          </a:bodyPr>
          <a:lstStyle/>
          <a:p>
            <a:r>
              <a:rPr kumimoji="1" lang="ja-JP" altLang="en-US" sz="2400" dirty="0"/>
              <a:t>例</a:t>
            </a:r>
            <a:r>
              <a:rPr kumimoji="1" lang="en-US" altLang="ja-JP" sz="2400" dirty="0"/>
              <a:t>: [</a:t>
            </a:r>
            <a:r>
              <a:rPr kumimoji="1" lang="en-US" altLang="ja-JP" sz="2400" b="1" dirty="0">
                <a:solidFill>
                  <a:srgbClr val="FF0000"/>
                </a:solidFill>
              </a:rPr>
              <a:t>1</a:t>
            </a:r>
            <a:r>
              <a:rPr kumimoji="1" lang="en-US" altLang="ja-JP" sz="2400" dirty="0"/>
              <a:t>,</a:t>
            </a:r>
            <a:r>
              <a:rPr kumimoji="1" lang="en-US" altLang="ja-JP" sz="2400" b="1" dirty="0">
                <a:solidFill>
                  <a:srgbClr val="FF0000"/>
                </a:solidFill>
              </a:rPr>
              <a:t>2</a:t>
            </a:r>
            <a:r>
              <a:rPr kumimoji="1" lang="en-US" altLang="ja-JP" sz="2400" dirty="0"/>
              <a:t>,</a:t>
            </a:r>
            <a:r>
              <a:rPr kumimoji="1" lang="en-US" altLang="ja-JP" sz="2400" b="1" dirty="0">
                <a:solidFill>
                  <a:srgbClr val="FF0000"/>
                </a:solidFill>
              </a:rPr>
              <a:t>4</a:t>
            </a:r>
            <a:r>
              <a:rPr kumimoji="1" lang="en-US" altLang="ja-JP" sz="2400" dirty="0"/>
              <a:t>,</a:t>
            </a:r>
            <a:r>
              <a:rPr kumimoji="1" lang="en-US" altLang="ja-JP" sz="2400" b="1" dirty="0">
                <a:solidFill>
                  <a:srgbClr val="FF0000"/>
                </a:solidFill>
              </a:rPr>
              <a:t>21</a:t>
            </a:r>
            <a:r>
              <a:rPr kumimoji="1" lang="en-US" altLang="ja-JP" sz="2400" dirty="0"/>
              <a:t>,0]</a:t>
            </a:r>
            <a:r>
              <a:rPr kumimoji="1" lang="ja-JP" altLang="en-US" sz="2400" dirty="0"/>
              <a:t>　</a:t>
            </a:r>
            <a:endParaRPr kumimoji="1" lang="en-US" altLang="ja-JP" sz="2400" dirty="0"/>
          </a:p>
          <a:p>
            <a:r>
              <a:rPr kumimoji="1" lang="ja-JP" altLang="en-US" sz="2400" dirty="0"/>
              <a:t>➡</a:t>
            </a:r>
            <a:r>
              <a:rPr kumimoji="1" lang="en-US" altLang="ja-JP" sz="2400" dirty="0"/>
              <a:t> APV(</a:t>
            </a:r>
            <a:r>
              <a:rPr kumimoji="1" lang="en-US" altLang="ja-JP" sz="2400" b="1" dirty="0">
                <a:solidFill>
                  <a:srgbClr val="FF0000"/>
                </a:solidFill>
              </a:rPr>
              <a:t>1</a:t>
            </a:r>
            <a:r>
              <a:rPr kumimoji="1" lang="en-US" altLang="ja-JP" sz="2400" dirty="0"/>
              <a:t>),IDV(</a:t>
            </a:r>
            <a:r>
              <a:rPr kumimoji="1" lang="en-US" altLang="ja-JP" sz="2400" b="1" dirty="0">
                <a:solidFill>
                  <a:srgbClr val="FF0000"/>
                </a:solidFill>
              </a:rPr>
              <a:t>2</a:t>
            </a:r>
            <a:r>
              <a:rPr kumimoji="1" lang="en-US" altLang="ja-JP" sz="2400" dirty="0"/>
              <a:t>),NFV(</a:t>
            </a:r>
            <a:r>
              <a:rPr kumimoji="1" lang="en-US" altLang="ja-JP" sz="2400" b="1" dirty="0">
                <a:solidFill>
                  <a:srgbClr val="FF0000"/>
                </a:solidFill>
              </a:rPr>
              <a:t>4</a:t>
            </a:r>
            <a:r>
              <a:rPr kumimoji="1" lang="en-US" altLang="ja-JP" sz="2400" dirty="0"/>
              <a:t>),RAL(</a:t>
            </a:r>
            <a:r>
              <a:rPr kumimoji="1" lang="en-US" altLang="ja-JP" sz="2400" b="1" dirty="0">
                <a:solidFill>
                  <a:srgbClr val="FF0000"/>
                </a:solidFill>
              </a:rPr>
              <a:t>21</a:t>
            </a:r>
            <a:r>
              <a:rPr kumimoji="1" lang="en-US" altLang="ja-JP" sz="2400" dirty="0"/>
              <a:t>)</a:t>
            </a:r>
            <a:r>
              <a:rPr kumimoji="1" lang="ja-JP" altLang="en-US" sz="2400" dirty="0"/>
              <a:t>の</a:t>
            </a:r>
            <a:r>
              <a:rPr kumimoji="1" lang="en-US" altLang="ja-JP" sz="2400" dirty="0"/>
              <a:t>4</a:t>
            </a:r>
            <a:r>
              <a:rPr kumimoji="1" lang="ja-JP" altLang="en-US" sz="2400" dirty="0"/>
              <a:t>種類を同期間で投与</a:t>
            </a:r>
            <a:r>
              <a:rPr kumimoji="1" lang="en-US" altLang="ja-JP" sz="2400" dirty="0"/>
              <a:t> </a:t>
            </a:r>
            <a:endParaRPr kumimoji="1" lang="ja-JP" altLang="en-US" sz="2400" dirty="0"/>
          </a:p>
        </p:txBody>
      </p:sp>
    </p:spTree>
    <p:extLst>
      <p:ext uri="{BB962C8B-B14F-4D97-AF65-F5344CB8AC3E}">
        <p14:creationId xmlns:p14="http://schemas.microsoft.com/office/powerpoint/2010/main" val="763945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BEC95BC8-C878-85C4-839E-74534A0A8885}"/>
              </a:ext>
            </a:extLst>
          </p:cNvPr>
          <p:cNvSpPr>
            <a:spLocks noGrp="1"/>
          </p:cNvSpPr>
          <p:nvPr>
            <p:ph type="title"/>
          </p:nvPr>
        </p:nvSpPr>
        <p:spPr/>
        <p:txBody>
          <a:bodyPr/>
          <a:lstStyle/>
          <a:p>
            <a:r>
              <a:rPr kumimoji="1" lang="en-US" altLang="ja-JP" dirty="0"/>
              <a:t>Appendix5  </a:t>
            </a:r>
            <a:r>
              <a:rPr kumimoji="1" lang="ja-JP" altLang="en-US" dirty="0"/>
              <a:t>状態の推移</a:t>
            </a:r>
            <a:r>
              <a:rPr kumimoji="1" lang="en-US" altLang="ja-JP" dirty="0"/>
              <a:t>(1/2)</a:t>
            </a:r>
            <a:endParaRPr kumimoji="1" lang="ja-JP" altLang="en-US" dirty="0"/>
          </a:p>
        </p:txBody>
      </p:sp>
      <p:sp>
        <p:nvSpPr>
          <p:cNvPr id="4" name="テキスト ボックス 3">
            <a:extLst>
              <a:ext uri="{FF2B5EF4-FFF2-40B4-BE49-F238E27FC236}">
                <a16:creationId xmlns:a16="http://schemas.microsoft.com/office/drawing/2014/main" id="{7DCDA6D1-F9DC-462C-F48A-82962C9E6879}"/>
              </a:ext>
            </a:extLst>
          </p:cNvPr>
          <p:cNvSpPr txBox="1"/>
          <p:nvPr/>
        </p:nvSpPr>
        <p:spPr>
          <a:xfrm>
            <a:off x="0" y="619441"/>
            <a:ext cx="5943600" cy="646331"/>
          </a:xfrm>
          <a:prstGeom prst="rect">
            <a:avLst/>
          </a:prstGeom>
          <a:noFill/>
        </p:spPr>
        <p:txBody>
          <a:bodyPr wrap="square" rtlCol="0">
            <a:spAutoFit/>
          </a:bodyPr>
          <a:lstStyle/>
          <a:p>
            <a:pPr marL="342900" indent="-342900">
              <a:buClr>
                <a:srgbClr val="000000"/>
              </a:buClr>
              <a:buFont typeface="Wingdings" panose="05000000000000000000" pitchFamily="2" charset="2"/>
              <a:buChar char="n"/>
            </a:pPr>
            <a:r>
              <a:rPr kumimoji="1" lang="ja-JP" altLang="en-US" dirty="0">
                <a:solidFill>
                  <a:schemeClr val="accent1"/>
                </a:solidFill>
              </a:rPr>
              <a:t>未感染</a:t>
            </a:r>
            <a:r>
              <a:rPr kumimoji="1" lang="en-US" altLang="ja-JP" dirty="0">
                <a:solidFill>
                  <a:schemeClr val="accent1"/>
                </a:solidFill>
              </a:rPr>
              <a:t>CD4</a:t>
            </a:r>
            <a:r>
              <a:rPr kumimoji="1" lang="ja-JP" altLang="en-US" dirty="0">
                <a:solidFill>
                  <a:schemeClr val="accent1"/>
                </a:solidFill>
              </a:rPr>
              <a:t>細胞</a:t>
            </a:r>
            <a:r>
              <a:rPr kumimoji="1" lang="en-US" altLang="ja-JP" dirty="0">
                <a:solidFill>
                  <a:schemeClr val="accent1"/>
                </a:solidFill>
              </a:rPr>
              <a:t>X</a:t>
            </a:r>
            <a:r>
              <a:rPr kumimoji="1" lang="ja-JP" altLang="en-US" dirty="0"/>
              <a:t>と</a:t>
            </a:r>
            <a:r>
              <a:rPr kumimoji="1" lang="ja-JP" altLang="en-US" dirty="0">
                <a:solidFill>
                  <a:srgbClr val="FFC000"/>
                </a:solidFill>
              </a:rPr>
              <a:t>遊離ウイルス</a:t>
            </a:r>
            <a:r>
              <a:rPr kumimoji="1" lang="en-US" altLang="ja-JP" dirty="0">
                <a:solidFill>
                  <a:srgbClr val="FFC000"/>
                </a:solidFill>
              </a:rPr>
              <a:t>V</a:t>
            </a:r>
            <a:r>
              <a:rPr kumimoji="1" lang="ja-JP" altLang="en-US" dirty="0"/>
              <a:t>の推移</a:t>
            </a:r>
            <a:br>
              <a:rPr kumimoji="1" lang="en-US" altLang="ja-JP" dirty="0"/>
            </a:br>
            <a:r>
              <a:rPr kumimoji="1" lang="en-US" altLang="ja-JP" dirty="0"/>
              <a:t>(140</a:t>
            </a:r>
            <a:r>
              <a:rPr kumimoji="1" lang="ja-JP" altLang="en-US" dirty="0"/>
              <a:t>日間</a:t>
            </a:r>
            <a:r>
              <a:rPr kumimoji="1" lang="en-US" altLang="ja-JP" dirty="0"/>
              <a:t>, 200</a:t>
            </a:r>
            <a:r>
              <a:rPr kumimoji="1" lang="ja-JP" altLang="en-US" dirty="0"/>
              <a:t>人</a:t>
            </a:r>
            <a:r>
              <a:rPr kumimoji="1" lang="en-US" altLang="ja-JP" dirty="0"/>
              <a:t>)</a:t>
            </a:r>
            <a:endParaRPr kumimoji="1" lang="ja-JP" altLang="en-US" dirty="0"/>
          </a:p>
        </p:txBody>
      </p:sp>
      <p:pic>
        <p:nvPicPr>
          <p:cNvPr id="9" name="Picture 6">
            <a:extLst>
              <a:ext uri="{FF2B5EF4-FFF2-40B4-BE49-F238E27FC236}">
                <a16:creationId xmlns:a16="http://schemas.microsoft.com/office/drawing/2014/main" id="{3B3AB0E3-7370-FEE8-FA88-8D57282AE9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682" r="47264" b="1074"/>
          <a:stretch/>
        </p:blipFill>
        <p:spPr bwMode="auto">
          <a:xfrm>
            <a:off x="3285066" y="1078498"/>
            <a:ext cx="4043612" cy="25311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C57C659A-295D-D97D-3673-F419B96F5A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032" t="52252"/>
          <a:stretch/>
        </p:blipFill>
        <p:spPr bwMode="auto">
          <a:xfrm>
            <a:off x="7630098" y="984527"/>
            <a:ext cx="3847261" cy="26778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037C205A-8D3F-D939-E977-AA2C522A9F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5" r="49505" b="52087"/>
          <a:stretch/>
        </p:blipFill>
        <p:spPr bwMode="auto">
          <a:xfrm>
            <a:off x="3285066" y="3682699"/>
            <a:ext cx="3804285" cy="259474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a:extLst>
              <a:ext uri="{FF2B5EF4-FFF2-40B4-BE49-F238E27FC236}">
                <a16:creationId xmlns:a16="http://schemas.microsoft.com/office/drawing/2014/main" id="{6C0B5E3A-9B77-274C-01D0-584B2E0ED67A}"/>
              </a:ext>
            </a:extLst>
          </p:cNvPr>
          <p:cNvCxnSpPr>
            <a:cxnSpLocks/>
          </p:cNvCxnSpPr>
          <p:nvPr/>
        </p:nvCxnSpPr>
        <p:spPr>
          <a:xfrm>
            <a:off x="245533" y="3641479"/>
            <a:ext cx="11898931" cy="0"/>
          </a:xfrm>
          <a:prstGeom prst="line">
            <a:avLst/>
          </a:prstGeom>
          <a:ln w="28575">
            <a:solidFill>
              <a:srgbClr val="000000"/>
            </a:solidFill>
            <a:prstDash val="dash"/>
          </a:ln>
        </p:spPr>
        <p:style>
          <a:lnRef idx="1">
            <a:schemeClr val="accent1"/>
          </a:lnRef>
          <a:fillRef idx="0">
            <a:schemeClr val="accent1"/>
          </a:fillRef>
          <a:effectRef idx="0">
            <a:schemeClr val="accent1"/>
          </a:effectRef>
          <a:fontRef idx="minor">
            <a:schemeClr val="tx1"/>
          </a:fontRef>
        </p:style>
      </p:cxnSp>
      <p:pic>
        <p:nvPicPr>
          <p:cNvPr id="12" name="Picture 4">
            <a:extLst>
              <a:ext uri="{FF2B5EF4-FFF2-40B4-BE49-F238E27FC236}">
                <a16:creationId xmlns:a16="http://schemas.microsoft.com/office/drawing/2014/main" id="{6E432EC3-1AD6-2EA7-16A8-CEAE39C71F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826" b="51465"/>
          <a:stretch/>
        </p:blipFill>
        <p:spPr bwMode="auto">
          <a:xfrm>
            <a:off x="7652449" y="3655196"/>
            <a:ext cx="3804285" cy="2677831"/>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90C27F74-15ED-0C8E-8DFD-A19086DC5E7E}"/>
              </a:ext>
            </a:extLst>
          </p:cNvPr>
          <p:cNvSpPr txBox="1"/>
          <p:nvPr/>
        </p:nvSpPr>
        <p:spPr>
          <a:xfrm>
            <a:off x="245533" y="2702587"/>
            <a:ext cx="2828640" cy="646331"/>
          </a:xfrm>
          <a:prstGeom prst="rect">
            <a:avLst/>
          </a:prstGeom>
          <a:noFill/>
        </p:spPr>
        <p:txBody>
          <a:bodyPr wrap="square" rtlCol="0">
            <a:spAutoFit/>
          </a:bodyPr>
          <a:lstStyle/>
          <a:p>
            <a:r>
              <a:rPr kumimoji="1" lang="en-US" altLang="ja-JP" dirty="0"/>
              <a:t>Fig. 15  Q-learning</a:t>
            </a:r>
            <a:r>
              <a:rPr kumimoji="1" lang="ja-JP" altLang="en-US" dirty="0"/>
              <a:t>における状態の推移</a:t>
            </a:r>
            <a:r>
              <a:rPr kumimoji="1" lang="en-US" altLang="ja-JP" dirty="0"/>
              <a:t>(</a:t>
            </a:r>
            <a:r>
              <a:rPr kumimoji="1" lang="ja-JP" altLang="en-US" dirty="0"/>
              <a:t>左</a:t>
            </a:r>
            <a:r>
              <a:rPr kumimoji="1" lang="en-US" altLang="ja-JP" dirty="0"/>
              <a:t>: X  </a:t>
            </a:r>
            <a:r>
              <a:rPr kumimoji="1" lang="ja-JP" altLang="en-US" dirty="0"/>
              <a:t>右</a:t>
            </a:r>
            <a:r>
              <a:rPr kumimoji="1" lang="en-US" altLang="ja-JP" dirty="0"/>
              <a:t>: V)</a:t>
            </a:r>
            <a:endParaRPr kumimoji="1" lang="ja-JP" altLang="en-US" dirty="0"/>
          </a:p>
        </p:txBody>
      </p:sp>
      <p:sp>
        <p:nvSpPr>
          <p:cNvPr id="14" name="テキスト ボックス 13">
            <a:extLst>
              <a:ext uri="{FF2B5EF4-FFF2-40B4-BE49-F238E27FC236}">
                <a16:creationId xmlns:a16="http://schemas.microsoft.com/office/drawing/2014/main" id="{CC4702D1-F505-6D12-46F0-EB0E69031C83}"/>
              </a:ext>
            </a:extLst>
          </p:cNvPr>
          <p:cNvSpPr txBox="1"/>
          <p:nvPr/>
        </p:nvSpPr>
        <p:spPr>
          <a:xfrm>
            <a:off x="160867" y="5456336"/>
            <a:ext cx="3285066" cy="646331"/>
          </a:xfrm>
          <a:prstGeom prst="rect">
            <a:avLst/>
          </a:prstGeom>
          <a:noFill/>
        </p:spPr>
        <p:txBody>
          <a:bodyPr wrap="square" rtlCol="0">
            <a:spAutoFit/>
          </a:bodyPr>
          <a:lstStyle/>
          <a:p>
            <a:r>
              <a:rPr kumimoji="1" lang="en-US" altLang="ja-JP" dirty="0"/>
              <a:t>Fig. 16  Deep Q-learning</a:t>
            </a:r>
            <a:r>
              <a:rPr kumimoji="1" lang="ja-JP" altLang="en-US" dirty="0"/>
              <a:t>における状態の推移</a:t>
            </a:r>
            <a:r>
              <a:rPr kumimoji="1" lang="en-US" altLang="ja-JP" dirty="0"/>
              <a:t>(</a:t>
            </a:r>
            <a:r>
              <a:rPr kumimoji="1" lang="ja-JP" altLang="en-US" dirty="0"/>
              <a:t>左</a:t>
            </a:r>
            <a:r>
              <a:rPr kumimoji="1" lang="en-US" altLang="ja-JP" dirty="0"/>
              <a:t>: X  </a:t>
            </a:r>
            <a:r>
              <a:rPr kumimoji="1" lang="ja-JP" altLang="en-US" dirty="0"/>
              <a:t>右</a:t>
            </a:r>
            <a:r>
              <a:rPr kumimoji="1" lang="en-US" altLang="ja-JP" dirty="0"/>
              <a:t>: V)</a:t>
            </a:r>
            <a:endParaRPr kumimoji="1" lang="ja-JP" altLang="en-US" dirty="0"/>
          </a:p>
        </p:txBody>
      </p:sp>
      <p:sp>
        <p:nvSpPr>
          <p:cNvPr id="16" name="テキスト ボックス 15">
            <a:extLst>
              <a:ext uri="{FF2B5EF4-FFF2-40B4-BE49-F238E27FC236}">
                <a16:creationId xmlns:a16="http://schemas.microsoft.com/office/drawing/2014/main" id="{D12E71E0-3CC1-8B74-6092-2A04377EEF51}"/>
              </a:ext>
            </a:extLst>
          </p:cNvPr>
          <p:cNvSpPr txBox="1"/>
          <p:nvPr/>
        </p:nvSpPr>
        <p:spPr>
          <a:xfrm>
            <a:off x="160867" y="1826623"/>
            <a:ext cx="3239353" cy="400110"/>
          </a:xfrm>
          <a:prstGeom prst="rect">
            <a:avLst/>
          </a:prstGeom>
          <a:noFill/>
        </p:spPr>
        <p:txBody>
          <a:bodyPr wrap="square" rtlCol="0">
            <a:spAutoFit/>
          </a:bodyPr>
          <a:lstStyle/>
          <a:p>
            <a:r>
              <a:rPr kumimoji="1" lang="en-US" altLang="ja-JP" sz="2000" u="sng" dirty="0"/>
              <a:t>Case1. </a:t>
            </a:r>
            <a:r>
              <a:rPr kumimoji="1" lang="ja-JP" altLang="en-US" sz="2000" u="sng" dirty="0"/>
              <a:t>従来手法</a:t>
            </a:r>
            <a:r>
              <a:rPr kumimoji="1" lang="en-US" altLang="ja-JP" sz="2000" u="sng" dirty="0"/>
              <a:t>(Q-learning)</a:t>
            </a:r>
            <a:endParaRPr kumimoji="1" lang="ja-JP" altLang="en-US" sz="2000" u="sng" dirty="0"/>
          </a:p>
        </p:txBody>
      </p:sp>
      <p:sp>
        <p:nvSpPr>
          <p:cNvPr id="17" name="テキスト ボックス 16">
            <a:extLst>
              <a:ext uri="{FF2B5EF4-FFF2-40B4-BE49-F238E27FC236}">
                <a16:creationId xmlns:a16="http://schemas.microsoft.com/office/drawing/2014/main" id="{ED11359F-C569-4C95-FA97-42115F05E795}"/>
              </a:ext>
            </a:extLst>
          </p:cNvPr>
          <p:cNvSpPr txBox="1"/>
          <p:nvPr/>
        </p:nvSpPr>
        <p:spPr>
          <a:xfrm>
            <a:off x="183723" y="4439661"/>
            <a:ext cx="3239353" cy="707886"/>
          </a:xfrm>
          <a:prstGeom prst="rect">
            <a:avLst/>
          </a:prstGeom>
          <a:noFill/>
        </p:spPr>
        <p:txBody>
          <a:bodyPr wrap="square" rtlCol="0">
            <a:spAutoFit/>
          </a:bodyPr>
          <a:lstStyle/>
          <a:p>
            <a:r>
              <a:rPr kumimoji="1" lang="en-US" altLang="ja-JP" sz="2000" u="sng" dirty="0"/>
              <a:t>Case2. </a:t>
            </a:r>
            <a:r>
              <a:rPr kumimoji="1" lang="ja-JP" altLang="en-US" sz="2000" u="sng" dirty="0"/>
              <a:t>提案手法</a:t>
            </a:r>
            <a:r>
              <a:rPr kumimoji="1" lang="en-US" altLang="ja-JP" sz="2000" u="sng" dirty="0"/>
              <a:t>(Deep Q-learning)</a:t>
            </a:r>
            <a:endParaRPr kumimoji="1" lang="ja-JP" altLang="en-US" sz="2000" u="sng" dirty="0"/>
          </a:p>
        </p:txBody>
      </p:sp>
      <p:sp>
        <p:nvSpPr>
          <p:cNvPr id="18" name="スライド番号プレースホルダー 17">
            <a:extLst>
              <a:ext uri="{FF2B5EF4-FFF2-40B4-BE49-F238E27FC236}">
                <a16:creationId xmlns:a16="http://schemas.microsoft.com/office/drawing/2014/main" id="{EE7532AF-039B-6195-4D9E-992CF99AB679}"/>
              </a:ext>
            </a:extLst>
          </p:cNvPr>
          <p:cNvSpPr>
            <a:spLocks noGrp="1"/>
          </p:cNvSpPr>
          <p:nvPr>
            <p:ph type="sldNum" sz="quarter" idx="12"/>
          </p:nvPr>
        </p:nvSpPr>
        <p:spPr/>
        <p:txBody>
          <a:bodyPr/>
          <a:lstStyle/>
          <a:p>
            <a:fld id="{E0107F97-1CD5-41F0-B842-C38020C26506}" type="slidenum">
              <a:rPr kumimoji="1" lang="ja-JP" altLang="en-US" smtClean="0"/>
              <a:pPr/>
              <a:t>21</a:t>
            </a:fld>
            <a:endParaRPr kumimoji="1" lang="ja-JP" altLang="en-US" dirty="0"/>
          </a:p>
        </p:txBody>
      </p:sp>
    </p:spTree>
    <p:extLst>
      <p:ext uri="{BB962C8B-B14F-4D97-AF65-F5344CB8AC3E}">
        <p14:creationId xmlns:p14="http://schemas.microsoft.com/office/powerpoint/2010/main" val="1446319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C0B1-0BF0-8D66-95D1-A6ED3366E64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D0FF185-9943-98E7-6158-FD7CC4AFB5E1}"/>
              </a:ext>
            </a:extLst>
          </p:cNvPr>
          <p:cNvSpPr>
            <a:spLocks noGrp="1"/>
          </p:cNvSpPr>
          <p:nvPr>
            <p:ph type="title"/>
          </p:nvPr>
        </p:nvSpPr>
        <p:spPr/>
        <p:txBody>
          <a:bodyPr/>
          <a:lstStyle/>
          <a:p>
            <a:r>
              <a:rPr kumimoji="1" lang="en-US" altLang="ja-JP" dirty="0"/>
              <a:t>Appendix5  </a:t>
            </a:r>
            <a:r>
              <a:rPr kumimoji="1" lang="ja-JP" altLang="en-US" dirty="0"/>
              <a:t>状態の推移</a:t>
            </a:r>
            <a:r>
              <a:rPr kumimoji="1" lang="en-US" altLang="ja-JP" dirty="0"/>
              <a:t>(2/2)</a:t>
            </a:r>
            <a:endParaRPr kumimoji="1" lang="ja-JP" altLang="en-US" dirty="0"/>
          </a:p>
        </p:txBody>
      </p:sp>
      <p:cxnSp>
        <p:nvCxnSpPr>
          <p:cNvPr id="8" name="直線コネクタ 7">
            <a:extLst>
              <a:ext uri="{FF2B5EF4-FFF2-40B4-BE49-F238E27FC236}">
                <a16:creationId xmlns:a16="http://schemas.microsoft.com/office/drawing/2014/main" id="{CB5A8434-1C71-9D27-AB93-5611CDC1FE06}"/>
              </a:ext>
            </a:extLst>
          </p:cNvPr>
          <p:cNvCxnSpPr>
            <a:cxnSpLocks/>
          </p:cNvCxnSpPr>
          <p:nvPr/>
        </p:nvCxnSpPr>
        <p:spPr>
          <a:xfrm>
            <a:off x="245533" y="4039412"/>
            <a:ext cx="11898931" cy="0"/>
          </a:xfrm>
          <a:prstGeom prst="line">
            <a:avLst/>
          </a:prstGeom>
          <a:ln w="28575">
            <a:solidFill>
              <a:srgbClr val="000000"/>
            </a:solidFill>
            <a:prstDash val="dash"/>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223FF5D2-D306-C738-DEED-F04872F4C363}"/>
              </a:ext>
            </a:extLst>
          </p:cNvPr>
          <p:cNvSpPr txBox="1"/>
          <p:nvPr/>
        </p:nvSpPr>
        <p:spPr>
          <a:xfrm>
            <a:off x="245533" y="2702587"/>
            <a:ext cx="2828640" cy="646331"/>
          </a:xfrm>
          <a:prstGeom prst="rect">
            <a:avLst/>
          </a:prstGeom>
          <a:noFill/>
        </p:spPr>
        <p:txBody>
          <a:bodyPr wrap="square" rtlCol="0">
            <a:spAutoFit/>
          </a:bodyPr>
          <a:lstStyle/>
          <a:p>
            <a:r>
              <a:rPr kumimoji="1" lang="en-US" altLang="ja-JP" dirty="0"/>
              <a:t>Fig. 17  </a:t>
            </a:r>
            <a:r>
              <a:rPr kumimoji="1" lang="ja-JP" altLang="en-US" dirty="0"/>
              <a:t>比較手法における状態の推移</a:t>
            </a:r>
            <a:r>
              <a:rPr kumimoji="1" lang="en-US" altLang="ja-JP" dirty="0"/>
              <a:t>(</a:t>
            </a:r>
            <a:r>
              <a:rPr kumimoji="1" lang="ja-JP" altLang="en-US" dirty="0"/>
              <a:t>左</a:t>
            </a:r>
            <a:r>
              <a:rPr kumimoji="1" lang="en-US" altLang="ja-JP" dirty="0"/>
              <a:t>: X  </a:t>
            </a:r>
            <a:r>
              <a:rPr kumimoji="1" lang="ja-JP" altLang="en-US" dirty="0"/>
              <a:t>右</a:t>
            </a:r>
            <a:r>
              <a:rPr kumimoji="1" lang="en-US" altLang="ja-JP" dirty="0"/>
              <a:t>: V)</a:t>
            </a:r>
            <a:endParaRPr kumimoji="1" lang="ja-JP" altLang="en-US" dirty="0"/>
          </a:p>
        </p:txBody>
      </p:sp>
      <p:sp>
        <p:nvSpPr>
          <p:cNvPr id="16" name="テキスト ボックス 15">
            <a:extLst>
              <a:ext uri="{FF2B5EF4-FFF2-40B4-BE49-F238E27FC236}">
                <a16:creationId xmlns:a16="http://schemas.microsoft.com/office/drawing/2014/main" id="{C7CBE4AD-7821-D250-D77A-E86E87F237CC}"/>
              </a:ext>
            </a:extLst>
          </p:cNvPr>
          <p:cNvSpPr txBox="1"/>
          <p:nvPr/>
        </p:nvSpPr>
        <p:spPr>
          <a:xfrm>
            <a:off x="160867" y="1826623"/>
            <a:ext cx="3239353" cy="707886"/>
          </a:xfrm>
          <a:prstGeom prst="rect">
            <a:avLst/>
          </a:prstGeom>
          <a:noFill/>
        </p:spPr>
        <p:txBody>
          <a:bodyPr wrap="square" rtlCol="0">
            <a:spAutoFit/>
          </a:bodyPr>
          <a:lstStyle/>
          <a:p>
            <a:r>
              <a:rPr kumimoji="1" lang="en-US" altLang="ja-JP" sz="2000" u="sng" dirty="0"/>
              <a:t>Case3. </a:t>
            </a:r>
            <a:r>
              <a:rPr kumimoji="1" lang="ja-JP" altLang="en-US" sz="2000" u="sng" dirty="0"/>
              <a:t>比較手法</a:t>
            </a:r>
            <a:r>
              <a:rPr kumimoji="1" lang="en-US" altLang="ja-JP" sz="2000" u="sng" dirty="0"/>
              <a:t>(Deep Q-learning </a:t>
            </a:r>
            <a:r>
              <a:rPr kumimoji="1" lang="ja-JP" altLang="en-US" sz="2000" u="sng" dirty="0"/>
              <a:t>リプレイメモリなし</a:t>
            </a:r>
            <a:r>
              <a:rPr kumimoji="1" lang="en-US" altLang="ja-JP" sz="2000" u="sng" dirty="0"/>
              <a:t>)</a:t>
            </a:r>
            <a:endParaRPr kumimoji="1" lang="ja-JP" altLang="en-US" sz="2000" u="sng" dirty="0"/>
          </a:p>
        </p:txBody>
      </p:sp>
      <p:pic>
        <p:nvPicPr>
          <p:cNvPr id="2" name="Picture 2">
            <a:extLst>
              <a:ext uri="{FF2B5EF4-FFF2-40B4-BE49-F238E27FC236}">
                <a16:creationId xmlns:a16="http://schemas.microsoft.com/office/drawing/2014/main" id="{AE35067A-DEAD-887E-F9EC-3176384465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9484" b="51412"/>
          <a:stretch/>
        </p:blipFill>
        <p:spPr bwMode="auto">
          <a:xfrm>
            <a:off x="3323636" y="984526"/>
            <a:ext cx="4161469" cy="28508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20DC091-7E89-9DC6-1008-9ADF22D340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2301" b="51514"/>
          <a:stretch/>
        </p:blipFill>
        <p:spPr bwMode="auto">
          <a:xfrm>
            <a:off x="7734568" y="984526"/>
            <a:ext cx="3983269" cy="2883803"/>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1957A32E-3417-D2FB-8BC6-908B6810396D}"/>
              </a:ext>
            </a:extLst>
          </p:cNvPr>
          <p:cNvSpPr txBox="1"/>
          <p:nvPr/>
        </p:nvSpPr>
        <p:spPr>
          <a:xfrm>
            <a:off x="575733" y="4305969"/>
            <a:ext cx="10549467" cy="2215991"/>
          </a:xfrm>
          <a:prstGeom prst="rect">
            <a:avLst/>
          </a:prstGeom>
          <a:noFill/>
        </p:spPr>
        <p:txBody>
          <a:bodyPr wrap="square" rtlCol="0">
            <a:spAutoFit/>
          </a:bodyPr>
          <a:lstStyle/>
          <a:p>
            <a:r>
              <a:rPr kumimoji="1" lang="ja-JP" altLang="en-US" sz="2000" dirty="0">
                <a:highlight>
                  <a:srgbClr val="00FFFF"/>
                </a:highlight>
              </a:rPr>
              <a:t>考察</a:t>
            </a:r>
            <a:endParaRPr kumimoji="1" lang="en-US" altLang="ja-JP" sz="2000" dirty="0">
              <a:highlight>
                <a:srgbClr val="00FFFF"/>
              </a:highlight>
            </a:endParaRPr>
          </a:p>
          <a:p>
            <a:pPr marL="285750" indent="-285750">
              <a:buFont typeface="Wingdings" panose="05000000000000000000" pitchFamily="2" charset="2"/>
              <a:buChar char="l"/>
            </a:pPr>
            <a:r>
              <a:rPr kumimoji="1" lang="en-US" altLang="ja-JP" sz="2000" dirty="0"/>
              <a:t>Q-learning</a:t>
            </a:r>
            <a:r>
              <a:rPr kumimoji="1" lang="ja-JP" altLang="en-US" sz="2000" dirty="0"/>
              <a:t>から</a:t>
            </a:r>
            <a:r>
              <a:rPr kumimoji="1" lang="en-US" altLang="ja-JP" sz="2000" dirty="0"/>
              <a:t>Deep Q-learning</a:t>
            </a:r>
            <a:r>
              <a:rPr kumimoji="1" lang="ja-JP" altLang="en-US" sz="2000" dirty="0"/>
              <a:t>へと切り替えることで</a:t>
            </a:r>
            <a:r>
              <a:rPr kumimoji="1" lang="en-US" altLang="ja-JP" sz="2000" dirty="0"/>
              <a:t>, </a:t>
            </a:r>
            <a:r>
              <a:rPr kumimoji="1" lang="ja-JP" altLang="en-US" sz="2000" dirty="0"/>
              <a:t>未感染</a:t>
            </a:r>
            <a:r>
              <a:rPr kumimoji="1" lang="en-US" altLang="ja-JP" sz="2000" dirty="0"/>
              <a:t>CD4</a:t>
            </a:r>
            <a:r>
              <a:rPr kumimoji="1" lang="ja-JP" altLang="en-US" sz="2000" dirty="0"/>
              <a:t>細胞数は上昇に転じる傾向</a:t>
            </a:r>
            <a:endParaRPr kumimoji="1" lang="en-US" altLang="ja-JP" sz="2000" dirty="0"/>
          </a:p>
          <a:p>
            <a:pPr marL="285750" indent="-285750">
              <a:buFont typeface="Wingdings" panose="05000000000000000000" pitchFamily="2" charset="2"/>
              <a:buChar char="l"/>
            </a:pPr>
            <a:r>
              <a:rPr kumimoji="1" lang="ja-JP" altLang="en-US" sz="2000" dirty="0"/>
              <a:t>提案手法と比較手法では未感染</a:t>
            </a:r>
            <a:r>
              <a:rPr kumimoji="1" lang="en-US" altLang="ja-JP" sz="2000" dirty="0"/>
              <a:t>CD4</a:t>
            </a:r>
            <a:r>
              <a:rPr kumimoji="1" lang="ja-JP" altLang="en-US" sz="2000" dirty="0"/>
              <a:t>細胞の挙動に大きな変化は見られない</a:t>
            </a:r>
            <a:endParaRPr kumimoji="1" lang="en-US" altLang="ja-JP" sz="2000" dirty="0"/>
          </a:p>
          <a:p>
            <a:pPr marL="285750" indent="-285750">
              <a:buFont typeface="Wingdings" panose="05000000000000000000" pitchFamily="2" charset="2"/>
              <a:buChar char="l"/>
            </a:pPr>
            <a:r>
              <a:rPr kumimoji="1" lang="ja-JP" altLang="en-US" sz="2000" dirty="0"/>
              <a:t>遊離ウイルス量</a:t>
            </a:r>
            <a:r>
              <a:rPr kumimoji="1" lang="en-US" altLang="ja-JP" sz="2000" dirty="0"/>
              <a:t>V</a:t>
            </a:r>
            <a:r>
              <a:rPr kumimoji="1" lang="ja-JP" altLang="en-US" sz="2000" dirty="0"/>
              <a:t>は提案手法に関しては</a:t>
            </a:r>
            <a:r>
              <a:rPr kumimoji="1" lang="en-US" altLang="ja-JP" sz="2000" dirty="0"/>
              <a:t>, </a:t>
            </a:r>
            <a:r>
              <a:rPr kumimoji="1" lang="ja-JP" altLang="en-US" sz="2000" dirty="0"/>
              <a:t>一部のパスが</a:t>
            </a:r>
            <a:r>
              <a:rPr kumimoji="1" lang="en-US" altLang="ja-JP" sz="2000" dirty="0"/>
              <a:t>0</a:t>
            </a:r>
            <a:r>
              <a:rPr kumimoji="1" lang="ja-JP" altLang="en-US" sz="2000" dirty="0"/>
              <a:t>に近づく挙動をしている</a:t>
            </a:r>
            <a:endParaRPr kumimoji="1" lang="en-US" altLang="ja-JP" sz="2000" dirty="0"/>
          </a:p>
          <a:p>
            <a:pPr marL="285750" indent="-285750">
              <a:buFont typeface="Wingdings" panose="05000000000000000000" pitchFamily="2" charset="2"/>
              <a:buChar char="l"/>
            </a:pPr>
            <a:r>
              <a:rPr kumimoji="1" lang="ja-JP" altLang="en-US" sz="2000" dirty="0"/>
              <a:t>リプライメモリを活用することで</a:t>
            </a:r>
            <a:r>
              <a:rPr kumimoji="1" lang="en-US" altLang="ja-JP" sz="2000" dirty="0"/>
              <a:t>, </a:t>
            </a:r>
            <a:r>
              <a:rPr kumimoji="1" lang="ja-JP" altLang="en-US" sz="2000" dirty="0"/>
              <a:t>より最適な行動を開拓することが可能</a:t>
            </a:r>
            <a:br>
              <a:rPr kumimoji="1" lang="en-US" altLang="ja-JP" sz="2000" dirty="0"/>
            </a:br>
            <a:r>
              <a:rPr kumimoji="1" lang="ja-JP" altLang="en-US" sz="2000" dirty="0"/>
              <a:t>➡ウイルス量を素早く</a:t>
            </a:r>
            <a:r>
              <a:rPr kumimoji="1" lang="en-US" altLang="ja-JP" sz="2000" dirty="0"/>
              <a:t>0</a:t>
            </a:r>
            <a:r>
              <a:rPr kumimoji="1" lang="ja-JP" altLang="en-US" sz="2000" dirty="0"/>
              <a:t>へと収束させることが可能</a:t>
            </a:r>
            <a:endParaRPr kumimoji="1" lang="en-US" altLang="ja-JP" sz="2000" dirty="0"/>
          </a:p>
          <a:p>
            <a:pPr marL="285750" indent="-285750">
              <a:buFont typeface="Wingdings" panose="05000000000000000000" pitchFamily="2" charset="2"/>
              <a:buChar char="l"/>
            </a:pPr>
            <a:endParaRPr kumimoji="1" lang="ja-JP" altLang="en-US" dirty="0"/>
          </a:p>
        </p:txBody>
      </p:sp>
      <p:sp>
        <p:nvSpPr>
          <p:cNvPr id="15" name="スライド番号プレースホルダー 14">
            <a:extLst>
              <a:ext uri="{FF2B5EF4-FFF2-40B4-BE49-F238E27FC236}">
                <a16:creationId xmlns:a16="http://schemas.microsoft.com/office/drawing/2014/main" id="{07E4CFEF-69C2-9503-FFF1-FEB57678E279}"/>
              </a:ext>
            </a:extLst>
          </p:cNvPr>
          <p:cNvSpPr>
            <a:spLocks noGrp="1"/>
          </p:cNvSpPr>
          <p:nvPr>
            <p:ph type="sldNum" sz="quarter" idx="12"/>
          </p:nvPr>
        </p:nvSpPr>
        <p:spPr/>
        <p:txBody>
          <a:bodyPr/>
          <a:lstStyle/>
          <a:p>
            <a:fld id="{E0107F97-1CD5-41F0-B842-C38020C26506}" type="slidenum">
              <a:rPr kumimoji="1" lang="ja-JP" altLang="en-US" smtClean="0"/>
              <a:pPr/>
              <a:t>22</a:t>
            </a:fld>
            <a:endParaRPr kumimoji="1" lang="ja-JP" altLang="en-US" dirty="0"/>
          </a:p>
        </p:txBody>
      </p:sp>
    </p:spTree>
    <p:extLst>
      <p:ext uri="{BB962C8B-B14F-4D97-AF65-F5344CB8AC3E}">
        <p14:creationId xmlns:p14="http://schemas.microsoft.com/office/powerpoint/2010/main" val="3004206524"/>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レトロスペクト">
  <a:themeElements>
    <a:clrScheme name="青">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レトロスペク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レトロスペクト">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29440</TotalTime>
  <Words>3092</Words>
  <Application>Microsoft Office PowerPoint</Application>
  <PresentationFormat>ワイド画面</PresentationFormat>
  <Paragraphs>344</Paragraphs>
  <Slides>22</Slides>
  <Notes>13</Notes>
  <HiddenSlides>0</HiddenSlides>
  <MMClips>0</MMClips>
  <ScaleCrop>false</ScaleCrop>
  <HeadingPairs>
    <vt:vector size="6" baseType="variant">
      <vt:variant>
        <vt:lpstr>使用されているフォント</vt:lpstr>
      </vt:variant>
      <vt:variant>
        <vt:i4>10</vt:i4>
      </vt:variant>
      <vt:variant>
        <vt:lpstr>テーマ</vt:lpstr>
      </vt:variant>
      <vt:variant>
        <vt:i4>2</vt:i4>
      </vt:variant>
      <vt:variant>
        <vt:lpstr>スライド タイトル</vt:lpstr>
      </vt:variant>
      <vt:variant>
        <vt:i4>22</vt:i4>
      </vt:variant>
    </vt:vector>
  </HeadingPairs>
  <TitlesOfParts>
    <vt:vector size="34" baseType="lpstr">
      <vt:lpstr>Helvetica Neue</vt:lpstr>
      <vt:lpstr>游ゴシック</vt:lpstr>
      <vt:lpstr>游明朝</vt:lpstr>
      <vt:lpstr>Arial</vt:lpstr>
      <vt:lpstr>Calibri</vt:lpstr>
      <vt:lpstr>Calibri Light</vt:lpstr>
      <vt:lpstr>Cambria Math</vt:lpstr>
      <vt:lpstr>Times New Roman</vt:lpstr>
      <vt:lpstr>Wingdings</vt:lpstr>
      <vt:lpstr>Wingdings 2</vt:lpstr>
      <vt:lpstr>HDOfficeLightV0</vt:lpstr>
      <vt:lpstr>レトロスペクト</vt:lpstr>
      <vt:lpstr>Optimizing HIV Treatment Schedules Through a Fusion of Offline and Online Reinforcement Learning for Dynamic Personalized Therapy</vt:lpstr>
      <vt:lpstr>背景と目的</vt:lpstr>
      <vt:lpstr>HIV数理モデル</vt:lpstr>
      <vt:lpstr>従来手法</vt:lpstr>
      <vt:lpstr>提案手法(1/4)</vt:lpstr>
      <vt:lpstr>提案手法(2/4)</vt:lpstr>
      <vt:lpstr>提案手法(3/4)</vt:lpstr>
      <vt:lpstr>提案手法(4/4)</vt:lpstr>
      <vt:lpstr>数値シミュレーション(1/6)</vt:lpstr>
      <vt:lpstr>数値シミュレーション(2/6)</vt:lpstr>
      <vt:lpstr>数値シミュレーション(3/6)</vt:lpstr>
      <vt:lpstr>数値シミュレーション(4/6)</vt:lpstr>
      <vt:lpstr>数値シミュレーション(5/6)</vt:lpstr>
      <vt:lpstr>数値シミュレーション(6/6)</vt:lpstr>
      <vt:lpstr>結論と課題</vt:lpstr>
      <vt:lpstr>PowerPoint プレゼンテーション</vt:lpstr>
      <vt:lpstr>Appendix1  HIV感染のメカニズム</vt:lpstr>
      <vt:lpstr>Appendix2  SoftMax関数</vt:lpstr>
      <vt:lpstr>Appendix3  学習アルゴリズム</vt:lpstr>
      <vt:lpstr>Appendix4　　オフラインRLの行動選択</vt:lpstr>
      <vt:lpstr>Appendix5  状態の推移(1/2)</vt:lpstr>
      <vt:lpstr>Appendix5  状態の推移(2/2)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ワタナベ コウスケ</dc:creator>
  <cp:lastModifiedBy>reds.w.k07152002@gmail.com</cp:lastModifiedBy>
  <cp:revision>167</cp:revision>
  <cp:lastPrinted>2024-09-10T06:35:15Z</cp:lastPrinted>
  <dcterms:created xsi:type="dcterms:W3CDTF">2024-06-18T07:28:52Z</dcterms:created>
  <dcterms:modified xsi:type="dcterms:W3CDTF">2025-03-04T05:05:47Z</dcterms:modified>
</cp:coreProperties>
</file>