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57" r:id="rId1"/>
    <p:sldMasterId id="2147484229" r:id="rId2"/>
  </p:sldMasterIdLst>
  <p:notesMasterIdLst>
    <p:notesMasterId r:id="rId21"/>
  </p:notesMasterIdLst>
  <p:sldIdLst>
    <p:sldId id="256" r:id="rId3"/>
    <p:sldId id="259" r:id="rId4"/>
    <p:sldId id="260" r:id="rId5"/>
    <p:sldId id="263" r:id="rId6"/>
    <p:sldId id="268" r:id="rId7"/>
    <p:sldId id="276" r:id="rId8"/>
    <p:sldId id="278" r:id="rId9"/>
    <p:sldId id="283" r:id="rId10"/>
    <p:sldId id="304" r:id="rId11"/>
    <p:sldId id="303" r:id="rId12"/>
    <p:sldId id="305" r:id="rId13"/>
    <p:sldId id="306" r:id="rId14"/>
    <p:sldId id="292" r:id="rId15"/>
    <p:sldId id="307" r:id="rId16"/>
    <p:sldId id="264" r:id="rId17"/>
    <p:sldId id="281" r:id="rId18"/>
    <p:sldId id="274" r:id="rId19"/>
    <p:sldId id="29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76" autoAdjust="0"/>
    <p:restoredTop sz="84886" autoAdjust="0"/>
  </p:normalViewPr>
  <p:slideViewPr>
    <p:cSldViewPr snapToGrid="0">
      <p:cViewPr>
        <p:scale>
          <a:sx n="75" d="100"/>
          <a:sy n="75" d="100"/>
        </p:scale>
        <p:origin x="612" y="120"/>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D36FA8-29FF-4B6A-B491-01AFA5B63755}" type="datetimeFigureOut">
              <a:rPr kumimoji="1" lang="ja-JP" altLang="en-US" smtClean="0"/>
              <a:t>2024/9/1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978EF2-D399-4FCA-99E6-E328AE08B952}" type="slidenum">
              <a:rPr kumimoji="1" lang="ja-JP" altLang="en-US" smtClean="0"/>
              <a:t>‹#›</a:t>
            </a:fld>
            <a:endParaRPr kumimoji="1" lang="ja-JP" altLang="en-US"/>
          </a:p>
        </p:txBody>
      </p:sp>
    </p:spTree>
    <p:extLst>
      <p:ext uri="{BB962C8B-B14F-4D97-AF65-F5344CB8AC3E}">
        <p14:creationId xmlns:p14="http://schemas.microsoft.com/office/powerpoint/2010/main" val="90955767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600" dirty="0"/>
              <a:t>Q-learning</a:t>
            </a:r>
            <a:r>
              <a:rPr kumimoji="1" lang="ja-JP" altLang="en-US" sz="1600" dirty="0"/>
              <a:t>を用いて　非線形</a:t>
            </a:r>
            <a:r>
              <a:rPr kumimoji="1" lang="en-US" altLang="ja-JP" sz="1600" dirty="0"/>
              <a:t>HIV</a:t>
            </a:r>
            <a:r>
              <a:rPr kumimoji="1" lang="ja-JP" altLang="en-US" sz="1600" dirty="0"/>
              <a:t>システムにおいて遊離ウイルスの数を制御する　</a:t>
            </a:r>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1</a:t>
            </a:fld>
            <a:endParaRPr kumimoji="1" lang="ja-JP" altLang="en-US"/>
          </a:p>
        </p:txBody>
      </p:sp>
    </p:spTree>
    <p:extLst>
      <p:ext uri="{BB962C8B-B14F-4D97-AF65-F5344CB8AC3E}">
        <p14:creationId xmlns:p14="http://schemas.microsoft.com/office/powerpoint/2010/main" val="4237842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HIV</a:t>
            </a:r>
            <a:r>
              <a:rPr kumimoji="1" lang="ja-JP" altLang="en-US" dirty="0"/>
              <a:t>ウイルスの治療法には</a:t>
            </a:r>
            <a:r>
              <a:rPr kumimoji="1" lang="en-US" altLang="ja-JP" dirty="0"/>
              <a:t>, </a:t>
            </a:r>
            <a:r>
              <a:rPr kumimoji="1" lang="ja-JP" altLang="en-US" dirty="0"/>
              <a:t>複数の薬剤を混合した抗レトロウイルス療法が主流</a:t>
            </a:r>
            <a:endParaRPr kumimoji="1" lang="en-US" altLang="ja-JP" dirty="0"/>
          </a:p>
          <a:p>
            <a:r>
              <a:rPr kumimoji="1" lang="ja-JP" altLang="en-US" dirty="0"/>
              <a:t>従来は事前学習したモデルに対しては優れたパフォーマンス　➡　実環境においては動作が最適化されない</a:t>
            </a:r>
            <a:endParaRPr kumimoji="1" lang="en-US" altLang="ja-JP" dirty="0"/>
          </a:p>
          <a:p>
            <a:r>
              <a:rPr kumimoji="1" lang="ja-JP" altLang="en-US" dirty="0"/>
              <a:t>エージェントと環境の相互的な</a:t>
            </a:r>
            <a:r>
              <a:rPr kumimoji="1" lang="en-US" altLang="ja-JP" dirty="0"/>
              <a:t>FB</a:t>
            </a:r>
            <a:r>
              <a:rPr kumimoji="1" lang="ja-JP" altLang="en-US" dirty="0"/>
              <a:t>に基づく非線形不確実</a:t>
            </a:r>
            <a:r>
              <a:rPr kumimoji="1" lang="en-US" altLang="ja-JP" dirty="0"/>
              <a:t>HIV</a:t>
            </a:r>
            <a:r>
              <a:rPr kumimoji="1" lang="ja-JP" altLang="en-US" dirty="0"/>
              <a:t>システムに対するモデルフリー強化学習アプローチの提案</a:t>
            </a:r>
            <a:endParaRPr kumimoji="1" lang="en-US" altLang="ja-JP" dirty="0"/>
          </a:p>
          <a:p>
            <a:endParaRPr kumimoji="1" lang="en-US" altLang="ja-JP" dirty="0"/>
          </a:p>
          <a:p>
            <a:r>
              <a:rPr kumimoji="1" lang="ja-JP" altLang="en-US" dirty="0"/>
              <a:t>従来の研究では感染による胸腺の動態に関する不確実性があった</a:t>
            </a:r>
            <a:r>
              <a:rPr kumimoji="1" lang="en-US" altLang="ja-JP" dirty="0"/>
              <a:t>. </a:t>
            </a:r>
            <a:endParaRPr kumimoji="1" lang="ja-JP" altLang="en-US"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2</a:t>
            </a:fld>
            <a:endParaRPr kumimoji="1" lang="ja-JP" altLang="en-US"/>
          </a:p>
        </p:txBody>
      </p:sp>
    </p:spTree>
    <p:extLst>
      <p:ext uri="{BB962C8B-B14F-4D97-AF65-F5344CB8AC3E}">
        <p14:creationId xmlns:p14="http://schemas.microsoft.com/office/powerpoint/2010/main" val="4155165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選択理由　</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HIV</a:t>
            </a:r>
            <a:r>
              <a:rPr kumimoji="1" lang="ja-JP" altLang="en-US" sz="1200" dirty="0"/>
              <a:t>ウイルスの治療は</a:t>
            </a:r>
            <a:r>
              <a:rPr kumimoji="1" lang="en-US" altLang="ja-JP" sz="1200" dirty="0"/>
              <a:t>1</a:t>
            </a:r>
            <a:r>
              <a:rPr kumimoji="1" lang="ja-JP" altLang="en-US" sz="1200" dirty="0"/>
              <a:t>日に</a:t>
            </a:r>
            <a:r>
              <a:rPr kumimoji="1" lang="en-US" altLang="ja-JP" sz="1200" dirty="0"/>
              <a:t>1</a:t>
            </a:r>
            <a:r>
              <a:rPr kumimoji="1" lang="ja-JP" altLang="en-US" sz="1200" dirty="0"/>
              <a:t>回の抗レトロウイルス薬の内服が主流であるが</a:t>
            </a:r>
            <a:r>
              <a:rPr kumimoji="1" lang="en-US" altLang="ja-JP" sz="1200" dirty="0"/>
              <a:t>, 1</a:t>
            </a:r>
            <a:r>
              <a:rPr kumimoji="1" lang="ja-JP" altLang="en-US" sz="1200" dirty="0"/>
              <a:t>度でも内服を忘れると抗体ができてしまい</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一生薬の効果が低下してしまう　</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➡患者の </a:t>
            </a:r>
            <a:r>
              <a:rPr kumimoji="1" lang="en-US" altLang="ja-JP" sz="1200" dirty="0"/>
              <a:t>CD4</a:t>
            </a:r>
            <a:r>
              <a:rPr kumimoji="1" lang="ja-JP" altLang="en-US" sz="1200" dirty="0"/>
              <a:t>細胞の数などの個体差に応じた投薬スケジュールの提供</a:t>
            </a:r>
            <a:r>
              <a:rPr kumimoji="1" lang="en-US" altLang="ja-JP" sz="1200" dirty="0"/>
              <a:t>(DTR)</a:t>
            </a:r>
            <a:r>
              <a:rPr kumimoji="1" lang="ja-JP" altLang="en-US" sz="1200" dirty="0"/>
              <a:t>により効率的な治療が期待できる</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➡治療法を動的に変化させる個別化治療の実現にはオンライン強化学習アプローチが必要</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a:t>
            </a:r>
            <a:r>
              <a:rPr kumimoji="1" lang="ja-JP" altLang="en-US" sz="1200" dirty="0"/>
              <a:t>さらに発展して</a:t>
            </a:r>
            <a:r>
              <a:rPr kumimoji="1" lang="en-US" altLang="ja-JP" sz="1200" dirty="0"/>
              <a:t>, </a:t>
            </a:r>
            <a:r>
              <a:rPr kumimoji="1" lang="ja-JP" altLang="en-US" sz="1200" dirty="0"/>
              <a:t>高次元</a:t>
            </a:r>
            <a:r>
              <a:rPr kumimoji="1" lang="en-US" altLang="ja-JP" sz="1200" dirty="0"/>
              <a:t>data</a:t>
            </a:r>
            <a:r>
              <a:rPr kumimoji="1" lang="ja-JP" altLang="en-US" sz="1200" dirty="0"/>
              <a:t>を扱うために</a:t>
            </a:r>
            <a:r>
              <a:rPr kumimoji="1" lang="en-US" altLang="ja-JP" sz="1200" dirty="0"/>
              <a:t>Q-learning</a:t>
            </a:r>
            <a:r>
              <a:rPr kumimoji="1" lang="ja-JP" altLang="en-US" sz="1200" dirty="0"/>
              <a:t>ではなく </a:t>
            </a:r>
            <a:r>
              <a:rPr kumimoji="1" lang="en-US" altLang="ja-JP" sz="1200" dirty="0"/>
              <a:t>Deep-Q-Network</a:t>
            </a:r>
            <a:r>
              <a:rPr kumimoji="1" lang="ja-JP" altLang="en-US" sz="1200" dirty="0"/>
              <a:t>による膨大な状態での解析が必要</a:t>
            </a:r>
            <a:r>
              <a:rPr kumimoji="1" lang="en-US" altLang="ja-JP"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・卒論の方向性</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Q-learning</a:t>
            </a:r>
            <a:r>
              <a:rPr kumimoji="1" lang="ja-JP" altLang="en-US" sz="1200" dirty="0"/>
              <a:t>では各状態に対する</a:t>
            </a:r>
            <a:r>
              <a:rPr kumimoji="1" lang="en-US" altLang="ja-JP" sz="1200" dirty="0"/>
              <a:t>Q</a:t>
            </a:r>
            <a:r>
              <a:rPr kumimoji="1" lang="ja-JP" altLang="en-US" sz="1200" dirty="0"/>
              <a:t>値を離散的に表現していたが</a:t>
            </a:r>
            <a:r>
              <a:rPr kumimoji="1" lang="en-US" altLang="ja-JP" sz="1200" dirty="0"/>
              <a:t>, </a:t>
            </a:r>
            <a:r>
              <a:rPr kumimoji="1" lang="ja-JP" altLang="en-US" sz="1200" dirty="0"/>
              <a:t>離散化する際に状態を分割する必要がある</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➡境界部分においては</a:t>
            </a:r>
            <a:r>
              <a:rPr kumimoji="1" lang="en-US" altLang="ja-JP" sz="1200" dirty="0"/>
              <a:t>, </a:t>
            </a:r>
            <a:r>
              <a:rPr kumimoji="1" lang="ja-JP" altLang="en-US" sz="1200" dirty="0"/>
              <a:t>類似した状態でも異なる状態と認識　➡　精度の低下 </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➡連続した状態を入力し</a:t>
            </a:r>
            <a:r>
              <a:rPr kumimoji="1" lang="en-US" altLang="ja-JP" sz="1200" dirty="0"/>
              <a:t>, Q</a:t>
            </a:r>
            <a:r>
              <a:rPr kumimoji="1" lang="ja-JP" altLang="en-US" sz="1200" dirty="0"/>
              <a:t>値を返す </a:t>
            </a:r>
            <a:r>
              <a:rPr kumimoji="1" lang="en-US" altLang="ja-JP" sz="1200" dirty="0"/>
              <a:t>Deep-Q-Network </a:t>
            </a:r>
            <a:r>
              <a:rPr kumimoji="1" lang="ja-JP" altLang="en-US" sz="1200" dirty="0"/>
              <a:t>を用いて膨大な状態数に対してのスケジューリングが可能になるのではないか</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更に　人命にかかわる投薬スケジュールの現場での実用化を考慮すると</a:t>
            </a:r>
            <a:r>
              <a:rPr kumimoji="1" lang="en-US" altLang="ja-JP" sz="1200" dirty="0"/>
              <a:t>, </a:t>
            </a:r>
            <a:r>
              <a:rPr kumimoji="1" lang="ja-JP" altLang="en-US" sz="1200" dirty="0"/>
              <a:t>事前学習をデータセットを用いたオフライン強化学習で行い</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オンライン強化学習で実環境と相互作用させる手法への発展も期待できる</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個々の患者に対応する</a:t>
            </a:r>
            <a:r>
              <a:rPr kumimoji="1" lang="ja-JP" altLang="en-US" sz="1200" dirty="0">
                <a:solidFill>
                  <a:schemeClr val="accent2"/>
                </a:solidFill>
              </a:rPr>
              <a:t>初期条件</a:t>
            </a:r>
            <a:r>
              <a:rPr kumimoji="1" lang="ja-JP" altLang="en-US" sz="1200" dirty="0"/>
              <a:t>と</a:t>
            </a:r>
            <a:r>
              <a:rPr kumimoji="1" lang="en-US" altLang="ja-JP" sz="1200" dirty="0"/>
              <a:t>, </a:t>
            </a:r>
            <a:r>
              <a:rPr kumimoji="1" lang="ja-JP" altLang="en-US" sz="1200" dirty="0"/>
              <a:t>システムの不確実性を表す</a:t>
            </a:r>
            <a:r>
              <a:rPr kumimoji="1" lang="ja-JP" altLang="en-US" sz="1200" dirty="0">
                <a:solidFill>
                  <a:schemeClr val="accent2"/>
                </a:solidFill>
              </a:rPr>
              <a:t>白色外乱</a:t>
            </a:r>
            <a:r>
              <a:rPr kumimoji="1" lang="ja-JP" altLang="en-US" sz="1200" dirty="0"/>
              <a:t>を印加したシステムの</a:t>
            </a:r>
            <a:r>
              <a:rPr kumimoji="1" lang="en-US" altLang="ja-JP" sz="1200" dirty="0"/>
              <a:t>Q</a:t>
            </a:r>
            <a:r>
              <a:rPr kumimoji="1" lang="ja-JP" altLang="en-US" sz="1200" dirty="0"/>
              <a:t>学習による制御</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Q-learning</a:t>
            </a:r>
            <a:r>
              <a:rPr kumimoji="1" lang="ja-JP" altLang="en-US" sz="1200" dirty="0"/>
              <a:t>では</a:t>
            </a:r>
            <a:r>
              <a:rPr kumimoji="1" lang="en-US" altLang="ja-JP" sz="1200" dirty="0"/>
              <a:t>Q-Table</a:t>
            </a:r>
            <a:r>
              <a:rPr kumimoji="1" lang="ja-JP" altLang="en-US" sz="1200" dirty="0"/>
              <a:t>が離散化されているため　似たような状態でも異なるものとして行動してしまう</a:t>
            </a:r>
            <a:r>
              <a:rPr kumimoji="1" lang="en-US" altLang="ja-JP" sz="1200" dirty="0"/>
              <a:t>. </a:t>
            </a:r>
            <a:r>
              <a:rPr kumimoji="1" lang="ja-JP" altLang="en-US" sz="1200" dirty="0"/>
              <a:t>➡　個人の体格に合わせた投薬スケジュールを組むことが困難 </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連続した状態を入力して</a:t>
            </a:r>
            <a:r>
              <a:rPr kumimoji="1" lang="en-US" altLang="ja-JP" sz="1200" dirty="0"/>
              <a:t>Q</a:t>
            </a:r>
            <a:r>
              <a:rPr kumimoji="1" lang="ja-JP" altLang="en-US" sz="1200" dirty="0"/>
              <a:t>値を出力する　</a:t>
            </a:r>
            <a:r>
              <a:rPr kumimoji="1" lang="en-US" altLang="ja-JP" sz="1200" dirty="0"/>
              <a:t>NN</a:t>
            </a:r>
            <a:r>
              <a:rPr kumimoji="1" lang="ja-JP" altLang="en-US" sz="1200" dirty="0"/>
              <a:t>を利用すれば精度の高い投薬スケジュールを組むことが可能 </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a:p>
            <a:endParaRPr kumimoji="1" lang="ja-JP" altLang="en-US"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3</a:t>
            </a:fld>
            <a:endParaRPr kumimoji="1" lang="ja-JP" altLang="en-US"/>
          </a:p>
        </p:txBody>
      </p:sp>
    </p:spTree>
    <p:extLst>
      <p:ext uri="{BB962C8B-B14F-4D97-AF65-F5344CB8AC3E}">
        <p14:creationId xmlns:p14="http://schemas.microsoft.com/office/powerpoint/2010/main" val="2698366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長期的な</a:t>
            </a:r>
            <a:r>
              <a:rPr kumimoji="1" lang="en-US" altLang="ja-JP" dirty="0"/>
              <a:t>HIV</a:t>
            </a:r>
            <a:r>
              <a:rPr kumimoji="1" lang="ja-JP" altLang="en-US" dirty="0"/>
              <a:t>増殖メカニズムに基づく　数理モデル　</a:t>
            </a:r>
            <a:endParaRPr kumimoji="1" lang="en-US" altLang="ja-JP" dirty="0"/>
          </a:p>
          <a:p>
            <a:r>
              <a:rPr kumimoji="1" lang="en-US" altLang="ja-JP" dirty="0"/>
              <a:t>X:</a:t>
            </a:r>
            <a:r>
              <a:rPr kumimoji="1" lang="ja-JP" altLang="en-US" dirty="0"/>
              <a:t>未感染</a:t>
            </a:r>
            <a:r>
              <a:rPr kumimoji="1" lang="en-US" altLang="ja-JP" dirty="0"/>
              <a:t>CD4</a:t>
            </a:r>
            <a:r>
              <a:rPr kumimoji="1" lang="ja-JP" altLang="en-US" dirty="0"/>
              <a:t> </a:t>
            </a:r>
            <a:r>
              <a:rPr kumimoji="1" lang="en-US" altLang="ja-JP" dirty="0"/>
              <a:t>Y:</a:t>
            </a:r>
            <a:r>
              <a:rPr kumimoji="1" lang="ja-JP" altLang="en-US" dirty="0"/>
              <a:t>潜伏感染</a:t>
            </a:r>
            <a:r>
              <a:rPr kumimoji="1" lang="en-US" altLang="ja-JP" dirty="0"/>
              <a:t>(</a:t>
            </a:r>
            <a:r>
              <a:rPr kumimoji="1" lang="ja-JP" altLang="en-US" dirty="0"/>
              <a:t>感染しているが</a:t>
            </a:r>
            <a:r>
              <a:rPr kumimoji="1" lang="en-US" altLang="ja-JP" dirty="0"/>
              <a:t>,</a:t>
            </a:r>
            <a:r>
              <a:rPr kumimoji="1" lang="ja-JP" altLang="en-US" dirty="0"/>
              <a:t>それ自体はウイルスを生成しない</a:t>
            </a:r>
            <a:r>
              <a:rPr kumimoji="1" lang="en-US" altLang="ja-JP" dirty="0"/>
              <a:t>) Z:</a:t>
            </a:r>
            <a:r>
              <a:rPr kumimoji="1" lang="ja-JP" altLang="en-US" dirty="0"/>
              <a:t>活動感染 </a:t>
            </a:r>
            <a:r>
              <a:rPr kumimoji="1" lang="en-US" altLang="ja-JP" dirty="0"/>
              <a:t>(</a:t>
            </a:r>
            <a:r>
              <a:rPr kumimoji="1" lang="ja-JP" altLang="en-US" dirty="0"/>
              <a:t>抗体反応により</a:t>
            </a:r>
            <a:r>
              <a:rPr kumimoji="1" lang="en-US" altLang="ja-JP" dirty="0"/>
              <a:t>, </a:t>
            </a:r>
            <a:r>
              <a:rPr kumimoji="1" lang="ja-JP" altLang="en-US" dirty="0"/>
              <a:t>遊離ウイルスを複製</a:t>
            </a:r>
            <a:r>
              <a:rPr kumimoji="1" lang="en-US" altLang="ja-JP" dirty="0"/>
              <a:t>) V:</a:t>
            </a:r>
            <a:r>
              <a:rPr kumimoji="1" lang="ja-JP" altLang="en-US" dirty="0"/>
              <a:t>遊離ウイルス</a:t>
            </a:r>
            <a:r>
              <a:rPr kumimoji="1" lang="en-US" altLang="ja-JP" dirty="0"/>
              <a:t>(</a:t>
            </a:r>
            <a:r>
              <a:rPr kumimoji="1" lang="ja-JP" altLang="en-US" dirty="0"/>
              <a:t>未感染細胞へ侵入</a:t>
            </a:r>
            <a:r>
              <a:rPr kumimoji="1" lang="en-US" altLang="ja-JP" dirty="0"/>
              <a:t>)</a:t>
            </a:r>
            <a:r>
              <a:rPr kumimoji="1" lang="ja-JP" altLang="en-US" dirty="0"/>
              <a:t>　</a:t>
            </a:r>
            <a:r>
              <a:rPr kumimoji="1" lang="en-US" altLang="ja-JP" dirty="0"/>
              <a:t>X,Y,Z,V</a:t>
            </a:r>
            <a:r>
              <a:rPr kumimoji="1" lang="ja-JP" altLang="en-US" dirty="0"/>
              <a:t>の生成と消滅の関係を表すモデル</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4</a:t>
            </a:fld>
            <a:endParaRPr kumimoji="1" lang="ja-JP" altLang="en-US"/>
          </a:p>
        </p:txBody>
      </p:sp>
    </p:spTree>
    <p:extLst>
      <p:ext uri="{BB962C8B-B14F-4D97-AF65-F5344CB8AC3E}">
        <p14:creationId xmlns:p14="http://schemas.microsoft.com/office/powerpoint/2010/main" val="35672783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ja-JP" altLang="en-US" dirty="0"/>
                  <a:t>強化学習において必要な定義</a:t>
                </a:r>
                <a:endParaRPr kumimoji="1" lang="en-US" altLang="ja-JP" dirty="0"/>
              </a:p>
              <a:p>
                <a:r>
                  <a:rPr kumimoji="1" lang="ja-JP" altLang="en-US" dirty="0"/>
                  <a:t>・状態 </a:t>
                </a:r>
                <a:r>
                  <a:rPr kumimoji="1" lang="en-US" altLang="ja-JP" dirty="0"/>
                  <a:t>: </a:t>
                </a:r>
                <a:r>
                  <a:rPr kumimoji="1" lang="ja-JP" altLang="en-US" dirty="0"/>
                  <a:t>エージェント</a:t>
                </a:r>
                <a:r>
                  <a:rPr kumimoji="1" lang="en-US" altLang="ja-JP" dirty="0"/>
                  <a:t>(</a:t>
                </a:r>
                <a:r>
                  <a:rPr kumimoji="1" lang="ja-JP" altLang="en-US" dirty="0"/>
                  <a:t>薬物管理者</a:t>
                </a:r>
                <a:r>
                  <a:rPr kumimoji="1" lang="en-US" altLang="ja-JP" dirty="0"/>
                  <a:t>)</a:t>
                </a:r>
                <a:r>
                  <a:rPr kumimoji="1" lang="ja-JP" altLang="en-US" dirty="0"/>
                  <a:t>が観測可能な</a:t>
                </a:r>
                <a:r>
                  <a:rPr kumimoji="1" lang="en-US" altLang="ja-JP" dirty="0"/>
                  <a:t>, </a:t>
                </a:r>
                <a:r>
                  <a:rPr kumimoji="1" lang="ja-JP" altLang="en-US" dirty="0"/>
                  <a:t>環境がもつ特徴量</a:t>
                </a:r>
                <a:r>
                  <a:rPr kumimoji="1" lang="en-US" altLang="ja-JP" dirty="0"/>
                  <a:t>(</a:t>
                </a:r>
                <a:r>
                  <a:rPr kumimoji="1" lang="ja-JP" altLang="en-US" dirty="0"/>
                  <a:t>未感染細胞</a:t>
                </a:r>
                <a:r>
                  <a:rPr kumimoji="1" lang="en-US" altLang="ja-JP" dirty="0"/>
                  <a:t>, </a:t>
                </a:r>
                <a:r>
                  <a:rPr kumimoji="1" lang="ja-JP" altLang="en-US" dirty="0"/>
                  <a:t>ウイルス量</a:t>
                </a:r>
                <a:r>
                  <a:rPr kumimoji="1" lang="en-US" altLang="ja-JP" dirty="0"/>
                  <a:t>) </a:t>
                </a:r>
              </a:p>
              <a:p>
                <a:r>
                  <a:rPr kumimoji="1" lang="ja-JP" altLang="en-US" dirty="0"/>
                  <a:t>・行動 </a:t>
                </a:r>
                <a:r>
                  <a:rPr kumimoji="1" lang="en-US" altLang="ja-JP" dirty="0"/>
                  <a:t>: </a:t>
                </a:r>
                <a:r>
                  <a:rPr kumimoji="1" lang="ja-JP" altLang="en-US" dirty="0"/>
                  <a:t>環境に対してエージェントが働きかける動作 </a:t>
                </a:r>
                <a:endParaRPr kumimoji="1" lang="en-US" altLang="ja-JP" dirty="0"/>
              </a:p>
              <a:p>
                <a:r>
                  <a:rPr kumimoji="1" lang="ja-JP" altLang="en-US" dirty="0"/>
                  <a:t>・報酬 </a:t>
                </a:r>
                <a:r>
                  <a:rPr kumimoji="1" lang="en-US" altLang="ja-JP" dirty="0"/>
                  <a:t>: </a:t>
                </a:r>
                <a:r>
                  <a:rPr kumimoji="1" lang="ja-JP" altLang="en-US" dirty="0"/>
                  <a:t>あるステップ</a:t>
                </a:r>
                <a:r>
                  <a:rPr kumimoji="1" lang="en-US" altLang="ja-JP" dirty="0"/>
                  <a:t>t</a:t>
                </a:r>
                <a:r>
                  <a:rPr kumimoji="1" lang="ja-JP" altLang="en-US" dirty="0"/>
                  <a:t>におけるエージェントの行動の即時的な価値</a:t>
                </a:r>
                <a:endParaRPr kumimoji="1" lang="en-US" altLang="ja-JP" dirty="0"/>
              </a:p>
              <a:p>
                <a:r>
                  <a:rPr kumimoji="1" lang="ja-JP" altLang="en-US" dirty="0"/>
                  <a:t>・行動価値関数 </a:t>
                </a:r>
                <a:r>
                  <a:rPr kumimoji="1" lang="en-US" altLang="ja-JP" dirty="0"/>
                  <a:t>:</a:t>
                </a:r>
                <a:r>
                  <a:rPr kumimoji="1" lang="ja-JP" altLang="en-US" dirty="0"/>
                  <a:t>ある状態</a:t>
                </a:r>
                <a14:m>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𝑠</m:t>
                        </m:r>
                      </m:e>
                      <m:sub>
                        <m:r>
                          <a:rPr kumimoji="1" lang="en-US" altLang="ja-JP" b="0" i="1" smtClean="0">
                            <a:latin typeface="Cambria Math" panose="02040503050406030204" pitchFamily="18" charset="0"/>
                          </a:rPr>
                          <m:t>𝑡</m:t>
                        </m:r>
                      </m:sub>
                    </m:sSub>
                  </m:oMath>
                </a14:m>
                <a:r>
                  <a:rPr kumimoji="1" lang="ja-JP" altLang="en-US" dirty="0"/>
                  <a:t>において行動</a:t>
                </a:r>
                <a14:m>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𝑎</m:t>
                        </m:r>
                      </m:e>
                      <m:sub>
                        <m:r>
                          <a:rPr kumimoji="1" lang="en-US" altLang="ja-JP" b="0" i="1" smtClean="0">
                            <a:latin typeface="Cambria Math" panose="02040503050406030204" pitchFamily="18" charset="0"/>
                          </a:rPr>
                          <m:t>𝑡</m:t>
                        </m:r>
                      </m:sub>
                    </m:sSub>
                  </m:oMath>
                </a14:m>
                <a:r>
                  <a:rPr kumimoji="1" lang="ja-JP" altLang="en-US" dirty="0"/>
                  <a:t>をとり</a:t>
                </a:r>
                <a:r>
                  <a:rPr kumimoji="1" lang="en-US" altLang="ja-JP" dirty="0"/>
                  <a:t>, </a:t>
                </a:r>
                <a:r>
                  <a:rPr kumimoji="1" lang="ja-JP" altLang="en-US" dirty="0"/>
                  <a:t>以降は方策</a:t>
                </a:r>
                <a14:m>
                  <m:oMath xmlns:m="http://schemas.openxmlformats.org/officeDocument/2006/math">
                    <m:r>
                      <a:rPr kumimoji="1" lang="ja-JP" altLang="en-US" b="0" i="1" smtClean="0">
                        <a:latin typeface="Cambria Math" panose="02040503050406030204" pitchFamily="18" charset="0"/>
                      </a:rPr>
                      <m:t>𝜋</m:t>
                    </m:r>
                  </m:oMath>
                </a14:m>
                <a:r>
                  <a:rPr kumimoji="1" lang="ja-JP" altLang="en-US" dirty="0"/>
                  <a:t>に従うときの</a:t>
                </a:r>
                <a:endParaRPr kumimoji="1" lang="en-US" altLang="ja-JP" dirty="0"/>
              </a:p>
              <a:p>
                <a:pPr marL="201168" lvl="1" indent="0">
                  <a:buNone/>
                </a:pPr>
                <a:r>
                  <a:rPr kumimoji="1" lang="ja-JP" altLang="en-US" b="1" dirty="0"/>
                  <a:t>長期的</a:t>
                </a:r>
                <a:r>
                  <a:rPr kumimoji="1" lang="ja-JP" altLang="en-US" dirty="0"/>
                  <a:t>な価値</a:t>
                </a:r>
                <a:endParaRPr kumimoji="1" lang="en-US" altLang="ja-JP" dirty="0"/>
              </a:p>
              <a:p>
                <a:endParaRPr kumimoji="1" lang="ja-JP" altLang="en-US" dirty="0"/>
              </a:p>
            </p:txBody>
          </p:sp>
        </mc:Choice>
        <mc:Fallback xmlns="">
          <p:sp>
            <p:nvSpPr>
              <p:cNvPr id="3" name="ノート プレースホルダー 2"/>
              <p:cNvSpPr>
                <a:spLocks noGrp="1"/>
              </p:cNvSpPr>
              <p:nvPr>
                <p:ph type="body" idx="1"/>
              </p:nvPr>
            </p:nvSpPr>
            <p:spPr/>
            <p:txBody>
              <a:bodyPr/>
              <a:lstStyle/>
              <a:p>
                <a:r>
                  <a:rPr kumimoji="1" lang="ja-JP" altLang="en-US" dirty="0"/>
                  <a:t>強化学習において必要な定義</a:t>
                </a:r>
                <a:endParaRPr kumimoji="1" lang="en-US" altLang="ja-JP" dirty="0"/>
              </a:p>
              <a:p>
                <a:r>
                  <a:rPr kumimoji="1" lang="ja-JP" altLang="en-US" dirty="0"/>
                  <a:t>・状態 </a:t>
                </a:r>
                <a:r>
                  <a:rPr kumimoji="1" lang="en-US" altLang="ja-JP" dirty="0"/>
                  <a:t>: </a:t>
                </a:r>
                <a:r>
                  <a:rPr kumimoji="1" lang="ja-JP" altLang="en-US" dirty="0"/>
                  <a:t>エージェント</a:t>
                </a:r>
                <a:r>
                  <a:rPr kumimoji="1" lang="en-US" altLang="ja-JP" dirty="0"/>
                  <a:t>(</a:t>
                </a:r>
                <a:r>
                  <a:rPr kumimoji="1" lang="ja-JP" altLang="en-US" dirty="0"/>
                  <a:t>薬物管理者</a:t>
                </a:r>
                <a:r>
                  <a:rPr kumimoji="1" lang="en-US" altLang="ja-JP" dirty="0"/>
                  <a:t>)</a:t>
                </a:r>
                <a:r>
                  <a:rPr kumimoji="1" lang="ja-JP" altLang="en-US" dirty="0"/>
                  <a:t>が観測可能な</a:t>
                </a:r>
                <a:r>
                  <a:rPr kumimoji="1" lang="en-US" altLang="ja-JP" dirty="0"/>
                  <a:t>, </a:t>
                </a:r>
                <a:r>
                  <a:rPr kumimoji="1" lang="ja-JP" altLang="en-US" dirty="0"/>
                  <a:t>環境がもつ特徴量</a:t>
                </a:r>
                <a:r>
                  <a:rPr kumimoji="1" lang="en-US" altLang="ja-JP" dirty="0"/>
                  <a:t>(</a:t>
                </a:r>
                <a:r>
                  <a:rPr kumimoji="1" lang="ja-JP" altLang="en-US" dirty="0"/>
                  <a:t>未感染細胞</a:t>
                </a:r>
                <a:r>
                  <a:rPr kumimoji="1" lang="en-US" altLang="ja-JP" dirty="0"/>
                  <a:t>, </a:t>
                </a:r>
                <a:r>
                  <a:rPr kumimoji="1" lang="ja-JP" altLang="en-US" dirty="0"/>
                  <a:t>ウイルス量</a:t>
                </a:r>
                <a:r>
                  <a:rPr kumimoji="1" lang="en-US" altLang="ja-JP" dirty="0"/>
                  <a:t>) </a:t>
                </a:r>
              </a:p>
              <a:p>
                <a:r>
                  <a:rPr kumimoji="1" lang="ja-JP" altLang="en-US" dirty="0"/>
                  <a:t>・行動 </a:t>
                </a:r>
                <a:r>
                  <a:rPr kumimoji="1" lang="en-US" altLang="ja-JP" dirty="0"/>
                  <a:t>: </a:t>
                </a:r>
                <a:r>
                  <a:rPr kumimoji="1" lang="ja-JP" altLang="en-US" dirty="0"/>
                  <a:t>環境に対してエージェントが働きかける動作 </a:t>
                </a:r>
                <a:endParaRPr kumimoji="1" lang="en-US" altLang="ja-JP" dirty="0"/>
              </a:p>
              <a:p>
                <a:r>
                  <a:rPr kumimoji="1" lang="ja-JP" altLang="en-US" dirty="0"/>
                  <a:t>・報酬 </a:t>
                </a:r>
                <a:r>
                  <a:rPr kumimoji="1" lang="en-US" altLang="ja-JP" dirty="0"/>
                  <a:t>: </a:t>
                </a:r>
                <a:r>
                  <a:rPr kumimoji="1" lang="ja-JP" altLang="en-US" dirty="0"/>
                  <a:t>あるステップ</a:t>
                </a:r>
                <a:r>
                  <a:rPr kumimoji="1" lang="en-US" altLang="ja-JP" dirty="0"/>
                  <a:t>t</a:t>
                </a:r>
                <a:r>
                  <a:rPr kumimoji="1" lang="ja-JP" altLang="en-US" dirty="0"/>
                  <a:t>におけるエージェントの行動の即時的な価値</a:t>
                </a:r>
                <a:endParaRPr kumimoji="1" lang="en-US" altLang="ja-JP" dirty="0"/>
              </a:p>
              <a:p>
                <a:r>
                  <a:rPr kumimoji="1" lang="ja-JP" altLang="en-US" dirty="0"/>
                  <a:t>・行動価値関数 </a:t>
                </a:r>
                <a:r>
                  <a:rPr kumimoji="1" lang="en-US" altLang="ja-JP" dirty="0"/>
                  <a:t>:</a:t>
                </a:r>
                <a:r>
                  <a:rPr kumimoji="1" lang="ja-JP" altLang="en-US" dirty="0"/>
                  <a:t>ある状態</a:t>
                </a:r>
                <a:r>
                  <a:rPr kumimoji="1" lang="en-US" altLang="ja-JP" b="0" i="0">
                    <a:latin typeface="Cambria Math" panose="02040503050406030204" pitchFamily="18" charset="0"/>
                  </a:rPr>
                  <a:t>𝑠_𝑡</a:t>
                </a:r>
                <a:r>
                  <a:rPr kumimoji="1" lang="ja-JP" altLang="en-US" dirty="0"/>
                  <a:t>において行動</a:t>
                </a:r>
                <a:r>
                  <a:rPr kumimoji="1" lang="en-US" altLang="ja-JP" b="0" i="0">
                    <a:latin typeface="Cambria Math" panose="02040503050406030204" pitchFamily="18" charset="0"/>
                  </a:rPr>
                  <a:t>𝑎_𝑡</a:t>
                </a:r>
                <a:r>
                  <a:rPr kumimoji="1" lang="ja-JP" altLang="en-US" dirty="0"/>
                  <a:t>をとり</a:t>
                </a:r>
                <a:r>
                  <a:rPr kumimoji="1" lang="en-US" altLang="ja-JP" dirty="0"/>
                  <a:t>, </a:t>
                </a:r>
                <a:r>
                  <a:rPr kumimoji="1" lang="ja-JP" altLang="en-US" dirty="0"/>
                  <a:t>以降は方策</a:t>
                </a:r>
                <a:r>
                  <a:rPr kumimoji="1" lang="ja-JP" altLang="en-US" b="0" i="0">
                    <a:latin typeface="Cambria Math" panose="02040503050406030204" pitchFamily="18" charset="0"/>
                  </a:rPr>
                  <a:t>𝜋</a:t>
                </a:r>
                <a:r>
                  <a:rPr kumimoji="1" lang="ja-JP" altLang="en-US" dirty="0"/>
                  <a:t>に従うときの</a:t>
                </a:r>
                <a:endParaRPr kumimoji="1" lang="en-US" altLang="ja-JP" dirty="0"/>
              </a:p>
              <a:p>
                <a:pPr marL="201168" lvl="1" indent="0">
                  <a:buNone/>
                </a:pPr>
                <a:r>
                  <a:rPr kumimoji="1" lang="ja-JP" altLang="en-US" b="1" dirty="0"/>
                  <a:t>長期的</a:t>
                </a:r>
                <a:r>
                  <a:rPr kumimoji="1" lang="ja-JP" altLang="en-US" dirty="0"/>
                  <a:t>な価値</a:t>
                </a:r>
                <a:endParaRPr kumimoji="1" lang="en-US" altLang="ja-JP" dirty="0"/>
              </a:p>
              <a:p>
                <a:endParaRPr kumimoji="1" lang="ja-JP" altLang="en-US" dirty="0"/>
              </a:p>
            </p:txBody>
          </p:sp>
        </mc:Fallback>
      </mc:AlternateContent>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5</a:t>
            </a:fld>
            <a:endParaRPr kumimoji="1" lang="ja-JP" altLang="en-US"/>
          </a:p>
        </p:txBody>
      </p:sp>
    </p:spTree>
    <p:extLst>
      <p:ext uri="{BB962C8B-B14F-4D97-AF65-F5344CB8AC3E}">
        <p14:creationId xmlns:p14="http://schemas.microsoft.com/office/powerpoint/2010/main" val="2490273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Q-learning</a:t>
            </a:r>
            <a:r>
              <a:rPr kumimoji="1" lang="ja-JP" altLang="en-US" dirty="0"/>
              <a:t>についての説明</a:t>
            </a:r>
            <a:endParaRPr kumimoji="1" lang="en-US" altLang="ja-JP" dirty="0"/>
          </a:p>
          <a:p>
            <a:r>
              <a:rPr kumimoji="1" lang="ja-JP" altLang="en-US" dirty="0"/>
              <a:t>・</a:t>
            </a:r>
            <a:r>
              <a:rPr kumimoji="1" lang="en-US" altLang="ja-JP" dirty="0"/>
              <a:t>Q</a:t>
            </a:r>
            <a:r>
              <a:rPr kumimoji="1" lang="ja-JP" altLang="en-US" dirty="0"/>
              <a:t>値の更新式　</a:t>
            </a:r>
            <a:endParaRPr kumimoji="1" lang="en-US" altLang="ja-JP" dirty="0"/>
          </a:p>
          <a:p>
            <a:r>
              <a:rPr kumimoji="1" lang="en-US" altLang="ja-JP" dirty="0"/>
              <a:t>Q-learning</a:t>
            </a:r>
            <a:r>
              <a:rPr kumimoji="1" lang="ja-JP" altLang="en-US" dirty="0"/>
              <a:t>では方策ベースではなく</a:t>
            </a:r>
            <a:r>
              <a:rPr kumimoji="1" lang="en-US" altLang="ja-JP" dirty="0"/>
              <a:t>, </a:t>
            </a:r>
            <a:r>
              <a:rPr kumimoji="1" lang="ja-JP" altLang="en-US" dirty="0"/>
              <a:t>価値関数の更新を行うことで行動する</a:t>
            </a:r>
            <a:r>
              <a:rPr kumimoji="1" lang="en-US" altLang="ja-JP" dirty="0"/>
              <a:t>. </a:t>
            </a:r>
          </a:p>
          <a:p>
            <a:r>
              <a:rPr kumimoji="1" lang="ja-JP" altLang="en-US" dirty="0"/>
              <a:t>ある状態</a:t>
            </a:r>
            <a:r>
              <a:rPr kumimoji="1" lang="en-US" altLang="ja-JP" dirty="0" err="1"/>
              <a:t>st</a:t>
            </a:r>
            <a:r>
              <a:rPr kumimoji="1" lang="ja-JP" altLang="en-US" dirty="0"/>
              <a:t>においての報酬と推定可能な最大の行動価値関数で構成➡教師信号　</a:t>
            </a:r>
            <a:endParaRPr kumimoji="1" lang="en-US" altLang="ja-JP" dirty="0"/>
          </a:p>
          <a:p>
            <a:r>
              <a:rPr kumimoji="1" lang="ja-JP" altLang="en-US" dirty="0"/>
              <a:t>教師信号から</a:t>
            </a:r>
            <a:r>
              <a:rPr kumimoji="1" lang="en-US" altLang="ja-JP" dirty="0"/>
              <a:t>Q</a:t>
            </a:r>
            <a:r>
              <a:rPr kumimoji="1" lang="ja-JP" altLang="en-US" dirty="0"/>
              <a:t>値を引いた</a:t>
            </a:r>
            <a:r>
              <a:rPr kumimoji="1" lang="en-US" altLang="ja-JP" dirty="0"/>
              <a:t>TD</a:t>
            </a:r>
            <a:r>
              <a:rPr kumimoji="1" lang="ja-JP" altLang="en-US" dirty="0"/>
              <a:t>誤差で</a:t>
            </a:r>
            <a:r>
              <a:rPr kumimoji="1" lang="en-US" altLang="ja-JP" dirty="0"/>
              <a:t>Q</a:t>
            </a:r>
            <a:r>
              <a:rPr kumimoji="1" lang="ja-JP" altLang="en-US" dirty="0"/>
              <a:t>値を更新する　</a:t>
            </a:r>
            <a:endParaRPr kumimoji="1" lang="en-US" altLang="ja-JP" dirty="0"/>
          </a:p>
          <a:p>
            <a:endParaRPr kumimoji="1" lang="en-US" altLang="ja-JP" dirty="0"/>
          </a:p>
          <a:p>
            <a:r>
              <a:rPr kumimoji="1" lang="ja-JP" altLang="en-US" dirty="0"/>
              <a:t>・</a:t>
            </a:r>
            <a:r>
              <a:rPr kumimoji="1" lang="en-US" altLang="ja-JP" dirty="0"/>
              <a:t>Q-learning </a:t>
            </a:r>
            <a:r>
              <a:rPr kumimoji="1" lang="ja-JP" altLang="en-US" dirty="0"/>
              <a:t>アルゴリズムによってエージェントと環境の相互作用を表現可能</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6</a:t>
            </a:fld>
            <a:endParaRPr kumimoji="1" lang="ja-JP" altLang="en-US"/>
          </a:p>
        </p:txBody>
      </p:sp>
    </p:spTree>
    <p:extLst>
      <p:ext uri="{BB962C8B-B14F-4D97-AF65-F5344CB8AC3E}">
        <p14:creationId xmlns:p14="http://schemas.microsoft.com/office/powerpoint/2010/main" val="3352829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初期値が既知の場合の条件設定を行う</a:t>
            </a:r>
            <a:r>
              <a:rPr kumimoji="1" lang="en-US" altLang="ja-JP" dirty="0"/>
              <a:t>. </a:t>
            </a:r>
          </a:p>
          <a:p>
            <a:r>
              <a:rPr kumimoji="1" lang="ja-JP" altLang="en-US" dirty="0"/>
              <a:t>・報酬の意味</a:t>
            </a:r>
            <a:r>
              <a:rPr kumimoji="1" lang="en-US" altLang="ja-JP" dirty="0"/>
              <a:t>: </a:t>
            </a:r>
            <a:r>
              <a:rPr kumimoji="1" lang="ja-JP" altLang="en-US" dirty="0"/>
              <a:t>遊離ウイルスが減少➡報酬は大きい </a:t>
            </a:r>
            <a:r>
              <a:rPr kumimoji="1" lang="en-US" altLang="ja-JP" dirty="0"/>
              <a:t>, </a:t>
            </a:r>
            <a:r>
              <a:rPr kumimoji="1" lang="ja-JP" altLang="en-US" dirty="0"/>
              <a:t>投薬量が増加➡報酬は減少</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7</a:t>
            </a:fld>
            <a:endParaRPr kumimoji="1" lang="ja-JP" altLang="en-US"/>
          </a:p>
        </p:txBody>
      </p:sp>
    </p:spTree>
    <p:extLst>
      <p:ext uri="{BB962C8B-B14F-4D97-AF65-F5344CB8AC3E}">
        <p14:creationId xmlns:p14="http://schemas.microsoft.com/office/powerpoint/2010/main" val="3286753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2</a:t>
            </a:r>
            <a:r>
              <a:rPr kumimoji="1" lang="ja-JP" altLang="en-US" dirty="0"/>
              <a:t>つ目の条件は</a:t>
            </a:r>
            <a:r>
              <a:rPr kumimoji="1" lang="en-US" altLang="ja-JP" dirty="0"/>
              <a:t>, </a:t>
            </a:r>
            <a:r>
              <a:rPr kumimoji="1" lang="ja-JP" altLang="en-US" dirty="0"/>
              <a:t>不確実な初期値の場合 </a:t>
            </a:r>
            <a:r>
              <a:rPr kumimoji="1" lang="en-US" altLang="ja-JP" dirty="0"/>
              <a:t>X~V</a:t>
            </a:r>
            <a:r>
              <a:rPr kumimoji="1" lang="ja-JP" altLang="en-US" dirty="0"/>
              <a:t>はそれぞれ平均と分散をもつ正規分布に従うと仮定 </a:t>
            </a:r>
            <a:endParaRPr kumimoji="1" lang="en-US" altLang="ja-JP" dirty="0"/>
          </a:p>
          <a:p>
            <a:r>
              <a:rPr kumimoji="1" lang="ja-JP" altLang="en-US" dirty="0"/>
              <a:t>➡ランダムに初期値を</a:t>
            </a:r>
            <a:r>
              <a:rPr kumimoji="1" lang="en-US" altLang="ja-JP" dirty="0"/>
              <a:t>200</a:t>
            </a:r>
            <a:r>
              <a:rPr kumimoji="1" lang="ja-JP" altLang="en-US" dirty="0"/>
              <a:t>個選択した</a:t>
            </a:r>
            <a:r>
              <a:rPr kumimoji="1" lang="en-US" altLang="ja-JP" dirty="0"/>
              <a:t> </a:t>
            </a:r>
          </a:p>
          <a:p>
            <a:endParaRPr kumimoji="1" lang="en-US" altLang="ja-JP"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8</a:t>
            </a:fld>
            <a:endParaRPr kumimoji="1" lang="ja-JP" altLang="en-US"/>
          </a:p>
        </p:txBody>
      </p:sp>
    </p:spTree>
    <p:extLst>
      <p:ext uri="{BB962C8B-B14F-4D97-AF65-F5344CB8AC3E}">
        <p14:creationId xmlns:p14="http://schemas.microsoft.com/office/powerpoint/2010/main" val="22802553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3</a:t>
            </a:r>
            <a:r>
              <a:rPr kumimoji="1" lang="ja-JP" altLang="en-US" dirty="0"/>
              <a:t>つ目は不確実な初期値をもち</a:t>
            </a:r>
            <a:r>
              <a:rPr kumimoji="1" lang="en-US" altLang="ja-JP" dirty="0"/>
              <a:t>, </a:t>
            </a:r>
            <a:r>
              <a:rPr kumimoji="1" lang="ja-JP" altLang="en-US" dirty="0"/>
              <a:t>白色外乱を印加する場合　</a:t>
            </a:r>
            <a:endParaRPr kumimoji="1" lang="en-US" altLang="ja-JP" dirty="0"/>
          </a:p>
          <a:p>
            <a:r>
              <a:rPr kumimoji="1" lang="ja-JP" altLang="en-US" dirty="0"/>
              <a:t>数理モデル以外は②不確実な初期条件を持つ場合と共通　</a:t>
            </a:r>
            <a:endParaRPr kumimoji="1" lang="en-US" altLang="ja-JP" dirty="0"/>
          </a:p>
          <a:p>
            <a:r>
              <a:rPr kumimoji="1" lang="ja-JP" altLang="en-US" dirty="0"/>
              <a:t>数理モデルは</a:t>
            </a:r>
            <a:r>
              <a:rPr kumimoji="1" lang="en-US" altLang="ja-JP" dirty="0"/>
              <a:t>, X,Y,Z,V</a:t>
            </a:r>
            <a:r>
              <a:rPr kumimoji="1" lang="ja-JP" altLang="en-US" dirty="0"/>
              <a:t>で構成される</a:t>
            </a:r>
            <a:r>
              <a:rPr kumimoji="1" lang="en-US" altLang="ja-JP" dirty="0"/>
              <a:t>4</a:t>
            </a:r>
            <a:r>
              <a:rPr kumimoji="1" lang="ja-JP" altLang="en-US" dirty="0"/>
              <a:t>次元状態を用いた微分方程式で表現できる</a:t>
            </a:r>
            <a:r>
              <a:rPr kumimoji="1" lang="en-US" altLang="ja-JP" dirty="0"/>
              <a:t>. </a:t>
            </a:r>
          </a:p>
          <a:p>
            <a:r>
              <a:rPr kumimoji="1" lang="ja-JP" altLang="en-US" dirty="0"/>
              <a:t>不確実白色外乱</a:t>
            </a:r>
            <a:r>
              <a:rPr kumimoji="1" lang="en-US" altLang="ja-JP" dirty="0"/>
              <a:t>w(t)</a:t>
            </a:r>
            <a:r>
              <a:rPr kumimoji="1" lang="ja-JP" altLang="en-US" dirty="0"/>
              <a:t>が印加されると</a:t>
            </a:r>
            <a:r>
              <a:rPr kumimoji="1" lang="en-US" altLang="ja-JP" dirty="0"/>
              <a:t>, </a:t>
            </a:r>
            <a:r>
              <a:rPr kumimoji="1" lang="ja-JP" altLang="en-US" dirty="0"/>
              <a:t>任意の関数</a:t>
            </a:r>
            <a:r>
              <a:rPr kumimoji="1" lang="en-US" altLang="ja-JP" dirty="0"/>
              <a:t>G(t)</a:t>
            </a:r>
            <a:r>
              <a:rPr kumimoji="1" lang="ja-JP" altLang="en-US" dirty="0"/>
              <a:t>を用いて</a:t>
            </a:r>
            <a:r>
              <a:rPr kumimoji="1" lang="en-US" altLang="ja-JP" dirty="0"/>
              <a:t> </a:t>
            </a:r>
            <a:r>
              <a:rPr kumimoji="1" lang="en-US" altLang="ja-JP" dirty="0" err="1"/>
              <a:t>Gw</a:t>
            </a:r>
            <a:r>
              <a:rPr kumimoji="1" lang="ja-JP" altLang="en-US" dirty="0"/>
              <a:t>が微分方程式に加えられる</a:t>
            </a:r>
            <a:r>
              <a:rPr kumimoji="1" lang="en-US" altLang="ja-JP" dirty="0"/>
              <a:t>. </a:t>
            </a:r>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9</a:t>
            </a:fld>
            <a:endParaRPr kumimoji="1" lang="ja-JP" altLang="en-US"/>
          </a:p>
        </p:txBody>
      </p:sp>
    </p:spTree>
    <p:extLst>
      <p:ext uri="{BB962C8B-B14F-4D97-AF65-F5344CB8AC3E}">
        <p14:creationId xmlns:p14="http://schemas.microsoft.com/office/powerpoint/2010/main" val="2334536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10</a:t>
            </a:fld>
            <a:endParaRPr kumimoji="1" lang="ja-JP" altLang="en-US"/>
          </a:p>
        </p:txBody>
      </p:sp>
    </p:spTree>
    <p:extLst>
      <p:ext uri="{BB962C8B-B14F-4D97-AF65-F5344CB8AC3E}">
        <p14:creationId xmlns:p14="http://schemas.microsoft.com/office/powerpoint/2010/main" val="3850459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制御則は</a:t>
            </a:r>
            <a:r>
              <a:rPr kumimoji="1" lang="en-US" altLang="ja-JP" dirty="0"/>
              <a:t>Q-learning </a:t>
            </a:r>
          </a:p>
          <a:p>
            <a:r>
              <a:rPr kumimoji="1" lang="ja-JP" altLang="en-US" dirty="0"/>
              <a:t>ランダムパス</a:t>
            </a:r>
            <a:r>
              <a:rPr kumimoji="1" lang="en-US" altLang="ja-JP" dirty="0"/>
              <a:t>10</a:t>
            </a:r>
            <a:r>
              <a:rPr kumimoji="1" lang="ja-JP" altLang="en-US" dirty="0"/>
              <a:t>個いずれについても</a:t>
            </a:r>
            <a:r>
              <a:rPr kumimoji="1" lang="en-US" altLang="ja-JP" dirty="0"/>
              <a:t>, X</a:t>
            </a:r>
            <a:r>
              <a:rPr kumimoji="1" lang="ja-JP" altLang="en-US" dirty="0"/>
              <a:t>の増加</a:t>
            </a:r>
            <a:r>
              <a:rPr kumimoji="1" lang="en-US" altLang="ja-JP" dirty="0"/>
              <a:t>, Y,Z,V</a:t>
            </a:r>
            <a:r>
              <a:rPr kumimoji="1" lang="ja-JP" altLang="en-US" dirty="0"/>
              <a:t>の減少の傾向にあることが分かる</a:t>
            </a:r>
            <a:r>
              <a:rPr kumimoji="1" lang="en-US" altLang="ja-JP" dirty="0"/>
              <a:t>. </a:t>
            </a:r>
          </a:p>
          <a:p>
            <a:endParaRPr kumimoji="1" lang="ja-JP" altLang="en-US"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11</a:t>
            </a:fld>
            <a:endParaRPr kumimoji="1" lang="ja-JP" altLang="en-US"/>
          </a:p>
        </p:txBody>
      </p:sp>
    </p:spTree>
    <p:extLst>
      <p:ext uri="{BB962C8B-B14F-4D97-AF65-F5344CB8AC3E}">
        <p14:creationId xmlns:p14="http://schemas.microsoft.com/office/powerpoint/2010/main" val="2741683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制御手法</a:t>
            </a:r>
            <a:r>
              <a:rPr kumimoji="1" lang="en-US" altLang="ja-JP" dirty="0"/>
              <a:t>: Q-learning</a:t>
            </a:r>
            <a:r>
              <a:rPr kumimoji="1" lang="ja-JP" altLang="en-US" dirty="0"/>
              <a:t>　</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12</a:t>
            </a:fld>
            <a:endParaRPr kumimoji="1" lang="ja-JP" altLang="en-US"/>
          </a:p>
        </p:txBody>
      </p:sp>
    </p:spTree>
    <p:extLst>
      <p:ext uri="{BB962C8B-B14F-4D97-AF65-F5344CB8AC3E}">
        <p14:creationId xmlns:p14="http://schemas.microsoft.com/office/powerpoint/2010/main" val="29751132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13</a:t>
            </a:fld>
            <a:endParaRPr kumimoji="1" lang="ja-JP" altLang="en-US"/>
          </a:p>
        </p:txBody>
      </p:sp>
    </p:spTree>
    <p:extLst>
      <p:ext uri="{BB962C8B-B14F-4D97-AF65-F5344CB8AC3E}">
        <p14:creationId xmlns:p14="http://schemas.microsoft.com/office/powerpoint/2010/main" val="11446016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15</a:t>
            </a:fld>
            <a:endParaRPr kumimoji="1" lang="ja-JP" altLang="en-US"/>
          </a:p>
        </p:txBody>
      </p:sp>
    </p:spTree>
    <p:extLst>
      <p:ext uri="{BB962C8B-B14F-4D97-AF65-F5344CB8AC3E}">
        <p14:creationId xmlns:p14="http://schemas.microsoft.com/office/powerpoint/2010/main" val="3338427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ベルマン方程式は、直近の報酬に</a:t>
            </a:r>
            <a:r>
              <a:rPr kumimoji="1" lang="en-US" altLang="ja-JP" dirty="0"/>
              <a:t>1</a:t>
            </a:r>
            <a:r>
              <a:rPr kumimoji="1" lang="ja-JP" altLang="en-US" dirty="0"/>
              <a:t>ステップ先の価値関数を足したものになる</a:t>
            </a:r>
            <a:r>
              <a:rPr kumimoji="1" lang="en-US" altLang="ja-JP" dirty="0"/>
              <a:t>. </a:t>
            </a:r>
            <a:r>
              <a:rPr kumimoji="1" lang="ja-JP" altLang="en-US" dirty="0"/>
              <a:t>ただし方策やどの行動をとるかは確率分布に基づくため</a:t>
            </a:r>
            <a:r>
              <a:rPr kumimoji="1" lang="en-US" altLang="ja-JP" dirty="0"/>
              <a:t>, </a:t>
            </a:r>
            <a:r>
              <a:rPr kumimoji="1" lang="ja-JP" altLang="en-US" dirty="0"/>
              <a:t>期待値をとる</a:t>
            </a:r>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17</a:t>
            </a:fld>
            <a:endParaRPr kumimoji="1" lang="ja-JP" altLang="en-US"/>
          </a:p>
        </p:txBody>
      </p:sp>
    </p:spTree>
    <p:extLst>
      <p:ext uri="{BB962C8B-B14F-4D97-AF65-F5344CB8AC3E}">
        <p14:creationId xmlns:p14="http://schemas.microsoft.com/office/powerpoint/2010/main" val="876602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18</a:t>
            </a:fld>
            <a:endParaRPr kumimoji="1" lang="ja-JP" altLang="en-US"/>
          </a:p>
        </p:txBody>
      </p:sp>
    </p:spTree>
    <p:extLst>
      <p:ext uri="{BB962C8B-B14F-4D97-AF65-F5344CB8AC3E}">
        <p14:creationId xmlns:p14="http://schemas.microsoft.com/office/powerpoint/2010/main" val="636775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B7F822F0-A361-4012-BE4A-9127B73037CC}" type="datetime1">
              <a:rPr kumimoji="1" lang="ja-JP" altLang="en-US" smtClean="0"/>
              <a:t>2024/9/1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pPr/>
              <a:t>‹#›</a:t>
            </a:fld>
            <a:endParaRPr kumimoji="1" lang="ja-JP" altLang="en-US" dirty="0"/>
          </a:p>
        </p:txBody>
      </p:sp>
    </p:spTree>
    <p:extLst>
      <p:ext uri="{BB962C8B-B14F-4D97-AF65-F5344CB8AC3E}">
        <p14:creationId xmlns:p14="http://schemas.microsoft.com/office/powerpoint/2010/main" val="3566910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07B1F2F-DF3C-436E-9B50-72D3A69D3383}" type="datetime1">
              <a:rPr kumimoji="1" lang="ja-JP" altLang="en-US" smtClean="0"/>
              <a:t>2024/9/1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pPr/>
              <a:t>‹#›</a:t>
            </a:fld>
            <a:endParaRPr kumimoji="1" lang="ja-JP" altLang="en-US" dirty="0"/>
          </a:p>
        </p:txBody>
      </p:sp>
    </p:spTree>
    <p:extLst>
      <p:ext uri="{BB962C8B-B14F-4D97-AF65-F5344CB8AC3E}">
        <p14:creationId xmlns:p14="http://schemas.microsoft.com/office/powerpoint/2010/main" val="130551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A76D386-7920-4F9D-82F1-934D9F91A06B}" type="datetime1">
              <a:rPr kumimoji="1" lang="ja-JP" altLang="en-US" smtClean="0"/>
              <a:t>2024/9/1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3491031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5F1145B6-996D-402A-A7BF-B20A80B77617}" type="datetime1">
              <a:rPr kumimoji="1" lang="ja-JP" altLang="en-US" smtClean="0"/>
              <a:t>2024/9/1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4214329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45127" y="2507550"/>
            <a:ext cx="5156200"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7550"/>
            <a:ext cx="5181601"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1928308C-EA13-47BC-8EBA-933B8E5FC28A}" type="datetime1">
              <a:rPr kumimoji="1" lang="ja-JP" altLang="en-US" smtClean="0"/>
              <a:t>2024/9/1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
        <p:nvSpPr>
          <p:cNvPr id="10" name="Title 9"/>
          <p:cNvSpPr>
            <a:spLocks noGrp="1"/>
          </p:cNvSpPr>
          <p:nvPr>
            <p:ph type="title"/>
          </p:nvPr>
        </p:nvSpPr>
        <p:spPr/>
        <p:txBody>
          <a:bodyPr/>
          <a:lstStyle/>
          <a:p>
            <a:r>
              <a:rPr lang="ja-JP" altLang="en-US"/>
              <a:t>マスター タイトルの書式設定</a:t>
            </a:r>
            <a:endParaRPr lang="en-US" dirty="0"/>
          </a:p>
        </p:txBody>
      </p:sp>
    </p:spTree>
    <p:extLst>
      <p:ext uri="{BB962C8B-B14F-4D97-AF65-F5344CB8AC3E}">
        <p14:creationId xmlns:p14="http://schemas.microsoft.com/office/powerpoint/2010/main" val="2620469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ECD8946-89FB-4F02-9A1E-916169506809}" type="datetime1">
              <a:rPr kumimoji="1" lang="ja-JP" altLang="en-US" smtClean="0"/>
              <a:t>2024/9/1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
        <p:nvSpPr>
          <p:cNvPr id="6" name="Title 5"/>
          <p:cNvSpPr>
            <a:spLocks noGrp="1"/>
          </p:cNvSpPr>
          <p:nvPr>
            <p:ph type="title"/>
          </p:nvPr>
        </p:nvSpPr>
        <p:spPr/>
        <p:txBody>
          <a:bodyPr/>
          <a:lstStyle/>
          <a:p>
            <a:r>
              <a:rPr lang="ja-JP" altLang="en-US"/>
              <a:t>マスター タイトルの書式設定</a:t>
            </a:r>
            <a:endParaRPr lang="en-US"/>
          </a:p>
        </p:txBody>
      </p:sp>
    </p:spTree>
    <p:extLst>
      <p:ext uri="{BB962C8B-B14F-4D97-AF65-F5344CB8AC3E}">
        <p14:creationId xmlns:p14="http://schemas.microsoft.com/office/powerpoint/2010/main" val="1730809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C473E4-9D8D-4AEA-8CD8-38C8A69E4B3B}" type="datetime1">
              <a:rPr kumimoji="1" lang="ja-JP" altLang="en-US" smtClean="0"/>
              <a:t>2024/9/1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3997658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ja-JP" altLang="en-US"/>
              <a:t>マスター タイトルの書式設定</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AB8367D-6306-4D79-867D-F52CA233800C}" type="datetime1">
              <a:rPr kumimoji="1" lang="ja-JP" altLang="en-US" smtClean="0"/>
              <a:t>2024/9/1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2533906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ja-JP" altLang="en-US"/>
              <a:t>マスター タイトルの書式設定</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FCDBB4A-9EDC-4507-8DFD-430BF2747A88}" type="datetime1">
              <a:rPr kumimoji="1" lang="ja-JP" altLang="en-US" smtClean="0"/>
              <a:t>2024/9/1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2772957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6D99C597-6B36-4241-8C43-DD3CC67E0FA6}" type="datetime1">
              <a:rPr kumimoji="1" lang="ja-JP" altLang="en-US" smtClean="0"/>
              <a:t>2024/9/1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3328613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455C3C7F-4D63-47F3-BEDB-6883397AC94D}" type="datetime1">
              <a:rPr kumimoji="1" lang="ja-JP" altLang="en-US" smtClean="0"/>
              <a:t>2024/9/1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14477093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B7F822F0-A361-4012-BE4A-9127B73037CC}" type="datetime1">
              <a:rPr kumimoji="1" lang="ja-JP" altLang="en-US" smtClean="0"/>
              <a:t>2024/9/1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pPr/>
              <a:t>‹#›</a:t>
            </a:fld>
            <a:endParaRPr kumimoji="1" lang="ja-JP" altLang="en-US" dirty="0"/>
          </a:p>
        </p:txBody>
      </p:sp>
    </p:spTree>
    <p:extLst>
      <p:ext uri="{BB962C8B-B14F-4D97-AF65-F5344CB8AC3E}">
        <p14:creationId xmlns:p14="http://schemas.microsoft.com/office/powerpoint/2010/main" val="483240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2834640"/>
            <a:ext cx="10058400" cy="4023360"/>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7" name="タイトル 6">
            <a:extLst>
              <a:ext uri="{FF2B5EF4-FFF2-40B4-BE49-F238E27FC236}">
                <a16:creationId xmlns:a16="http://schemas.microsoft.com/office/drawing/2014/main" id="{2E760512-ADF1-16F3-C46B-B0F522825561}"/>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32910613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A76D386-7920-4F9D-82F1-934D9F91A06B}" type="datetime1">
              <a:rPr kumimoji="1" lang="ja-JP" altLang="en-US" smtClean="0"/>
              <a:t>2024/9/1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69691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5F1145B6-996D-402A-A7BF-B20A80B77617}" type="datetime1">
              <a:rPr kumimoji="1" lang="ja-JP" altLang="en-US" smtClean="0"/>
              <a:t>2024/9/1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41236638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097280" y="2582335"/>
            <a:ext cx="4937760" cy="32867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217920" y="2582334"/>
            <a:ext cx="4937760" cy="32867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1928308C-EA13-47BC-8EBA-933B8E5FC28A}" type="datetime1">
              <a:rPr kumimoji="1" lang="ja-JP" altLang="en-US" smtClean="0"/>
              <a:t>2024/9/1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31233413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0ECD8946-89FB-4F02-9A1E-916169506809}" type="datetime1">
              <a:rPr kumimoji="1" lang="ja-JP" altLang="en-US" smtClean="0"/>
              <a:t>2024/9/1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27419489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EC473E4-9D8D-4AEA-8CD8-38C8A69E4B3B}" type="datetime1">
              <a:rPr kumimoji="1" lang="ja-JP" altLang="en-US" smtClean="0"/>
              <a:t>2024/9/1</a:t>
            </a:fld>
            <a:endParaRPr kumimoji="1" lang="ja-JP"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kumimoji="1" lang="ja-JP" altLang="en-US"/>
          </a:p>
        </p:txBody>
      </p:sp>
      <p:sp>
        <p:nvSpPr>
          <p:cNvPr id="9" name="Slide Number Placeholder 8"/>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28888087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AB8367D-6306-4D79-867D-F52CA233800C}" type="datetime1">
              <a:rPr kumimoji="1" lang="ja-JP" altLang="en-US" smtClean="0"/>
              <a:t>2024/9/1</a:t>
            </a:fld>
            <a:endParaRPr kumimoji="1" lang="ja-JP"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kumimoji="1" lang="ja-JP"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11967260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FCDBB4A-9EDC-4507-8DFD-430BF2747A88}" type="datetime1">
              <a:rPr kumimoji="1" lang="ja-JP" altLang="en-US" smtClean="0"/>
              <a:t>2024/9/1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42087966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6D99C597-6B36-4241-8C43-DD3CC67E0FA6}" type="datetime1">
              <a:rPr kumimoji="1" lang="ja-JP" altLang="en-US" smtClean="0"/>
              <a:t>2024/9/1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13477091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55C3C7F-4D63-47F3-BEDB-6883397AC94D}" type="datetime1">
              <a:rPr kumimoji="1" lang="ja-JP" altLang="en-US" smtClean="0"/>
              <a:t>2024/9/1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3362888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53DA3026-E5EE-4DE9-AC96-4C23AF92887A}" type="datetime1">
              <a:rPr kumimoji="1" lang="ja-JP" altLang="en-US" smtClean="0"/>
              <a:t>2024/9/1</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kumimoji="1" lang="ja-JP" alt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800">
                <a:solidFill>
                  <a:schemeClr val="tx1">
                    <a:tint val="75000"/>
                  </a:schemeClr>
                </a:solidFill>
              </a:defRPr>
            </a:lvl1pPr>
          </a:lstStyle>
          <a:p>
            <a:fld id="{E0107F97-1CD5-41F0-B842-C38020C26506}" type="slidenum">
              <a:rPr kumimoji="1" lang="ja-JP" altLang="en-US" smtClean="0"/>
              <a:pPr/>
              <a:t>‹#›</a:t>
            </a:fld>
            <a:endParaRPr kumimoji="1" lang="ja-JP" altLang="en-US" dirty="0"/>
          </a:p>
        </p:txBody>
      </p:sp>
    </p:spTree>
    <p:extLst>
      <p:ext uri="{BB962C8B-B14F-4D97-AF65-F5344CB8AC3E}">
        <p14:creationId xmlns:p14="http://schemas.microsoft.com/office/powerpoint/2010/main" val="2716618005"/>
      </p:ext>
    </p:extLst>
  </p:cSld>
  <p:clrMap bg1="lt1" tx1="dk1" bg2="lt2" tx2="dk2" accent1="accent1" accent2="accent2" accent3="accent3" accent4="accent4" accent5="accent5" accent6="accent6" hlink="hlink" folHlink="folHlink"/>
  <p:sldLayoutIdLst>
    <p:sldLayoutId id="2147484158" r:id="rId1"/>
    <p:sldLayoutId id="2147484159" r:id="rId2"/>
    <p:sldLayoutId id="2147484160" r:id="rId3"/>
    <p:sldLayoutId id="2147484161" r:id="rId4"/>
    <p:sldLayoutId id="2147484162" r:id="rId5"/>
    <p:sldLayoutId id="2147484163" r:id="rId6"/>
    <p:sldLayoutId id="2147484164" r:id="rId7"/>
    <p:sldLayoutId id="2147484165" r:id="rId8"/>
    <p:sldLayoutId id="2147484166" r:id="rId9"/>
    <p:sldLayoutId id="2147484167" r:id="rId10"/>
    <p:sldLayoutId id="2147484168"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65227" y="171552"/>
            <a:ext cx="10058400" cy="949652"/>
          </a:xfrm>
          <a:prstGeom prst="rect">
            <a:avLst/>
          </a:prstGeom>
        </p:spPr>
        <p:txBody>
          <a:bodyPr vert="horz" lIns="91440" tIns="45720" rIns="91440" bIns="45720" rtlCol="0" anchor="b">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1097280" y="1262418"/>
            <a:ext cx="10058400" cy="4606676"/>
          </a:xfrm>
          <a:prstGeom prst="rect">
            <a:avLst/>
          </a:prstGeom>
        </p:spPr>
        <p:txBody>
          <a:bodyPr vert="horz" lIns="0" tIns="45720" rIns="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3DA3026-E5EE-4DE9-AC96-4C23AF92887A}" type="datetime1">
              <a:rPr kumimoji="1" lang="ja-JP" altLang="en-US" smtClean="0"/>
              <a:t>2024/9/1</a:t>
            </a:fld>
            <a:endParaRPr kumimoji="1" lang="ja-JP"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kumimoji="1" lang="ja-JP"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2000">
                <a:solidFill>
                  <a:srgbClr val="FFFFFF"/>
                </a:solidFill>
              </a:defRPr>
            </a:lvl1pPr>
          </a:lstStyle>
          <a:p>
            <a:fld id="{E0107F97-1CD5-41F0-B842-C38020C26506}" type="slidenum">
              <a:rPr kumimoji="1" lang="ja-JP" altLang="en-US" smtClean="0"/>
              <a:pPr/>
              <a:t>‹#›</a:t>
            </a:fld>
            <a:endParaRPr kumimoji="1" lang="ja-JP" altLang="en-US" dirty="0"/>
          </a:p>
        </p:txBody>
      </p:sp>
    </p:spTree>
    <p:extLst>
      <p:ext uri="{BB962C8B-B14F-4D97-AF65-F5344CB8AC3E}">
        <p14:creationId xmlns:p14="http://schemas.microsoft.com/office/powerpoint/2010/main" val="2622142764"/>
      </p:ext>
    </p:extLst>
  </p:cSld>
  <p:clrMap bg1="lt1" tx1="dk1" bg2="lt2" tx2="dk2" accent1="accent1" accent2="accent2" accent3="accent3" accent4="accent4" accent5="accent5" accent6="accent6" hlink="hlink" folHlink="folHlink"/>
  <p:sldLayoutIdLst>
    <p:sldLayoutId id="2147484230" r:id="rId1"/>
    <p:sldLayoutId id="2147484231" r:id="rId2"/>
    <p:sldLayoutId id="2147484232" r:id="rId3"/>
    <p:sldLayoutId id="2147484233" r:id="rId4"/>
    <p:sldLayoutId id="2147484234" r:id="rId5"/>
    <p:sldLayoutId id="2147484235" r:id="rId6"/>
    <p:sldLayoutId id="2147484236" r:id="rId7"/>
    <p:sldLayoutId id="2147484237" r:id="rId8"/>
    <p:sldLayoutId id="2147484238" r:id="rId9"/>
    <p:sldLayoutId id="2147484239" r:id="rId10"/>
    <p:sldLayoutId id="2147484240" r:id="rId11"/>
  </p:sldLayoutIdLst>
  <p:hf hdr="0" ftr="0" dt="0"/>
  <p:txStyles>
    <p:title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kumimoji="1"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image" Target="../media/image38.png"/><Relationship Id="rId1" Type="http://schemas.openxmlformats.org/officeDocument/2006/relationships/slideLayout" Target="../slideLayouts/slideLayout13.xml"/><Relationship Id="rId5" Type="http://schemas.openxmlformats.org/officeDocument/2006/relationships/image" Target="../media/image39.png"/><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EFB529-41D2-B503-9027-E2C34BFE0FF0}"/>
              </a:ext>
            </a:extLst>
          </p:cNvPr>
          <p:cNvSpPr>
            <a:spLocks noGrp="1"/>
          </p:cNvSpPr>
          <p:nvPr>
            <p:ph type="ctrTitle"/>
          </p:nvPr>
        </p:nvSpPr>
        <p:spPr>
          <a:xfrm>
            <a:off x="1524000" y="-755884"/>
            <a:ext cx="9144000" cy="3107438"/>
          </a:xfrm>
        </p:spPr>
        <p:txBody>
          <a:bodyPr>
            <a:noAutofit/>
          </a:bodyPr>
          <a:lstStyle/>
          <a:p>
            <a:pPr algn="ctr"/>
            <a:r>
              <a:rPr kumimoji="1" lang="en-US" altLang="ja-JP" sz="4800" dirty="0"/>
              <a:t>Control the population of free viruses in nonlinear uncertain HIV syste</a:t>
            </a:r>
            <a:r>
              <a:rPr lang="en-US" altLang="ja-JP" sz="4800" dirty="0"/>
              <a:t>m using Q-learning</a:t>
            </a:r>
            <a:endParaRPr kumimoji="1" lang="ja-JP" altLang="en-US" sz="4800" dirty="0"/>
          </a:p>
        </p:txBody>
      </p:sp>
      <p:sp>
        <p:nvSpPr>
          <p:cNvPr id="3" name="字幕 2">
            <a:extLst>
              <a:ext uri="{FF2B5EF4-FFF2-40B4-BE49-F238E27FC236}">
                <a16:creationId xmlns:a16="http://schemas.microsoft.com/office/drawing/2014/main" id="{60C7E160-62E1-AD65-23EB-AD79C14F1CBC}"/>
              </a:ext>
            </a:extLst>
          </p:cNvPr>
          <p:cNvSpPr>
            <a:spLocks noGrp="1"/>
          </p:cNvSpPr>
          <p:nvPr>
            <p:ph type="subTitle" idx="1"/>
          </p:nvPr>
        </p:nvSpPr>
        <p:spPr>
          <a:xfrm>
            <a:off x="696304" y="3301021"/>
            <a:ext cx="5322917" cy="2759144"/>
          </a:xfrm>
        </p:spPr>
        <p:txBody>
          <a:bodyPr>
            <a:normAutofit fontScale="77500" lnSpcReduction="20000"/>
          </a:bodyPr>
          <a:lstStyle/>
          <a:p>
            <a:pPr algn="l"/>
            <a:r>
              <a:rPr kumimoji="1" lang="en-US" altLang="ja-JP" dirty="0">
                <a:latin typeface="+mn-lt"/>
              </a:rPr>
              <a:t>Hossein </a:t>
            </a:r>
            <a:r>
              <a:rPr kumimoji="1" lang="en-US" altLang="ja-JP" dirty="0" err="1">
                <a:latin typeface="+mn-lt"/>
              </a:rPr>
              <a:t>Gholizade-Narm</a:t>
            </a:r>
            <a:r>
              <a:rPr kumimoji="1" lang="en-US" altLang="ja-JP" dirty="0">
                <a:latin typeface="+mn-lt"/>
              </a:rPr>
              <a:t> </a:t>
            </a:r>
            <a:endParaRPr lang="en-US" altLang="ja-JP" dirty="0">
              <a:latin typeface="+mn-lt"/>
            </a:endParaRPr>
          </a:p>
          <a:p>
            <a:pPr algn="l"/>
            <a:r>
              <a:rPr kumimoji="1" lang="en-US" altLang="ja-JP" dirty="0">
                <a:latin typeface="+mn-lt"/>
              </a:rPr>
              <a:t>Amin Noori </a:t>
            </a:r>
          </a:p>
          <a:p>
            <a:pPr algn="l"/>
            <a:r>
              <a:rPr lang="en-US" altLang="ja-JP" b="1" i="0" dirty="0">
                <a:solidFill>
                  <a:srgbClr val="3A3A3A"/>
                </a:solidFill>
                <a:effectLst/>
                <a:highlight>
                  <a:srgbClr val="F3F3F3"/>
                </a:highlight>
                <a:latin typeface="Source Sans Pro" panose="020F0502020204030204" pitchFamily="34" charset="0"/>
              </a:rPr>
              <a:t>International journal of machine learning and cybernetics, </a:t>
            </a:r>
          </a:p>
          <a:p>
            <a:pPr algn="l"/>
            <a:r>
              <a:rPr lang="en-US" altLang="ja-JP" b="1" i="0" dirty="0">
                <a:solidFill>
                  <a:srgbClr val="3A3A3A"/>
                </a:solidFill>
                <a:effectLst/>
                <a:highlight>
                  <a:srgbClr val="F3F3F3"/>
                </a:highlight>
                <a:latin typeface="Source Sans Pro" panose="020F0502020204030204" pitchFamily="34" charset="0"/>
              </a:rPr>
              <a:t>2018-07, Vol.9 (7), p.1169-1179 </a:t>
            </a:r>
          </a:p>
          <a:p>
            <a:pPr algn="l"/>
            <a:endParaRPr lang="en-US" altLang="ja-JP" sz="1600" b="1" i="0" dirty="0">
              <a:solidFill>
                <a:srgbClr val="3A3A3A"/>
              </a:solidFill>
              <a:effectLst/>
              <a:highlight>
                <a:srgbClr val="F3F3F3"/>
              </a:highlight>
              <a:latin typeface="Source Sans Pro" panose="020F0502020204030204" pitchFamily="34" charset="0"/>
            </a:endParaRPr>
          </a:p>
          <a:p>
            <a:pPr algn="l"/>
            <a:r>
              <a:rPr kumimoji="1" lang="ja-JP" altLang="en-US" sz="1600" dirty="0">
                <a:latin typeface="+mn-lt"/>
              </a:rPr>
              <a:t>大森研究室 </a:t>
            </a:r>
            <a:r>
              <a:rPr kumimoji="1" lang="en-US" altLang="ja-JP" sz="1600" dirty="0">
                <a:latin typeface="+mn-lt"/>
              </a:rPr>
              <a:t>B4</a:t>
            </a:r>
          </a:p>
          <a:p>
            <a:pPr algn="l"/>
            <a:r>
              <a:rPr kumimoji="1" lang="en-US" altLang="ja-JP" sz="1600" dirty="0">
                <a:latin typeface="+mn-lt"/>
              </a:rPr>
              <a:t>62121454</a:t>
            </a:r>
            <a:r>
              <a:rPr kumimoji="1" lang="ja-JP" altLang="en-US" sz="1600" dirty="0">
                <a:latin typeface="+mn-lt"/>
              </a:rPr>
              <a:t>　渡辺功侑</a:t>
            </a:r>
          </a:p>
        </p:txBody>
      </p:sp>
      <p:sp>
        <p:nvSpPr>
          <p:cNvPr id="4" name="スライド番号プレースホルダー 3">
            <a:extLst>
              <a:ext uri="{FF2B5EF4-FFF2-40B4-BE49-F238E27FC236}">
                <a16:creationId xmlns:a16="http://schemas.microsoft.com/office/drawing/2014/main" id="{69E309C6-18F6-0122-A460-5B98698C1733}"/>
              </a:ext>
            </a:extLst>
          </p:cNvPr>
          <p:cNvSpPr>
            <a:spLocks noGrp="1"/>
          </p:cNvSpPr>
          <p:nvPr>
            <p:ph type="sldNum" sz="quarter" idx="12"/>
          </p:nvPr>
        </p:nvSpPr>
        <p:spPr/>
        <p:txBody>
          <a:bodyPr/>
          <a:lstStyle/>
          <a:p>
            <a:fld id="{E0107F97-1CD5-41F0-B842-C38020C26506}" type="slidenum">
              <a:rPr kumimoji="1" lang="ja-JP" altLang="en-US" smtClean="0"/>
              <a:t>1</a:t>
            </a:fld>
            <a:endParaRPr kumimoji="1" lang="ja-JP" altLang="en-US" dirty="0"/>
          </a:p>
        </p:txBody>
      </p:sp>
      <p:sp>
        <p:nvSpPr>
          <p:cNvPr id="5" name="テキスト ボックス 4">
            <a:extLst>
              <a:ext uri="{FF2B5EF4-FFF2-40B4-BE49-F238E27FC236}">
                <a16:creationId xmlns:a16="http://schemas.microsoft.com/office/drawing/2014/main" id="{C4F6F82E-FCC7-3657-A28B-61CDE23E304D}"/>
              </a:ext>
            </a:extLst>
          </p:cNvPr>
          <p:cNvSpPr txBox="1"/>
          <p:nvPr/>
        </p:nvSpPr>
        <p:spPr>
          <a:xfrm>
            <a:off x="7344563" y="3559932"/>
            <a:ext cx="4682837" cy="2862322"/>
          </a:xfrm>
          <a:prstGeom prst="rect">
            <a:avLst/>
          </a:prstGeom>
          <a:noFill/>
        </p:spPr>
        <p:txBody>
          <a:bodyPr wrap="square" rtlCol="0">
            <a:spAutoFit/>
          </a:bodyPr>
          <a:lstStyle/>
          <a:p>
            <a:r>
              <a:rPr kumimoji="1" lang="ja-JP" altLang="en-US" sz="2400" b="1" dirty="0"/>
              <a:t>目次</a:t>
            </a:r>
            <a:endParaRPr kumimoji="1" lang="en-US" altLang="ja-JP" sz="2400" b="1" dirty="0"/>
          </a:p>
          <a:p>
            <a:pPr marL="342900" indent="-342900">
              <a:buAutoNum type="arabicPeriod"/>
            </a:pPr>
            <a:r>
              <a:rPr kumimoji="1" lang="ja-JP" altLang="en-US" sz="2400" dirty="0"/>
              <a:t>はじめに</a:t>
            </a:r>
            <a:endParaRPr kumimoji="1" lang="en-US" altLang="ja-JP" sz="2400" dirty="0"/>
          </a:p>
          <a:p>
            <a:pPr marL="342900" indent="-342900">
              <a:buAutoNum type="arabicPeriod"/>
            </a:pPr>
            <a:r>
              <a:rPr kumimoji="1" lang="ja-JP" altLang="en-US" sz="2400" dirty="0"/>
              <a:t>数理モデル</a:t>
            </a:r>
            <a:endParaRPr kumimoji="1" lang="en-US" altLang="ja-JP" sz="2400" dirty="0"/>
          </a:p>
          <a:p>
            <a:pPr marL="342900" indent="-342900">
              <a:buAutoNum type="arabicPeriod"/>
            </a:pPr>
            <a:r>
              <a:rPr kumimoji="1" lang="ja-JP" altLang="en-US" sz="2400" dirty="0"/>
              <a:t>制御手法</a:t>
            </a:r>
            <a:endParaRPr kumimoji="1" lang="en-US" altLang="ja-JP" sz="2400" dirty="0"/>
          </a:p>
          <a:p>
            <a:pPr marL="342900" indent="-342900">
              <a:buAutoNum type="arabicPeriod"/>
            </a:pPr>
            <a:r>
              <a:rPr kumimoji="1" lang="ja-JP" altLang="en-US" sz="2400" dirty="0"/>
              <a:t>シミュレーション</a:t>
            </a:r>
            <a:endParaRPr kumimoji="1" lang="en-US" altLang="ja-JP" sz="2400" dirty="0"/>
          </a:p>
          <a:p>
            <a:pPr marL="342900" indent="-342900">
              <a:buAutoNum type="arabicPeriod"/>
            </a:pPr>
            <a:r>
              <a:rPr kumimoji="1" lang="ja-JP" altLang="en-US" sz="2400" dirty="0"/>
              <a:t>結論</a:t>
            </a:r>
            <a:endParaRPr kumimoji="1" lang="en-US" altLang="ja-JP" sz="2400" dirty="0"/>
          </a:p>
          <a:p>
            <a:pPr marL="342900" indent="-342900">
              <a:buAutoNum type="arabicPeriod"/>
            </a:pPr>
            <a:endParaRPr kumimoji="1" lang="en-US" altLang="ja-JP" dirty="0"/>
          </a:p>
          <a:p>
            <a:pPr marL="342900" indent="-342900">
              <a:buAutoNum type="arabicPeriod"/>
            </a:pPr>
            <a:endParaRPr kumimoji="1" lang="ja-JP" altLang="en-US" dirty="0"/>
          </a:p>
        </p:txBody>
      </p:sp>
      <p:sp>
        <p:nvSpPr>
          <p:cNvPr id="6" name="テキスト ボックス 5">
            <a:extLst>
              <a:ext uri="{FF2B5EF4-FFF2-40B4-BE49-F238E27FC236}">
                <a16:creationId xmlns:a16="http://schemas.microsoft.com/office/drawing/2014/main" id="{E2DACEE9-A4B4-FDF4-60F7-6908EED5F35B}"/>
              </a:ext>
            </a:extLst>
          </p:cNvPr>
          <p:cNvSpPr txBox="1"/>
          <p:nvPr/>
        </p:nvSpPr>
        <p:spPr>
          <a:xfrm>
            <a:off x="1278946" y="2309383"/>
            <a:ext cx="9480549" cy="954107"/>
          </a:xfrm>
          <a:prstGeom prst="rect">
            <a:avLst/>
          </a:prstGeom>
          <a:noFill/>
        </p:spPr>
        <p:txBody>
          <a:bodyPr wrap="square" rtlCol="0">
            <a:spAutoFit/>
          </a:bodyPr>
          <a:lstStyle/>
          <a:p>
            <a:pPr algn="ctr"/>
            <a:r>
              <a:rPr kumimoji="1" lang="en-US" altLang="ja-JP" sz="2800" dirty="0"/>
              <a:t>Q-learning</a:t>
            </a:r>
            <a:r>
              <a:rPr kumimoji="1" lang="ja-JP" altLang="en-US" sz="2800" dirty="0"/>
              <a:t>を用いた非線形不確実</a:t>
            </a:r>
            <a:r>
              <a:rPr kumimoji="1" lang="en-US" altLang="ja-JP" sz="2800" dirty="0"/>
              <a:t>HIV</a:t>
            </a:r>
            <a:r>
              <a:rPr kumimoji="1" lang="ja-JP" altLang="en-US" sz="2800" dirty="0"/>
              <a:t>システムにおける</a:t>
            </a:r>
            <a:endParaRPr kumimoji="1" lang="en-US" altLang="ja-JP" sz="2800" dirty="0"/>
          </a:p>
          <a:p>
            <a:pPr algn="ctr"/>
            <a:r>
              <a:rPr kumimoji="1" lang="ja-JP" altLang="en-US" sz="2800" dirty="0"/>
              <a:t>遊離ウイルス数の制御</a:t>
            </a:r>
          </a:p>
        </p:txBody>
      </p:sp>
      <p:sp>
        <p:nvSpPr>
          <p:cNvPr id="7" name="テキスト ボックス 6">
            <a:extLst>
              <a:ext uri="{FF2B5EF4-FFF2-40B4-BE49-F238E27FC236}">
                <a16:creationId xmlns:a16="http://schemas.microsoft.com/office/drawing/2014/main" id="{BC81E700-5DC0-1657-1839-A5916CB00E7E}"/>
              </a:ext>
            </a:extLst>
          </p:cNvPr>
          <p:cNvSpPr txBox="1"/>
          <p:nvPr/>
        </p:nvSpPr>
        <p:spPr>
          <a:xfrm>
            <a:off x="4133561" y="3227045"/>
            <a:ext cx="1073150" cy="400110"/>
          </a:xfrm>
          <a:prstGeom prst="rect">
            <a:avLst/>
          </a:prstGeom>
          <a:noFill/>
        </p:spPr>
        <p:txBody>
          <a:bodyPr wrap="square" rtlCol="0">
            <a:spAutoFit/>
          </a:bodyPr>
          <a:lstStyle/>
          <a:p>
            <a:r>
              <a:rPr kumimoji="1" lang="en-US" altLang="ja-JP" sz="2000" dirty="0"/>
              <a:t>and</a:t>
            </a:r>
            <a:endParaRPr kumimoji="1" lang="ja-JP" altLang="en-US" dirty="0"/>
          </a:p>
        </p:txBody>
      </p:sp>
    </p:spTree>
    <p:extLst>
      <p:ext uri="{BB962C8B-B14F-4D97-AF65-F5344CB8AC3E}">
        <p14:creationId xmlns:p14="http://schemas.microsoft.com/office/powerpoint/2010/main" val="4209138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FD8154-CEB4-E770-07F1-561EFA942C52}"/>
              </a:ext>
            </a:extLst>
          </p:cNvPr>
          <p:cNvSpPr>
            <a:spLocks noGrp="1"/>
          </p:cNvSpPr>
          <p:nvPr>
            <p:ph type="title"/>
          </p:nvPr>
        </p:nvSpPr>
        <p:spPr>
          <a:xfrm>
            <a:off x="1097279" y="-97639"/>
            <a:ext cx="10058400" cy="901782"/>
          </a:xfrm>
        </p:spPr>
        <p:txBody>
          <a:bodyPr/>
          <a:lstStyle/>
          <a:p>
            <a:r>
              <a:rPr kumimoji="1" lang="en-US" altLang="ja-JP" dirty="0"/>
              <a:t>1. </a:t>
            </a:r>
            <a:r>
              <a:rPr lang="ja-JP" altLang="en-US" dirty="0"/>
              <a:t>はじめに</a:t>
            </a:r>
            <a:r>
              <a:rPr lang="en-US" altLang="ja-JP" dirty="0"/>
              <a:t>		1.1 </a:t>
            </a:r>
            <a:r>
              <a:rPr lang="ja-JP" altLang="en-US" sz="4000" dirty="0"/>
              <a:t>背景と目的</a:t>
            </a:r>
            <a:endParaRPr kumimoji="1" lang="ja-JP" altLang="en-US" dirty="0"/>
          </a:p>
        </p:txBody>
      </p:sp>
      <p:sp>
        <p:nvSpPr>
          <p:cNvPr id="3" name="スライド番号プレースホルダー 2">
            <a:extLst>
              <a:ext uri="{FF2B5EF4-FFF2-40B4-BE49-F238E27FC236}">
                <a16:creationId xmlns:a16="http://schemas.microsoft.com/office/drawing/2014/main" id="{AEE40FE8-D755-143F-6696-FBE8C3148783}"/>
              </a:ext>
            </a:extLst>
          </p:cNvPr>
          <p:cNvSpPr>
            <a:spLocks noGrp="1"/>
          </p:cNvSpPr>
          <p:nvPr>
            <p:ph type="sldNum" sz="quarter" idx="4294967295"/>
          </p:nvPr>
        </p:nvSpPr>
        <p:spPr>
          <a:xfrm>
            <a:off x="9900458" y="6459785"/>
            <a:ext cx="1312025" cy="365125"/>
          </a:xfrm>
        </p:spPr>
        <p:txBody>
          <a:bodyPr/>
          <a:lstStyle/>
          <a:p>
            <a:fld id="{E0107F97-1CD5-41F0-B842-C38020C26506}" type="slidenum">
              <a:rPr kumimoji="1" lang="ja-JP" altLang="en-US" smtClean="0"/>
              <a:t>2</a:t>
            </a:fld>
            <a:endParaRPr kumimoji="1" lang="ja-JP" altLang="en-US"/>
          </a:p>
        </p:txBody>
      </p:sp>
      <p:sp>
        <p:nvSpPr>
          <p:cNvPr id="4" name="テキスト ボックス 3">
            <a:extLst>
              <a:ext uri="{FF2B5EF4-FFF2-40B4-BE49-F238E27FC236}">
                <a16:creationId xmlns:a16="http://schemas.microsoft.com/office/drawing/2014/main" id="{906F3175-33E3-4FB9-E15A-A2408CD94555}"/>
              </a:ext>
            </a:extLst>
          </p:cNvPr>
          <p:cNvSpPr txBox="1"/>
          <p:nvPr/>
        </p:nvSpPr>
        <p:spPr>
          <a:xfrm>
            <a:off x="709569" y="3262677"/>
            <a:ext cx="10717876" cy="1477328"/>
          </a:xfrm>
          <a:prstGeom prst="rect">
            <a:avLst/>
          </a:prstGeom>
          <a:noFill/>
          <a:ln>
            <a:noFill/>
          </a:ln>
        </p:spPr>
        <p:txBody>
          <a:bodyPr wrap="square" rtlCol="0">
            <a:spAutoFit/>
          </a:bodyPr>
          <a:lstStyle/>
          <a:p>
            <a:r>
              <a:rPr kumimoji="1" lang="ja-JP" altLang="en-US" sz="2400" dirty="0"/>
              <a:t>与えられたモデルにマッチングしていれば有効</a:t>
            </a:r>
            <a:endParaRPr kumimoji="1" lang="en-US" altLang="ja-JP" sz="2400" dirty="0"/>
          </a:p>
          <a:p>
            <a:r>
              <a:rPr kumimoji="1" lang="ja-JP" altLang="en-US" sz="2400" dirty="0"/>
              <a:t>しかし</a:t>
            </a:r>
            <a:r>
              <a:rPr kumimoji="1" lang="en-US" altLang="ja-JP" sz="2400" dirty="0"/>
              <a:t>, </a:t>
            </a:r>
            <a:r>
              <a:rPr kumimoji="1" lang="ja-JP" altLang="en-US" sz="2400" dirty="0"/>
              <a:t>生体システムは</a:t>
            </a:r>
            <a:r>
              <a:rPr kumimoji="1" lang="ja-JP" altLang="en-US" sz="2400" b="1" dirty="0">
                <a:solidFill>
                  <a:schemeClr val="accent1"/>
                </a:solidFill>
              </a:rPr>
              <a:t>不確実要素</a:t>
            </a:r>
            <a:r>
              <a:rPr kumimoji="1" lang="ja-JP" altLang="en-US" sz="2400" dirty="0"/>
              <a:t>が多く</a:t>
            </a:r>
            <a:r>
              <a:rPr kumimoji="1" lang="en-US" altLang="ja-JP" sz="2400" dirty="0"/>
              <a:t>, </a:t>
            </a:r>
            <a:r>
              <a:rPr kumimoji="1" lang="ja-JP" altLang="en-US" sz="2400" dirty="0"/>
              <a:t>環境が変わると有効性を保証しない</a:t>
            </a:r>
            <a:endParaRPr kumimoji="1" lang="en-US" altLang="ja-JP" sz="2400" dirty="0"/>
          </a:p>
          <a:p>
            <a:endParaRPr kumimoji="1" lang="en-US" altLang="ja-JP" sz="2400" dirty="0"/>
          </a:p>
          <a:p>
            <a:endParaRPr kumimoji="1" lang="ja-JP" altLang="en-US" dirty="0"/>
          </a:p>
        </p:txBody>
      </p:sp>
      <p:sp>
        <p:nvSpPr>
          <p:cNvPr id="5" name="四角形: 角を丸くする 4">
            <a:extLst>
              <a:ext uri="{FF2B5EF4-FFF2-40B4-BE49-F238E27FC236}">
                <a16:creationId xmlns:a16="http://schemas.microsoft.com/office/drawing/2014/main" id="{5D9B6A8C-07B0-9A3A-D4DC-79B44B73B7E9}"/>
              </a:ext>
            </a:extLst>
          </p:cNvPr>
          <p:cNvSpPr/>
          <p:nvPr/>
        </p:nvSpPr>
        <p:spPr>
          <a:xfrm>
            <a:off x="445062" y="1248229"/>
            <a:ext cx="11301876" cy="1079620"/>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88DFAC5F-3ACB-1078-068F-6E50BA81F56B}"/>
              </a:ext>
            </a:extLst>
          </p:cNvPr>
          <p:cNvSpPr txBox="1"/>
          <p:nvPr/>
        </p:nvSpPr>
        <p:spPr>
          <a:xfrm>
            <a:off x="709569" y="1362889"/>
            <a:ext cx="11212483" cy="830997"/>
          </a:xfrm>
          <a:prstGeom prst="rect">
            <a:avLst/>
          </a:prstGeom>
          <a:noFill/>
        </p:spPr>
        <p:txBody>
          <a:bodyPr wrap="square" rtlCol="0">
            <a:spAutoFit/>
          </a:bodyPr>
          <a:lstStyle/>
          <a:p>
            <a:r>
              <a:rPr kumimoji="1" lang="ja-JP" altLang="en-US" sz="2400" dirty="0"/>
              <a:t>ヒト免疫不全ウイルス</a:t>
            </a:r>
            <a:r>
              <a:rPr kumimoji="1" lang="en-US" altLang="ja-JP" sz="2400" dirty="0"/>
              <a:t>(HIV)</a:t>
            </a:r>
            <a:r>
              <a:rPr kumimoji="1" lang="ja-JP" altLang="en-US" sz="2400" dirty="0"/>
              <a:t>の有効な治療法 </a:t>
            </a:r>
            <a:r>
              <a:rPr kumimoji="1" lang="en-US" altLang="ja-JP" sz="2400" dirty="0"/>
              <a:t>: </a:t>
            </a:r>
            <a:r>
              <a:rPr kumimoji="1" lang="ja-JP" altLang="en-US" sz="2400" dirty="0"/>
              <a:t>高活性抗レトロウイルス療法</a:t>
            </a:r>
            <a:r>
              <a:rPr kumimoji="1" lang="en-US" altLang="ja-JP" sz="2400" dirty="0"/>
              <a:t>(HAART)</a:t>
            </a:r>
          </a:p>
          <a:p>
            <a:r>
              <a:rPr kumimoji="1" lang="ja-JP" altLang="en-US" sz="2400" dirty="0"/>
              <a:t>従来 </a:t>
            </a:r>
            <a:r>
              <a:rPr kumimoji="1" lang="en-US" altLang="ja-JP" sz="2400" dirty="0"/>
              <a:t>:  </a:t>
            </a:r>
            <a:r>
              <a:rPr kumimoji="1" lang="ja-JP" altLang="en-US" sz="2400" dirty="0">
                <a:solidFill>
                  <a:schemeClr val="accent1"/>
                </a:solidFill>
              </a:rPr>
              <a:t>モデルベース手法</a:t>
            </a:r>
            <a:r>
              <a:rPr kumimoji="1" lang="ja-JP" altLang="en-US" sz="2400" dirty="0"/>
              <a:t>による投薬スケジュール</a:t>
            </a:r>
          </a:p>
        </p:txBody>
      </p:sp>
      <p:sp>
        <p:nvSpPr>
          <p:cNvPr id="7" name="四角形: 角を丸くする 6">
            <a:extLst>
              <a:ext uri="{FF2B5EF4-FFF2-40B4-BE49-F238E27FC236}">
                <a16:creationId xmlns:a16="http://schemas.microsoft.com/office/drawing/2014/main" id="{D55671AA-F74F-AAE4-4951-06D0C23D59E5}"/>
              </a:ext>
            </a:extLst>
          </p:cNvPr>
          <p:cNvSpPr/>
          <p:nvPr/>
        </p:nvSpPr>
        <p:spPr>
          <a:xfrm>
            <a:off x="417569" y="3154383"/>
            <a:ext cx="11301876" cy="1031066"/>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四角形: 角を丸くする 7">
            <a:extLst>
              <a:ext uri="{FF2B5EF4-FFF2-40B4-BE49-F238E27FC236}">
                <a16:creationId xmlns:a16="http://schemas.microsoft.com/office/drawing/2014/main" id="{6E1E19E0-1402-484C-F522-2B7D4A09AB64}"/>
              </a:ext>
            </a:extLst>
          </p:cNvPr>
          <p:cNvSpPr/>
          <p:nvPr/>
        </p:nvSpPr>
        <p:spPr>
          <a:xfrm>
            <a:off x="445062" y="5006859"/>
            <a:ext cx="11301876" cy="103106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endParaRPr>
          </a:p>
        </p:txBody>
      </p:sp>
      <p:sp>
        <p:nvSpPr>
          <p:cNvPr id="10" name="テキスト ボックス 9">
            <a:extLst>
              <a:ext uri="{FF2B5EF4-FFF2-40B4-BE49-F238E27FC236}">
                <a16:creationId xmlns:a16="http://schemas.microsoft.com/office/drawing/2014/main" id="{F4B14E75-A927-CD68-7A8D-0026207649EF}"/>
              </a:ext>
            </a:extLst>
          </p:cNvPr>
          <p:cNvSpPr txBox="1"/>
          <p:nvPr/>
        </p:nvSpPr>
        <p:spPr>
          <a:xfrm>
            <a:off x="549681" y="5127920"/>
            <a:ext cx="11197257" cy="830997"/>
          </a:xfrm>
          <a:prstGeom prst="rect">
            <a:avLst/>
          </a:prstGeom>
          <a:noFill/>
        </p:spPr>
        <p:txBody>
          <a:bodyPr wrap="square">
            <a:spAutoFit/>
          </a:bodyPr>
          <a:lstStyle/>
          <a:p>
            <a:r>
              <a:rPr kumimoji="1" lang="ja-JP" altLang="en-US" sz="2400" dirty="0"/>
              <a:t>エージェントと環境の相互的なフィードバックに基づく</a:t>
            </a:r>
            <a:r>
              <a:rPr kumimoji="1" lang="en-US" altLang="ja-JP" sz="2400" dirty="0"/>
              <a:t>, </a:t>
            </a:r>
            <a:r>
              <a:rPr kumimoji="1" lang="ja-JP" altLang="en-US" sz="2400" dirty="0"/>
              <a:t>非線形不確実</a:t>
            </a:r>
            <a:r>
              <a:rPr kumimoji="1" lang="en-US" altLang="ja-JP" sz="2400" dirty="0"/>
              <a:t>HIV</a:t>
            </a:r>
            <a:r>
              <a:rPr kumimoji="1" lang="ja-JP" altLang="en-US" sz="2400" dirty="0"/>
              <a:t>システムに対する</a:t>
            </a:r>
            <a:r>
              <a:rPr kumimoji="1" lang="ja-JP" altLang="en-US" sz="2400" b="1" dirty="0"/>
              <a:t>モデルフリー強化学習</a:t>
            </a:r>
            <a:r>
              <a:rPr kumimoji="1" lang="ja-JP" altLang="en-US" sz="2400" dirty="0"/>
              <a:t>制御アプローチによる</a:t>
            </a:r>
            <a:r>
              <a:rPr kumimoji="1" lang="en-US" altLang="ja-JP" sz="2400" dirty="0"/>
              <a:t>, </a:t>
            </a:r>
            <a:r>
              <a:rPr kumimoji="1" lang="ja-JP" altLang="en-US" sz="2400" dirty="0"/>
              <a:t>最適な投薬スケジュールの提案</a:t>
            </a:r>
            <a:endParaRPr kumimoji="1" lang="en-US" altLang="ja-JP" sz="2400" dirty="0"/>
          </a:p>
        </p:txBody>
      </p:sp>
      <p:sp>
        <p:nvSpPr>
          <p:cNvPr id="11" name="矢印: 下 10">
            <a:extLst>
              <a:ext uri="{FF2B5EF4-FFF2-40B4-BE49-F238E27FC236}">
                <a16:creationId xmlns:a16="http://schemas.microsoft.com/office/drawing/2014/main" id="{FCB9B18E-62F0-659D-9A91-27C9BC15C2F4}"/>
              </a:ext>
            </a:extLst>
          </p:cNvPr>
          <p:cNvSpPr/>
          <p:nvPr/>
        </p:nvSpPr>
        <p:spPr>
          <a:xfrm>
            <a:off x="5931694" y="2451648"/>
            <a:ext cx="328612" cy="57893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矢印: 下 11">
            <a:extLst>
              <a:ext uri="{FF2B5EF4-FFF2-40B4-BE49-F238E27FC236}">
                <a16:creationId xmlns:a16="http://schemas.microsoft.com/office/drawing/2014/main" id="{B9F06A9C-BBB6-4EA7-AE37-BDAAA37E0734}"/>
              </a:ext>
            </a:extLst>
          </p:cNvPr>
          <p:cNvSpPr/>
          <p:nvPr/>
        </p:nvSpPr>
        <p:spPr>
          <a:xfrm>
            <a:off x="5931694" y="4309248"/>
            <a:ext cx="328612" cy="55455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96794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FD8154-CEB4-E770-07F1-561EFA942C52}"/>
              </a:ext>
            </a:extLst>
          </p:cNvPr>
          <p:cNvSpPr>
            <a:spLocks noGrp="1"/>
          </p:cNvSpPr>
          <p:nvPr>
            <p:ph type="title"/>
          </p:nvPr>
        </p:nvSpPr>
        <p:spPr>
          <a:xfrm>
            <a:off x="971786" y="-121183"/>
            <a:ext cx="10248425" cy="924173"/>
          </a:xfrm>
        </p:spPr>
        <p:txBody>
          <a:bodyPr>
            <a:normAutofit/>
          </a:bodyPr>
          <a:lstStyle/>
          <a:p>
            <a:r>
              <a:rPr kumimoji="1" lang="en-US" altLang="ja-JP" b="1" dirty="0"/>
              <a:t>1. </a:t>
            </a:r>
            <a:r>
              <a:rPr lang="ja-JP" altLang="en-US" dirty="0"/>
              <a:t>はじめに</a:t>
            </a:r>
            <a:r>
              <a:rPr lang="en-US" altLang="ja-JP" dirty="0"/>
              <a:t>		1.2</a:t>
            </a:r>
            <a:r>
              <a:rPr lang="ja-JP" altLang="en-US" sz="4000" dirty="0"/>
              <a:t>卒業研究との関連</a:t>
            </a:r>
            <a:endParaRPr kumimoji="1" lang="ja-JP" altLang="en-US" dirty="0"/>
          </a:p>
        </p:txBody>
      </p:sp>
      <p:sp>
        <p:nvSpPr>
          <p:cNvPr id="3" name="スライド番号プレースホルダー 2">
            <a:extLst>
              <a:ext uri="{FF2B5EF4-FFF2-40B4-BE49-F238E27FC236}">
                <a16:creationId xmlns:a16="http://schemas.microsoft.com/office/drawing/2014/main" id="{11772967-6ECD-CAAA-925B-FD679AE7B571}"/>
              </a:ext>
            </a:extLst>
          </p:cNvPr>
          <p:cNvSpPr>
            <a:spLocks noGrp="1"/>
          </p:cNvSpPr>
          <p:nvPr>
            <p:ph type="sldNum" sz="quarter" idx="4294967295"/>
          </p:nvPr>
        </p:nvSpPr>
        <p:spPr>
          <a:xfrm>
            <a:off x="9900458" y="6459785"/>
            <a:ext cx="1312025" cy="365125"/>
          </a:xfrm>
        </p:spPr>
        <p:txBody>
          <a:bodyPr/>
          <a:lstStyle/>
          <a:p>
            <a:fld id="{E0107F97-1CD5-41F0-B842-C38020C26506}" type="slidenum">
              <a:rPr kumimoji="1" lang="ja-JP" altLang="en-US" smtClean="0"/>
              <a:t>3</a:t>
            </a:fld>
            <a:endParaRPr kumimoji="1" lang="ja-JP" altLang="en-US"/>
          </a:p>
        </p:txBody>
      </p:sp>
      <p:sp>
        <p:nvSpPr>
          <p:cNvPr id="4" name="テキスト ボックス 3">
            <a:extLst>
              <a:ext uri="{FF2B5EF4-FFF2-40B4-BE49-F238E27FC236}">
                <a16:creationId xmlns:a16="http://schemas.microsoft.com/office/drawing/2014/main" id="{906F3175-33E3-4FB9-E15A-A2408CD94555}"/>
              </a:ext>
            </a:extLst>
          </p:cNvPr>
          <p:cNvSpPr txBox="1"/>
          <p:nvPr/>
        </p:nvSpPr>
        <p:spPr>
          <a:xfrm>
            <a:off x="152872" y="823267"/>
            <a:ext cx="12229628" cy="5386090"/>
          </a:xfrm>
          <a:prstGeom prst="rect">
            <a:avLst/>
          </a:prstGeom>
          <a:noFill/>
          <a:ln>
            <a:noFill/>
          </a:ln>
        </p:spPr>
        <p:txBody>
          <a:bodyPr wrap="square" rtlCol="0">
            <a:spAutoFit/>
          </a:bodyPr>
          <a:lstStyle/>
          <a:p>
            <a:pPr marL="457200" indent="-457200">
              <a:buFont typeface="Arial" panose="020B0604020202020204" pitchFamily="34" charset="0"/>
              <a:buChar char="•"/>
            </a:pPr>
            <a:r>
              <a:rPr kumimoji="1" lang="ja-JP" altLang="en-US" sz="2800" b="1" dirty="0"/>
              <a:t>論文の選択理由</a:t>
            </a:r>
            <a:endParaRPr kumimoji="1" lang="en-US" altLang="ja-JP" sz="2400" b="1" dirty="0"/>
          </a:p>
          <a:p>
            <a:pPr algn="ctr"/>
            <a:r>
              <a:rPr kumimoji="1" lang="en-US" altLang="ja-JP" sz="2400" dirty="0"/>
              <a:t>HIV</a:t>
            </a:r>
            <a:r>
              <a:rPr kumimoji="1" lang="ja-JP" altLang="en-US" sz="2400" dirty="0"/>
              <a:t>の治療は</a:t>
            </a:r>
            <a:r>
              <a:rPr kumimoji="1" lang="en-US" altLang="ja-JP" sz="2400" dirty="0"/>
              <a:t>1</a:t>
            </a:r>
            <a:r>
              <a:rPr kumimoji="1" lang="ja-JP" altLang="en-US" sz="2400" dirty="0"/>
              <a:t>度でも内服を忘れると薬の効果が大幅に低下することが課題</a:t>
            </a:r>
            <a:endParaRPr kumimoji="1" lang="en-US" altLang="ja-JP" sz="2400" dirty="0"/>
          </a:p>
          <a:p>
            <a:endParaRPr kumimoji="1" lang="en-US" altLang="ja-JP" sz="2800" dirty="0"/>
          </a:p>
          <a:p>
            <a:pPr algn="ctr"/>
            <a:r>
              <a:rPr kumimoji="1" lang="ja-JP" altLang="en-US" sz="2400" dirty="0"/>
              <a:t>患者の</a:t>
            </a:r>
            <a:r>
              <a:rPr kumimoji="1" lang="ja-JP" altLang="en-US" sz="2400" b="1" dirty="0"/>
              <a:t>個体差</a:t>
            </a:r>
            <a:r>
              <a:rPr kumimoji="1" lang="ja-JP" altLang="en-US" sz="2400" dirty="0"/>
              <a:t>に応じた投薬スケジュールの提供により</a:t>
            </a:r>
            <a:r>
              <a:rPr kumimoji="1" lang="en-US" altLang="ja-JP" sz="2400" dirty="0"/>
              <a:t>, </a:t>
            </a:r>
            <a:r>
              <a:rPr kumimoji="1" lang="ja-JP" altLang="en-US" sz="2400" dirty="0"/>
              <a:t>少ない投薬回数での治療の実現</a:t>
            </a:r>
            <a:endParaRPr kumimoji="1" lang="en-US" altLang="ja-JP" sz="2400" dirty="0"/>
          </a:p>
          <a:p>
            <a:endParaRPr kumimoji="1" lang="en-US" altLang="ja-JP" sz="2400" dirty="0"/>
          </a:p>
          <a:p>
            <a:pPr algn="ctr"/>
            <a:r>
              <a:rPr kumimoji="1" lang="en-US" altLang="ja-JP" sz="2400" dirty="0"/>
              <a:t>Q-learning </a:t>
            </a:r>
            <a:r>
              <a:rPr kumimoji="1" lang="ja-JP" altLang="en-US" sz="2400" dirty="0"/>
              <a:t>をはじめとした</a:t>
            </a:r>
            <a:r>
              <a:rPr kumimoji="1" lang="en-US" altLang="ja-JP" sz="2400" dirty="0"/>
              <a:t>, </a:t>
            </a:r>
            <a:r>
              <a:rPr kumimoji="1" lang="ja-JP" altLang="en-US" sz="2400" dirty="0"/>
              <a:t>強化学習によるアプローチが必要</a:t>
            </a:r>
            <a:endParaRPr kumimoji="1" lang="en-US" altLang="ja-JP" sz="2400" dirty="0"/>
          </a:p>
          <a:p>
            <a:pPr algn="ctr"/>
            <a:endParaRPr kumimoji="1" lang="en-US" altLang="ja-JP" sz="2400" dirty="0"/>
          </a:p>
          <a:p>
            <a:endParaRPr kumimoji="1" lang="en-US" altLang="ja-JP" sz="2400" dirty="0"/>
          </a:p>
          <a:p>
            <a:pPr marL="342900" indent="-342900">
              <a:buFont typeface="Arial" panose="020B0604020202020204" pitchFamily="34" charset="0"/>
              <a:buChar char="•"/>
            </a:pPr>
            <a:r>
              <a:rPr kumimoji="1" lang="ja-JP" altLang="en-US" sz="2800" b="1" dirty="0"/>
              <a:t>卒業論文の方向性</a:t>
            </a:r>
            <a:endParaRPr kumimoji="1" lang="en-US" altLang="ja-JP" sz="2800" b="1" dirty="0"/>
          </a:p>
          <a:p>
            <a:pPr algn="ctr"/>
            <a:r>
              <a:rPr kumimoji="1" lang="en-US" altLang="ja-JP" sz="2400" dirty="0"/>
              <a:t>Q-learning </a:t>
            </a:r>
            <a:r>
              <a:rPr kumimoji="1" lang="ja-JP" altLang="en-US" sz="2400" dirty="0"/>
              <a:t>では</a:t>
            </a:r>
            <a:r>
              <a:rPr kumimoji="1" lang="en-US" altLang="ja-JP" sz="2400" dirty="0"/>
              <a:t>Q-Table</a:t>
            </a:r>
            <a:r>
              <a:rPr kumimoji="1" lang="ja-JP" altLang="en-US" sz="2400" dirty="0"/>
              <a:t>が離散的➡類似した状態を分割した境界部分では</a:t>
            </a:r>
            <a:r>
              <a:rPr kumimoji="1" lang="ja-JP" altLang="en-US" sz="2400" b="1" dirty="0"/>
              <a:t>異質</a:t>
            </a:r>
            <a:r>
              <a:rPr kumimoji="1" lang="ja-JP" altLang="en-US" sz="2400" dirty="0"/>
              <a:t>と認識</a:t>
            </a:r>
            <a:endParaRPr kumimoji="1" lang="en-US" altLang="ja-JP" sz="2400" dirty="0"/>
          </a:p>
          <a:p>
            <a:endParaRPr kumimoji="1" lang="en-US" altLang="ja-JP" sz="2000" dirty="0"/>
          </a:p>
          <a:p>
            <a:pPr algn="ctr"/>
            <a:r>
              <a:rPr kumimoji="1" lang="ja-JP" altLang="en-US" sz="2400" b="1" dirty="0"/>
              <a:t>連続した状態</a:t>
            </a:r>
            <a:r>
              <a:rPr kumimoji="1" lang="ja-JP" altLang="en-US" sz="2400" dirty="0"/>
              <a:t>を入力し</a:t>
            </a:r>
            <a:r>
              <a:rPr kumimoji="1" lang="en-US" altLang="ja-JP" sz="2400" dirty="0"/>
              <a:t>, Q</a:t>
            </a:r>
            <a:r>
              <a:rPr kumimoji="1" lang="ja-JP" altLang="en-US" sz="2400" dirty="0"/>
              <a:t>値を出力する</a:t>
            </a:r>
            <a:r>
              <a:rPr kumimoji="1" lang="en-US" altLang="ja-JP" sz="2400" dirty="0"/>
              <a:t>NN(</a:t>
            </a:r>
            <a:r>
              <a:rPr kumimoji="1" lang="ja-JP" altLang="en-US" sz="2400" dirty="0"/>
              <a:t>ニューラルネットワーク</a:t>
            </a:r>
            <a:r>
              <a:rPr kumimoji="1" lang="en-US" altLang="ja-JP" sz="2400" dirty="0"/>
              <a:t>)</a:t>
            </a:r>
            <a:r>
              <a:rPr kumimoji="1" lang="ja-JP" altLang="en-US" sz="2400" dirty="0"/>
              <a:t>を利用した</a:t>
            </a:r>
            <a:r>
              <a:rPr kumimoji="1" lang="en-US" altLang="ja-JP" sz="2400" b="1" dirty="0"/>
              <a:t>DQN</a:t>
            </a:r>
            <a:r>
              <a:rPr kumimoji="1" lang="ja-JP" altLang="en-US" sz="2400" dirty="0"/>
              <a:t>により</a:t>
            </a:r>
            <a:endParaRPr kumimoji="1" lang="en-US" altLang="ja-JP" sz="2400" dirty="0"/>
          </a:p>
          <a:p>
            <a:pPr algn="ctr"/>
            <a:r>
              <a:rPr kumimoji="1" lang="ja-JP" altLang="en-US" sz="2400" dirty="0"/>
              <a:t>精度の高い投薬スケジューリングが可能になるのではないか</a:t>
            </a:r>
            <a:endParaRPr kumimoji="1" lang="en-US" altLang="ja-JP" sz="2400" dirty="0"/>
          </a:p>
          <a:p>
            <a:pPr algn="ctr"/>
            <a:r>
              <a:rPr kumimoji="1" lang="ja-JP" altLang="en-US" sz="2400" dirty="0"/>
              <a:t>➡</a:t>
            </a:r>
            <a:r>
              <a:rPr kumimoji="1" lang="ja-JP" altLang="en-US" sz="2400" b="1" dirty="0"/>
              <a:t>オフライン強化学習</a:t>
            </a:r>
            <a:r>
              <a:rPr kumimoji="1" lang="ja-JP" altLang="en-US" sz="2400" dirty="0"/>
              <a:t>と</a:t>
            </a:r>
            <a:r>
              <a:rPr kumimoji="1" lang="ja-JP" altLang="en-US" sz="2400" b="1" dirty="0"/>
              <a:t>オンライン強化学習</a:t>
            </a:r>
            <a:r>
              <a:rPr kumimoji="1" lang="ja-JP" altLang="en-US" sz="2400" dirty="0"/>
              <a:t>との融合にも期待</a:t>
            </a:r>
            <a:endParaRPr kumimoji="1" lang="en-US" altLang="ja-JP" sz="2800" dirty="0"/>
          </a:p>
        </p:txBody>
      </p:sp>
      <p:sp>
        <p:nvSpPr>
          <p:cNvPr id="5" name="矢印: 下 4">
            <a:extLst>
              <a:ext uri="{FF2B5EF4-FFF2-40B4-BE49-F238E27FC236}">
                <a16:creationId xmlns:a16="http://schemas.microsoft.com/office/drawing/2014/main" id="{136EF35E-F522-9F0F-AF66-1FA0D8F47C2D}"/>
              </a:ext>
            </a:extLst>
          </p:cNvPr>
          <p:cNvSpPr/>
          <p:nvPr/>
        </p:nvSpPr>
        <p:spPr>
          <a:xfrm>
            <a:off x="5829319" y="1727163"/>
            <a:ext cx="529046" cy="38535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矢印: 下 6">
            <a:extLst>
              <a:ext uri="{FF2B5EF4-FFF2-40B4-BE49-F238E27FC236}">
                <a16:creationId xmlns:a16="http://schemas.microsoft.com/office/drawing/2014/main" id="{AB96A5CC-A965-9E97-202B-B3B5061B7275}"/>
              </a:ext>
            </a:extLst>
          </p:cNvPr>
          <p:cNvSpPr/>
          <p:nvPr/>
        </p:nvSpPr>
        <p:spPr>
          <a:xfrm>
            <a:off x="5829319" y="2492464"/>
            <a:ext cx="529046" cy="38535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下 7">
            <a:extLst>
              <a:ext uri="{FF2B5EF4-FFF2-40B4-BE49-F238E27FC236}">
                <a16:creationId xmlns:a16="http://schemas.microsoft.com/office/drawing/2014/main" id="{704923DF-C4E1-B1EF-DC8C-D296915507F1}"/>
              </a:ext>
            </a:extLst>
          </p:cNvPr>
          <p:cNvSpPr/>
          <p:nvPr/>
        </p:nvSpPr>
        <p:spPr>
          <a:xfrm>
            <a:off x="5829319" y="4682961"/>
            <a:ext cx="529046" cy="38535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026B4A5E-F6CA-39CE-2625-B72C1E481B50}"/>
              </a:ext>
            </a:extLst>
          </p:cNvPr>
          <p:cNvSpPr/>
          <p:nvPr/>
        </p:nvSpPr>
        <p:spPr>
          <a:xfrm>
            <a:off x="152873" y="802991"/>
            <a:ext cx="11830920" cy="2549810"/>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84770A5-4CF7-F78B-2B78-E07487A55943}"/>
              </a:ext>
            </a:extLst>
          </p:cNvPr>
          <p:cNvSpPr/>
          <p:nvPr/>
        </p:nvSpPr>
        <p:spPr>
          <a:xfrm>
            <a:off x="178382" y="3732748"/>
            <a:ext cx="11830920" cy="2480815"/>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53151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正方形/長方形 40">
            <a:extLst>
              <a:ext uri="{FF2B5EF4-FFF2-40B4-BE49-F238E27FC236}">
                <a16:creationId xmlns:a16="http://schemas.microsoft.com/office/drawing/2014/main" id="{EAAAC5B8-F176-4992-D4B0-BDFAC0829237}"/>
              </a:ext>
            </a:extLst>
          </p:cNvPr>
          <p:cNvSpPr/>
          <p:nvPr/>
        </p:nvSpPr>
        <p:spPr>
          <a:xfrm>
            <a:off x="116641" y="1819376"/>
            <a:ext cx="6696625" cy="2960598"/>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FA1A7F3E-5E86-3B75-0A33-74E96A2EFB58}"/>
              </a:ext>
            </a:extLst>
          </p:cNvPr>
          <p:cNvSpPr>
            <a:spLocks noGrp="1"/>
          </p:cNvSpPr>
          <p:nvPr>
            <p:ph type="title"/>
          </p:nvPr>
        </p:nvSpPr>
        <p:spPr>
          <a:xfrm>
            <a:off x="1066800" y="0"/>
            <a:ext cx="10058400" cy="777318"/>
          </a:xfrm>
        </p:spPr>
        <p:txBody>
          <a:bodyPr>
            <a:normAutofit/>
          </a:bodyPr>
          <a:lstStyle/>
          <a:p>
            <a:r>
              <a:rPr kumimoji="1" lang="en-US" altLang="ja-JP" b="1" dirty="0"/>
              <a:t>2. </a:t>
            </a:r>
            <a:r>
              <a:rPr kumimoji="1" lang="ja-JP" altLang="en-US" sz="4400" dirty="0"/>
              <a:t>数理モデル</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600AD19-FE5C-8D0E-AA4D-50F7A2CFD50B}"/>
                  </a:ext>
                </a:extLst>
              </p:cNvPr>
              <p:cNvSpPr>
                <a:spLocks noGrp="1"/>
              </p:cNvSpPr>
              <p:nvPr>
                <p:ph idx="1"/>
              </p:nvPr>
            </p:nvSpPr>
            <p:spPr>
              <a:xfrm>
                <a:off x="15371" y="846802"/>
                <a:ext cx="7100205" cy="4381412"/>
              </a:xfrm>
            </p:spPr>
            <p:txBody>
              <a:bodyPr>
                <a:normAutofit fontScale="55000" lnSpcReduction="20000"/>
              </a:bodyPr>
              <a:lstStyle/>
              <a:p>
                <a:pPr marL="0" indent="0">
                  <a:lnSpc>
                    <a:spcPct val="120000"/>
                  </a:lnSpc>
                  <a:buNone/>
                </a:pPr>
                <a:r>
                  <a:rPr lang="ja-JP" altLang="en-US" sz="4400" b="1" dirty="0"/>
                  <a:t>　</a:t>
                </a:r>
                <a:r>
                  <a:rPr lang="en-US" altLang="ja-JP" sz="4400" b="1" dirty="0"/>
                  <a:t>HIV</a:t>
                </a:r>
                <a:r>
                  <a:rPr lang="ja-JP" altLang="en-US" sz="4400" b="1" dirty="0"/>
                  <a:t>感染の長期治療の策定を考慮した非線形モデル</a:t>
                </a:r>
                <a:endParaRPr lang="en-US" altLang="ja-JP" sz="4400" b="1" dirty="0"/>
              </a:p>
              <a:p>
                <a:pPr marL="0" indent="0">
                  <a:lnSpc>
                    <a:spcPct val="120000"/>
                  </a:lnSpc>
                  <a:buNone/>
                </a:pPr>
                <a:r>
                  <a:rPr lang="en-US" altLang="ja-JP" sz="2200" b="1" dirty="0"/>
                  <a:t>	</a:t>
                </a:r>
                <a:r>
                  <a:rPr lang="en-US" altLang="ja-JP" sz="3300" dirty="0"/>
                  <a:t>(</a:t>
                </a:r>
                <a:r>
                  <a:rPr lang="ja-JP" altLang="en-US" sz="2900" b="1" dirty="0"/>
                  <a:t>①初期値が既知</a:t>
                </a:r>
                <a:r>
                  <a:rPr lang="en-US" altLang="ja-JP" sz="2900" dirty="0"/>
                  <a:t>, </a:t>
                </a:r>
                <a:r>
                  <a:rPr lang="ja-JP" altLang="en-US" sz="2900" b="1" dirty="0"/>
                  <a:t>②不確実な初期条件　</a:t>
                </a:r>
                <a:r>
                  <a:rPr lang="ja-JP" altLang="en-US" sz="2900" dirty="0"/>
                  <a:t>の場合に共通</a:t>
                </a:r>
                <a:r>
                  <a:rPr lang="en-US" altLang="ja-JP" sz="2900" dirty="0"/>
                  <a:t>)</a:t>
                </a:r>
              </a:p>
              <a:p>
                <a:pPr marL="0" indent="0">
                  <a:lnSpc>
                    <a:spcPct val="120000"/>
                  </a:lnSpc>
                  <a:buNone/>
                </a:pPr>
                <a14:m>
                  <m:oMathPara xmlns:m="http://schemas.openxmlformats.org/officeDocument/2006/math">
                    <m:oMathParaPr>
                      <m:jc m:val="centerGroup"/>
                    </m:oMathParaPr>
                    <m:oMath xmlns:m="http://schemas.openxmlformats.org/officeDocument/2006/math">
                      <m:f>
                        <m:fPr>
                          <m:ctrlPr>
                            <a:rPr kumimoji="1" lang="en-US" altLang="ja-JP" sz="3600" b="1" i="1" smtClean="0">
                              <a:latin typeface="Cambria Math" panose="02040503050406030204" pitchFamily="18" charset="0"/>
                            </a:rPr>
                          </m:ctrlPr>
                        </m:fPr>
                        <m:num>
                          <m:r>
                            <a:rPr kumimoji="1" lang="en-US" altLang="ja-JP" sz="3600" b="1" i="0" smtClean="0">
                              <a:latin typeface="Cambria Math" panose="02040503050406030204" pitchFamily="18" charset="0"/>
                            </a:rPr>
                            <m:t>𝐝</m:t>
                          </m:r>
                          <m:r>
                            <a:rPr kumimoji="1" lang="en-US" altLang="ja-JP" sz="3600" b="1" i="1" smtClean="0">
                              <a:latin typeface="Cambria Math" panose="02040503050406030204" pitchFamily="18" charset="0"/>
                            </a:rPr>
                            <m:t>𝑿</m:t>
                          </m:r>
                        </m:num>
                        <m:den>
                          <m:r>
                            <a:rPr kumimoji="1" lang="en-US" altLang="ja-JP" sz="3600" b="1" i="0" smtClean="0">
                              <a:latin typeface="Cambria Math" panose="02040503050406030204" pitchFamily="18" charset="0"/>
                            </a:rPr>
                            <m:t>𝐝</m:t>
                          </m:r>
                          <m:r>
                            <a:rPr kumimoji="1" lang="en-US" altLang="ja-JP" sz="3600" b="1" i="1" smtClean="0">
                              <a:latin typeface="Cambria Math" panose="02040503050406030204" pitchFamily="18" charset="0"/>
                            </a:rPr>
                            <m:t>𝒕</m:t>
                          </m:r>
                        </m:den>
                      </m:f>
                      <m:r>
                        <a:rPr kumimoji="1" lang="en-US" altLang="ja-JP" sz="3600" b="1" i="1" smtClean="0">
                          <a:latin typeface="Cambria Math" panose="02040503050406030204" pitchFamily="18" charset="0"/>
                        </a:rPr>
                        <m:t>=</m:t>
                      </m:r>
                      <m:f>
                        <m:fPr>
                          <m:ctrlPr>
                            <a:rPr lang="en-US" altLang="ja-JP" sz="3600" b="1" i="1" smtClean="0">
                              <a:latin typeface="Cambria Math" panose="02040503050406030204" pitchFamily="18" charset="0"/>
                            </a:rPr>
                          </m:ctrlPr>
                        </m:fPr>
                        <m:num>
                          <m:r>
                            <m:rPr>
                              <m:sty m:val="p"/>
                            </m:rPr>
                            <a:rPr lang="en-US" altLang="ja-JP" sz="3600" b="1" i="1">
                              <a:latin typeface="Cambria Math" panose="02040503050406030204" pitchFamily="18" charset="0"/>
                            </a:rPr>
                            <m:t>Λ</m:t>
                          </m:r>
                        </m:num>
                        <m:den>
                          <m:r>
                            <a:rPr lang="en-US" altLang="ja-JP" sz="3600" b="1" i="1" smtClean="0">
                              <a:latin typeface="Cambria Math" panose="02040503050406030204" pitchFamily="18" charset="0"/>
                            </a:rPr>
                            <m:t>𝟏</m:t>
                          </m:r>
                          <m:r>
                            <a:rPr lang="en-US" altLang="ja-JP" sz="3600" b="1" i="1" smtClean="0">
                              <a:latin typeface="Cambria Math" panose="02040503050406030204" pitchFamily="18" charset="0"/>
                            </a:rPr>
                            <m:t>+</m:t>
                          </m:r>
                          <m:r>
                            <a:rPr lang="en-US" altLang="ja-JP" sz="3600" b="1" i="1" smtClean="0">
                              <a:latin typeface="Cambria Math" panose="02040503050406030204" pitchFamily="18" charset="0"/>
                            </a:rPr>
                            <m:t>𝑽</m:t>
                          </m:r>
                          <m:d>
                            <m:dPr>
                              <m:ctrlPr>
                                <a:rPr lang="en-US" altLang="ja-JP" sz="3600" b="1" i="1" smtClean="0">
                                  <a:latin typeface="Cambria Math" panose="02040503050406030204" pitchFamily="18" charset="0"/>
                                </a:rPr>
                              </m:ctrlPr>
                            </m:dPr>
                            <m:e>
                              <m:r>
                                <a:rPr lang="en-US" altLang="ja-JP" sz="3600" b="1" i="1" smtClean="0">
                                  <a:latin typeface="Cambria Math" panose="02040503050406030204" pitchFamily="18" charset="0"/>
                                </a:rPr>
                                <m:t>𝒕</m:t>
                              </m:r>
                            </m:e>
                          </m:d>
                        </m:den>
                      </m:f>
                      <m:r>
                        <a:rPr lang="en-US" altLang="ja-JP" sz="3600" b="1" i="1" smtClean="0">
                          <a:latin typeface="Cambria Math" panose="02040503050406030204" pitchFamily="18" charset="0"/>
                        </a:rPr>
                        <m:t>−</m:t>
                      </m:r>
                      <m:sSub>
                        <m:sSubPr>
                          <m:ctrlPr>
                            <a:rPr lang="en-US" altLang="ja-JP" sz="3600" b="1" i="1" smtClean="0">
                              <a:latin typeface="Cambria Math" panose="02040503050406030204" pitchFamily="18" charset="0"/>
                            </a:rPr>
                          </m:ctrlPr>
                        </m:sSubPr>
                        <m:e>
                          <m:r>
                            <a:rPr lang="ja-JP" altLang="en-US" sz="3600" b="1" i="1" smtClean="0">
                              <a:latin typeface="Cambria Math" panose="02040503050406030204" pitchFamily="18" charset="0"/>
                            </a:rPr>
                            <m:t>𝝁</m:t>
                          </m:r>
                        </m:e>
                        <m:sub>
                          <m:r>
                            <a:rPr lang="en-US" altLang="ja-JP" sz="3600" b="1" i="1" smtClean="0">
                              <a:latin typeface="Cambria Math" panose="02040503050406030204" pitchFamily="18" charset="0"/>
                            </a:rPr>
                            <m:t>𝒙</m:t>
                          </m:r>
                        </m:sub>
                      </m:sSub>
                      <m:r>
                        <a:rPr lang="en-US" altLang="ja-JP" sz="3600" b="1" i="1" smtClean="0">
                          <a:latin typeface="Cambria Math" panose="02040503050406030204" pitchFamily="18" charset="0"/>
                        </a:rPr>
                        <m:t>𝑿</m:t>
                      </m:r>
                      <m:d>
                        <m:dPr>
                          <m:ctrlPr>
                            <a:rPr lang="en-US" altLang="ja-JP" sz="3600" b="1" i="1" smtClean="0">
                              <a:latin typeface="Cambria Math" panose="02040503050406030204" pitchFamily="18" charset="0"/>
                            </a:rPr>
                          </m:ctrlPr>
                        </m:dPr>
                        <m:e>
                          <m:r>
                            <a:rPr lang="en-US" altLang="ja-JP" sz="3600" b="1" i="1" smtClean="0">
                              <a:latin typeface="Cambria Math" panose="02040503050406030204" pitchFamily="18" charset="0"/>
                            </a:rPr>
                            <m:t>𝒕</m:t>
                          </m:r>
                        </m:e>
                      </m:d>
                      <m:r>
                        <a:rPr lang="en-US" altLang="ja-JP" sz="3600" b="1" i="1" smtClean="0">
                          <a:latin typeface="Cambria Math" panose="02040503050406030204" pitchFamily="18" charset="0"/>
                        </a:rPr>
                        <m:t>+</m:t>
                      </m:r>
                      <m:r>
                        <a:rPr lang="en-US" altLang="ja-JP" sz="3600" b="1" i="1" smtClean="0">
                          <a:latin typeface="Cambria Math" panose="02040503050406030204" pitchFamily="18" charset="0"/>
                        </a:rPr>
                        <m:t>𝑹𝑿</m:t>
                      </m:r>
                      <m:d>
                        <m:dPr>
                          <m:ctrlPr>
                            <a:rPr lang="en-US" altLang="ja-JP" sz="3600" b="1" i="1" smtClean="0">
                              <a:latin typeface="Cambria Math" panose="02040503050406030204" pitchFamily="18" charset="0"/>
                            </a:rPr>
                          </m:ctrlPr>
                        </m:dPr>
                        <m:e>
                          <m:r>
                            <a:rPr lang="en-US" altLang="ja-JP" sz="3600" b="1" i="1" smtClean="0">
                              <a:latin typeface="Cambria Math" panose="02040503050406030204" pitchFamily="18" charset="0"/>
                            </a:rPr>
                            <m:t>𝒕</m:t>
                          </m:r>
                        </m:e>
                      </m:d>
                      <m:d>
                        <m:dPr>
                          <m:ctrlPr>
                            <a:rPr lang="en-US" altLang="ja-JP" sz="3600" b="1" i="1" smtClean="0">
                              <a:latin typeface="Cambria Math" panose="02040503050406030204" pitchFamily="18" charset="0"/>
                            </a:rPr>
                          </m:ctrlPr>
                        </m:dPr>
                        <m:e>
                          <m:r>
                            <a:rPr lang="en-US" altLang="ja-JP" sz="3600" b="1" i="1" smtClean="0">
                              <a:latin typeface="Cambria Math" panose="02040503050406030204" pitchFamily="18" charset="0"/>
                            </a:rPr>
                            <m:t>𝟏</m:t>
                          </m:r>
                          <m:r>
                            <a:rPr lang="en-US" altLang="ja-JP" sz="3600" b="1" i="1" smtClean="0">
                              <a:latin typeface="Cambria Math" panose="02040503050406030204" pitchFamily="18" charset="0"/>
                            </a:rPr>
                            <m:t>−</m:t>
                          </m:r>
                          <m:f>
                            <m:fPr>
                              <m:ctrlPr>
                                <a:rPr lang="en-US" altLang="ja-JP" sz="3600" b="1" i="1" smtClean="0">
                                  <a:latin typeface="Cambria Math" panose="02040503050406030204" pitchFamily="18" charset="0"/>
                                </a:rPr>
                              </m:ctrlPr>
                            </m:fPr>
                            <m:num>
                              <m:r>
                                <a:rPr lang="en-US" altLang="ja-JP" sz="3600" b="1" i="1" smtClean="0">
                                  <a:latin typeface="Cambria Math" panose="02040503050406030204" pitchFamily="18" charset="0"/>
                                </a:rPr>
                                <m:t>𝑿</m:t>
                              </m:r>
                              <m:r>
                                <a:rPr lang="en-US" altLang="ja-JP" sz="3600" b="1" i="1" smtClean="0">
                                  <a:latin typeface="Cambria Math" panose="02040503050406030204" pitchFamily="18" charset="0"/>
                                </a:rPr>
                                <m:t>+</m:t>
                              </m:r>
                              <m:r>
                                <a:rPr lang="en-US" altLang="ja-JP" sz="3600" b="1" i="1" smtClean="0">
                                  <a:latin typeface="Cambria Math" panose="02040503050406030204" pitchFamily="18" charset="0"/>
                                </a:rPr>
                                <m:t>𝒀</m:t>
                              </m:r>
                              <m:r>
                                <a:rPr lang="en-US" altLang="ja-JP" sz="3600" b="1" i="1" smtClean="0">
                                  <a:latin typeface="Cambria Math" panose="02040503050406030204" pitchFamily="18" charset="0"/>
                                </a:rPr>
                                <m:t>+</m:t>
                              </m:r>
                              <m:r>
                                <a:rPr lang="en-US" altLang="ja-JP" sz="3600" b="1" i="1" smtClean="0">
                                  <a:latin typeface="Cambria Math" panose="02040503050406030204" pitchFamily="18" charset="0"/>
                                </a:rPr>
                                <m:t>𝒁</m:t>
                              </m:r>
                            </m:num>
                            <m:den>
                              <m:sSub>
                                <m:sSubPr>
                                  <m:ctrlPr>
                                    <a:rPr lang="en-US" altLang="ja-JP" sz="3600" b="1" i="1" smtClean="0">
                                      <a:latin typeface="Cambria Math" panose="02040503050406030204" pitchFamily="18" charset="0"/>
                                    </a:rPr>
                                  </m:ctrlPr>
                                </m:sSubPr>
                                <m:e>
                                  <m:r>
                                    <a:rPr lang="en-US" altLang="ja-JP" sz="3600" b="1" i="1" smtClean="0">
                                      <a:latin typeface="Cambria Math" panose="02040503050406030204" pitchFamily="18" charset="0"/>
                                    </a:rPr>
                                    <m:t>𝑷</m:t>
                                  </m:r>
                                </m:e>
                                <m:sub>
                                  <m:r>
                                    <a:rPr lang="en-US" altLang="ja-JP" sz="3600" b="1" i="1" smtClean="0">
                                      <a:latin typeface="Cambria Math" panose="02040503050406030204" pitchFamily="18" charset="0"/>
                                    </a:rPr>
                                    <m:t>𝒎𝒂𝒙</m:t>
                                  </m:r>
                                </m:sub>
                              </m:sSub>
                            </m:den>
                          </m:f>
                        </m:e>
                      </m:d>
                      <m:r>
                        <a:rPr lang="en-US" altLang="ja-JP" sz="3600" b="1" i="1" smtClean="0">
                          <a:latin typeface="Cambria Math" panose="02040503050406030204" pitchFamily="18" charset="0"/>
                        </a:rPr>
                        <m:t>−</m:t>
                      </m:r>
                      <m:sSub>
                        <m:sSubPr>
                          <m:ctrlPr>
                            <a:rPr lang="en-US" altLang="ja-JP" sz="3600" b="1" i="1" smtClean="0">
                              <a:latin typeface="Cambria Math" panose="02040503050406030204" pitchFamily="18" charset="0"/>
                            </a:rPr>
                          </m:ctrlPr>
                        </m:sSubPr>
                        <m:e>
                          <m:r>
                            <a:rPr lang="en-US" altLang="ja-JP" sz="3600" b="1" i="1" smtClean="0">
                              <a:latin typeface="Cambria Math" panose="02040503050406030204" pitchFamily="18" charset="0"/>
                            </a:rPr>
                            <m:t>𝒌</m:t>
                          </m:r>
                        </m:e>
                        <m:sub>
                          <m:r>
                            <a:rPr lang="en-US" altLang="ja-JP" sz="3600" b="1" i="1" smtClean="0">
                              <a:latin typeface="Cambria Math" panose="02040503050406030204" pitchFamily="18" charset="0"/>
                            </a:rPr>
                            <m:t>𝟏</m:t>
                          </m:r>
                        </m:sub>
                      </m:sSub>
                      <m:r>
                        <a:rPr lang="en-US" altLang="ja-JP" sz="3600" b="1" i="1" smtClean="0">
                          <a:latin typeface="Cambria Math" panose="02040503050406030204" pitchFamily="18" charset="0"/>
                        </a:rPr>
                        <m:t>𝑿𝑽</m:t>
                      </m:r>
                      <m:r>
                        <a:rPr lang="en-US" altLang="ja-JP" sz="3600" b="1" i="1" smtClean="0">
                          <a:latin typeface="Cambria Math" panose="02040503050406030204" pitchFamily="18" charset="0"/>
                        </a:rPr>
                        <m:t>,</m:t>
                      </m:r>
                    </m:oMath>
                    <m:oMath xmlns:m="http://schemas.openxmlformats.org/officeDocument/2006/math">
                      <m:f>
                        <m:fPr>
                          <m:ctrlPr>
                            <a:rPr lang="en-US" altLang="ja-JP" sz="3600" b="1" i="1" smtClean="0">
                              <a:latin typeface="Cambria Math" panose="02040503050406030204" pitchFamily="18" charset="0"/>
                            </a:rPr>
                          </m:ctrlPr>
                        </m:fPr>
                        <m:num>
                          <m:r>
                            <a:rPr lang="en-US" altLang="ja-JP" sz="3600" b="1" i="0" smtClean="0">
                              <a:latin typeface="Cambria Math" panose="02040503050406030204" pitchFamily="18" charset="0"/>
                            </a:rPr>
                            <m:t>𝐝</m:t>
                          </m:r>
                          <m:r>
                            <a:rPr lang="en-US" altLang="ja-JP" sz="3600" b="1" i="1" smtClean="0">
                              <a:latin typeface="Cambria Math" panose="02040503050406030204" pitchFamily="18" charset="0"/>
                            </a:rPr>
                            <m:t>𝒀</m:t>
                          </m:r>
                        </m:num>
                        <m:den>
                          <m:r>
                            <a:rPr lang="en-US" altLang="ja-JP" sz="3600" b="1" i="0" smtClean="0">
                              <a:latin typeface="Cambria Math" panose="02040503050406030204" pitchFamily="18" charset="0"/>
                            </a:rPr>
                            <m:t>𝐝</m:t>
                          </m:r>
                          <m:r>
                            <a:rPr lang="en-US" altLang="ja-JP" sz="3600" b="1" i="1" smtClean="0">
                              <a:latin typeface="Cambria Math" panose="02040503050406030204" pitchFamily="18" charset="0"/>
                            </a:rPr>
                            <m:t>𝒕</m:t>
                          </m:r>
                        </m:den>
                      </m:f>
                      <m:r>
                        <a:rPr lang="en-US" altLang="ja-JP" sz="3600" b="1" i="1" smtClean="0">
                          <a:latin typeface="Cambria Math" panose="02040503050406030204" pitchFamily="18" charset="0"/>
                        </a:rPr>
                        <m:t>=</m:t>
                      </m:r>
                      <m:sSub>
                        <m:sSubPr>
                          <m:ctrlPr>
                            <a:rPr lang="en-US" altLang="ja-JP" sz="3600" b="1" i="1" smtClean="0">
                              <a:latin typeface="Cambria Math" panose="02040503050406030204" pitchFamily="18" charset="0"/>
                            </a:rPr>
                          </m:ctrlPr>
                        </m:sSubPr>
                        <m:e>
                          <m:r>
                            <a:rPr lang="en-US" altLang="ja-JP" sz="3600" b="1" i="1" smtClean="0">
                              <a:latin typeface="Cambria Math" panose="02040503050406030204" pitchFamily="18" charset="0"/>
                            </a:rPr>
                            <m:t>𝒌</m:t>
                          </m:r>
                        </m:e>
                        <m:sub>
                          <m:r>
                            <a:rPr lang="en-US" altLang="ja-JP" sz="3600" b="1" i="1" smtClean="0">
                              <a:latin typeface="Cambria Math" panose="02040503050406030204" pitchFamily="18" charset="0"/>
                            </a:rPr>
                            <m:t>𝟏</m:t>
                          </m:r>
                        </m:sub>
                      </m:sSub>
                      <m:r>
                        <a:rPr lang="en-US" altLang="ja-JP" sz="3600" b="1" i="1" smtClean="0">
                          <a:latin typeface="Cambria Math" panose="02040503050406030204" pitchFamily="18" charset="0"/>
                        </a:rPr>
                        <m:t>𝑿</m:t>
                      </m:r>
                      <m:d>
                        <m:dPr>
                          <m:ctrlPr>
                            <a:rPr lang="en-US" altLang="ja-JP" sz="3600" b="1" i="1" smtClean="0">
                              <a:latin typeface="Cambria Math" panose="02040503050406030204" pitchFamily="18" charset="0"/>
                            </a:rPr>
                          </m:ctrlPr>
                        </m:dPr>
                        <m:e>
                          <m:r>
                            <a:rPr lang="en-US" altLang="ja-JP" sz="3600" b="1" i="1" smtClean="0">
                              <a:latin typeface="Cambria Math" panose="02040503050406030204" pitchFamily="18" charset="0"/>
                            </a:rPr>
                            <m:t>𝒕</m:t>
                          </m:r>
                        </m:e>
                      </m:d>
                      <m:r>
                        <a:rPr lang="en-US" altLang="ja-JP" sz="3600" b="1" i="1" smtClean="0">
                          <a:latin typeface="Cambria Math" panose="02040503050406030204" pitchFamily="18" charset="0"/>
                        </a:rPr>
                        <m:t>𝑽</m:t>
                      </m:r>
                      <m:d>
                        <m:dPr>
                          <m:ctrlPr>
                            <a:rPr lang="en-US" altLang="ja-JP" sz="3600" b="1" i="1" smtClean="0">
                              <a:latin typeface="Cambria Math" panose="02040503050406030204" pitchFamily="18" charset="0"/>
                            </a:rPr>
                          </m:ctrlPr>
                        </m:dPr>
                        <m:e>
                          <m:r>
                            <a:rPr lang="en-US" altLang="ja-JP" sz="3600" b="1" i="1" smtClean="0">
                              <a:latin typeface="Cambria Math" panose="02040503050406030204" pitchFamily="18" charset="0"/>
                            </a:rPr>
                            <m:t>𝒕</m:t>
                          </m:r>
                        </m:e>
                      </m:d>
                      <m:r>
                        <a:rPr lang="en-US" altLang="ja-JP" sz="3600" b="1" i="1" smtClean="0">
                          <a:latin typeface="Cambria Math" panose="02040503050406030204" pitchFamily="18" charset="0"/>
                        </a:rPr>
                        <m:t>−</m:t>
                      </m:r>
                      <m:sSub>
                        <m:sSubPr>
                          <m:ctrlPr>
                            <a:rPr lang="en-US" altLang="ja-JP" sz="3600" b="1" i="1" smtClean="0">
                              <a:latin typeface="Cambria Math" panose="02040503050406030204" pitchFamily="18" charset="0"/>
                            </a:rPr>
                          </m:ctrlPr>
                        </m:sSubPr>
                        <m:e>
                          <m:r>
                            <a:rPr lang="ja-JP" altLang="en-US" sz="3600" b="1" i="1" smtClean="0">
                              <a:latin typeface="Cambria Math" panose="02040503050406030204" pitchFamily="18" charset="0"/>
                            </a:rPr>
                            <m:t>𝝁</m:t>
                          </m:r>
                        </m:e>
                        <m:sub>
                          <m:r>
                            <a:rPr lang="en-US" altLang="ja-JP" sz="3600" b="1" i="1" smtClean="0">
                              <a:latin typeface="Cambria Math" panose="02040503050406030204" pitchFamily="18" charset="0"/>
                            </a:rPr>
                            <m:t>𝒚</m:t>
                          </m:r>
                        </m:sub>
                      </m:sSub>
                      <m:r>
                        <a:rPr lang="en-US" altLang="ja-JP" sz="3600" b="1" i="1" smtClean="0">
                          <a:latin typeface="Cambria Math" panose="02040503050406030204" pitchFamily="18" charset="0"/>
                        </a:rPr>
                        <m:t>𝒀</m:t>
                      </m:r>
                      <m:d>
                        <m:dPr>
                          <m:ctrlPr>
                            <a:rPr lang="en-US" altLang="ja-JP" sz="3600" b="1" i="1" smtClean="0">
                              <a:latin typeface="Cambria Math" panose="02040503050406030204" pitchFamily="18" charset="0"/>
                            </a:rPr>
                          </m:ctrlPr>
                        </m:dPr>
                        <m:e>
                          <m:r>
                            <a:rPr lang="en-US" altLang="ja-JP" sz="3600" b="1" i="1" smtClean="0">
                              <a:latin typeface="Cambria Math" panose="02040503050406030204" pitchFamily="18" charset="0"/>
                            </a:rPr>
                            <m:t>𝒕</m:t>
                          </m:r>
                        </m:e>
                      </m:d>
                      <m:r>
                        <a:rPr lang="en-US" altLang="ja-JP" sz="3600" b="1" i="1" smtClean="0">
                          <a:latin typeface="Cambria Math" panose="02040503050406030204" pitchFamily="18" charset="0"/>
                        </a:rPr>
                        <m:t>−</m:t>
                      </m:r>
                      <m:sSub>
                        <m:sSubPr>
                          <m:ctrlPr>
                            <a:rPr lang="en-US" altLang="ja-JP" sz="3600" b="1" i="1" smtClean="0">
                              <a:latin typeface="Cambria Math" panose="02040503050406030204" pitchFamily="18" charset="0"/>
                            </a:rPr>
                          </m:ctrlPr>
                        </m:sSubPr>
                        <m:e>
                          <m:r>
                            <a:rPr lang="en-US" altLang="ja-JP" sz="3600" b="1" i="1" smtClean="0">
                              <a:latin typeface="Cambria Math" panose="02040503050406030204" pitchFamily="18" charset="0"/>
                            </a:rPr>
                            <m:t>𝒌</m:t>
                          </m:r>
                        </m:e>
                        <m:sub>
                          <m:r>
                            <a:rPr lang="en-US" altLang="ja-JP" sz="3600" b="1" i="1" smtClean="0">
                              <a:latin typeface="Cambria Math" panose="02040503050406030204" pitchFamily="18" charset="0"/>
                            </a:rPr>
                            <m:t>𝟐</m:t>
                          </m:r>
                        </m:sub>
                      </m:sSub>
                      <m:r>
                        <a:rPr lang="en-US" altLang="ja-JP" sz="3600" b="1" i="1" smtClean="0">
                          <a:latin typeface="Cambria Math" panose="02040503050406030204" pitchFamily="18" charset="0"/>
                        </a:rPr>
                        <m:t>𝒀</m:t>
                      </m:r>
                      <m:d>
                        <m:dPr>
                          <m:ctrlPr>
                            <a:rPr lang="en-US" altLang="ja-JP" sz="3600" b="1" i="1" smtClean="0">
                              <a:latin typeface="Cambria Math" panose="02040503050406030204" pitchFamily="18" charset="0"/>
                            </a:rPr>
                          </m:ctrlPr>
                        </m:dPr>
                        <m:e>
                          <m:r>
                            <a:rPr lang="en-US" altLang="ja-JP" sz="3600" b="1" i="1" smtClean="0">
                              <a:latin typeface="Cambria Math" panose="02040503050406030204" pitchFamily="18" charset="0"/>
                            </a:rPr>
                            <m:t>𝒕</m:t>
                          </m:r>
                        </m:e>
                      </m:d>
                      <m:r>
                        <a:rPr lang="en-US" altLang="ja-JP" sz="3600" b="1" i="1" smtClean="0">
                          <a:latin typeface="Cambria Math" panose="02040503050406030204" pitchFamily="18" charset="0"/>
                        </a:rPr>
                        <m:t>,</m:t>
                      </m:r>
                    </m:oMath>
                    <m:oMath xmlns:m="http://schemas.openxmlformats.org/officeDocument/2006/math">
                      <m:f>
                        <m:fPr>
                          <m:ctrlPr>
                            <a:rPr lang="en-US" altLang="ja-JP" sz="3600" b="1" i="1" smtClean="0">
                              <a:latin typeface="Cambria Math" panose="02040503050406030204" pitchFamily="18" charset="0"/>
                            </a:rPr>
                          </m:ctrlPr>
                        </m:fPr>
                        <m:num>
                          <m:r>
                            <a:rPr lang="en-US" altLang="ja-JP" sz="3600" b="1" i="0" smtClean="0">
                              <a:latin typeface="Cambria Math" panose="02040503050406030204" pitchFamily="18" charset="0"/>
                            </a:rPr>
                            <m:t>𝐝</m:t>
                          </m:r>
                          <m:r>
                            <a:rPr lang="en-US" altLang="ja-JP" sz="3600" b="1" i="1" smtClean="0">
                              <a:latin typeface="Cambria Math" panose="02040503050406030204" pitchFamily="18" charset="0"/>
                            </a:rPr>
                            <m:t>𝒁</m:t>
                          </m:r>
                        </m:num>
                        <m:den>
                          <m:r>
                            <a:rPr lang="en-US" altLang="ja-JP" sz="3600" b="1" i="0" smtClean="0">
                              <a:latin typeface="Cambria Math" panose="02040503050406030204" pitchFamily="18" charset="0"/>
                            </a:rPr>
                            <m:t>𝐝</m:t>
                          </m:r>
                          <m:r>
                            <a:rPr lang="en-US" altLang="ja-JP" sz="3600" b="1" i="1" smtClean="0">
                              <a:latin typeface="Cambria Math" panose="02040503050406030204" pitchFamily="18" charset="0"/>
                            </a:rPr>
                            <m:t>𝒕</m:t>
                          </m:r>
                        </m:den>
                      </m:f>
                      <m:r>
                        <a:rPr lang="en-US" altLang="ja-JP" sz="3600" b="1" i="1" smtClean="0">
                          <a:latin typeface="Cambria Math" panose="02040503050406030204" pitchFamily="18" charset="0"/>
                        </a:rPr>
                        <m:t>=</m:t>
                      </m:r>
                      <m:sSub>
                        <m:sSubPr>
                          <m:ctrlPr>
                            <a:rPr lang="en-US" altLang="ja-JP" sz="3600" b="1" i="1" smtClean="0">
                              <a:latin typeface="Cambria Math" panose="02040503050406030204" pitchFamily="18" charset="0"/>
                            </a:rPr>
                          </m:ctrlPr>
                        </m:sSubPr>
                        <m:e>
                          <m:r>
                            <a:rPr lang="en-US" altLang="ja-JP" sz="3600" b="1" i="1" smtClean="0">
                              <a:latin typeface="Cambria Math" panose="02040503050406030204" pitchFamily="18" charset="0"/>
                            </a:rPr>
                            <m:t>𝒌</m:t>
                          </m:r>
                        </m:e>
                        <m:sub>
                          <m:r>
                            <a:rPr lang="en-US" altLang="ja-JP" sz="3600" b="1" i="1" smtClean="0">
                              <a:latin typeface="Cambria Math" panose="02040503050406030204" pitchFamily="18" charset="0"/>
                            </a:rPr>
                            <m:t>𝟐</m:t>
                          </m:r>
                        </m:sub>
                      </m:sSub>
                      <m:r>
                        <a:rPr lang="en-US" altLang="ja-JP" sz="3600" b="1" i="1" smtClean="0">
                          <a:latin typeface="Cambria Math" panose="02040503050406030204" pitchFamily="18" charset="0"/>
                        </a:rPr>
                        <m:t>𝒀</m:t>
                      </m:r>
                      <m:d>
                        <m:dPr>
                          <m:ctrlPr>
                            <a:rPr lang="en-US" altLang="ja-JP" sz="3600" b="1" i="1" smtClean="0">
                              <a:latin typeface="Cambria Math" panose="02040503050406030204" pitchFamily="18" charset="0"/>
                            </a:rPr>
                          </m:ctrlPr>
                        </m:dPr>
                        <m:e>
                          <m:r>
                            <a:rPr lang="en-US" altLang="ja-JP" sz="3600" b="1" i="1" smtClean="0">
                              <a:latin typeface="Cambria Math" panose="02040503050406030204" pitchFamily="18" charset="0"/>
                            </a:rPr>
                            <m:t>𝒕</m:t>
                          </m:r>
                        </m:e>
                      </m:d>
                      <m:r>
                        <a:rPr lang="en-US" altLang="ja-JP" sz="3600" b="1" i="1" smtClean="0">
                          <a:latin typeface="Cambria Math" panose="02040503050406030204" pitchFamily="18" charset="0"/>
                        </a:rPr>
                        <m:t>−</m:t>
                      </m:r>
                      <m:sSub>
                        <m:sSubPr>
                          <m:ctrlPr>
                            <a:rPr lang="en-US" altLang="ja-JP" sz="3600" b="1" i="1" smtClean="0">
                              <a:latin typeface="Cambria Math" panose="02040503050406030204" pitchFamily="18" charset="0"/>
                            </a:rPr>
                          </m:ctrlPr>
                        </m:sSubPr>
                        <m:e>
                          <m:r>
                            <a:rPr lang="ja-JP" altLang="en-US" sz="3600" b="1" i="1" smtClean="0">
                              <a:latin typeface="Cambria Math" panose="02040503050406030204" pitchFamily="18" charset="0"/>
                            </a:rPr>
                            <m:t>𝝁</m:t>
                          </m:r>
                        </m:e>
                        <m:sub>
                          <m:r>
                            <a:rPr lang="en-US" altLang="ja-JP" sz="3600" b="1" i="1" smtClean="0">
                              <a:latin typeface="Cambria Math" panose="02040503050406030204" pitchFamily="18" charset="0"/>
                            </a:rPr>
                            <m:t>𝒛</m:t>
                          </m:r>
                        </m:sub>
                      </m:sSub>
                      <m:r>
                        <a:rPr lang="en-US" altLang="ja-JP" sz="3600" b="1" i="1" smtClean="0">
                          <a:latin typeface="Cambria Math" panose="02040503050406030204" pitchFamily="18" charset="0"/>
                        </a:rPr>
                        <m:t>𝒁</m:t>
                      </m:r>
                      <m:d>
                        <m:dPr>
                          <m:ctrlPr>
                            <a:rPr lang="en-US" altLang="ja-JP" sz="3600" b="1" i="1" smtClean="0">
                              <a:latin typeface="Cambria Math" panose="02040503050406030204" pitchFamily="18" charset="0"/>
                            </a:rPr>
                          </m:ctrlPr>
                        </m:dPr>
                        <m:e>
                          <m:r>
                            <a:rPr lang="en-US" altLang="ja-JP" sz="3600" b="1" i="1" smtClean="0">
                              <a:latin typeface="Cambria Math" panose="02040503050406030204" pitchFamily="18" charset="0"/>
                            </a:rPr>
                            <m:t>𝒕</m:t>
                          </m:r>
                        </m:e>
                      </m:d>
                      <m:r>
                        <a:rPr lang="en-US" altLang="ja-JP" sz="3600" b="1" i="1" smtClean="0">
                          <a:latin typeface="Cambria Math" panose="02040503050406030204" pitchFamily="18" charset="0"/>
                        </a:rPr>
                        <m:t>,</m:t>
                      </m:r>
                    </m:oMath>
                    <m:oMath xmlns:m="http://schemas.openxmlformats.org/officeDocument/2006/math">
                      <m:f>
                        <m:fPr>
                          <m:ctrlPr>
                            <a:rPr lang="en-US" altLang="ja-JP" sz="3600" b="1" i="1" smtClean="0">
                              <a:latin typeface="Cambria Math" panose="02040503050406030204" pitchFamily="18" charset="0"/>
                            </a:rPr>
                          </m:ctrlPr>
                        </m:fPr>
                        <m:num>
                          <m:r>
                            <a:rPr lang="en-US" altLang="ja-JP" sz="3600" b="1" i="0" smtClean="0">
                              <a:latin typeface="Cambria Math" panose="02040503050406030204" pitchFamily="18" charset="0"/>
                            </a:rPr>
                            <m:t>𝐝</m:t>
                          </m:r>
                          <m:r>
                            <a:rPr lang="en-US" altLang="ja-JP" sz="3600" b="1" i="1" smtClean="0">
                              <a:latin typeface="Cambria Math" panose="02040503050406030204" pitchFamily="18" charset="0"/>
                            </a:rPr>
                            <m:t>𝑽</m:t>
                          </m:r>
                        </m:num>
                        <m:den>
                          <m:r>
                            <a:rPr lang="en-US" altLang="ja-JP" sz="3600" b="1" i="0" smtClean="0">
                              <a:latin typeface="Cambria Math" panose="02040503050406030204" pitchFamily="18" charset="0"/>
                            </a:rPr>
                            <m:t>𝐝</m:t>
                          </m:r>
                          <m:r>
                            <a:rPr lang="en-US" altLang="ja-JP" sz="3600" b="1" i="1" smtClean="0">
                              <a:latin typeface="Cambria Math" panose="02040503050406030204" pitchFamily="18" charset="0"/>
                            </a:rPr>
                            <m:t>𝒕</m:t>
                          </m:r>
                        </m:den>
                      </m:f>
                      <m:r>
                        <a:rPr lang="en-US" altLang="ja-JP" sz="3600" b="1" i="0" smtClean="0">
                          <a:latin typeface="Cambria Math" panose="02040503050406030204" pitchFamily="18" charset="0"/>
                        </a:rPr>
                        <m:t>=</m:t>
                      </m:r>
                      <m:d>
                        <m:dPr>
                          <m:ctrlPr>
                            <a:rPr lang="en-US" altLang="ja-JP" sz="3600" b="1" i="1" smtClean="0">
                              <a:latin typeface="Cambria Math" panose="02040503050406030204" pitchFamily="18" charset="0"/>
                            </a:rPr>
                          </m:ctrlPr>
                        </m:dPr>
                        <m:e>
                          <m:r>
                            <a:rPr lang="en-US" altLang="ja-JP" sz="3600" b="1" i="1" smtClean="0">
                              <a:latin typeface="Cambria Math" panose="02040503050406030204" pitchFamily="18" charset="0"/>
                            </a:rPr>
                            <m:t>𝟏</m:t>
                          </m:r>
                          <m:r>
                            <a:rPr lang="en-US" altLang="ja-JP" sz="3600" b="1" i="1" smtClean="0">
                              <a:latin typeface="Cambria Math" panose="02040503050406030204" pitchFamily="18" charset="0"/>
                            </a:rPr>
                            <m:t>−</m:t>
                          </m:r>
                          <m:r>
                            <a:rPr lang="en-US" altLang="ja-JP" sz="3600" b="1" i="1" smtClean="0">
                              <a:latin typeface="Cambria Math" panose="02040503050406030204" pitchFamily="18" charset="0"/>
                            </a:rPr>
                            <m:t>𝒖</m:t>
                          </m:r>
                          <m:d>
                            <m:dPr>
                              <m:ctrlPr>
                                <a:rPr lang="en-US" altLang="ja-JP" sz="3600" b="1" i="1" smtClean="0">
                                  <a:latin typeface="Cambria Math" panose="02040503050406030204" pitchFamily="18" charset="0"/>
                                </a:rPr>
                              </m:ctrlPr>
                            </m:dPr>
                            <m:e>
                              <m:r>
                                <a:rPr lang="en-US" altLang="ja-JP" sz="3600" b="1" i="1" smtClean="0">
                                  <a:latin typeface="Cambria Math" panose="02040503050406030204" pitchFamily="18" charset="0"/>
                                </a:rPr>
                                <m:t>𝒕</m:t>
                              </m:r>
                            </m:e>
                          </m:d>
                        </m:e>
                      </m:d>
                      <m:r>
                        <a:rPr lang="en-US" altLang="ja-JP" sz="3600" b="1" i="1" smtClean="0">
                          <a:latin typeface="Cambria Math" panose="02040503050406030204" pitchFamily="18" charset="0"/>
                        </a:rPr>
                        <m:t>𝑵</m:t>
                      </m:r>
                      <m:sSub>
                        <m:sSubPr>
                          <m:ctrlPr>
                            <a:rPr lang="en-US" altLang="ja-JP" sz="3600" b="1" i="1" smtClean="0">
                              <a:latin typeface="Cambria Math" panose="02040503050406030204" pitchFamily="18" charset="0"/>
                            </a:rPr>
                          </m:ctrlPr>
                        </m:sSubPr>
                        <m:e>
                          <m:r>
                            <a:rPr lang="ja-JP" altLang="en-US" sz="3600" b="1" i="1" smtClean="0">
                              <a:latin typeface="Cambria Math" panose="02040503050406030204" pitchFamily="18" charset="0"/>
                            </a:rPr>
                            <m:t>𝝁</m:t>
                          </m:r>
                        </m:e>
                        <m:sub>
                          <m:r>
                            <a:rPr lang="en-US" altLang="ja-JP" sz="3600" b="1" i="1" smtClean="0">
                              <a:latin typeface="Cambria Math" panose="02040503050406030204" pitchFamily="18" charset="0"/>
                            </a:rPr>
                            <m:t>𝒛</m:t>
                          </m:r>
                        </m:sub>
                      </m:sSub>
                      <m:r>
                        <a:rPr lang="en-US" altLang="ja-JP" sz="3600" b="1" i="1" smtClean="0">
                          <a:latin typeface="Cambria Math" panose="02040503050406030204" pitchFamily="18" charset="0"/>
                        </a:rPr>
                        <m:t>𝒁</m:t>
                      </m:r>
                      <m:d>
                        <m:dPr>
                          <m:ctrlPr>
                            <a:rPr lang="en-US" altLang="ja-JP" sz="3600" b="1" i="1" smtClean="0">
                              <a:latin typeface="Cambria Math" panose="02040503050406030204" pitchFamily="18" charset="0"/>
                            </a:rPr>
                          </m:ctrlPr>
                        </m:dPr>
                        <m:e>
                          <m:r>
                            <a:rPr lang="en-US" altLang="ja-JP" sz="3600" b="1" i="1" smtClean="0">
                              <a:latin typeface="Cambria Math" panose="02040503050406030204" pitchFamily="18" charset="0"/>
                            </a:rPr>
                            <m:t>𝒕</m:t>
                          </m:r>
                        </m:e>
                      </m:d>
                      <m:r>
                        <a:rPr lang="en-US" altLang="ja-JP" sz="3600" b="1" i="1" smtClean="0">
                          <a:latin typeface="Cambria Math" panose="02040503050406030204" pitchFamily="18" charset="0"/>
                        </a:rPr>
                        <m:t>−</m:t>
                      </m:r>
                      <m:sSub>
                        <m:sSubPr>
                          <m:ctrlPr>
                            <a:rPr lang="en-US" altLang="ja-JP" sz="3600" b="1" i="1" smtClean="0">
                              <a:latin typeface="Cambria Math" panose="02040503050406030204" pitchFamily="18" charset="0"/>
                            </a:rPr>
                          </m:ctrlPr>
                        </m:sSubPr>
                        <m:e>
                          <m:r>
                            <a:rPr lang="en-US" altLang="ja-JP" sz="3600" b="1" i="1" smtClean="0">
                              <a:latin typeface="Cambria Math" panose="02040503050406030204" pitchFamily="18" charset="0"/>
                            </a:rPr>
                            <m:t>𝒌</m:t>
                          </m:r>
                        </m:e>
                        <m:sub>
                          <m:r>
                            <a:rPr lang="en-US" altLang="ja-JP" sz="3600" b="1" i="1" smtClean="0">
                              <a:latin typeface="Cambria Math" panose="02040503050406030204" pitchFamily="18" charset="0"/>
                            </a:rPr>
                            <m:t>𝟏</m:t>
                          </m:r>
                        </m:sub>
                      </m:sSub>
                      <m:r>
                        <a:rPr lang="en-US" altLang="ja-JP" sz="3600" b="1" i="1" smtClean="0">
                          <a:latin typeface="Cambria Math" panose="02040503050406030204" pitchFamily="18" charset="0"/>
                        </a:rPr>
                        <m:t>𝑿</m:t>
                      </m:r>
                      <m:d>
                        <m:dPr>
                          <m:ctrlPr>
                            <a:rPr lang="en-US" altLang="ja-JP" sz="3600" b="1" i="1" smtClean="0">
                              <a:latin typeface="Cambria Math" panose="02040503050406030204" pitchFamily="18" charset="0"/>
                            </a:rPr>
                          </m:ctrlPr>
                        </m:dPr>
                        <m:e>
                          <m:r>
                            <a:rPr lang="en-US" altLang="ja-JP" sz="3600" b="1" i="1" smtClean="0">
                              <a:latin typeface="Cambria Math" panose="02040503050406030204" pitchFamily="18" charset="0"/>
                            </a:rPr>
                            <m:t>𝒕</m:t>
                          </m:r>
                        </m:e>
                      </m:d>
                      <m:r>
                        <a:rPr lang="en-US" altLang="ja-JP" sz="3600" b="1" i="1" smtClean="0">
                          <a:latin typeface="Cambria Math" panose="02040503050406030204" pitchFamily="18" charset="0"/>
                        </a:rPr>
                        <m:t>𝑽</m:t>
                      </m:r>
                      <m:d>
                        <m:dPr>
                          <m:ctrlPr>
                            <a:rPr lang="en-US" altLang="ja-JP" sz="3600" b="1" i="1" smtClean="0">
                              <a:latin typeface="Cambria Math" panose="02040503050406030204" pitchFamily="18" charset="0"/>
                            </a:rPr>
                          </m:ctrlPr>
                        </m:dPr>
                        <m:e>
                          <m:r>
                            <a:rPr lang="en-US" altLang="ja-JP" sz="3600" b="1" i="1" smtClean="0">
                              <a:latin typeface="Cambria Math" panose="02040503050406030204" pitchFamily="18" charset="0"/>
                            </a:rPr>
                            <m:t>𝒕</m:t>
                          </m:r>
                        </m:e>
                      </m:d>
                      <m:r>
                        <a:rPr lang="en-US" altLang="ja-JP" sz="3600" b="1" i="1" smtClean="0">
                          <a:latin typeface="Cambria Math" panose="02040503050406030204" pitchFamily="18" charset="0"/>
                        </a:rPr>
                        <m:t>−</m:t>
                      </m:r>
                      <m:sSub>
                        <m:sSubPr>
                          <m:ctrlPr>
                            <a:rPr lang="en-US" altLang="ja-JP" sz="3600" b="1" i="1" smtClean="0">
                              <a:latin typeface="Cambria Math" panose="02040503050406030204" pitchFamily="18" charset="0"/>
                            </a:rPr>
                          </m:ctrlPr>
                        </m:sSubPr>
                        <m:e>
                          <m:r>
                            <a:rPr lang="ja-JP" altLang="en-US" sz="3600" b="1" i="1" smtClean="0">
                              <a:latin typeface="Cambria Math" panose="02040503050406030204" pitchFamily="18" charset="0"/>
                            </a:rPr>
                            <m:t>𝝁</m:t>
                          </m:r>
                        </m:e>
                        <m:sub>
                          <m:r>
                            <a:rPr lang="en-US" altLang="ja-JP" sz="3600" b="1" i="1" smtClean="0">
                              <a:latin typeface="Cambria Math" panose="02040503050406030204" pitchFamily="18" charset="0"/>
                            </a:rPr>
                            <m:t>𝒗</m:t>
                          </m:r>
                        </m:sub>
                      </m:sSub>
                      <m:r>
                        <a:rPr lang="en-US" altLang="ja-JP" sz="3600" b="1" i="1" smtClean="0">
                          <a:latin typeface="Cambria Math" panose="02040503050406030204" pitchFamily="18" charset="0"/>
                        </a:rPr>
                        <m:t>𝑽</m:t>
                      </m:r>
                      <m:r>
                        <a:rPr lang="en-US" altLang="ja-JP" sz="3600" b="1" i="1" smtClean="0">
                          <a:latin typeface="Cambria Math" panose="02040503050406030204" pitchFamily="18" charset="0"/>
                        </a:rPr>
                        <m:t>(</m:t>
                      </m:r>
                      <m:r>
                        <a:rPr lang="en-US" altLang="ja-JP" sz="3600" b="1" i="1" smtClean="0">
                          <a:latin typeface="Cambria Math" panose="02040503050406030204" pitchFamily="18" charset="0"/>
                        </a:rPr>
                        <m:t>𝒕</m:t>
                      </m:r>
                      <m:r>
                        <a:rPr lang="en-US" altLang="ja-JP" sz="3600" b="1" i="1" smtClean="0">
                          <a:latin typeface="Cambria Math" panose="02040503050406030204" pitchFamily="18" charset="0"/>
                        </a:rPr>
                        <m:t>)</m:t>
                      </m:r>
                    </m:oMath>
                  </m:oMathPara>
                </a14:m>
                <a:endParaRPr lang="en-US" altLang="ja-JP" sz="3600" b="1" dirty="0"/>
              </a:p>
              <a:p>
                <a:pPr marL="0" indent="0">
                  <a:buNone/>
                </a:pPr>
                <a:endParaRPr kumimoji="1" lang="en-US" altLang="ja-JP" sz="2400" dirty="0"/>
              </a:p>
              <a:p>
                <a:endParaRPr kumimoji="1" lang="en-US" altLang="ja-JP" sz="2400" dirty="0"/>
              </a:p>
              <a:p>
                <a:endParaRPr kumimoji="1" lang="ja-JP" altLang="en-US" sz="2400" dirty="0"/>
              </a:p>
            </p:txBody>
          </p:sp>
        </mc:Choice>
        <mc:Fallback xmlns="">
          <p:sp>
            <p:nvSpPr>
              <p:cNvPr id="3" name="コンテンツ プレースホルダー 2">
                <a:extLst>
                  <a:ext uri="{FF2B5EF4-FFF2-40B4-BE49-F238E27FC236}">
                    <a16:creationId xmlns:a16="http://schemas.microsoft.com/office/drawing/2014/main" id="{B600AD19-FE5C-8D0E-AA4D-50F7A2CFD50B}"/>
                  </a:ext>
                </a:extLst>
              </p:cNvPr>
              <p:cNvSpPr>
                <a:spLocks noGrp="1" noRot="1" noChangeAspect="1" noMove="1" noResize="1" noEditPoints="1" noAdjustHandles="1" noChangeArrowheads="1" noChangeShapeType="1" noTextEdit="1"/>
              </p:cNvSpPr>
              <p:nvPr>
                <p:ph idx="1"/>
              </p:nvPr>
            </p:nvSpPr>
            <p:spPr>
              <a:xfrm>
                <a:off x="15371" y="846802"/>
                <a:ext cx="7100205" cy="4381412"/>
              </a:xfrm>
              <a:blipFill>
                <a:blip r:embed="rId3"/>
                <a:stretch>
                  <a:fillRect t="-1669" r="-172"/>
                </a:stretch>
              </a:blipFill>
            </p:spPr>
            <p:txBody>
              <a:bodyPr/>
              <a:lstStyle/>
              <a:p>
                <a:r>
                  <a:rPr lang="ja-JP" altLang="en-US">
                    <a:noFill/>
                  </a:rPr>
                  <a:t> </a:t>
                </a:r>
              </a:p>
            </p:txBody>
          </p:sp>
        </mc:Fallback>
      </mc:AlternateContent>
      <p:sp>
        <p:nvSpPr>
          <p:cNvPr id="5" name="スライド番号プレースホルダー 4">
            <a:extLst>
              <a:ext uri="{FF2B5EF4-FFF2-40B4-BE49-F238E27FC236}">
                <a16:creationId xmlns:a16="http://schemas.microsoft.com/office/drawing/2014/main" id="{E93D7ABB-685B-5EB5-A967-C6808488C1E5}"/>
              </a:ext>
            </a:extLst>
          </p:cNvPr>
          <p:cNvSpPr>
            <a:spLocks noGrp="1"/>
          </p:cNvSpPr>
          <p:nvPr>
            <p:ph type="sldNum" sz="quarter" idx="4294967295"/>
          </p:nvPr>
        </p:nvSpPr>
        <p:spPr>
          <a:xfrm>
            <a:off x="9900458" y="6459785"/>
            <a:ext cx="1312025" cy="365125"/>
          </a:xfrm>
        </p:spPr>
        <p:txBody>
          <a:bodyPr/>
          <a:lstStyle/>
          <a:p>
            <a:fld id="{E0107F97-1CD5-41F0-B842-C38020C26506}" type="slidenum">
              <a:rPr kumimoji="1" lang="ja-JP" altLang="en-US" smtClean="0"/>
              <a:t>4</a:t>
            </a:fld>
            <a:endParaRPr kumimoji="1" lang="ja-JP" altLang="en-US"/>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66CC2BFA-D4E0-AB13-2008-C95D5262DD34}"/>
                  </a:ext>
                </a:extLst>
              </p:cNvPr>
              <p:cNvSpPr txBox="1"/>
              <p:nvPr/>
            </p:nvSpPr>
            <p:spPr>
              <a:xfrm>
                <a:off x="7597885" y="777318"/>
                <a:ext cx="4020801" cy="2708883"/>
              </a:xfrm>
              <a:prstGeom prst="rect">
                <a:avLst/>
              </a:prstGeom>
              <a:noFill/>
              <a:ln w="12700">
                <a:solidFill>
                  <a:schemeClr val="tx1"/>
                </a:solidFill>
              </a:ln>
            </p:spPr>
            <p:txBody>
              <a:bodyPr wrap="square" rtlCol="0">
                <a:spAutoFit/>
              </a:bodyPr>
              <a:lstStyle/>
              <a:p>
                <a14:m>
                  <m:oMath xmlns:m="http://schemas.openxmlformats.org/officeDocument/2006/math">
                    <m:f>
                      <m:fPr>
                        <m:ctrlPr>
                          <a:rPr kumimoji="1" lang="en-US" altLang="ja-JP" sz="1600" b="0" i="1" dirty="0" smtClean="0">
                            <a:latin typeface="Cambria Math" panose="02040503050406030204" pitchFamily="18" charset="0"/>
                          </a:rPr>
                        </m:ctrlPr>
                      </m:fPr>
                      <m:num>
                        <m:r>
                          <m:rPr>
                            <m:sty m:val="p"/>
                          </m:rPr>
                          <a:rPr kumimoji="1" lang="en-US" altLang="ja-JP" sz="1600" i="1" dirty="0">
                            <a:latin typeface="Cambria Math" panose="02040503050406030204" pitchFamily="18" charset="0"/>
                          </a:rPr>
                          <m:t>Λ</m:t>
                        </m:r>
                      </m:num>
                      <m:den>
                        <m:r>
                          <a:rPr kumimoji="1" lang="en-US" altLang="ja-JP" sz="1600" b="0" i="1" dirty="0" smtClean="0">
                            <a:latin typeface="Cambria Math" panose="02040503050406030204" pitchFamily="18" charset="0"/>
                          </a:rPr>
                          <m:t>1+</m:t>
                        </m:r>
                        <m:r>
                          <a:rPr kumimoji="1" lang="en-US" altLang="ja-JP" sz="1600" b="0" i="1" dirty="0" smtClean="0">
                            <a:latin typeface="Cambria Math" panose="02040503050406030204" pitchFamily="18" charset="0"/>
                          </a:rPr>
                          <m:t>𝑉</m:t>
                        </m:r>
                        <m:d>
                          <m:dPr>
                            <m:ctrlPr>
                              <a:rPr kumimoji="1" lang="en-US" altLang="ja-JP" sz="1600" b="0" i="1" dirty="0" smtClean="0">
                                <a:latin typeface="Cambria Math" panose="02040503050406030204" pitchFamily="18" charset="0"/>
                              </a:rPr>
                            </m:ctrlPr>
                          </m:dPr>
                          <m:e>
                            <m:r>
                              <a:rPr kumimoji="1" lang="en-US" altLang="ja-JP" sz="1600" b="0" i="1" dirty="0" smtClean="0">
                                <a:latin typeface="Cambria Math" panose="02040503050406030204" pitchFamily="18" charset="0"/>
                              </a:rPr>
                              <m:t>𝑡</m:t>
                            </m:r>
                          </m:e>
                        </m:d>
                      </m:den>
                    </m:f>
                    <m:r>
                      <a:rPr kumimoji="1" lang="en-US" altLang="ja-JP" sz="1600" b="0" i="1" dirty="0" smtClean="0">
                        <a:latin typeface="Cambria Math" panose="02040503050406030204" pitchFamily="18" charset="0"/>
                      </a:rPr>
                      <m:t>: </m:t>
                    </m:r>
                  </m:oMath>
                </a14:m>
                <a:r>
                  <a:rPr kumimoji="1" lang="ja-JP" altLang="en-US" sz="1600" dirty="0"/>
                  <a:t>新たな</a:t>
                </a:r>
                <a:r>
                  <a:rPr kumimoji="1" lang="en-US" altLang="ja-JP" sz="1600" dirty="0"/>
                  <a:t>CD4 T</a:t>
                </a:r>
                <a:r>
                  <a:rPr kumimoji="1" lang="ja-JP" altLang="en-US" sz="1600" dirty="0"/>
                  <a:t>細胞の生成率</a:t>
                </a:r>
                <a:endParaRPr kumimoji="1" lang="en-US" altLang="ja-JP" sz="1600" dirty="0"/>
              </a:p>
              <a:p>
                <a14:m>
                  <m:oMath xmlns:m="http://schemas.openxmlformats.org/officeDocument/2006/math">
                    <m:sSub>
                      <m:sSubPr>
                        <m:ctrlPr>
                          <a:rPr kumimoji="1" lang="en-US" altLang="ja-JP" sz="1600" b="0" i="1" smtClean="0">
                            <a:latin typeface="Cambria Math" panose="02040503050406030204" pitchFamily="18" charset="0"/>
                          </a:rPr>
                        </m:ctrlPr>
                      </m:sSubPr>
                      <m:e>
                        <m:r>
                          <a:rPr kumimoji="1" lang="ja-JP" altLang="en-US" sz="1600" i="1" smtClean="0">
                            <a:latin typeface="Cambria Math" panose="02040503050406030204" pitchFamily="18" charset="0"/>
                          </a:rPr>
                          <m:t>𝜇</m:t>
                        </m:r>
                      </m:e>
                      <m:sub>
                        <m:r>
                          <a:rPr kumimoji="1" lang="en-US" altLang="ja-JP" sz="1600" b="0" i="1" smtClean="0">
                            <a:latin typeface="Cambria Math" panose="02040503050406030204" pitchFamily="18" charset="0"/>
                          </a:rPr>
                          <m:t>𝑥</m:t>
                        </m:r>
                      </m:sub>
                    </m:sSub>
                  </m:oMath>
                </a14:m>
                <a:r>
                  <a:rPr kumimoji="1" lang="en-US" altLang="ja-JP" sz="1600" dirty="0"/>
                  <a:t>: </a:t>
                </a:r>
                <a:r>
                  <a:rPr kumimoji="1" lang="ja-JP" altLang="en-US" sz="1600" dirty="0"/>
                  <a:t>未感染</a:t>
                </a:r>
                <a:r>
                  <a:rPr kumimoji="1" lang="en-US" altLang="ja-JP" sz="1600" dirty="0"/>
                  <a:t>CD4 T</a:t>
                </a:r>
                <a:r>
                  <a:rPr kumimoji="1" lang="ja-JP" altLang="en-US" sz="1600" dirty="0"/>
                  <a:t>細胞の寿命</a:t>
                </a:r>
                <a:endParaRPr kumimoji="1" lang="en-US" altLang="ja-JP" sz="1600" dirty="0"/>
              </a:p>
              <a:p>
                <a14:m>
                  <m:oMath xmlns:m="http://schemas.openxmlformats.org/officeDocument/2006/math">
                    <m:sSub>
                      <m:sSubPr>
                        <m:ctrlPr>
                          <a:rPr kumimoji="1" lang="en-US" altLang="ja-JP" sz="1600" b="0" i="1" smtClean="0">
                            <a:latin typeface="Cambria Math" panose="02040503050406030204" pitchFamily="18" charset="0"/>
                          </a:rPr>
                        </m:ctrlPr>
                      </m:sSubPr>
                      <m:e>
                        <m:r>
                          <a:rPr kumimoji="1" lang="ja-JP" altLang="en-US" sz="1600" i="1" smtClean="0">
                            <a:latin typeface="Cambria Math" panose="02040503050406030204" pitchFamily="18" charset="0"/>
                          </a:rPr>
                          <m:t>𝜇</m:t>
                        </m:r>
                      </m:e>
                      <m:sub>
                        <m:r>
                          <a:rPr kumimoji="1" lang="en-US" altLang="ja-JP" sz="1600" b="0" i="1" smtClean="0">
                            <a:latin typeface="Cambria Math" panose="02040503050406030204" pitchFamily="18" charset="0"/>
                          </a:rPr>
                          <m:t>𝑦</m:t>
                        </m:r>
                      </m:sub>
                    </m:sSub>
                    <m:r>
                      <a:rPr kumimoji="1" lang="en-US" altLang="ja-JP" sz="1600" b="0" i="1" smtClean="0">
                        <a:latin typeface="Cambria Math" panose="02040503050406030204" pitchFamily="18" charset="0"/>
                      </a:rPr>
                      <m:t>:</m:t>
                    </m:r>
                  </m:oMath>
                </a14:m>
                <a:r>
                  <a:rPr kumimoji="1" lang="en-US" altLang="ja-JP" sz="1600" dirty="0"/>
                  <a:t> </a:t>
                </a:r>
                <a:r>
                  <a:rPr kumimoji="1" lang="ja-JP" altLang="en-US" sz="1600" dirty="0"/>
                  <a:t>潜伏感染</a:t>
                </a:r>
                <a:r>
                  <a:rPr kumimoji="1" lang="en-US" altLang="ja-JP" sz="1600" dirty="0"/>
                  <a:t>CD4 T</a:t>
                </a:r>
                <a:r>
                  <a:rPr kumimoji="1" lang="ja-JP" altLang="en-US" sz="1600" dirty="0"/>
                  <a:t>細胞の寿命</a:t>
                </a:r>
                <a:endParaRPr kumimoji="1" lang="en-US" altLang="ja-JP" sz="1600" dirty="0"/>
              </a:p>
              <a:p>
                <a14:m>
                  <m:oMath xmlns:m="http://schemas.openxmlformats.org/officeDocument/2006/math">
                    <m:sSub>
                      <m:sSubPr>
                        <m:ctrlPr>
                          <a:rPr kumimoji="1" lang="en-US" altLang="ja-JP" sz="1600" b="0" i="1" smtClean="0">
                            <a:latin typeface="Cambria Math" panose="02040503050406030204" pitchFamily="18" charset="0"/>
                          </a:rPr>
                        </m:ctrlPr>
                      </m:sSubPr>
                      <m:e>
                        <m:r>
                          <a:rPr kumimoji="1" lang="ja-JP" altLang="en-US" sz="1600" i="1" smtClean="0">
                            <a:latin typeface="Cambria Math" panose="02040503050406030204" pitchFamily="18" charset="0"/>
                          </a:rPr>
                          <m:t>𝜇</m:t>
                        </m:r>
                      </m:e>
                      <m:sub>
                        <m:r>
                          <a:rPr kumimoji="1" lang="en-US" altLang="ja-JP" sz="1600" b="0" i="1" smtClean="0">
                            <a:latin typeface="Cambria Math" panose="02040503050406030204" pitchFamily="18" charset="0"/>
                          </a:rPr>
                          <m:t>𝑧</m:t>
                        </m:r>
                      </m:sub>
                    </m:sSub>
                    <m:r>
                      <a:rPr kumimoji="1" lang="en-US" altLang="ja-JP" sz="1600" b="0" i="1" smtClean="0">
                        <a:latin typeface="Cambria Math" panose="02040503050406030204" pitchFamily="18" charset="0"/>
                      </a:rPr>
                      <m:t>:</m:t>
                    </m:r>
                  </m:oMath>
                </a14:m>
                <a:r>
                  <a:rPr kumimoji="1" lang="ja-JP" altLang="en-US" sz="1600" dirty="0"/>
                  <a:t>活動感染</a:t>
                </a:r>
                <a:r>
                  <a:rPr kumimoji="1" lang="en-US" altLang="ja-JP" sz="1600" dirty="0"/>
                  <a:t>CD4 T</a:t>
                </a:r>
                <a:r>
                  <a:rPr kumimoji="1" lang="ja-JP" altLang="en-US" sz="1600" dirty="0"/>
                  <a:t>細胞の寿命</a:t>
                </a:r>
                <a:endParaRPr kumimoji="1" lang="en-US" altLang="ja-JP" sz="1600" dirty="0"/>
              </a:p>
              <a:p>
                <a14:m>
                  <m:oMath xmlns:m="http://schemas.openxmlformats.org/officeDocument/2006/math">
                    <m:sSub>
                      <m:sSubPr>
                        <m:ctrlPr>
                          <a:rPr kumimoji="1" lang="en-US" altLang="ja-JP" sz="1600" b="0" i="1" smtClean="0">
                            <a:latin typeface="Cambria Math" panose="02040503050406030204" pitchFamily="18" charset="0"/>
                          </a:rPr>
                        </m:ctrlPr>
                      </m:sSubPr>
                      <m:e>
                        <m:r>
                          <a:rPr kumimoji="1" lang="ja-JP" altLang="en-US" sz="1600" i="1" smtClean="0">
                            <a:latin typeface="Cambria Math" panose="02040503050406030204" pitchFamily="18" charset="0"/>
                          </a:rPr>
                          <m:t>𝜇</m:t>
                        </m:r>
                      </m:e>
                      <m:sub>
                        <m:r>
                          <a:rPr kumimoji="1" lang="en-US" altLang="ja-JP" sz="1600" b="0" i="1" smtClean="0">
                            <a:latin typeface="Cambria Math" panose="02040503050406030204" pitchFamily="18" charset="0"/>
                          </a:rPr>
                          <m:t>𝑣</m:t>
                        </m:r>
                      </m:sub>
                    </m:sSub>
                    <m:r>
                      <a:rPr kumimoji="1" lang="en-US" altLang="ja-JP" sz="1600" b="0" i="1" smtClean="0">
                        <a:latin typeface="Cambria Math" panose="02040503050406030204" pitchFamily="18" charset="0"/>
                      </a:rPr>
                      <m:t>:</m:t>
                    </m:r>
                  </m:oMath>
                </a14:m>
                <a:r>
                  <a:rPr kumimoji="1" lang="ja-JP" altLang="en-US" sz="1600" dirty="0"/>
                  <a:t> 遊離ウイルス粒子の寿命</a:t>
                </a:r>
                <a:endParaRPr kumimoji="1" lang="en-US" altLang="ja-JP" sz="1600" dirty="0"/>
              </a:p>
              <a:p>
                <a14:m>
                  <m:oMath xmlns:m="http://schemas.openxmlformats.org/officeDocument/2006/math">
                    <m:sSub>
                      <m:sSubPr>
                        <m:ctrlPr>
                          <a:rPr kumimoji="1" lang="en-US" altLang="ja-JP" sz="1600" b="0" i="1" smtClean="0">
                            <a:latin typeface="Cambria Math" panose="02040503050406030204" pitchFamily="18" charset="0"/>
                          </a:rPr>
                        </m:ctrlPr>
                      </m:sSubPr>
                      <m:e>
                        <m:r>
                          <a:rPr kumimoji="1" lang="en-US" altLang="ja-JP" sz="1600" b="0" i="1" smtClean="0">
                            <a:latin typeface="Cambria Math" panose="02040503050406030204" pitchFamily="18" charset="0"/>
                          </a:rPr>
                          <m:t>𝑘</m:t>
                        </m:r>
                      </m:e>
                      <m:sub>
                        <m:r>
                          <a:rPr kumimoji="1" lang="en-US" altLang="ja-JP" sz="1600" b="0" i="1" smtClean="0">
                            <a:latin typeface="Cambria Math" panose="02040503050406030204" pitchFamily="18" charset="0"/>
                          </a:rPr>
                          <m:t>1</m:t>
                        </m:r>
                      </m:sub>
                    </m:sSub>
                    <m:r>
                      <a:rPr kumimoji="1" lang="en-US" altLang="ja-JP" sz="1600" b="0" i="1" smtClean="0">
                        <a:latin typeface="Cambria Math" panose="02040503050406030204" pitchFamily="18" charset="0"/>
                      </a:rPr>
                      <m:t>:</m:t>
                    </m:r>
                  </m:oMath>
                </a14:m>
                <a:r>
                  <a:rPr kumimoji="1" lang="ja-JP" altLang="en-US" sz="1600" dirty="0"/>
                  <a:t> </a:t>
                </a:r>
                <a:r>
                  <a:rPr kumimoji="1" lang="en-US" altLang="ja-JP" sz="1600" dirty="0"/>
                  <a:t>CD4 T</a:t>
                </a:r>
                <a:r>
                  <a:rPr kumimoji="1" lang="ja-JP" altLang="en-US" sz="1600" dirty="0"/>
                  <a:t>細胞の感染率</a:t>
                </a:r>
                <a:endParaRPr kumimoji="1" lang="en-US" altLang="ja-JP" sz="1600" dirty="0"/>
              </a:p>
              <a:p>
                <a14:m>
                  <m:oMath xmlns:m="http://schemas.openxmlformats.org/officeDocument/2006/math">
                    <m:sSub>
                      <m:sSubPr>
                        <m:ctrlPr>
                          <a:rPr kumimoji="1" lang="en-US" altLang="ja-JP" sz="1600" b="0" i="1" smtClean="0">
                            <a:latin typeface="Cambria Math" panose="02040503050406030204" pitchFamily="18" charset="0"/>
                          </a:rPr>
                        </m:ctrlPr>
                      </m:sSubPr>
                      <m:e>
                        <m:r>
                          <a:rPr kumimoji="1" lang="en-US" altLang="ja-JP" sz="1600" b="0" i="1" smtClean="0">
                            <a:latin typeface="Cambria Math" panose="02040503050406030204" pitchFamily="18" charset="0"/>
                          </a:rPr>
                          <m:t>𝑘</m:t>
                        </m:r>
                      </m:e>
                      <m:sub>
                        <m:r>
                          <a:rPr kumimoji="1" lang="en-US" altLang="ja-JP" sz="1600" b="0" i="1" smtClean="0">
                            <a:latin typeface="Cambria Math" panose="02040503050406030204" pitchFamily="18" charset="0"/>
                          </a:rPr>
                          <m:t>2</m:t>
                        </m:r>
                      </m:sub>
                    </m:sSub>
                    <m:r>
                      <a:rPr kumimoji="1" lang="en-US" altLang="ja-JP" sz="1600" b="0" i="1" smtClean="0">
                        <a:latin typeface="Cambria Math" panose="02040503050406030204" pitchFamily="18" charset="0"/>
                      </a:rPr>
                      <m:t>:</m:t>
                    </m:r>
                  </m:oMath>
                </a14:m>
                <a:r>
                  <a:rPr kumimoji="1" lang="ja-JP" altLang="en-US" sz="1600" dirty="0"/>
                  <a:t> 細胞</a:t>
                </a:r>
                <a:r>
                  <a:rPr kumimoji="1" lang="en-US" altLang="ja-JP" sz="1600" dirty="0"/>
                  <a:t>Y</a:t>
                </a:r>
                <a:r>
                  <a:rPr kumimoji="1" lang="ja-JP" altLang="en-US" sz="1600" dirty="0"/>
                  <a:t>の活動感染細胞</a:t>
                </a:r>
                <a:r>
                  <a:rPr kumimoji="1" lang="en-US" altLang="ja-JP" sz="1600" dirty="0"/>
                  <a:t>Z</a:t>
                </a:r>
                <a:r>
                  <a:rPr kumimoji="1" lang="ja-JP" altLang="en-US" sz="1600" dirty="0"/>
                  <a:t>への変化率</a:t>
                </a:r>
                <a:endParaRPr kumimoji="1" lang="en-US" altLang="ja-JP" sz="1600" dirty="0"/>
              </a:p>
              <a:p>
                <a14:m>
                  <m:oMath xmlns:m="http://schemas.openxmlformats.org/officeDocument/2006/math">
                    <m:sSub>
                      <m:sSubPr>
                        <m:ctrlPr>
                          <a:rPr kumimoji="1" lang="en-US" altLang="ja-JP" sz="1600" b="0" i="1" smtClean="0">
                            <a:latin typeface="Cambria Math" panose="02040503050406030204" pitchFamily="18" charset="0"/>
                          </a:rPr>
                        </m:ctrlPr>
                      </m:sSubPr>
                      <m:e>
                        <m:r>
                          <a:rPr kumimoji="1" lang="en-US" altLang="ja-JP" sz="1600" b="0" i="1" smtClean="0">
                            <a:latin typeface="Cambria Math" panose="02040503050406030204" pitchFamily="18" charset="0"/>
                          </a:rPr>
                          <m:t>𝑃</m:t>
                        </m:r>
                      </m:e>
                      <m:sub>
                        <m:r>
                          <a:rPr kumimoji="1" lang="en-US" altLang="ja-JP" sz="1600" b="0" i="1" smtClean="0">
                            <a:latin typeface="Cambria Math" panose="02040503050406030204" pitchFamily="18" charset="0"/>
                          </a:rPr>
                          <m:t>𝑚𝑎𝑥</m:t>
                        </m:r>
                      </m:sub>
                    </m:sSub>
                    <m:r>
                      <a:rPr kumimoji="1" lang="en-US" altLang="ja-JP" sz="1600" b="0" i="1" smtClean="0">
                        <a:latin typeface="Cambria Math" panose="02040503050406030204" pitchFamily="18" charset="0"/>
                      </a:rPr>
                      <m:t>:</m:t>
                    </m:r>
                  </m:oMath>
                </a14:m>
                <a:r>
                  <a:rPr kumimoji="1" lang="ja-JP" altLang="en-US" sz="1600" dirty="0"/>
                  <a:t> </a:t>
                </a:r>
                <a:r>
                  <a:rPr kumimoji="1" lang="en-US" altLang="ja-JP" sz="1600" dirty="0"/>
                  <a:t>CD4 T</a:t>
                </a:r>
                <a:r>
                  <a:rPr kumimoji="1" lang="ja-JP" altLang="en-US" sz="1600" dirty="0"/>
                  <a:t>細胞の最大値</a:t>
                </a:r>
                <a:endParaRPr kumimoji="1" lang="en-US" altLang="ja-JP" sz="1600" dirty="0"/>
              </a:p>
              <a:p>
                <a14:m>
                  <m:oMath xmlns:m="http://schemas.openxmlformats.org/officeDocument/2006/math">
                    <m:r>
                      <a:rPr kumimoji="1" lang="en-US" altLang="ja-JP" sz="1600" b="0" i="1" smtClean="0">
                        <a:latin typeface="Cambria Math" panose="02040503050406030204" pitchFamily="18" charset="0"/>
                      </a:rPr>
                      <m:t>𝑁</m:t>
                    </m:r>
                    <m:r>
                      <a:rPr kumimoji="1" lang="en-US" altLang="ja-JP" sz="1600" b="0" i="1" smtClean="0">
                        <a:latin typeface="Cambria Math" panose="02040503050406030204" pitchFamily="18" charset="0"/>
                      </a:rPr>
                      <m:t>:</m:t>
                    </m:r>
                  </m:oMath>
                </a14:m>
                <a:r>
                  <a:rPr kumimoji="1" lang="ja-JP" altLang="en-US" sz="1600" dirty="0"/>
                  <a:t> 細胞</a:t>
                </a:r>
                <a:r>
                  <a:rPr kumimoji="1" lang="en-US" altLang="ja-JP" sz="1600" dirty="0"/>
                  <a:t>Z</a:t>
                </a:r>
                <a:r>
                  <a:rPr kumimoji="1" lang="ja-JP" altLang="en-US" sz="1600" dirty="0"/>
                  <a:t>により生成されたウイルスの数</a:t>
                </a:r>
                <a:endParaRPr kumimoji="1" lang="en-US" altLang="ja-JP" sz="1600" dirty="0"/>
              </a:p>
              <a:p>
                <a:r>
                  <a:rPr kumimoji="1" lang="en-US" altLang="ja-JP" sz="1600" b="0" dirty="0"/>
                  <a:t>R</a:t>
                </a:r>
                <a14:m>
                  <m:oMath xmlns:m="http://schemas.openxmlformats.org/officeDocument/2006/math">
                    <m:r>
                      <a:rPr kumimoji="1" lang="en-US" altLang="ja-JP" sz="1600" b="0" i="1" smtClean="0">
                        <a:latin typeface="Cambria Math" panose="02040503050406030204" pitchFamily="18" charset="0"/>
                      </a:rPr>
                      <m:t>: </m:t>
                    </m:r>
                  </m:oMath>
                </a14:m>
                <a:r>
                  <a:rPr kumimoji="1" lang="en-US" altLang="ja-JP" sz="1600" dirty="0"/>
                  <a:t>CD4 T</a:t>
                </a:r>
                <a:r>
                  <a:rPr kumimoji="1" lang="ja-JP" altLang="en-US" sz="1600" dirty="0"/>
                  <a:t>細胞の成長率</a:t>
                </a:r>
              </a:p>
            </p:txBody>
          </p:sp>
        </mc:Choice>
        <mc:Fallback xmlns="">
          <p:sp>
            <p:nvSpPr>
              <p:cNvPr id="4" name="テキスト ボックス 3">
                <a:extLst>
                  <a:ext uri="{FF2B5EF4-FFF2-40B4-BE49-F238E27FC236}">
                    <a16:creationId xmlns:a16="http://schemas.microsoft.com/office/drawing/2014/main" id="{66CC2BFA-D4E0-AB13-2008-C95D5262DD34}"/>
                  </a:ext>
                </a:extLst>
              </p:cNvPr>
              <p:cNvSpPr txBox="1">
                <a:spLocks noRot="1" noChangeAspect="1" noMove="1" noResize="1" noEditPoints="1" noAdjustHandles="1" noChangeArrowheads="1" noChangeShapeType="1" noTextEdit="1"/>
              </p:cNvSpPr>
              <p:nvPr/>
            </p:nvSpPr>
            <p:spPr>
              <a:xfrm>
                <a:off x="7597885" y="777318"/>
                <a:ext cx="4020801" cy="2708883"/>
              </a:xfrm>
              <a:prstGeom prst="rect">
                <a:avLst/>
              </a:prstGeom>
              <a:blipFill>
                <a:blip r:embed="rId4"/>
                <a:stretch>
                  <a:fillRect l="-604" b="-2018"/>
                </a:stretch>
              </a:blipFill>
              <a:ln w="12700">
                <a:solidFill>
                  <a:schemeClr val="tx1"/>
                </a:solidFill>
              </a:ln>
            </p:spPr>
            <p:txBody>
              <a:bodyPr/>
              <a:lstStyle/>
              <a:p>
                <a:r>
                  <a:rPr lang="ja-JP" altLang="en-US">
                    <a:noFill/>
                  </a:rPr>
                  <a:t> </a:t>
                </a:r>
              </a:p>
            </p:txBody>
          </p:sp>
        </mc:Fallback>
      </mc:AlternateContent>
      <p:sp>
        <p:nvSpPr>
          <p:cNvPr id="7" name="四角形: 角を丸くする 6">
            <a:extLst>
              <a:ext uri="{FF2B5EF4-FFF2-40B4-BE49-F238E27FC236}">
                <a16:creationId xmlns:a16="http://schemas.microsoft.com/office/drawing/2014/main" id="{6E588D49-E771-1613-DFDE-72DC2D6DBC32}"/>
              </a:ext>
            </a:extLst>
          </p:cNvPr>
          <p:cNvSpPr/>
          <p:nvPr/>
        </p:nvSpPr>
        <p:spPr>
          <a:xfrm>
            <a:off x="832050" y="4858907"/>
            <a:ext cx="3810503" cy="1381782"/>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B07CB43-5E99-B5D9-AE84-72A98A625A1F}"/>
                  </a:ext>
                </a:extLst>
              </p:cNvPr>
              <p:cNvSpPr txBox="1"/>
              <p:nvPr/>
            </p:nvSpPr>
            <p:spPr>
              <a:xfrm>
                <a:off x="887997" y="4888078"/>
                <a:ext cx="3874724" cy="1323439"/>
              </a:xfrm>
              <a:prstGeom prst="rect">
                <a:avLst/>
              </a:prstGeom>
              <a:noFill/>
            </p:spPr>
            <p:txBody>
              <a:bodyPr wrap="square">
                <a:spAutoFit/>
              </a:bodyPr>
              <a:lstStyle/>
              <a:p>
                <a:r>
                  <a:rPr kumimoji="1" lang="en-US" altLang="ja-JP" sz="1600" b="0" dirty="0"/>
                  <a:t>X</a:t>
                </a:r>
                <a14:m>
                  <m:oMath xmlns:m="http://schemas.openxmlformats.org/officeDocument/2006/math">
                    <m:r>
                      <a:rPr kumimoji="1" lang="en-US" altLang="ja-JP" sz="1600" b="0" i="1" smtClean="0">
                        <a:latin typeface="Cambria Math" panose="02040503050406030204" pitchFamily="18" charset="0"/>
                      </a:rPr>
                      <m:t>: </m:t>
                    </m:r>
                  </m:oMath>
                </a14:m>
                <a:r>
                  <a:rPr kumimoji="1" lang="ja-JP" altLang="en-US" sz="1600" dirty="0"/>
                  <a:t>未感染</a:t>
                </a:r>
                <a:r>
                  <a:rPr kumimoji="1" lang="en-US" altLang="ja-JP" sz="1600" dirty="0"/>
                  <a:t>CD4 T</a:t>
                </a:r>
                <a:r>
                  <a:rPr kumimoji="1" lang="ja-JP" altLang="en-US" sz="1600" dirty="0"/>
                  <a:t>細胞の濃度</a:t>
                </a:r>
                <a:endParaRPr kumimoji="1" lang="en-US" altLang="ja-JP" sz="1600" dirty="0"/>
              </a:p>
              <a:p>
                <a:r>
                  <a:rPr kumimoji="1" lang="en-US" altLang="ja-JP" sz="1600" dirty="0"/>
                  <a:t>Y: </a:t>
                </a:r>
                <a:r>
                  <a:rPr kumimoji="1" lang="ja-JP" altLang="en-US" sz="1600" dirty="0"/>
                  <a:t>潜伏感染</a:t>
                </a:r>
                <a:r>
                  <a:rPr kumimoji="1" lang="en-US" altLang="ja-JP" sz="1600" dirty="0"/>
                  <a:t>CD4 T</a:t>
                </a:r>
                <a:r>
                  <a:rPr kumimoji="1" lang="ja-JP" altLang="en-US" sz="1600" dirty="0"/>
                  <a:t>細胞の濃度</a:t>
                </a:r>
                <a:endParaRPr kumimoji="1" lang="en-US" altLang="ja-JP" sz="1600" dirty="0"/>
              </a:p>
              <a:p>
                <a:r>
                  <a:rPr kumimoji="1" lang="en-US" altLang="ja-JP" sz="1600" dirty="0"/>
                  <a:t>Z: </a:t>
                </a:r>
                <a:r>
                  <a:rPr kumimoji="1" lang="ja-JP" altLang="en-US" sz="1600" dirty="0"/>
                  <a:t>活動感染</a:t>
                </a:r>
                <a:r>
                  <a:rPr kumimoji="1" lang="en-US" altLang="ja-JP" sz="1600" dirty="0"/>
                  <a:t>CD4 T</a:t>
                </a:r>
                <a:r>
                  <a:rPr kumimoji="1" lang="ja-JP" altLang="en-US" sz="1600" dirty="0"/>
                  <a:t>細胞の濃度</a:t>
                </a:r>
                <a:endParaRPr kumimoji="1" lang="en-US" altLang="ja-JP" sz="1600" dirty="0"/>
              </a:p>
              <a:p>
                <a:r>
                  <a:rPr kumimoji="1" lang="en-US" altLang="ja-JP" sz="1600" dirty="0"/>
                  <a:t>V: </a:t>
                </a:r>
                <a:r>
                  <a:rPr kumimoji="1" lang="ja-JP" altLang="en-US" sz="1600" dirty="0"/>
                  <a:t>遊離ウイルスの濃度</a:t>
                </a:r>
                <a:endParaRPr kumimoji="1" lang="en-US" altLang="ja-JP" sz="1600" dirty="0"/>
              </a:p>
              <a:p>
                <a14:m>
                  <m:oMath xmlns:m="http://schemas.openxmlformats.org/officeDocument/2006/math">
                    <m:r>
                      <a:rPr kumimoji="1" lang="en-US" altLang="ja-JP" sz="1600" b="0" i="1" smtClean="0">
                        <a:latin typeface="Cambria Math" panose="02040503050406030204" pitchFamily="18" charset="0"/>
                      </a:rPr>
                      <m:t>𝑢</m:t>
                    </m:r>
                  </m:oMath>
                </a14:m>
                <a:r>
                  <a:rPr kumimoji="1" lang="en-US" altLang="ja-JP" sz="1600" dirty="0"/>
                  <a:t>: </a:t>
                </a:r>
                <a:r>
                  <a:rPr kumimoji="1" lang="ja-JP" altLang="en-US" sz="1600" dirty="0"/>
                  <a:t>制御入力</a:t>
                </a:r>
                <a:r>
                  <a:rPr kumimoji="1" lang="en-US" altLang="ja-JP" sz="1600" dirty="0"/>
                  <a:t>(=</a:t>
                </a:r>
                <a:r>
                  <a:rPr kumimoji="1" lang="ja-JP" altLang="en-US" sz="1600" dirty="0"/>
                  <a:t>投薬量</a:t>
                </a:r>
                <a:r>
                  <a:rPr kumimoji="1" lang="en-US" altLang="ja-JP" sz="1600" dirty="0"/>
                  <a:t>), </a:t>
                </a:r>
                <a:r>
                  <a:rPr kumimoji="1" lang="ja-JP" altLang="en-US" sz="1600" dirty="0"/>
                  <a:t> </a:t>
                </a:r>
                <a14:m>
                  <m:oMath xmlns:m="http://schemas.openxmlformats.org/officeDocument/2006/math">
                    <m:r>
                      <a:rPr kumimoji="1" lang="en-US" altLang="ja-JP" sz="1600" b="0" i="1" smtClean="0">
                        <a:latin typeface="Cambria Math" panose="02040503050406030204" pitchFamily="18" charset="0"/>
                      </a:rPr>
                      <m:t>𝑢</m:t>
                    </m:r>
                    <m:r>
                      <a:rPr kumimoji="1" lang="en-US" altLang="ja-JP" sz="1600" b="0" i="1" smtClean="0">
                        <a:latin typeface="Cambria Math" panose="02040503050406030204" pitchFamily="18" charset="0"/>
                        <a:ea typeface="Cambria Math" panose="02040503050406030204" pitchFamily="18" charset="0"/>
                      </a:rPr>
                      <m:t>∈</m:t>
                    </m:r>
                  </m:oMath>
                </a14:m>
                <a:r>
                  <a:rPr kumimoji="1" lang="en-US" altLang="ja-JP" sz="1600" dirty="0"/>
                  <a:t>[0,1]</a:t>
                </a:r>
              </a:p>
            </p:txBody>
          </p:sp>
        </mc:Choice>
        <mc:Fallback xmlns="">
          <p:sp>
            <p:nvSpPr>
              <p:cNvPr id="9" name="テキスト ボックス 8">
                <a:extLst>
                  <a:ext uri="{FF2B5EF4-FFF2-40B4-BE49-F238E27FC236}">
                    <a16:creationId xmlns:a16="http://schemas.microsoft.com/office/drawing/2014/main" id="{4B07CB43-5E99-B5D9-AE84-72A98A625A1F}"/>
                  </a:ext>
                </a:extLst>
              </p:cNvPr>
              <p:cNvSpPr txBox="1">
                <a:spLocks noRot="1" noChangeAspect="1" noMove="1" noResize="1" noEditPoints="1" noAdjustHandles="1" noChangeArrowheads="1" noChangeShapeType="1" noTextEdit="1"/>
              </p:cNvSpPr>
              <p:nvPr/>
            </p:nvSpPr>
            <p:spPr>
              <a:xfrm>
                <a:off x="887997" y="4888078"/>
                <a:ext cx="3874724" cy="1323439"/>
              </a:xfrm>
              <a:prstGeom prst="rect">
                <a:avLst/>
              </a:prstGeom>
              <a:blipFill>
                <a:blip r:embed="rId5"/>
                <a:stretch>
                  <a:fillRect l="-945" t="-2304" b="-5530"/>
                </a:stretch>
              </a:blipFill>
            </p:spPr>
            <p:txBody>
              <a:bodyPr/>
              <a:lstStyle/>
              <a:p>
                <a:r>
                  <a:rPr lang="ja-JP" altLang="en-US">
                    <a:noFill/>
                  </a:rPr>
                  <a:t> </a:t>
                </a:r>
              </a:p>
            </p:txBody>
          </p:sp>
        </mc:Fallback>
      </mc:AlternateContent>
      <p:pic>
        <p:nvPicPr>
          <p:cNvPr id="43" name="図 42">
            <a:extLst>
              <a:ext uri="{FF2B5EF4-FFF2-40B4-BE49-F238E27FC236}">
                <a16:creationId xmlns:a16="http://schemas.microsoft.com/office/drawing/2014/main" id="{98076451-3B8B-F840-7ADE-6581726F3589}"/>
              </a:ext>
            </a:extLst>
          </p:cNvPr>
          <p:cNvPicPr>
            <a:picLocks noChangeAspect="1"/>
          </p:cNvPicPr>
          <p:nvPr/>
        </p:nvPicPr>
        <p:blipFill rotWithShape="1">
          <a:blip r:embed="rId6"/>
          <a:srcRect l="4053" r="4199"/>
          <a:stretch/>
        </p:blipFill>
        <p:spPr>
          <a:xfrm>
            <a:off x="6874816" y="4129395"/>
            <a:ext cx="5320861" cy="1381782"/>
          </a:xfrm>
          <a:prstGeom prst="rect">
            <a:avLst/>
          </a:prstGeom>
        </p:spPr>
      </p:pic>
      <p:sp>
        <p:nvSpPr>
          <p:cNvPr id="45" name="テキスト ボックス 44">
            <a:extLst>
              <a:ext uri="{FF2B5EF4-FFF2-40B4-BE49-F238E27FC236}">
                <a16:creationId xmlns:a16="http://schemas.microsoft.com/office/drawing/2014/main" id="{67FE3DDB-F99E-E7EA-BFF3-1B3814F4E273}"/>
              </a:ext>
            </a:extLst>
          </p:cNvPr>
          <p:cNvSpPr txBox="1"/>
          <p:nvPr/>
        </p:nvSpPr>
        <p:spPr>
          <a:xfrm>
            <a:off x="7597885" y="6002829"/>
            <a:ext cx="3451096" cy="338554"/>
          </a:xfrm>
          <a:prstGeom prst="rect">
            <a:avLst/>
          </a:prstGeom>
          <a:noFill/>
        </p:spPr>
        <p:txBody>
          <a:bodyPr wrap="square" rtlCol="0">
            <a:spAutoFit/>
          </a:bodyPr>
          <a:lstStyle/>
          <a:p>
            <a:r>
              <a:rPr kumimoji="1" lang="en-US" altLang="ja-JP" sz="1600" dirty="0"/>
              <a:t>Fig1 HIV</a:t>
            </a:r>
            <a:r>
              <a:rPr kumimoji="1" lang="ja-JP" altLang="en-US" sz="1600" dirty="0"/>
              <a:t>ウイルス感染モデル</a:t>
            </a:r>
          </a:p>
        </p:txBody>
      </p:sp>
      <p:sp>
        <p:nvSpPr>
          <p:cNvPr id="6" name="テキスト ボックス 5">
            <a:extLst>
              <a:ext uri="{FF2B5EF4-FFF2-40B4-BE49-F238E27FC236}">
                <a16:creationId xmlns:a16="http://schemas.microsoft.com/office/drawing/2014/main" id="{8971E7F4-9472-0DEA-B67D-AF8C55C153C0}"/>
              </a:ext>
            </a:extLst>
          </p:cNvPr>
          <p:cNvSpPr txBox="1"/>
          <p:nvPr/>
        </p:nvSpPr>
        <p:spPr>
          <a:xfrm>
            <a:off x="5919128" y="4871911"/>
            <a:ext cx="1115785" cy="307777"/>
          </a:xfrm>
          <a:prstGeom prst="rect">
            <a:avLst/>
          </a:prstGeom>
          <a:noFill/>
          <a:ln>
            <a:solidFill>
              <a:srgbClr val="000000"/>
            </a:solidFill>
          </a:ln>
        </p:spPr>
        <p:txBody>
          <a:bodyPr wrap="square" rtlCol="0">
            <a:spAutoFit/>
          </a:bodyPr>
          <a:lstStyle/>
          <a:p>
            <a:r>
              <a:rPr kumimoji="1" lang="ja-JP" altLang="en-US" sz="1400" dirty="0"/>
              <a:t>未感染細胞</a:t>
            </a:r>
          </a:p>
        </p:txBody>
      </p:sp>
      <p:sp>
        <p:nvSpPr>
          <p:cNvPr id="8" name="テキスト ボックス 7">
            <a:extLst>
              <a:ext uri="{FF2B5EF4-FFF2-40B4-BE49-F238E27FC236}">
                <a16:creationId xmlns:a16="http://schemas.microsoft.com/office/drawing/2014/main" id="{35B0A8CC-3D7B-139A-A772-2B0B3895A080}"/>
              </a:ext>
            </a:extLst>
          </p:cNvPr>
          <p:cNvSpPr txBox="1"/>
          <p:nvPr/>
        </p:nvSpPr>
        <p:spPr>
          <a:xfrm>
            <a:off x="8191320" y="5577348"/>
            <a:ext cx="1235709" cy="307777"/>
          </a:xfrm>
          <a:prstGeom prst="rect">
            <a:avLst/>
          </a:prstGeom>
          <a:noFill/>
          <a:ln>
            <a:solidFill>
              <a:srgbClr val="000000"/>
            </a:solidFill>
          </a:ln>
        </p:spPr>
        <p:txBody>
          <a:bodyPr wrap="square" rtlCol="0">
            <a:spAutoFit/>
          </a:bodyPr>
          <a:lstStyle/>
          <a:p>
            <a:r>
              <a:rPr kumimoji="1" lang="ja-JP" altLang="en-US" sz="1400" dirty="0"/>
              <a:t>遊離ウイルス</a:t>
            </a:r>
          </a:p>
        </p:txBody>
      </p:sp>
      <p:sp>
        <p:nvSpPr>
          <p:cNvPr id="10" name="テキスト ボックス 9">
            <a:extLst>
              <a:ext uri="{FF2B5EF4-FFF2-40B4-BE49-F238E27FC236}">
                <a16:creationId xmlns:a16="http://schemas.microsoft.com/office/drawing/2014/main" id="{5137C415-52D5-FCB1-0A6E-6C3BF68559D7}"/>
              </a:ext>
            </a:extLst>
          </p:cNvPr>
          <p:cNvSpPr txBox="1"/>
          <p:nvPr/>
        </p:nvSpPr>
        <p:spPr>
          <a:xfrm>
            <a:off x="8169593" y="3821618"/>
            <a:ext cx="1279162" cy="307777"/>
          </a:xfrm>
          <a:prstGeom prst="rect">
            <a:avLst/>
          </a:prstGeom>
          <a:noFill/>
          <a:ln>
            <a:solidFill>
              <a:srgbClr val="000000"/>
            </a:solidFill>
          </a:ln>
        </p:spPr>
        <p:txBody>
          <a:bodyPr wrap="square" rtlCol="0">
            <a:spAutoFit/>
          </a:bodyPr>
          <a:lstStyle/>
          <a:p>
            <a:r>
              <a:rPr kumimoji="1" lang="ja-JP" altLang="en-US" sz="1400" dirty="0"/>
              <a:t>潜伏感染細胞</a:t>
            </a:r>
          </a:p>
        </p:txBody>
      </p:sp>
      <p:sp>
        <p:nvSpPr>
          <p:cNvPr id="11" name="テキスト ボックス 10">
            <a:extLst>
              <a:ext uri="{FF2B5EF4-FFF2-40B4-BE49-F238E27FC236}">
                <a16:creationId xmlns:a16="http://schemas.microsoft.com/office/drawing/2014/main" id="{113057D7-A7F7-DB87-4016-BBD93770843F}"/>
              </a:ext>
            </a:extLst>
          </p:cNvPr>
          <p:cNvSpPr txBox="1"/>
          <p:nvPr/>
        </p:nvSpPr>
        <p:spPr>
          <a:xfrm>
            <a:off x="10567307" y="4580301"/>
            <a:ext cx="1260022" cy="307777"/>
          </a:xfrm>
          <a:prstGeom prst="rect">
            <a:avLst/>
          </a:prstGeom>
          <a:noFill/>
          <a:ln>
            <a:solidFill>
              <a:srgbClr val="000000"/>
            </a:solidFill>
          </a:ln>
        </p:spPr>
        <p:txBody>
          <a:bodyPr wrap="square" rtlCol="0">
            <a:spAutoFit/>
          </a:bodyPr>
          <a:lstStyle/>
          <a:p>
            <a:r>
              <a:rPr kumimoji="1" lang="ja-JP" altLang="en-US" sz="1400" dirty="0"/>
              <a:t>活動感染細胞</a:t>
            </a:r>
          </a:p>
        </p:txBody>
      </p:sp>
    </p:spTree>
    <p:extLst>
      <p:ext uri="{BB962C8B-B14F-4D97-AF65-F5344CB8AC3E}">
        <p14:creationId xmlns:p14="http://schemas.microsoft.com/office/powerpoint/2010/main" val="3509473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21EC404A-506A-79FE-6F34-02C274B8C239}"/>
              </a:ext>
            </a:extLst>
          </p:cNvPr>
          <p:cNvSpPr/>
          <p:nvPr/>
        </p:nvSpPr>
        <p:spPr>
          <a:xfrm>
            <a:off x="265865" y="4759077"/>
            <a:ext cx="5830135" cy="586477"/>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FA1A7F3E-5E86-3B75-0A33-74E96A2EFB58}"/>
              </a:ext>
            </a:extLst>
          </p:cNvPr>
          <p:cNvSpPr>
            <a:spLocks noGrp="1"/>
          </p:cNvSpPr>
          <p:nvPr>
            <p:ph type="title"/>
          </p:nvPr>
        </p:nvSpPr>
        <p:spPr>
          <a:xfrm>
            <a:off x="1154083" y="33090"/>
            <a:ext cx="10058400" cy="749176"/>
          </a:xfrm>
        </p:spPr>
        <p:txBody>
          <a:bodyPr>
            <a:normAutofit/>
          </a:bodyPr>
          <a:lstStyle/>
          <a:p>
            <a:r>
              <a:rPr lang="en-US" altLang="ja-JP" sz="4400" b="1" dirty="0"/>
              <a:t>3. </a:t>
            </a:r>
            <a:r>
              <a:rPr lang="ja-JP" altLang="en-US" sz="4400" dirty="0"/>
              <a:t>制御手法</a:t>
            </a:r>
            <a:r>
              <a:rPr lang="en-US" altLang="ja-JP" dirty="0"/>
              <a:t>		3.1 </a:t>
            </a:r>
            <a:r>
              <a:rPr lang="ja-JP" altLang="en-US" sz="4000" dirty="0"/>
              <a:t>強化学習</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600AD19-FE5C-8D0E-AA4D-50F7A2CFD50B}"/>
                  </a:ext>
                </a:extLst>
              </p:cNvPr>
              <p:cNvSpPr>
                <a:spLocks noGrp="1"/>
              </p:cNvSpPr>
              <p:nvPr>
                <p:ph idx="1"/>
              </p:nvPr>
            </p:nvSpPr>
            <p:spPr>
              <a:xfrm>
                <a:off x="212181" y="962086"/>
                <a:ext cx="6079363" cy="4383468"/>
              </a:xfrm>
            </p:spPr>
            <p:txBody>
              <a:bodyPr>
                <a:normAutofit/>
              </a:bodyPr>
              <a:lstStyle/>
              <a:p>
                <a:r>
                  <a:rPr lang="ja-JP" altLang="en-US" sz="2400" b="1" dirty="0"/>
                  <a:t>・状態</a:t>
                </a:r>
                <a:r>
                  <a:rPr lang="en-US" altLang="ja-JP" sz="2400" b="1" dirty="0"/>
                  <a:t>(State)</a:t>
                </a:r>
              </a:p>
              <a:p>
                <a:r>
                  <a:rPr lang="ja-JP" altLang="en-US" b="1" dirty="0"/>
                  <a:t>　</a:t>
                </a:r>
                <a:r>
                  <a:rPr lang="ja-JP" altLang="en-US" dirty="0"/>
                  <a:t>エージェントが観測できる</a:t>
                </a:r>
                <a:r>
                  <a:rPr lang="en-US" altLang="ja-JP" b="1" dirty="0"/>
                  <a:t>, </a:t>
                </a:r>
                <a:r>
                  <a:rPr lang="ja-JP" altLang="en-US" dirty="0"/>
                  <a:t>環境がもつ特徴量</a:t>
                </a:r>
                <a:endParaRPr lang="en-US" altLang="ja-JP" dirty="0"/>
              </a:p>
              <a:p>
                <a:r>
                  <a:rPr lang="ja-JP" altLang="en-US" sz="2400" b="1" dirty="0"/>
                  <a:t>・報酬</a:t>
                </a:r>
                <a:r>
                  <a:rPr lang="en-US" altLang="ja-JP" sz="2400" b="1" dirty="0"/>
                  <a:t>(Reward)</a:t>
                </a:r>
              </a:p>
              <a:p>
                <a:r>
                  <a:rPr kumimoji="1" lang="ja-JP" altLang="en-US" dirty="0"/>
                  <a:t>　ある行動</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𝑎</m:t>
                        </m:r>
                      </m:e>
                      <m:sub>
                        <m:r>
                          <a:rPr kumimoji="1" lang="en-US" altLang="ja-JP" b="0" i="1" smtClean="0">
                            <a:latin typeface="Cambria Math" panose="02040503050406030204" pitchFamily="18" charset="0"/>
                          </a:rPr>
                          <m:t>𝑡</m:t>
                        </m:r>
                      </m:sub>
                    </m:sSub>
                  </m:oMath>
                </a14:m>
                <a:r>
                  <a:rPr kumimoji="1" lang="ja-JP" altLang="en-US" dirty="0"/>
                  <a:t>の</a:t>
                </a:r>
                <a:r>
                  <a:rPr kumimoji="1" lang="ja-JP" altLang="en-US" b="1" dirty="0"/>
                  <a:t>即時的</a:t>
                </a:r>
                <a:r>
                  <a:rPr kumimoji="1" lang="ja-JP" altLang="en-US" dirty="0"/>
                  <a:t>な価値</a:t>
                </a:r>
                <a:endParaRPr kumimoji="1" lang="en-US" altLang="ja-JP" dirty="0"/>
              </a:p>
              <a:p>
                <a:r>
                  <a:rPr kumimoji="1" lang="ja-JP" altLang="en-US" dirty="0"/>
                  <a:t> </a:t>
                </a:r>
                <a:endParaRPr kumimoji="1" lang="en-US" altLang="ja-JP" dirty="0"/>
              </a:p>
              <a:p>
                <a:r>
                  <a:rPr kumimoji="1" lang="ja-JP" altLang="en-US" sz="2400" b="1" dirty="0"/>
                  <a:t>・行動価値関数</a:t>
                </a:r>
                <a:r>
                  <a:rPr lang="en-US" altLang="ja-JP" sz="2400" b="1" dirty="0"/>
                  <a:t> </a:t>
                </a:r>
                <a14:m>
                  <m:oMath xmlns:m="http://schemas.openxmlformats.org/officeDocument/2006/math">
                    <m:r>
                      <a:rPr kumimoji="1" lang="en-US" altLang="ja-JP" sz="2400" b="1" i="1" smtClean="0">
                        <a:latin typeface="Cambria Math" panose="02040503050406030204" pitchFamily="18" charset="0"/>
                      </a:rPr>
                      <m:t>𝑸</m:t>
                    </m:r>
                    <m:d>
                      <m:dPr>
                        <m:ctrlPr>
                          <a:rPr kumimoji="1" lang="en-US" altLang="ja-JP" sz="2400" b="1" i="1" smtClean="0">
                            <a:latin typeface="Cambria Math" panose="02040503050406030204" pitchFamily="18" charset="0"/>
                          </a:rPr>
                        </m:ctrlPr>
                      </m:dPr>
                      <m:e>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𝒔</m:t>
                            </m:r>
                          </m:e>
                          <m:sub>
                            <m:r>
                              <a:rPr kumimoji="1" lang="en-US" altLang="ja-JP" sz="2400" b="1" i="1" smtClean="0">
                                <a:latin typeface="Cambria Math" panose="02040503050406030204" pitchFamily="18" charset="0"/>
                              </a:rPr>
                              <m:t>𝒕</m:t>
                            </m:r>
                          </m:sub>
                        </m:sSub>
                        <m:r>
                          <a:rPr kumimoji="1" lang="en-US" altLang="ja-JP" sz="2400" b="1" i="1" smtClean="0">
                            <a:latin typeface="Cambria Math" panose="02040503050406030204" pitchFamily="18" charset="0"/>
                          </a:rPr>
                          <m:t>,</m:t>
                        </m:r>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𝒂</m:t>
                            </m:r>
                          </m:e>
                          <m:sub>
                            <m:r>
                              <a:rPr kumimoji="1" lang="en-US" altLang="ja-JP" sz="2400" b="1" i="1" smtClean="0">
                                <a:latin typeface="Cambria Math" panose="02040503050406030204" pitchFamily="18" charset="0"/>
                              </a:rPr>
                              <m:t>𝒕</m:t>
                            </m:r>
                          </m:sub>
                        </m:sSub>
                      </m:e>
                    </m:d>
                  </m:oMath>
                </a14:m>
                <a:endParaRPr kumimoji="1" lang="en-US" altLang="ja-JP" sz="2400" b="1" dirty="0"/>
              </a:p>
              <a:p>
                <a:pPr marL="201168" lvl="1" indent="0">
                  <a:buNone/>
                </a:pPr>
                <a:r>
                  <a:rPr kumimoji="1" lang="ja-JP" altLang="en-US" dirty="0"/>
                  <a:t>ある状態</a:t>
                </a:r>
                <a14:m>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𝑠</m:t>
                        </m:r>
                      </m:e>
                      <m:sub>
                        <m:r>
                          <a:rPr kumimoji="1" lang="en-US" altLang="ja-JP" b="0" i="1" smtClean="0">
                            <a:latin typeface="Cambria Math" panose="02040503050406030204" pitchFamily="18" charset="0"/>
                          </a:rPr>
                          <m:t>𝑡</m:t>
                        </m:r>
                      </m:sub>
                    </m:sSub>
                  </m:oMath>
                </a14:m>
                <a:r>
                  <a:rPr kumimoji="1" lang="ja-JP" altLang="en-US" dirty="0"/>
                  <a:t>において行動</a:t>
                </a:r>
                <a14:m>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𝑎</m:t>
                        </m:r>
                      </m:e>
                      <m:sub>
                        <m:r>
                          <a:rPr kumimoji="1" lang="en-US" altLang="ja-JP" b="0" i="1" smtClean="0">
                            <a:latin typeface="Cambria Math" panose="02040503050406030204" pitchFamily="18" charset="0"/>
                          </a:rPr>
                          <m:t>𝑡</m:t>
                        </m:r>
                      </m:sub>
                    </m:sSub>
                  </m:oMath>
                </a14:m>
                <a:r>
                  <a:rPr kumimoji="1" lang="ja-JP" altLang="en-US" dirty="0"/>
                  <a:t>をとり</a:t>
                </a:r>
                <a:r>
                  <a:rPr kumimoji="1" lang="en-US" altLang="ja-JP" dirty="0"/>
                  <a:t>, </a:t>
                </a:r>
                <a:r>
                  <a:rPr kumimoji="1" lang="ja-JP" altLang="en-US" dirty="0"/>
                  <a:t>以降は方策</a:t>
                </a:r>
                <a14:m>
                  <m:oMath xmlns:m="http://schemas.openxmlformats.org/officeDocument/2006/math">
                    <m:r>
                      <a:rPr kumimoji="1" lang="ja-JP" altLang="en-US" b="0" i="1" smtClean="0">
                        <a:latin typeface="Cambria Math" panose="02040503050406030204" pitchFamily="18" charset="0"/>
                      </a:rPr>
                      <m:t>𝜋</m:t>
                    </m:r>
                  </m:oMath>
                </a14:m>
                <a:r>
                  <a:rPr kumimoji="1" lang="ja-JP" altLang="en-US" dirty="0"/>
                  <a:t>に従うときの</a:t>
                </a:r>
                <a:endParaRPr kumimoji="1" lang="en-US" altLang="ja-JP" dirty="0"/>
              </a:p>
              <a:p>
                <a:pPr marL="201168" lvl="1" indent="0">
                  <a:buNone/>
                </a:pPr>
                <a:r>
                  <a:rPr kumimoji="1" lang="ja-JP" altLang="en-US" b="1" dirty="0"/>
                  <a:t>長期的</a:t>
                </a:r>
                <a:r>
                  <a:rPr kumimoji="1" lang="ja-JP" altLang="en-US" dirty="0"/>
                  <a:t>な価値</a:t>
                </a:r>
                <a:endParaRPr kumimoji="1" lang="en-US" altLang="ja-JP" dirty="0"/>
              </a:p>
              <a:p>
                <a:pPr marL="201168" lvl="1" indent="0">
                  <a:buNone/>
                </a:pPr>
                <a:endParaRPr kumimoji="1" lang="en-US" altLang="ja-JP" dirty="0"/>
              </a:p>
              <a:p>
                <a:r>
                  <a:rPr kumimoji="1" lang="en-US" altLang="ja-JP" sz="2400" b="0" dirty="0"/>
                  <a:t>  </a:t>
                </a:r>
                <a14:m>
                  <m:oMath xmlns:m="http://schemas.openxmlformats.org/officeDocument/2006/math">
                    <m:r>
                      <a:rPr kumimoji="1" lang="en-US" altLang="ja-JP" sz="2400" b="0" i="1" smtClean="0">
                        <a:latin typeface="Cambria Math" panose="02040503050406030204" pitchFamily="18" charset="0"/>
                      </a:rPr>
                      <m:t>𝑄</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𝑠</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𝑎</m:t>
                        </m:r>
                      </m:e>
                    </m:d>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𝐸</m:t>
                    </m:r>
                    <m:r>
                      <a:rPr kumimoji="1" lang="en-US" altLang="ja-JP" sz="2400" b="0" i="1" smtClean="0">
                        <a:latin typeface="Cambria Math" panose="02040503050406030204" pitchFamily="18" charset="0"/>
                      </a:rPr>
                      <m:t>[</m:t>
                    </m:r>
                    <m:nary>
                      <m:naryPr>
                        <m:chr m:val="∑"/>
                        <m:ctrlPr>
                          <a:rPr kumimoji="1" lang="en-US" altLang="ja-JP" sz="2400" b="0" i="1" smtClean="0">
                            <a:latin typeface="Cambria Math" panose="02040503050406030204" pitchFamily="18" charset="0"/>
                          </a:rPr>
                        </m:ctrlPr>
                      </m:naryPr>
                      <m:sub>
                        <m:r>
                          <m:rPr>
                            <m:brk m:alnAt="23"/>
                          </m:rPr>
                          <a:rPr kumimoji="1" lang="en-US" altLang="ja-JP" sz="2400" b="0" i="1" smtClean="0">
                            <a:latin typeface="Cambria Math" panose="02040503050406030204" pitchFamily="18" charset="0"/>
                          </a:rPr>
                          <m:t>𝑘</m:t>
                        </m:r>
                        <m:r>
                          <a:rPr kumimoji="1" lang="en-US" altLang="ja-JP" sz="2400" b="0" i="1" smtClean="0">
                            <a:latin typeface="Cambria Math" panose="02040503050406030204" pitchFamily="18" charset="0"/>
                          </a:rPr>
                          <m:t>=0</m:t>
                        </m:r>
                      </m:sub>
                      <m:sup>
                        <m:r>
                          <a:rPr kumimoji="1" lang="en-US" altLang="ja-JP" sz="2400" b="0" i="1" smtClean="0">
                            <a:latin typeface="Cambria Math" panose="02040503050406030204" pitchFamily="18" charset="0"/>
                            <a:ea typeface="Cambria Math" panose="02040503050406030204" pitchFamily="18" charset="0"/>
                          </a:rPr>
                          <m:t>∞</m:t>
                        </m:r>
                      </m:sup>
                      <m:e>
                        <m:sSup>
                          <m:sSupPr>
                            <m:ctrlPr>
                              <a:rPr kumimoji="1" lang="en-US" altLang="ja-JP" sz="2400" b="0" i="1" smtClean="0">
                                <a:latin typeface="Cambria Math" panose="02040503050406030204" pitchFamily="18" charset="0"/>
                              </a:rPr>
                            </m:ctrlPr>
                          </m:sSupPr>
                          <m:e>
                            <m:r>
                              <a:rPr kumimoji="1" lang="ja-JP" altLang="en-US" sz="2400" b="0" i="1" smtClean="0">
                                <a:latin typeface="Cambria Math" panose="02040503050406030204" pitchFamily="18" charset="0"/>
                              </a:rPr>
                              <m:t>𝛾</m:t>
                            </m:r>
                          </m:e>
                          <m:sup>
                            <m:r>
                              <a:rPr kumimoji="1" lang="en-US" altLang="ja-JP" sz="2400" b="0" i="1" smtClean="0">
                                <a:latin typeface="Cambria Math" panose="02040503050406030204" pitchFamily="18" charset="0"/>
                              </a:rPr>
                              <m:t>𝑘</m:t>
                            </m:r>
                          </m:sup>
                        </m:sSup>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𝑡</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𝑘</m:t>
                            </m:r>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𝑠</m:t>
                            </m:r>
                          </m:e>
                          <m:sub>
                            <m:r>
                              <a:rPr kumimoji="1" lang="en-US" altLang="ja-JP" sz="2400" b="0" i="1" smtClean="0">
                                <a:latin typeface="Cambria Math" panose="02040503050406030204" pitchFamily="18" charset="0"/>
                              </a:rPr>
                              <m:t>𝑡</m:t>
                            </m:r>
                          </m:sub>
                        </m:sSub>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𝑠</m:t>
                        </m:r>
                        <m:r>
                          <a:rPr kumimoji="1" lang="en-US" altLang="ja-JP" sz="2400" b="0" i="1" smtClean="0">
                            <a:latin typeface="Cambria Math" panose="02040503050406030204" pitchFamily="18" charset="0"/>
                          </a:rPr>
                          <m:t>,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𝑎</m:t>
                            </m:r>
                          </m:e>
                          <m:sub>
                            <m:r>
                              <a:rPr kumimoji="1" lang="en-US" altLang="ja-JP" sz="2400" b="0" i="1" smtClean="0">
                                <a:latin typeface="Cambria Math" panose="02040503050406030204" pitchFamily="18" charset="0"/>
                              </a:rPr>
                              <m:t>𝑡</m:t>
                            </m:r>
                          </m:sub>
                        </m:sSub>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𝑎</m:t>
                        </m:r>
                        <m:r>
                          <a:rPr kumimoji="1" lang="en-US" altLang="ja-JP" sz="2400" b="0" i="1" smtClean="0">
                            <a:latin typeface="Cambria Math" panose="02040503050406030204" pitchFamily="18" charset="0"/>
                          </a:rPr>
                          <m:t>]</m:t>
                        </m:r>
                      </m:e>
                    </m:nary>
                  </m:oMath>
                </a14:m>
                <a:endParaRPr kumimoji="1" lang="ja-JP" altLang="en-US" sz="2400" dirty="0"/>
              </a:p>
            </p:txBody>
          </p:sp>
        </mc:Choice>
        <mc:Fallback xmlns="">
          <p:sp>
            <p:nvSpPr>
              <p:cNvPr id="3" name="コンテンツ プレースホルダー 2">
                <a:extLst>
                  <a:ext uri="{FF2B5EF4-FFF2-40B4-BE49-F238E27FC236}">
                    <a16:creationId xmlns:a16="http://schemas.microsoft.com/office/drawing/2014/main" id="{B600AD19-FE5C-8D0E-AA4D-50F7A2CFD50B}"/>
                  </a:ext>
                </a:extLst>
              </p:cNvPr>
              <p:cNvSpPr>
                <a:spLocks noGrp="1" noRot="1" noChangeAspect="1" noMove="1" noResize="1" noEditPoints="1" noAdjustHandles="1" noChangeArrowheads="1" noChangeShapeType="1" noTextEdit="1"/>
              </p:cNvSpPr>
              <p:nvPr>
                <p:ph idx="1"/>
              </p:nvPr>
            </p:nvSpPr>
            <p:spPr>
              <a:xfrm>
                <a:off x="212181" y="962086"/>
                <a:ext cx="6079363" cy="4383468"/>
              </a:xfrm>
              <a:blipFill>
                <a:blip r:embed="rId3"/>
                <a:stretch>
                  <a:fillRect l="-1605" t="-2503" b="-18359"/>
                </a:stretch>
              </a:blipFill>
            </p:spPr>
            <p:txBody>
              <a:bodyPr/>
              <a:lstStyle/>
              <a:p>
                <a:r>
                  <a:rPr lang="ja-JP" altLang="en-US">
                    <a:noFill/>
                  </a:rPr>
                  <a:t> </a:t>
                </a:r>
              </a:p>
            </p:txBody>
          </p:sp>
        </mc:Fallback>
      </mc:AlternateContent>
      <p:sp>
        <p:nvSpPr>
          <p:cNvPr id="8" name="スライド番号プレースホルダー 7">
            <a:extLst>
              <a:ext uri="{FF2B5EF4-FFF2-40B4-BE49-F238E27FC236}">
                <a16:creationId xmlns:a16="http://schemas.microsoft.com/office/drawing/2014/main" id="{3BB20A62-28D9-FBB8-D1BB-2F07FFB106F6}"/>
              </a:ext>
            </a:extLst>
          </p:cNvPr>
          <p:cNvSpPr>
            <a:spLocks noGrp="1"/>
          </p:cNvSpPr>
          <p:nvPr>
            <p:ph type="sldNum" sz="quarter" idx="4294967295"/>
          </p:nvPr>
        </p:nvSpPr>
        <p:spPr>
          <a:xfrm>
            <a:off x="9900458" y="6459785"/>
            <a:ext cx="1312025" cy="365125"/>
          </a:xfrm>
        </p:spPr>
        <p:txBody>
          <a:bodyPr/>
          <a:lstStyle/>
          <a:p>
            <a:fld id="{E0107F97-1CD5-41F0-B842-C38020C26506}" type="slidenum">
              <a:rPr kumimoji="1" lang="ja-JP" altLang="en-US" smtClean="0"/>
              <a:t>5</a:t>
            </a:fld>
            <a:endParaRPr kumimoji="1" lang="ja-JP" altLang="en-US" dirty="0"/>
          </a:p>
        </p:txBody>
      </p:sp>
      <p:pic>
        <p:nvPicPr>
          <p:cNvPr id="6" name="図 5">
            <a:extLst>
              <a:ext uri="{FF2B5EF4-FFF2-40B4-BE49-F238E27FC236}">
                <a16:creationId xmlns:a16="http://schemas.microsoft.com/office/drawing/2014/main" id="{B94F74CF-83D6-BC33-110B-066EDDBEB692}"/>
              </a:ext>
            </a:extLst>
          </p:cNvPr>
          <p:cNvPicPr>
            <a:picLocks noChangeAspect="1"/>
          </p:cNvPicPr>
          <p:nvPr/>
        </p:nvPicPr>
        <p:blipFill>
          <a:blip r:embed="rId4"/>
          <a:stretch>
            <a:fillRect/>
          </a:stretch>
        </p:blipFill>
        <p:spPr>
          <a:xfrm>
            <a:off x="6869236" y="2650012"/>
            <a:ext cx="4980378" cy="2091458"/>
          </a:xfrm>
          <a:prstGeom prst="rect">
            <a:avLst/>
          </a:prstGeom>
        </p:spPr>
      </p:pic>
      <p:sp>
        <p:nvSpPr>
          <p:cNvPr id="7" name="テキスト ボックス 6">
            <a:extLst>
              <a:ext uri="{FF2B5EF4-FFF2-40B4-BE49-F238E27FC236}">
                <a16:creationId xmlns:a16="http://schemas.microsoft.com/office/drawing/2014/main" id="{FFA8072A-3C9F-BAEB-6D24-83528114B29A}"/>
              </a:ext>
            </a:extLst>
          </p:cNvPr>
          <p:cNvSpPr txBox="1"/>
          <p:nvPr/>
        </p:nvSpPr>
        <p:spPr>
          <a:xfrm>
            <a:off x="7618133" y="5345554"/>
            <a:ext cx="4502332" cy="400110"/>
          </a:xfrm>
          <a:prstGeom prst="rect">
            <a:avLst/>
          </a:prstGeom>
          <a:noFill/>
        </p:spPr>
        <p:txBody>
          <a:bodyPr wrap="square" rtlCol="0">
            <a:spAutoFit/>
          </a:bodyPr>
          <a:lstStyle/>
          <a:p>
            <a:r>
              <a:rPr kumimoji="1" lang="en-US" altLang="ja-JP" sz="2000" dirty="0"/>
              <a:t>Fig2: </a:t>
            </a:r>
            <a:r>
              <a:rPr kumimoji="1" lang="ja-JP" altLang="en-US" sz="2000" dirty="0"/>
              <a:t>環境とエージェントの相互作用</a:t>
            </a:r>
          </a:p>
        </p:txBody>
      </p:sp>
      <p:sp>
        <p:nvSpPr>
          <p:cNvPr id="4" name="テキスト ボックス 3">
            <a:extLst>
              <a:ext uri="{FF2B5EF4-FFF2-40B4-BE49-F238E27FC236}">
                <a16:creationId xmlns:a16="http://schemas.microsoft.com/office/drawing/2014/main" id="{57970FF1-9F9C-4908-5155-4F0822EEEE26}"/>
              </a:ext>
            </a:extLst>
          </p:cNvPr>
          <p:cNvSpPr txBox="1"/>
          <p:nvPr/>
        </p:nvSpPr>
        <p:spPr>
          <a:xfrm>
            <a:off x="8940136" y="2280680"/>
            <a:ext cx="1863634" cy="369332"/>
          </a:xfrm>
          <a:prstGeom prst="rect">
            <a:avLst/>
          </a:prstGeom>
          <a:noFill/>
        </p:spPr>
        <p:txBody>
          <a:bodyPr wrap="square" rtlCol="0">
            <a:spAutoFit/>
          </a:bodyPr>
          <a:lstStyle/>
          <a:p>
            <a:r>
              <a:rPr kumimoji="1" lang="ja-JP" altLang="en-US" b="1" dirty="0"/>
              <a:t>薬物管理者</a:t>
            </a:r>
          </a:p>
        </p:txBody>
      </p:sp>
      <p:sp>
        <p:nvSpPr>
          <p:cNvPr id="5" name="テキスト ボックス 4">
            <a:extLst>
              <a:ext uri="{FF2B5EF4-FFF2-40B4-BE49-F238E27FC236}">
                <a16:creationId xmlns:a16="http://schemas.microsoft.com/office/drawing/2014/main" id="{76B2EA6A-8C46-B365-0007-85AF089CC363}"/>
              </a:ext>
            </a:extLst>
          </p:cNvPr>
          <p:cNvSpPr txBox="1"/>
          <p:nvPr/>
        </p:nvSpPr>
        <p:spPr>
          <a:xfrm>
            <a:off x="8937482" y="4764599"/>
            <a:ext cx="1863634" cy="369332"/>
          </a:xfrm>
          <a:prstGeom prst="rect">
            <a:avLst/>
          </a:prstGeom>
          <a:noFill/>
        </p:spPr>
        <p:txBody>
          <a:bodyPr wrap="square" rtlCol="0">
            <a:spAutoFit/>
          </a:bodyPr>
          <a:lstStyle/>
          <a:p>
            <a:r>
              <a:rPr kumimoji="1" lang="en-US" altLang="ja-JP" b="1" dirty="0"/>
              <a:t>HIV</a:t>
            </a:r>
            <a:r>
              <a:rPr kumimoji="1" lang="ja-JP" altLang="en-US" b="1" dirty="0"/>
              <a:t>感染モデル</a:t>
            </a:r>
          </a:p>
        </p:txBody>
      </p:sp>
      <p:sp>
        <p:nvSpPr>
          <p:cNvPr id="9" name="テキスト ボックス 8">
            <a:extLst>
              <a:ext uri="{FF2B5EF4-FFF2-40B4-BE49-F238E27FC236}">
                <a16:creationId xmlns:a16="http://schemas.microsoft.com/office/drawing/2014/main" id="{69721204-BE19-CE0B-1547-503E85B2EA37}"/>
              </a:ext>
            </a:extLst>
          </p:cNvPr>
          <p:cNvSpPr txBox="1"/>
          <p:nvPr/>
        </p:nvSpPr>
        <p:spPr>
          <a:xfrm>
            <a:off x="6183283" y="1162141"/>
            <a:ext cx="5513707" cy="738664"/>
          </a:xfrm>
          <a:prstGeom prst="rect">
            <a:avLst/>
          </a:prstGeom>
          <a:noFill/>
        </p:spPr>
        <p:txBody>
          <a:bodyPr wrap="square" rtlCol="0">
            <a:spAutoFit/>
          </a:bodyPr>
          <a:lstStyle/>
          <a:p>
            <a:pPr marL="0" indent="0">
              <a:buNone/>
            </a:pPr>
            <a:r>
              <a:rPr lang="ja-JP" altLang="en-US" sz="2400" b="1" dirty="0"/>
              <a:t>・行動</a:t>
            </a:r>
            <a:r>
              <a:rPr lang="en-US" altLang="ja-JP" sz="2400" b="1" dirty="0"/>
              <a:t>(Action)</a:t>
            </a:r>
            <a:endParaRPr kumimoji="1" lang="en-US" altLang="ja-JP" sz="2400" b="1" dirty="0"/>
          </a:p>
          <a:p>
            <a:r>
              <a:rPr kumimoji="1" lang="ja-JP" altLang="en-US" dirty="0"/>
              <a:t>　環境に対して作用するエージェントの動作</a:t>
            </a:r>
            <a:r>
              <a:rPr kumimoji="1" lang="en-US" altLang="ja-JP" dirty="0"/>
              <a:t>, </a:t>
            </a:r>
            <a:r>
              <a:rPr kumimoji="1" lang="ja-JP" altLang="en-US" dirty="0"/>
              <a:t>制御入力</a:t>
            </a:r>
            <a:endParaRPr kumimoji="1" lang="en-US" altLang="ja-JP" dirty="0"/>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EBCD738F-8CCE-8C75-EB34-CCD3EA2886A6}"/>
                  </a:ext>
                </a:extLst>
              </p:cNvPr>
              <p:cNvSpPr txBox="1"/>
              <p:nvPr/>
            </p:nvSpPr>
            <p:spPr>
              <a:xfrm>
                <a:off x="276435" y="5745664"/>
                <a:ext cx="5580079" cy="369332"/>
              </a:xfrm>
              <a:prstGeom prst="rect">
                <a:avLst/>
              </a:prstGeom>
              <a:noFill/>
              <a:ln>
                <a:solidFill>
                  <a:srgbClr val="000000"/>
                </a:solidFill>
              </a:ln>
            </p:spPr>
            <p:txBody>
              <a:bodyPr wrap="square" rtlCol="0">
                <a:spAutoFit/>
              </a:bodyPr>
              <a:lstStyle/>
              <a:p>
                <a14:m>
                  <m:oMath xmlns:m="http://schemas.openxmlformats.org/officeDocument/2006/math">
                    <m:r>
                      <a:rPr kumimoji="1" lang="ja-JP" altLang="en-US" i="1" smtClean="0">
                        <a:latin typeface="Cambria Math" panose="02040503050406030204" pitchFamily="18" charset="0"/>
                      </a:rPr>
                      <m:t>𝛾</m:t>
                    </m:r>
                    <m:r>
                      <a:rPr kumimoji="1" lang="en-US" altLang="ja-JP" b="0" i="1" smtClean="0">
                        <a:latin typeface="Cambria Math" panose="02040503050406030204" pitchFamily="18" charset="0"/>
                      </a:rPr>
                      <m:t>: </m:t>
                    </m:r>
                  </m:oMath>
                </a14:m>
                <a:r>
                  <a:rPr kumimoji="1" lang="ja-JP" altLang="en-US" dirty="0"/>
                  <a:t>割引率　　将来の報酬を現在の報酬と比較する指標</a:t>
                </a:r>
                <a:endParaRPr kumimoji="1" lang="en-US" altLang="ja-JP" dirty="0"/>
              </a:p>
            </p:txBody>
          </p:sp>
        </mc:Choice>
        <mc:Fallback xmlns="">
          <p:sp>
            <p:nvSpPr>
              <p:cNvPr id="11" name="テキスト ボックス 10">
                <a:extLst>
                  <a:ext uri="{FF2B5EF4-FFF2-40B4-BE49-F238E27FC236}">
                    <a16:creationId xmlns:a16="http://schemas.microsoft.com/office/drawing/2014/main" id="{EBCD738F-8CCE-8C75-EB34-CCD3EA2886A6}"/>
                  </a:ext>
                </a:extLst>
              </p:cNvPr>
              <p:cNvSpPr txBox="1">
                <a:spLocks noRot="1" noChangeAspect="1" noMove="1" noResize="1" noEditPoints="1" noAdjustHandles="1" noChangeArrowheads="1" noChangeShapeType="1" noTextEdit="1"/>
              </p:cNvSpPr>
              <p:nvPr/>
            </p:nvSpPr>
            <p:spPr>
              <a:xfrm>
                <a:off x="276435" y="5745664"/>
                <a:ext cx="5580079" cy="369332"/>
              </a:xfrm>
              <a:prstGeom prst="rect">
                <a:avLst/>
              </a:prstGeom>
              <a:blipFill>
                <a:blip r:embed="rId5"/>
                <a:stretch>
                  <a:fillRect t="-12903" b="-19355"/>
                </a:stretch>
              </a:blipFill>
              <a:ln>
                <a:solidFill>
                  <a:srgbClr val="000000"/>
                </a:solidFill>
              </a:ln>
            </p:spPr>
            <p:txBody>
              <a:bodyPr/>
              <a:lstStyle/>
              <a:p>
                <a:r>
                  <a:rPr lang="ja-JP" altLang="en-US">
                    <a:noFill/>
                  </a:rPr>
                  <a:t> </a:t>
                </a:r>
              </a:p>
            </p:txBody>
          </p:sp>
        </mc:Fallback>
      </mc:AlternateContent>
    </p:spTree>
    <p:extLst>
      <p:ext uri="{BB962C8B-B14F-4D97-AF65-F5344CB8AC3E}">
        <p14:creationId xmlns:p14="http://schemas.microsoft.com/office/powerpoint/2010/main" val="269044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DCFAF2CC-8DD8-9623-5DC1-1FA9C9C4AB5E}"/>
              </a:ext>
            </a:extLst>
          </p:cNvPr>
          <p:cNvSpPr/>
          <p:nvPr/>
        </p:nvSpPr>
        <p:spPr>
          <a:xfrm>
            <a:off x="79944" y="748435"/>
            <a:ext cx="8691990" cy="1584671"/>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FA1A7F3E-5E86-3B75-0A33-74E96A2EFB58}"/>
              </a:ext>
            </a:extLst>
          </p:cNvPr>
          <p:cNvSpPr>
            <a:spLocks noGrp="1"/>
          </p:cNvSpPr>
          <p:nvPr>
            <p:ph type="title"/>
          </p:nvPr>
        </p:nvSpPr>
        <p:spPr>
          <a:xfrm>
            <a:off x="1154083" y="0"/>
            <a:ext cx="10058400" cy="770843"/>
          </a:xfrm>
        </p:spPr>
        <p:txBody>
          <a:bodyPr/>
          <a:lstStyle/>
          <a:p>
            <a:r>
              <a:rPr lang="en-US" altLang="ja-JP" sz="4400" b="1" dirty="0"/>
              <a:t>3. </a:t>
            </a:r>
            <a:r>
              <a:rPr lang="ja-JP" altLang="en-US" sz="4400" dirty="0"/>
              <a:t>制御手法</a:t>
            </a:r>
            <a:r>
              <a:rPr lang="en-US" altLang="ja-JP" dirty="0"/>
              <a:t>		3.2</a:t>
            </a:r>
            <a:r>
              <a:rPr lang="en-US" altLang="ja-JP" b="1" dirty="0"/>
              <a:t> </a:t>
            </a:r>
            <a:r>
              <a:rPr lang="en-US" altLang="ja-JP" sz="4400" b="1" dirty="0"/>
              <a:t>Q-learning</a:t>
            </a:r>
            <a:endParaRPr kumimoji="1" lang="ja-JP" altLang="en-US" b="1"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600AD19-FE5C-8D0E-AA4D-50F7A2CFD50B}"/>
                  </a:ext>
                </a:extLst>
              </p:cNvPr>
              <p:cNvSpPr>
                <a:spLocks noGrp="1"/>
              </p:cNvSpPr>
              <p:nvPr>
                <p:ph idx="1"/>
              </p:nvPr>
            </p:nvSpPr>
            <p:spPr>
              <a:xfrm>
                <a:off x="319580" y="816794"/>
                <a:ext cx="8691990" cy="1584670"/>
              </a:xfrm>
            </p:spPr>
            <p:txBody>
              <a:bodyPr>
                <a:normAutofit fontScale="92500" lnSpcReduction="20000"/>
              </a:bodyPr>
              <a:lstStyle/>
              <a:p>
                <a:pPr marL="0" indent="0">
                  <a:buNone/>
                </a:pPr>
                <a:r>
                  <a:rPr lang="en-US" altLang="ja-JP" sz="2600" b="1" dirty="0">
                    <a:solidFill>
                      <a:schemeClr val="tx1"/>
                    </a:solidFill>
                  </a:rPr>
                  <a:t>Q-learning</a:t>
                </a:r>
                <a:r>
                  <a:rPr lang="ja-JP" altLang="en-US" sz="2600" b="1" dirty="0">
                    <a:solidFill>
                      <a:schemeClr val="tx1"/>
                    </a:solidFill>
                  </a:rPr>
                  <a:t>における</a:t>
                </a:r>
                <a:r>
                  <a:rPr lang="en-US" altLang="ja-JP" sz="2600" b="1" dirty="0">
                    <a:solidFill>
                      <a:schemeClr val="tx1"/>
                    </a:solidFill>
                  </a:rPr>
                  <a:t>Q</a:t>
                </a:r>
                <a:r>
                  <a:rPr lang="ja-JP" altLang="en-US" sz="2600" b="1" dirty="0">
                    <a:solidFill>
                      <a:schemeClr val="tx1"/>
                    </a:solidFill>
                  </a:rPr>
                  <a:t>値の更新式</a:t>
                </a:r>
                <a:endParaRPr lang="en-US" altLang="ja-JP" sz="2600" dirty="0">
                  <a:solidFill>
                    <a:schemeClr val="tx1"/>
                  </a:solidFill>
                </a:endParaRPr>
              </a:p>
              <a:p>
                <a:pPr marL="0" indent="0">
                  <a:buNone/>
                </a:pPr>
                <a:r>
                  <a:rPr kumimoji="1" lang="en-US" altLang="ja-JP" sz="1900" dirty="0"/>
                  <a:t>Q-learning </a:t>
                </a:r>
                <a:r>
                  <a:rPr kumimoji="1" lang="ja-JP" altLang="en-US" sz="1900" dirty="0"/>
                  <a:t>では方策</a:t>
                </a:r>
                <a14:m>
                  <m:oMath xmlns:m="http://schemas.openxmlformats.org/officeDocument/2006/math">
                    <m:r>
                      <a:rPr kumimoji="1" lang="ja-JP" altLang="en-US" sz="1900" i="1" smtClean="0">
                        <a:latin typeface="Cambria Math" panose="02040503050406030204" pitchFamily="18" charset="0"/>
                      </a:rPr>
                      <m:t>𝜋</m:t>
                    </m:r>
                  </m:oMath>
                </a14:m>
                <a:r>
                  <a:rPr kumimoji="1" lang="ja-JP" altLang="en-US" sz="1900" dirty="0"/>
                  <a:t>に基づくのではなく</a:t>
                </a:r>
                <a:r>
                  <a:rPr kumimoji="1" lang="en-US" altLang="ja-JP" sz="1900" dirty="0"/>
                  <a:t>, </a:t>
                </a:r>
                <a:r>
                  <a:rPr kumimoji="1" lang="ja-JP" altLang="en-US" sz="1900" dirty="0"/>
                  <a:t>常に最大の価値関数をとるように行動</a:t>
                </a:r>
                <a:endParaRPr kumimoji="1" lang="en-US" altLang="ja-JP" sz="1900" dirty="0"/>
              </a:p>
              <a:p>
                <a:pPr marL="0" indent="0">
                  <a:buNone/>
                </a:pPr>
                <a:endParaRPr kumimoji="1" lang="en-US" altLang="ja-JP" dirty="0"/>
              </a:p>
              <a:p>
                <a:pPr marL="0" indent="0">
                  <a:buNone/>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𝑄</m:t>
                      </m:r>
                      <m:d>
                        <m:dPr>
                          <m:ctrlPr>
                            <a:rPr kumimoji="1" lang="en-US" altLang="ja-JP" sz="2400" b="0" i="1" smtClean="0">
                              <a:latin typeface="Cambria Math" panose="02040503050406030204" pitchFamily="18" charset="0"/>
                            </a:rPr>
                          </m:ctrlPr>
                        </m:dPr>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𝑠</m:t>
                              </m:r>
                            </m:e>
                            <m:sub>
                              <m:r>
                                <a:rPr kumimoji="1" lang="en-US" altLang="ja-JP" sz="2400" b="0" i="1" smtClean="0">
                                  <a:latin typeface="Cambria Math" panose="02040503050406030204" pitchFamily="18" charset="0"/>
                                </a:rPr>
                                <m:t>𝑡</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𝑎</m:t>
                              </m:r>
                            </m:e>
                            <m:sub>
                              <m:r>
                                <a:rPr kumimoji="1" lang="en-US" altLang="ja-JP" sz="2400" b="0" i="1" smtClean="0">
                                  <a:latin typeface="Cambria Math" panose="02040503050406030204" pitchFamily="18" charset="0"/>
                                </a:rPr>
                                <m:t>𝑡</m:t>
                              </m:r>
                            </m:sub>
                          </m:sSub>
                        </m:e>
                      </m:d>
                      <m:r>
                        <a:rPr lang="en-US" altLang="ja-JP" sz="2400" i="1">
                          <a:latin typeface="Cambria Math" panose="02040503050406030204" pitchFamily="18" charset="0"/>
                          <a:ea typeface="Cambria Math" panose="02040503050406030204" pitchFamily="18" charset="0"/>
                        </a:rPr>
                        <m:t>←</m:t>
                      </m:r>
                      <m:r>
                        <a:rPr kumimoji="1" lang="en-US" altLang="ja-JP" sz="2400" b="0" i="1" smtClean="0">
                          <a:latin typeface="Cambria Math" panose="02040503050406030204" pitchFamily="18" charset="0"/>
                        </a:rPr>
                        <m:t>𝑄</m:t>
                      </m:r>
                      <m:d>
                        <m:dPr>
                          <m:ctrlPr>
                            <a:rPr kumimoji="1" lang="en-US" altLang="ja-JP" sz="2400" b="0" i="1" smtClean="0">
                              <a:latin typeface="Cambria Math" panose="02040503050406030204" pitchFamily="18" charset="0"/>
                            </a:rPr>
                          </m:ctrlPr>
                        </m:dPr>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𝑠</m:t>
                              </m:r>
                            </m:e>
                            <m:sub>
                              <m:r>
                                <a:rPr kumimoji="1" lang="en-US" altLang="ja-JP" sz="2400" b="0" i="1" smtClean="0">
                                  <a:latin typeface="Cambria Math" panose="02040503050406030204" pitchFamily="18" charset="0"/>
                                </a:rPr>
                                <m:t>𝑡</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𝑎</m:t>
                              </m:r>
                            </m:e>
                            <m:sub>
                              <m:r>
                                <a:rPr kumimoji="1" lang="en-US" altLang="ja-JP" sz="2400" b="0" i="1" smtClean="0">
                                  <a:latin typeface="Cambria Math" panose="02040503050406030204" pitchFamily="18" charset="0"/>
                                </a:rPr>
                                <m:t>𝑡</m:t>
                              </m:r>
                            </m:sub>
                          </m:sSub>
                        </m:e>
                      </m:d>
                      <m:r>
                        <a:rPr kumimoji="1" lang="en-US" altLang="ja-JP" sz="2400" b="0" i="1" smtClean="0">
                          <a:latin typeface="Cambria Math" panose="02040503050406030204" pitchFamily="18" charset="0"/>
                        </a:rPr>
                        <m:t>+</m:t>
                      </m:r>
                      <m:r>
                        <a:rPr kumimoji="1" lang="ja-JP" altLang="en-US" sz="2400" b="1" i="1" smtClean="0">
                          <a:latin typeface="Cambria Math" panose="02040503050406030204" pitchFamily="18" charset="0"/>
                        </a:rPr>
                        <m:t>𝜶</m:t>
                      </m:r>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𝑡</m:t>
                          </m:r>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r>
                        <a:rPr kumimoji="1" lang="ja-JP" altLang="en-US" sz="2400" b="1" i="1" smtClean="0">
                          <a:latin typeface="Cambria Math" panose="02040503050406030204" pitchFamily="18" charset="0"/>
                        </a:rPr>
                        <m:t>𝜸</m:t>
                      </m:r>
                      <m:func>
                        <m:funcPr>
                          <m:ctrlPr>
                            <a:rPr lang="en-US" altLang="ja-JP" sz="2400" b="1" i="1" smtClean="0">
                              <a:solidFill>
                                <a:schemeClr val="tx1"/>
                              </a:solidFill>
                              <a:latin typeface="Cambria Math" panose="02040503050406030204" pitchFamily="18" charset="0"/>
                              <a:ea typeface="Cambria Math" panose="02040503050406030204" pitchFamily="18" charset="0"/>
                            </a:rPr>
                          </m:ctrlPr>
                        </m:funcPr>
                        <m:fName>
                          <m:limLow>
                            <m:limLowPr>
                              <m:ctrlPr>
                                <a:rPr lang="en-US" altLang="ja-JP" sz="2400" b="1" i="1">
                                  <a:solidFill>
                                    <a:schemeClr val="tx1"/>
                                  </a:solidFill>
                                  <a:latin typeface="Cambria Math" panose="02040503050406030204" pitchFamily="18" charset="0"/>
                                  <a:ea typeface="Cambria Math" panose="02040503050406030204" pitchFamily="18" charset="0"/>
                                </a:rPr>
                              </m:ctrlPr>
                            </m:limLowPr>
                            <m:e>
                              <m:r>
                                <a:rPr lang="en-US" altLang="ja-JP" sz="2400" b="1" i="1">
                                  <a:solidFill>
                                    <a:schemeClr val="tx1"/>
                                  </a:solidFill>
                                  <a:latin typeface="Cambria Math" panose="02040503050406030204" pitchFamily="18" charset="0"/>
                                  <a:ea typeface="Cambria Math" panose="02040503050406030204" pitchFamily="18" charset="0"/>
                                </a:rPr>
                                <m:t>𝒎𝒂𝒙</m:t>
                              </m:r>
                            </m:e>
                            <m:lim>
                              <m:r>
                                <a:rPr lang="en-US" altLang="ja-JP" sz="2400" b="1" i="1" smtClean="0">
                                  <a:solidFill>
                                    <a:schemeClr val="tx1"/>
                                  </a:solidFill>
                                  <a:latin typeface="Cambria Math" panose="02040503050406030204" pitchFamily="18" charset="0"/>
                                  <a:ea typeface="Cambria Math" panose="02040503050406030204" pitchFamily="18" charset="0"/>
                                </a:rPr>
                                <m:t>𝒂</m:t>
                              </m:r>
                            </m:lim>
                          </m:limLow>
                        </m:fName>
                        <m:e>
                          <m:r>
                            <a:rPr lang="en-US" altLang="ja-JP" sz="2400" b="1" i="1" smtClean="0">
                              <a:solidFill>
                                <a:schemeClr val="tx1"/>
                              </a:solidFill>
                              <a:latin typeface="Cambria Math" panose="02040503050406030204" pitchFamily="18" charset="0"/>
                              <a:ea typeface="Cambria Math" panose="02040503050406030204" pitchFamily="18" charset="0"/>
                            </a:rPr>
                            <m:t>𝑸</m:t>
                          </m:r>
                        </m:e>
                      </m:func>
                      <m:d>
                        <m:dPr>
                          <m:ctrlPr>
                            <a:rPr lang="en-US" altLang="ja-JP" sz="2400" b="1" i="1">
                              <a:solidFill>
                                <a:schemeClr val="tx1"/>
                              </a:solidFill>
                              <a:latin typeface="Cambria Math" panose="02040503050406030204" pitchFamily="18" charset="0"/>
                              <a:ea typeface="Cambria Math" panose="02040503050406030204" pitchFamily="18" charset="0"/>
                            </a:rPr>
                          </m:ctrlPr>
                        </m:dPr>
                        <m:e>
                          <m:sSub>
                            <m:sSubPr>
                              <m:ctrlPr>
                                <a:rPr lang="en-US" altLang="ja-JP" sz="2400" b="1" i="1" smtClean="0">
                                  <a:solidFill>
                                    <a:schemeClr val="tx1"/>
                                  </a:solidFill>
                                  <a:latin typeface="Cambria Math" panose="02040503050406030204" pitchFamily="18" charset="0"/>
                                  <a:ea typeface="Cambria Math" panose="02040503050406030204" pitchFamily="18" charset="0"/>
                                </a:rPr>
                              </m:ctrlPr>
                            </m:sSubPr>
                            <m:e>
                              <m:r>
                                <a:rPr lang="en-US" altLang="ja-JP" sz="2400" b="1" i="1" smtClean="0">
                                  <a:solidFill>
                                    <a:schemeClr val="tx1"/>
                                  </a:solidFill>
                                  <a:latin typeface="Cambria Math" panose="02040503050406030204" pitchFamily="18" charset="0"/>
                                  <a:ea typeface="Cambria Math" panose="02040503050406030204" pitchFamily="18" charset="0"/>
                                </a:rPr>
                                <m:t>𝒔</m:t>
                              </m:r>
                            </m:e>
                            <m:sub>
                              <m:r>
                                <a:rPr lang="en-US" altLang="ja-JP" sz="2400" b="1" i="1" smtClean="0">
                                  <a:solidFill>
                                    <a:schemeClr val="tx1"/>
                                  </a:solidFill>
                                  <a:latin typeface="Cambria Math" panose="02040503050406030204" pitchFamily="18" charset="0"/>
                                  <a:ea typeface="Cambria Math" panose="02040503050406030204" pitchFamily="18" charset="0"/>
                                </a:rPr>
                                <m:t>𝒕</m:t>
                              </m:r>
                              <m:r>
                                <a:rPr lang="en-US" altLang="ja-JP" sz="2400" b="1" i="1" smtClean="0">
                                  <a:solidFill>
                                    <a:schemeClr val="tx1"/>
                                  </a:solidFill>
                                  <a:latin typeface="Cambria Math" panose="02040503050406030204" pitchFamily="18" charset="0"/>
                                  <a:ea typeface="Cambria Math" panose="02040503050406030204" pitchFamily="18" charset="0"/>
                                </a:rPr>
                                <m:t>+</m:t>
                              </m:r>
                              <m:r>
                                <a:rPr lang="en-US" altLang="ja-JP" sz="2400" b="1" i="1" smtClean="0">
                                  <a:solidFill>
                                    <a:schemeClr val="tx1"/>
                                  </a:solidFill>
                                  <a:latin typeface="Cambria Math" panose="02040503050406030204" pitchFamily="18" charset="0"/>
                                  <a:ea typeface="Cambria Math" panose="02040503050406030204" pitchFamily="18" charset="0"/>
                                </a:rPr>
                                <m:t>𝟏</m:t>
                              </m:r>
                            </m:sub>
                          </m:sSub>
                          <m:r>
                            <a:rPr lang="en-US" altLang="ja-JP" sz="2400" b="1" i="1" smtClean="0">
                              <a:solidFill>
                                <a:schemeClr val="tx1"/>
                              </a:solidFill>
                              <a:latin typeface="Cambria Math" panose="02040503050406030204" pitchFamily="18" charset="0"/>
                              <a:ea typeface="Cambria Math" panose="02040503050406030204" pitchFamily="18" charset="0"/>
                            </a:rPr>
                            <m:t>,</m:t>
                          </m:r>
                          <m:r>
                            <a:rPr lang="en-US" altLang="ja-JP" sz="2400" b="1" i="1" smtClean="0">
                              <a:solidFill>
                                <a:schemeClr val="tx1"/>
                              </a:solidFill>
                              <a:latin typeface="Cambria Math" panose="02040503050406030204" pitchFamily="18" charset="0"/>
                              <a:ea typeface="Cambria Math" panose="02040503050406030204" pitchFamily="18" charset="0"/>
                            </a:rPr>
                            <m:t>𝒂</m:t>
                          </m:r>
                        </m:e>
                      </m:d>
                      <m:r>
                        <a:rPr lang="en-US" altLang="ja-JP" sz="2400" b="1" i="1" smtClean="0">
                          <a:solidFill>
                            <a:schemeClr val="tx1"/>
                          </a:solidFill>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𝑄</m:t>
                      </m:r>
                      <m:d>
                        <m:dPr>
                          <m:ctrlPr>
                            <a:rPr lang="en-US" altLang="ja-JP" sz="2400" b="0" i="1" smtClean="0">
                              <a:latin typeface="Cambria Math" panose="02040503050406030204" pitchFamily="18" charset="0"/>
                              <a:ea typeface="Cambria Math" panose="02040503050406030204" pitchFamily="18" charset="0"/>
                            </a:rPr>
                          </m:ctrlPr>
                        </m:dPr>
                        <m:e>
                          <m:sSub>
                            <m:sSubPr>
                              <m:ctrlPr>
                                <a:rPr lang="en-US" altLang="ja-JP" sz="2400" b="0" i="1" smtClean="0">
                                  <a:latin typeface="Cambria Math" panose="02040503050406030204" pitchFamily="18" charset="0"/>
                                  <a:ea typeface="Cambria Math" panose="02040503050406030204" pitchFamily="18" charset="0"/>
                                </a:rPr>
                              </m:ctrlPr>
                            </m:sSubPr>
                            <m:e>
                              <m:r>
                                <a:rPr lang="en-US" altLang="ja-JP" sz="2400" b="0" i="1" smtClean="0">
                                  <a:latin typeface="Cambria Math" panose="02040503050406030204" pitchFamily="18" charset="0"/>
                                  <a:ea typeface="Cambria Math" panose="02040503050406030204" pitchFamily="18" charset="0"/>
                                </a:rPr>
                                <m:t>𝑠</m:t>
                              </m:r>
                            </m:e>
                            <m:sub>
                              <m:r>
                                <a:rPr lang="en-US" altLang="ja-JP" sz="2400" b="0" i="1" smtClean="0">
                                  <a:latin typeface="Cambria Math" panose="02040503050406030204" pitchFamily="18" charset="0"/>
                                  <a:ea typeface="Cambria Math" panose="02040503050406030204" pitchFamily="18" charset="0"/>
                                </a:rPr>
                                <m:t>𝑡</m:t>
                              </m:r>
                            </m:sub>
                          </m:sSub>
                          <m:r>
                            <a:rPr lang="en-US" altLang="ja-JP" sz="2400" b="0" i="1" smtClean="0">
                              <a:latin typeface="Cambria Math" panose="02040503050406030204" pitchFamily="18" charset="0"/>
                              <a:ea typeface="Cambria Math" panose="02040503050406030204" pitchFamily="18" charset="0"/>
                            </a:rPr>
                            <m:t>,</m:t>
                          </m:r>
                          <m:sSub>
                            <m:sSubPr>
                              <m:ctrlPr>
                                <a:rPr lang="en-US" altLang="ja-JP" sz="2400" b="0" i="1" smtClean="0">
                                  <a:latin typeface="Cambria Math" panose="02040503050406030204" pitchFamily="18" charset="0"/>
                                  <a:ea typeface="Cambria Math" panose="02040503050406030204" pitchFamily="18" charset="0"/>
                                </a:rPr>
                              </m:ctrlPr>
                            </m:sSubPr>
                            <m:e>
                              <m:r>
                                <a:rPr lang="en-US" altLang="ja-JP" sz="2400" b="0" i="1" smtClean="0">
                                  <a:latin typeface="Cambria Math" panose="02040503050406030204" pitchFamily="18" charset="0"/>
                                  <a:ea typeface="Cambria Math" panose="02040503050406030204" pitchFamily="18" charset="0"/>
                                </a:rPr>
                                <m:t>𝑎</m:t>
                              </m:r>
                            </m:e>
                            <m:sub>
                              <m:r>
                                <a:rPr lang="en-US" altLang="ja-JP" sz="2400" b="0" i="1" smtClean="0">
                                  <a:latin typeface="Cambria Math" panose="02040503050406030204" pitchFamily="18" charset="0"/>
                                  <a:ea typeface="Cambria Math" panose="02040503050406030204" pitchFamily="18" charset="0"/>
                                </a:rPr>
                                <m:t>𝑡</m:t>
                              </m:r>
                            </m:sub>
                          </m:sSub>
                        </m:e>
                      </m:d>
                      <m:r>
                        <a:rPr lang="en-US" altLang="ja-JP" sz="2400" b="0" i="1" smtClean="0">
                          <a:latin typeface="Cambria Math" panose="02040503050406030204" pitchFamily="18" charset="0"/>
                          <a:ea typeface="Cambria Math" panose="02040503050406030204" pitchFamily="18" charset="0"/>
                        </a:rPr>
                        <m:t>]</m:t>
                      </m:r>
                    </m:oMath>
                  </m:oMathPara>
                </a14:m>
                <a:endParaRPr kumimoji="1" lang="en-US" altLang="ja-JP" sz="2400" dirty="0"/>
              </a:p>
              <a:p>
                <a:endParaRPr kumimoji="1" lang="ja-JP" altLang="en-US" sz="2400" dirty="0"/>
              </a:p>
            </p:txBody>
          </p:sp>
        </mc:Choice>
        <mc:Fallback xmlns="">
          <p:sp>
            <p:nvSpPr>
              <p:cNvPr id="3" name="コンテンツ プレースホルダー 2">
                <a:extLst>
                  <a:ext uri="{FF2B5EF4-FFF2-40B4-BE49-F238E27FC236}">
                    <a16:creationId xmlns:a16="http://schemas.microsoft.com/office/drawing/2014/main" id="{B600AD19-FE5C-8D0E-AA4D-50F7A2CFD50B}"/>
                  </a:ext>
                </a:extLst>
              </p:cNvPr>
              <p:cNvSpPr>
                <a:spLocks noGrp="1" noRot="1" noChangeAspect="1" noMove="1" noResize="1" noEditPoints="1" noAdjustHandles="1" noChangeArrowheads="1" noChangeShapeType="1" noTextEdit="1"/>
              </p:cNvSpPr>
              <p:nvPr>
                <p:ph idx="1"/>
              </p:nvPr>
            </p:nvSpPr>
            <p:spPr>
              <a:xfrm>
                <a:off x="319580" y="816794"/>
                <a:ext cx="8691990" cy="1584670"/>
              </a:xfrm>
              <a:blipFill>
                <a:blip r:embed="rId3"/>
                <a:stretch>
                  <a:fillRect l="-2104" t="-10769"/>
                </a:stretch>
              </a:blipFill>
            </p:spPr>
            <p:txBody>
              <a:bodyPr/>
              <a:lstStyle/>
              <a:p>
                <a:r>
                  <a:rPr lang="ja-JP" altLang="en-US">
                    <a:noFill/>
                  </a:rPr>
                  <a:t> </a:t>
                </a:r>
              </a:p>
            </p:txBody>
          </p:sp>
        </mc:Fallback>
      </mc:AlternateContent>
      <p:sp>
        <p:nvSpPr>
          <p:cNvPr id="6" name="スライド番号プレースホルダー 5">
            <a:extLst>
              <a:ext uri="{FF2B5EF4-FFF2-40B4-BE49-F238E27FC236}">
                <a16:creationId xmlns:a16="http://schemas.microsoft.com/office/drawing/2014/main" id="{AB2F2F87-8249-F2E8-FC7A-4E2DEE1895B0}"/>
              </a:ext>
            </a:extLst>
          </p:cNvPr>
          <p:cNvSpPr>
            <a:spLocks noGrp="1"/>
          </p:cNvSpPr>
          <p:nvPr>
            <p:ph type="sldNum" sz="quarter" idx="4294967295"/>
          </p:nvPr>
        </p:nvSpPr>
        <p:spPr>
          <a:xfrm>
            <a:off x="9900458" y="6459785"/>
            <a:ext cx="1312025" cy="365125"/>
          </a:xfrm>
        </p:spPr>
        <p:txBody>
          <a:bodyPr/>
          <a:lstStyle/>
          <a:p>
            <a:fld id="{E0107F97-1CD5-41F0-B842-C38020C26506}" type="slidenum">
              <a:rPr kumimoji="1" lang="ja-JP" altLang="en-US" smtClean="0"/>
              <a:t>6</a:t>
            </a:fld>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0C368E8A-A313-6377-7AAD-E3892974A80A}"/>
                  </a:ext>
                </a:extLst>
              </p:cNvPr>
              <p:cNvSpPr txBox="1"/>
              <p:nvPr/>
            </p:nvSpPr>
            <p:spPr>
              <a:xfrm>
                <a:off x="8948257" y="2277347"/>
                <a:ext cx="3018506" cy="3200876"/>
              </a:xfrm>
              <a:prstGeom prst="rect">
                <a:avLst/>
              </a:prstGeom>
              <a:noFill/>
              <a:ln>
                <a:noFill/>
              </a:ln>
            </p:spPr>
            <p:txBody>
              <a:bodyPr wrap="square" rtlCol="0">
                <a:spAutoFit/>
              </a:bodyPr>
              <a:lstStyle/>
              <a:p>
                <a14:m>
                  <m:oMath xmlns:m="http://schemas.openxmlformats.org/officeDocument/2006/math">
                    <m:r>
                      <a:rPr kumimoji="1" lang="ja-JP" altLang="en-US" b="1" i="1">
                        <a:latin typeface="Cambria Math" panose="02040503050406030204" pitchFamily="18" charset="0"/>
                      </a:rPr>
                      <m:t>・</m:t>
                    </m:r>
                  </m:oMath>
                </a14:m>
                <a:r>
                  <a:rPr kumimoji="1" lang="ja-JP" altLang="en-US" b="1" dirty="0"/>
                  <a:t>割引率</a:t>
                </a:r>
                <a14:m>
                  <m:oMath xmlns:m="http://schemas.openxmlformats.org/officeDocument/2006/math">
                    <m:r>
                      <a:rPr kumimoji="1" lang="ja-JP" altLang="en-US" b="1" i="1" dirty="0" smtClean="0">
                        <a:latin typeface="Cambria Math" panose="02040503050406030204" pitchFamily="18" charset="0"/>
                      </a:rPr>
                      <m:t>𝜸</m:t>
                    </m:r>
                  </m:oMath>
                </a14:m>
                <a:r>
                  <a:rPr kumimoji="1" lang="en-US" altLang="ja-JP" b="1" dirty="0"/>
                  <a:t>(</a:t>
                </a:r>
                <a:r>
                  <a:rPr kumimoji="1" lang="ja-JP" altLang="en-US" b="1" dirty="0"/>
                  <a:t>再掲</a:t>
                </a:r>
                <a:r>
                  <a:rPr kumimoji="1" lang="en-US" altLang="ja-JP" b="1" dirty="0"/>
                  <a:t>)</a:t>
                </a:r>
                <a:r>
                  <a:rPr kumimoji="1" lang="ja-JP" altLang="en-US" b="1" dirty="0"/>
                  <a:t>　</a:t>
                </a:r>
                <a:endParaRPr kumimoji="1" lang="en-US" altLang="ja-JP" b="1" dirty="0"/>
              </a:p>
              <a:p>
                <a:r>
                  <a:rPr kumimoji="1" lang="ja-JP" altLang="en-US" dirty="0"/>
                  <a:t>将来の報酬を現在の報酬と比較する指標</a:t>
                </a:r>
                <a:endParaRPr kumimoji="1" lang="en-US" altLang="ja-JP" dirty="0"/>
              </a:p>
              <a:p>
                <a:endParaRPr kumimoji="1" lang="en-US" altLang="ja-JP" dirty="0"/>
              </a:p>
              <a:p>
                <a:r>
                  <a:rPr kumimoji="1" lang="ja-JP" altLang="en-US" sz="2000" b="1" dirty="0"/>
                  <a:t>・学習率</a:t>
                </a:r>
                <a14:m>
                  <m:oMath xmlns:m="http://schemas.openxmlformats.org/officeDocument/2006/math">
                    <m:r>
                      <a:rPr kumimoji="1" lang="ja-JP" altLang="en-US" sz="2000" b="1" i="1" smtClean="0">
                        <a:latin typeface="Cambria Math" panose="02040503050406030204" pitchFamily="18" charset="0"/>
                      </a:rPr>
                      <m:t>𝜶</m:t>
                    </m:r>
                  </m:oMath>
                </a14:m>
                <a:endParaRPr kumimoji="1" lang="en-US" altLang="ja-JP" sz="2000" b="1" dirty="0"/>
              </a:p>
              <a:p>
                <a:r>
                  <a:rPr kumimoji="1" lang="en-US" altLang="ja-JP" dirty="0"/>
                  <a:t>1</a:t>
                </a:r>
                <a:r>
                  <a:rPr kumimoji="1" lang="ja-JP" altLang="en-US" dirty="0"/>
                  <a:t>ステップで</a:t>
                </a:r>
                <a:r>
                  <a:rPr kumimoji="1" lang="en-US" altLang="ja-JP" dirty="0"/>
                  <a:t>Q</a:t>
                </a:r>
                <a:r>
                  <a:rPr kumimoji="1" lang="ja-JP" altLang="en-US" dirty="0"/>
                  <a:t>値をどの程度変化させるかを表す指標</a:t>
                </a:r>
                <a:endParaRPr kumimoji="1" lang="en-US" altLang="ja-JP" dirty="0"/>
              </a:p>
              <a:p>
                <a:endParaRPr kumimoji="1" lang="en-US" altLang="ja-JP" dirty="0"/>
              </a:p>
              <a:p>
                <a:r>
                  <a:rPr kumimoji="1" lang="ja-JP" altLang="en-US" sz="2000" b="1" dirty="0"/>
                  <a:t>・温度係数</a:t>
                </a:r>
                <a14:m>
                  <m:oMath xmlns:m="http://schemas.openxmlformats.org/officeDocument/2006/math">
                    <m:r>
                      <a:rPr kumimoji="1" lang="en-US" altLang="ja-JP" sz="2000" b="1" i="1" smtClean="0">
                        <a:latin typeface="Cambria Math" panose="02040503050406030204" pitchFamily="18" charset="0"/>
                      </a:rPr>
                      <m:t>𝑻</m:t>
                    </m:r>
                  </m:oMath>
                </a14:m>
                <a:endParaRPr kumimoji="1" lang="en-US" altLang="ja-JP" sz="2000" b="1" dirty="0"/>
              </a:p>
              <a:p>
                <a:r>
                  <a:rPr kumimoji="1" lang="en-US" altLang="ja-JP" dirty="0"/>
                  <a:t>SoftMax</a:t>
                </a:r>
                <a:r>
                  <a:rPr kumimoji="1" lang="ja-JP" altLang="en-US" dirty="0"/>
                  <a:t>関数において確率を調整するパラメータ</a:t>
                </a:r>
              </a:p>
            </p:txBody>
          </p:sp>
        </mc:Choice>
        <mc:Fallback xmlns="">
          <p:sp>
            <p:nvSpPr>
              <p:cNvPr id="9" name="テキスト ボックス 8">
                <a:extLst>
                  <a:ext uri="{FF2B5EF4-FFF2-40B4-BE49-F238E27FC236}">
                    <a16:creationId xmlns:a16="http://schemas.microsoft.com/office/drawing/2014/main" id="{0C368E8A-A313-6377-7AAD-E3892974A80A}"/>
                  </a:ext>
                </a:extLst>
              </p:cNvPr>
              <p:cNvSpPr txBox="1">
                <a:spLocks noRot="1" noChangeAspect="1" noMove="1" noResize="1" noEditPoints="1" noAdjustHandles="1" noChangeArrowheads="1" noChangeShapeType="1" noTextEdit="1"/>
              </p:cNvSpPr>
              <p:nvPr/>
            </p:nvSpPr>
            <p:spPr>
              <a:xfrm>
                <a:off x="8948257" y="2277347"/>
                <a:ext cx="3018506" cy="3200876"/>
              </a:xfrm>
              <a:prstGeom prst="rect">
                <a:avLst/>
              </a:prstGeom>
              <a:blipFill>
                <a:blip r:embed="rId4"/>
                <a:stretch>
                  <a:fillRect l="-2222" t="-1714" r="-1010" b="-1524"/>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1AF93B22-BBEB-0442-2AD2-8B28B5B180A0}"/>
                  </a:ext>
                </a:extLst>
              </p:cNvPr>
              <p:cNvSpPr txBox="1"/>
              <p:nvPr/>
            </p:nvSpPr>
            <p:spPr>
              <a:xfrm>
                <a:off x="1456266" y="2913159"/>
                <a:ext cx="6785478" cy="3356881"/>
              </a:xfrm>
              <a:prstGeom prst="rect">
                <a:avLst/>
              </a:prstGeom>
              <a:noFill/>
              <a:ln w="19050">
                <a:solidFill>
                  <a:schemeClr val="tx1"/>
                </a:solidFill>
              </a:ln>
            </p:spPr>
            <p:txBody>
              <a:bodyPr wrap="square" rtlCol="0">
                <a:spAutoFit/>
              </a:bodyPr>
              <a:lstStyle/>
              <a:p>
                <a:pPr marL="342900" indent="-342900">
                  <a:buAutoNum type="arabicPeriod"/>
                </a:pPr>
                <a:r>
                  <a:rPr kumimoji="1" lang="ja-JP" altLang="en-US" dirty="0"/>
                  <a:t>初期学習条件の設定　</a:t>
                </a:r>
                <a:br>
                  <a:rPr kumimoji="1" lang="en-US" altLang="ja-JP" dirty="0"/>
                </a:br>
                <a:r>
                  <a:rPr kumimoji="1" lang="ja-JP" altLang="en-US" dirty="0"/>
                  <a:t>・反復回数</a:t>
                </a:r>
                <a:r>
                  <a:rPr kumimoji="1" lang="en-US" altLang="ja-JP" dirty="0"/>
                  <a:t>: 1,</a:t>
                </a:r>
                <a:r>
                  <a:rPr kumimoji="1" lang="ja-JP" altLang="en-US" dirty="0"/>
                  <a:t> </a:t>
                </a:r>
                <a14:m>
                  <m:oMath xmlns:m="http://schemas.openxmlformats.org/officeDocument/2006/math">
                    <m:r>
                      <a:rPr kumimoji="1" lang="en-US" altLang="ja-JP" b="0" i="1" smtClean="0">
                        <a:latin typeface="Cambria Math" panose="02040503050406030204" pitchFamily="18" charset="0"/>
                      </a:rPr>
                      <m:t>𝑄</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𝑎</m:t>
                        </m:r>
                      </m:e>
                    </m:d>
                  </m:oMath>
                </a14:m>
                <a:r>
                  <a:rPr kumimoji="1" lang="en-US" altLang="ja-JP" dirty="0"/>
                  <a:t>:</a:t>
                </a:r>
                <a:r>
                  <a:rPr kumimoji="1" lang="ja-JP" altLang="en-US" dirty="0"/>
                  <a:t>任意の値</a:t>
                </a:r>
                <a:r>
                  <a:rPr kumimoji="1" lang="en-US" altLang="ja-JP" dirty="0"/>
                  <a:t>, </a:t>
                </a:r>
                <a14:m>
                  <m:oMath xmlns:m="http://schemas.openxmlformats.org/officeDocument/2006/math">
                    <m:r>
                      <a:rPr kumimoji="1" lang="ja-JP" altLang="en-US" i="1" smtClean="0">
                        <a:latin typeface="Cambria Math" panose="02040503050406030204" pitchFamily="18" charset="0"/>
                      </a:rPr>
                      <m:t>𝛼</m:t>
                    </m:r>
                    <m:r>
                      <a:rPr kumimoji="1" lang="en-US" altLang="ja-JP" b="0" i="1" smtClean="0">
                        <a:latin typeface="Cambria Math" panose="02040503050406030204" pitchFamily="18" charset="0"/>
                      </a:rPr>
                      <m:t>=0.1, </m:t>
                    </m:r>
                    <m:r>
                      <a:rPr kumimoji="1" lang="ja-JP" altLang="en-US" b="0" i="1" smtClean="0">
                        <a:latin typeface="Cambria Math" panose="02040503050406030204" pitchFamily="18" charset="0"/>
                      </a:rPr>
                      <m:t>𝛾</m:t>
                    </m:r>
                    <m:r>
                      <a:rPr kumimoji="1" lang="en-US" altLang="ja-JP" b="0" i="1" smtClean="0">
                        <a:latin typeface="Cambria Math" panose="02040503050406030204" pitchFamily="18" charset="0"/>
                      </a:rPr>
                      <m:t>=0.5, </m:t>
                    </m:r>
                    <m:r>
                      <a:rPr kumimoji="1" lang="en-US" altLang="ja-JP" b="0" i="1" smtClean="0">
                        <a:latin typeface="Cambria Math" panose="02040503050406030204" pitchFamily="18" charset="0"/>
                      </a:rPr>
                      <m:t>𝑇</m:t>
                    </m:r>
                    <m:r>
                      <a:rPr kumimoji="1" lang="en-US" altLang="ja-JP" b="0" i="1" smtClean="0">
                        <a:latin typeface="Cambria Math" panose="02040503050406030204" pitchFamily="18" charset="0"/>
                      </a:rPr>
                      <m:t>=1</m:t>
                    </m:r>
                  </m:oMath>
                </a14:m>
                <a:endParaRPr kumimoji="1" lang="en-US" altLang="ja-JP" dirty="0"/>
              </a:p>
              <a:p>
                <a:pPr marL="342900" indent="-342900">
                  <a:buAutoNum type="arabicPeriod"/>
                </a:pPr>
                <a:r>
                  <a:rPr kumimoji="1" lang="ja-JP" altLang="en-US" dirty="0"/>
                  <a:t>最大反復回数に達するまでの手順</a:t>
                </a:r>
                <a:br>
                  <a:rPr kumimoji="1" lang="en-US" altLang="ja-JP" dirty="0"/>
                </a:br>
                <a:r>
                  <a:rPr kumimoji="1" lang="ja-JP" altLang="en-US" dirty="0"/>
                  <a:t>・現在の状態ベクトル</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𝑠</m:t>
                        </m:r>
                      </m:e>
                      <m:sub>
                        <m:r>
                          <a:rPr kumimoji="1" lang="en-US" altLang="ja-JP" b="0" i="1" smtClean="0">
                            <a:latin typeface="Cambria Math" panose="02040503050406030204" pitchFamily="18" charset="0"/>
                          </a:rPr>
                          <m:t>𝑡</m:t>
                        </m:r>
                      </m:sub>
                    </m:sSub>
                  </m:oMath>
                </a14:m>
                <a:r>
                  <a:rPr kumimoji="1" lang="ja-JP" altLang="en-US" dirty="0"/>
                  <a:t>を観測</a:t>
                </a:r>
                <a:br>
                  <a:rPr kumimoji="1" lang="en-US" altLang="ja-JP" dirty="0"/>
                </a:br>
                <a:r>
                  <a:rPr kumimoji="1" lang="ja-JP" altLang="en-US" dirty="0"/>
                  <a:t>・</a:t>
                </a:r>
                <a:r>
                  <a:rPr kumimoji="1" lang="en-US" altLang="ja-JP" dirty="0"/>
                  <a:t>SoftMax</a:t>
                </a:r>
                <a:r>
                  <a:rPr kumimoji="1" lang="ja-JP" altLang="en-US" dirty="0"/>
                  <a:t>方針を使用して行動</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𝑎</m:t>
                        </m:r>
                      </m:e>
                      <m:sub>
                        <m:r>
                          <a:rPr kumimoji="1" lang="en-US" altLang="ja-JP" b="0" i="1" smtClean="0">
                            <a:latin typeface="Cambria Math" panose="02040503050406030204" pitchFamily="18" charset="0"/>
                          </a:rPr>
                          <m:t>𝑡</m:t>
                        </m:r>
                      </m:sub>
                    </m:sSub>
                  </m:oMath>
                </a14:m>
                <a:r>
                  <a:rPr kumimoji="1" lang="ja-JP" altLang="en-US" dirty="0"/>
                  <a:t>を選択 </a:t>
                </a:r>
                <a:r>
                  <a:rPr kumimoji="1" lang="en-US" altLang="ja-JP" dirty="0"/>
                  <a:t>[</a:t>
                </a:r>
                <a:r>
                  <a:rPr kumimoji="1" lang="ja-JP" altLang="en-US" b="1" dirty="0"/>
                  <a:t>方策</a:t>
                </a:r>
                <a:r>
                  <a:rPr kumimoji="1" lang="en-US" altLang="ja-JP" dirty="0"/>
                  <a:t>]</a:t>
                </a:r>
                <a:br>
                  <a:rPr kumimoji="1" lang="en-US" altLang="ja-JP" dirty="0"/>
                </a:br>
                <a:r>
                  <a:rPr kumimoji="1" lang="ja-JP" altLang="en-US" dirty="0"/>
                  <a:t>➡確率　</a:t>
                </a:r>
                <a14:m>
                  <m:oMath xmlns:m="http://schemas.openxmlformats.org/officeDocument/2006/math">
                    <m:r>
                      <a:rPr kumimoji="1" lang="en-US" altLang="ja-JP" b="1" i="1" smtClean="0">
                        <a:latin typeface="Cambria Math" panose="02040503050406030204" pitchFamily="18" charset="0"/>
                      </a:rPr>
                      <m:t>𝒑</m:t>
                    </m:r>
                    <m:r>
                      <a:rPr kumimoji="1" lang="en-US" altLang="ja-JP" b="1" i="1" smtClean="0">
                        <a:latin typeface="Cambria Math" panose="02040503050406030204" pitchFamily="18" charset="0"/>
                      </a:rPr>
                      <m:t>(</m:t>
                    </m:r>
                    <m:r>
                      <a:rPr kumimoji="1" lang="en-US" altLang="ja-JP" b="1" i="1" smtClean="0">
                        <a:latin typeface="Cambria Math" panose="02040503050406030204" pitchFamily="18" charset="0"/>
                      </a:rPr>
                      <m:t>𝒂</m:t>
                    </m:r>
                    <m:r>
                      <a:rPr kumimoji="1" lang="en-US" altLang="ja-JP" b="1" i="1" smtClean="0">
                        <a:latin typeface="Cambria Math" panose="02040503050406030204" pitchFamily="18" charset="0"/>
                      </a:rPr>
                      <m:t>)</m:t>
                    </m:r>
                  </m:oMath>
                </a14:m>
                <a:r>
                  <a:rPr kumimoji="1" lang="en-US" altLang="ja-JP" b="1" dirty="0"/>
                  <a:t> </a:t>
                </a:r>
                <a14:m>
                  <m:oMath xmlns:m="http://schemas.openxmlformats.org/officeDocument/2006/math">
                    <m:r>
                      <a:rPr kumimoji="1" lang="en-US" altLang="ja-JP" b="1" i="0" smtClean="0">
                        <a:latin typeface="Cambria Math" panose="02040503050406030204" pitchFamily="18" charset="0"/>
                      </a:rPr>
                      <m:t>= </m:t>
                    </m:r>
                    <m:f>
                      <m:fPr>
                        <m:ctrlPr>
                          <a:rPr kumimoji="1" lang="en-US" altLang="ja-JP" b="1" i="1" smtClean="0">
                            <a:latin typeface="Cambria Math" panose="02040503050406030204" pitchFamily="18" charset="0"/>
                          </a:rPr>
                        </m:ctrlPr>
                      </m:fPr>
                      <m:num>
                        <m:sSup>
                          <m:sSupPr>
                            <m:ctrlPr>
                              <a:rPr kumimoji="1" lang="en-US" altLang="ja-JP" b="1" i="1" smtClean="0">
                                <a:latin typeface="Cambria Math" panose="02040503050406030204" pitchFamily="18" charset="0"/>
                              </a:rPr>
                            </m:ctrlPr>
                          </m:sSupPr>
                          <m:e>
                            <m:r>
                              <a:rPr kumimoji="1" lang="en-US" altLang="ja-JP" b="1" i="1" smtClean="0">
                                <a:latin typeface="Cambria Math" panose="02040503050406030204" pitchFamily="18" charset="0"/>
                              </a:rPr>
                              <m:t>𝒆</m:t>
                            </m:r>
                          </m:e>
                          <m:sup>
                            <m:f>
                              <m:fPr>
                                <m:ctrlPr>
                                  <a:rPr kumimoji="1" lang="en-US" altLang="ja-JP" b="1" i="1" smtClean="0">
                                    <a:latin typeface="Cambria Math" panose="02040503050406030204" pitchFamily="18" charset="0"/>
                                  </a:rPr>
                                </m:ctrlPr>
                              </m:fPr>
                              <m:num>
                                <m:r>
                                  <a:rPr kumimoji="1" lang="en-US" altLang="ja-JP" b="1" i="1" smtClean="0">
                                    <a:latin typeface="Cambria Math" panose="02040503050406030204" pitchFamily="18" charset="0"/>
                                  </a:rPr>
                                  <m:t>𝑸</m:t>
                                </m:r>
                                <m:d>
                                  <m:dPr>
                                    <m:ctrlPr>
                                      <a:rPr kumimoji="1" lang="en-US" altLang="ja-JP" b="1" i="1" smtClean="0">
                                        <a:latin typeface="Cambria Math" panose="02040503050406030204" pitchFamily="18" charset="0"/>
                                      </a:rPr>
                                    </m:ctrlPr>
                                  </m:dPr>
                                  <m:e>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𝒔</m:t>
                                        </m:r>
                                      </m:e>
                                      <m:sub>
                                        <m:r>
                                          <a:rPr kumimoji="1" lang="en-US" altLang="ja-JP" b="1" i="1" smtClean="0">
                                            <a:latin typeface="Cambria Math" panose="02040503050406030204" pitchFamily="18" charset="0"/>
                                          </a:rPr>
                                          <m:t>𝒕</m:t>
                                        </m:r>
                                      </m:sub>
                                    </m:sSub>
                                    <m:r>
                                      <a:rPr kumimoji="1" lang="en-US" altLang="ja-JP" b="1" i="1" smtClean="0">
                                        <a:latin typeface="Cambria Math" panose="02040503050406030204" pitchFamily="18" charset="0"/>
                                      </a:rPr>
                                      <m:t>,</m:t>
                                    </m:r>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𝒂</m:t>
                                        </m:r>
                                      </m:e>
                                      <m:sub>
                                        <m:r>
                                          <a:rPr kumimoji="1" lang="en-US" altLang="ja-JP" b="1" i="1" smtClean="0">
                                            <a:latin typeface="Cambria Math" panose="02040503050406030204" pitchFamily="18" charset="0"/>
                                          </a:rPr>
                                          <m:t>𝒕</m:t>
                                        </m:r>
                                      </m:sub>
                                    </m:sSub>
                                  </m:e>
                                </m:d>
                              </m:num>
                              <m:den>
                                <m:r>
                                  <a:rPr kumimoji="1" lang="en-US" altLang="ja-JP" b="1" i="1" smtClean="0">
                                    <a:latin typeface="Cambria Math" panose="02040503050406030204" pitchFamily="18" charset="0"/>
                                  </a:rPr>
                                  <m:t>𝑻</m:t>
                                </m:r>
                              </m:den>
                            </m:f>
                          </m:sup>
                        </m:sSup>
                      </m:num>
                      <m:den>
                        <m:nary>
                          <m:naryPr>
                            <m:chr m:val="∑"/>
                            <m:ctrlPr>
                              <a:rPr kumimoji="1" lang="en-US" altLang="ja-JP" b="1" i="1" smtClean="0">
                                <a:latin typeface="Cambria Math" panose="02040503050406030204" pitchFamily="18" charset="0"/>
                              </a:rPr>
                            </m:ctrlPr>
                          </m:naryPr>
                          <m:sub>
                            <m:r>
                              <m:rPr>
                                <m:brk m:alnAt="23"/>
                              </m:rPr>
                              <a:rPr kumimoji="1" lang="en-US" altLang="ja-JP" b="1" i="1" smtClean="0">
                                <a:latin typeface="Cambria Math" panose="02040503050406030204" pitchFamily="18" charset="0"/>
                              </a:rPr>
                              <m:t>𝒌</m:t>
                            </m:r>
                            <m:r>
                              <a:rPr kumimoji="1" lang="en-US" altLang="ja-JP" b="1" i="1" smtClean="0">
                                <a:latin typeface="Cambria Math" panose="02040503050406030204" pitchFamily="18" charset="0"/>
                              </a:rPr>
                              <m:t>=</m:t>
                            </m:r>
                            <m:r>
                              <a:rPr kumimoji="1" lang="en-US" altLang="ja-JP" b="1" i="1" smtClean="0">
                                <a:latin typeface="Cambria Math" panose="02040503050406030204" pitchFamily="18" charset="0"/>
                              </a:rPr>
                              <m:t>𝟏</m:t>
                            </m:r>
                          </m:sub>
                          <m:sup>
                            <m:r>
                              <a:rPr kumimoji="1" lang="en-US" altLang="ja-JP" b="1" i="1" smtClean="0">
                                <a:latin typeface="Cambria Math" panose="02040503050406030204" pitchFamily="18" charset="0"/>
                              </a:rPr>
                              <m:t>𝒏</m:t>
                            </m:r>
                          </m:sup>
                          <m:e>
                            <m:sSup>
                              <m:sSupPr>
                                <m:ctrlPr>
                                  <a:rPr kumimoji="1" lang="en-US" altLang="ja-JP" b="1" i="1">
                                    <a:latin typeface="Cambria Math" panose="02040503050406030204" pitchFamily="18" charset="0"/>
                                  </a:rPr>
                                </m:ctrlPr>
                              </m:sSupPr>
                              <m:e>
                                <m:r>
                                  <a:rPr kumimoji="1" lang="en-US" altLang="ja-JP" b="1" i="1">
                                    <a:latin typeface="Cambria Math" panose="02040503050406030204" pitchFamily="18" charset="0"/>
                                  </a:rPr>
                                  <m:t>𝒆</m:t>
                                </m:r>
                              </m:e>
                              <m:sup>
                                <m:f>
                                  <m:fPr>
                                    <m:ctrlPr>
                                      <a:rPr kumimoji="1" lang="en-US" altLang="ja-JP" b="1" i="1">
                                        <a:latin typeface="Cambria Math" panose="02040503050406030204" pitchFamily="18" charset="0"/>
                                      </a:rPr>
                                    </m:ctrlPr>
                                  </m:fPr>
                                  <m:num>
                                    <m:r>
                                      <a:rPr kumimoji="1" lang="en-US" altLang="ja-JP" b="1" i="1">
                                        <a:latin typeface="Cambria Math" panose="02040503050406030204" pitchFamily="18" charset="0"/>
                                      </a:rPr>
                                      <m:t>𝑸</m:t>
                                    </m:r>
                                    <m:d>
                                      <m:dPr>
                                        <m:ctrlPr>
                                          <a:rPr kumimoji="1" lang="en-US" altLang="ja-JP" b="1" i="1">
                                            <a:latin typeface="Cambria Math" panose="02040503050406030204" pitchFamily="18" charset="0"/>
                                          </a:rPr>
                                        </m:ctrlPr>
                                      </m:dPr>
                                      <m:e>
                                        <m:sSub>
                                          <m:sSubPr>
                                            <m:ctrlPr>
                                              <a:rPr kumimoji="1" lang="en-US" altLang="ja-JP" b="1" i="1">
                                                <a:latin typeface="Cambria Math" panose="02040503050406030204" pitchFamily="18" charset="0"/>
                                              </a:rPr>
                                            </m:ctrlPr>
                                          </m:sSubPr>
                                          <m:e>
                                            <m:r>
                                              <a:rPr kumimoji="1" lang="en-US" altLang="ja-JP" b="1" i="1">
                                                <a:latin typeface="Cambria Math" panose="02040503050406030204" pitchFamily="18" charset="0"/>
                                              </a:rPr>
                                              <m:t>𝒔</m:t>
                                            </m:r>
                                          </m:e>
                                          <m:sub>
                                            <m:r>
                                              <a:rPr kumimoji="1" lang="en-US" altLang="ja-JP" b="1" i="1" smtClean="0">
                                                <a:latin typeface="Cambria Math" panose="02040503050406030204" pitchFamily="18" charset="0"/>
                                              </a:rPr>
                                              <m:t>𝒕</m:t>
                                            </m:r>
                                          </m:sub>
                                        </m:sSub>
                                        <m:r>
                                          <a:rPr kumimoji="1" lang="en-US" altLang="ja-JP" b="1" i="1">
                                            <a:latin typeface="Cambria Math" panose="02040503050406030204" pitchFamily="18" charset="0"/>
                                          </a:rPr>
                                          <m:t>,</m:t>
                                        </m:r>
                                        <m:sSub>
                                          <m:sSubPr>
                                            <m:ctrlPr>
                                              <a:rPr kumimoji="1" lang="en-US" altLang="ja-JP" b="1" i="1">
                                                <a:latin typeface="Cambria Math" panose="02040503050406030204" pitchFamily="18" charset="0"/>
                                              </a:rPr>
                                            </m:ctrlPr>
                                          </m:sSubPr>
                                          <m:e>
                                            <m:r>
                                              <a:rPr kumimoji="1" lang="en-US" altLang="ja-JP" b="1" i="1">
                                                <a:latin typeface="Cambria Math" panose="02040503050406030204" pitchFamily="18" charset="0"/>
                                              </a:rPr>
                                              <m:t>𝒂</m:t>
                                            </m:r>
                                          </m:e>
                                          <m:sub>
                                            <m:r>
                                              <a:rPr kumimoji="1" lang="en-US" altLang="ja-JP" b="1" i="1" smtClean="0">
                                                <a:latin typeface="Cambria Math" panose="02040503050406030204" pitchFamily="18" charset="0"/>
                                              </a:rPr>
                                              <m:t>𝒌</m:t>
                                            </m:r>
                                          </m:sub>
                                        </m:sSub>
                                      </m:e>
                                    </m:d>
                                  </m:num>
                                  <m:den>
                                    <m:r>
                                      <a:rPr kumimoji="1" lang="en-US" altLang="ja-JP" b="1" i="1">
                                        <a:latin typeface="Cambria Math" panose="02040503050406030204" pitchFamily="18" charset="0"/>
                                      </a:rPr>
                                      <m:t>𝑻</m:t>
                                    </m:r>
                                  </m:den>
                                </m:f>
                              </m:sup>
                            </m:sSup>
                          </m:e>
                        </m:nary>
                      </m:den>
                    </m:f>
                  </m:oMath>
                </a14:m>
                <a:r>
                  <a:rPr kumimoji="1" lang="ja-JP" altLang="en-US" b="1" dirty="0"/>
                  <a:t>  </a:t>
                </a:r>
                <a:r>
                  <a:rPr kumimoji="1" lang="ja-JP" altLang="en-US" dirty="0"/>
                  <a:t>で行動を選択</a:t>
                </a:r>
                <a:br>
                  <a:rPr kumimoji="1" lang="en-US" altLang="ja-JP" dirty="0"/>
                </a:br>
                <a:r>
                  <a:rPr kumimoji="1" lang="ja-JP" altLang="en-US" dirty="0"/>
                  <a:t>・行動を</a:t>
                </a:r>
                <a:r>
                  <a:rPr kumimoji="1" lang="en-US" altLang="ja-JP" dirty="0"/>
                  <a:t>HIV</a:t>
                </a:r>
                <a:r>
                  <a:rPr kumimoji="1" lang="ja-JP" altLang="en-US" dirty="0"/>
                  <a:t>システムの動的モデルに適用</a:t>
                </a:r>
                <a:r>
                  <a:rPr kumimoji="1" lang="en-US" altLang="ja-JP" dirty="0"/>
                  <a:t>. </a:t>
                </a:r>
                <a:r>
                  <a:rPr kumimoji="1" lang="ja-JP" altLang="en-US" dirty="0"/>
                  <a:t>新たな状態</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𝑠</m:t>
                        </m:r>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+1</m:t>
                        </m:r>
                      </m:sub>
                    </m:sSub>
                  </m:oMath>
                </a14:m>
                <a:r>
                  <a:rPr kumimoji="1" lang="ja-JP" altLang="en-US" dirty="0"/>
                  <a:t>を観測</a:t>
                </a:r>
                <a:br>
                  <a:rPr kumimoji="1" lang="en-US" altLang="ja-JP" dirty="0"/>
                </a:br>
                <a:r>
                  <a:rPr kumimoji="1" lang="ja-JP" altLang="en-US" dirty="0"/>
                  <a:t>・即時報酬</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+1</m:t>
                        </m:r>
                      </m:sub>
                    </m:sSub>
                  </m:oMath>
                </a14:m>
                <a:r>
                  <a:rPr kumimoji="1" lang="ja-JP" altLang="en-US" dirty="0"/>
                  <a:t>を受け取る</a:t>
                </a:r>
                <a:r>
                  <a:rPr kumimoji="1" lang="en-US" altLang="ja-JP" dirty="0"/>
                  <a:t>. </a:t>
                </a:r>
                <a:br>
                  <a:rPr kumimoji="1" lang="en-US" altLang="ja-JP" dirty="0"/>
                </a:br>
                <a:r>
                  <a:rPr kumimoji="1" lang="ja-JP" altLang="en-US" dirty="0"/>
                  <a:t>・行動価値関数</a:t>
                </a:r>
                <a:r>
                  <a:rPr kumimoji="1" lang="en-US" altLang="ja-JP" dirty="0"/>
                  <a:t>Q(s,a)</a:t>
                </a:r>
                <a:r>
                  <a:rPr kumimoji="1" lang="ja-JP" altLang="en-US" dirty="0"/>
                  <a:t>を更新則に基づき</a:t>
                </a:r>
                <a:r>
                  <a:rPr kumimoji="1" lang="en-US" altLang="ja-JP" dirty="0"/>
                  <a:t>, </a:t>
                </a:r>
                <a:r>
                  <a:rPr kumimoji="1" lang="ja-JP" altLang="en-US" dirty="0"/>
                  <a:t>更新する</a:t>
                </a:r>
                <a:r>
                  <a:rPr kumimoji="1" lang="en-US" altLang="ja-JP" dirty="0"/>
                  <a:t>. </a:t>
                </a:r>
                <a:br>
                  <a:rPr kumimoji="1" lang="en-US" altLang="ja-JP" dirty="0"/>
                </a:br>
                <a:r>
                  <a:rPr kumimoji="1" lang="ja-JP" altLang="en-US" dirty="0"/>
                  <a:t>・</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𝑠</m:t>
                        </m:r>
                      </m:e>
                      <m:sub>
                        <m:r>
                          <a:rPr kumimoji="1" lang="en-US" altLang="ja-JP" b="0" i="1" smtClean="0">
                            <a:latin typeface="Cambria Math" panose="02040503050406030204" pitchFamily="18" charset="0"/>
                          </a:rPr>
                          <m:t>𝑡</m:t>
                        </m:r>
                      </m:sub>
                    </m:sSub>
                    <m:r>
                      <a:rPr kumimoji="1" lang="ja-JP" altLang="en-US" i="1">
                        <a:latin typeface="Cambria Math" panose="02040503050406030204" pitchFamily="18" charset="0"/>
                      </a:rPr>
                      <m:t>を</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𝑠</m:t>
                        </m:r>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+1</m:t>
                        </m:r>
                      </m:sub>
                    </m:sSub>
                  </m:oMath>
                </a14:m>
                <a:r>
                  <a:rPr kumimoji="1" lang="ja-JP" altLang="en-US" dirty="0"/>
                  <a:t>に更新</a:t>
                </a:r>
                <a:endParaRPr kumimoji="1" lang="en-US" altLang="ja-JP" dirty="0"/>
              </a:p>
            </p:txBody>
          </p:sp>
        </mc:Choice>
        <mc:Fallback xmlns="">
          <p:sp>
            <p:nvSpPr>
              <p:cNvPr id="12" name="テキスト ボックス 11">
                <a:extLst>
                  <a:ext uri="{FF2B5EF4-FFF2-40B4-BE49-F238E27FC236}">
                    <a16:creationId xmlns:a16="http://schemas.microsoft.com/office/drawing/2014/main" id="{1AF93B22-BBEB-0442-2AD2-8B28B5B180A0}"/>
                  </a:ext>
                </a:extLst>
              </p:cNvPr>
              <p:cNvSpPr txBox="1">
                <a:spLocks noRot="1" noChangeAspect="1" noMove="1" noResize="1" noEditPoints="1" noAdjustHandles="1" noChangeArrowheads="1" noChangeShapeType="1" noTextEdit="1"/>
              </p:cNvSpPr>
              <p:nvPr/>
            </p:nvSpPr>
            <p:spPr>
              <a:xfrm>
                <a:off x="1456266" y="2913159"/>
                <a:ext cx="6785478" cy="3356881"/>
              </a:xfrm>
              <a:prstGeom prst="rect">
                <a:avLst/>
              </a:prstGeom>
              <a:blipFill>
                <a:blip r:embed="rId5"/>
                <a:stretch>
                  <a:fillRect l="-717" t="-1444" r="-90" b="-903"/>
                </a:stretch>
              </a:blipFill>
              <a:ln w="19050">
                <a:solidFill>
                  <a:schemeClr val="tx1"/>
                </a:solidFill>
              </a:ln>
            </p:spPr>
            <p:txBody>
              <a:bodyPr/>
              <a:lstStyle/>
              <a:p>
                <a:r>
                  <a:rPr lang="ja-JP" altLang="en-US">
                    <a:noFill/>
                  </a:rPr>
                  <a:t> </a:t>
                </a:r>
              </a:p>
            </p:txBody>
          </p:sp>
        </mc:Fallback>
      </mc:AlternateContent>
      <p:sp>
        <p:nvSpPr>
          <p:cNvPr id="13" name="テキスト ボックス 12">
            <a:extLst>
              <a:ext uri="{FF2B5EF4-FFF2-40B4-BE49-F238E27FC236}">
                <a16:creationId xmlns:a16="http://schemas.microsoft.com/office/drawing/2014/main" id="{36672F82-E459-F8F1-BA8D-D3EB0F7CE21A}"/>
              </a:ext>
            </a:extLst>
          </p:cNvPr>
          <p:cNvSpPr txBox="1"/>
          <p:nvPr/>
        </p:nvSpPr>
        <p:spPr>
          <a:xfrm>
            <a:off x="79944" y="2401464"/>
            <a:ext cx="5847891" cy="461665"/>
          </a:xfrm>
          <a:prstGeom prst="rect">
            <a:avLst/>
          </a:prstGeom>
          <a:noFill/>
        </p:spPr>
        <p:txBody>
          <a:bodyPr wrap="square" rtlCol="0">
            <a:spAutoFit/>
          </a:bodyPr>
          <a:lstStyle/>
          <a:p>
            <a:r>
              <a:rPr kumimoji="1" lang="en-US" altLang="ja-JP" sz="2400" b="1" dirty="0"/>
              <a:t>Q-learning</a:t>
            </a:r>
            <a:r>
              <a:rPr kumimoji="1" lang="ja-JP" altLang="en-US" sz="2400" b="1" dirty="0"/>
              <a:t> アルゴリズム</a:t>
            </a:r>
          </a:p>
        </p:txBody>
      </p:sp>
    </p:spTree>
    <p:extLst>
      <p:ext uri="{BB962C8B-B14F-4D97-AF65-F5344CB8AC3E}">
        <p14:creationId xmlns:p14="http://schemas.microsoft.com/office/powerpoint/2010/main" val="3307433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DA9788-7F59-4087-646C-F584D788F6AE}"/>
              </a:ext>
            </a:extLst>
          </p:cNvPr>
          <p:cNvSpPr>
            <a:spLocks noGrp="1"/>
          </p:cNvSpPr>
          <p:nvPr>
            <p:ph type="title"/>
          </p:nvPr>
        </p:nvSpPr>
        <p:spPr>
          <a:xfrm>
            <a:off x="1066010" y="-92659"/>
            <a:ext cx="11250012" cy="796023"/>
          </a:xfrm>
        </p:spPr>
        <p:txBody>
          <a:bodyPr>
            <a:normAutofit fontScale="90000"/>
          </a:bodyPr>
          <a:lstStyle/>
          <a:p>
            <a:r>
              <a:rPr lang="en-US" altLang="ja-JP" b="1" dirty="0"/>
              <a:t>4.</a:t>
            </a:r>
            <a:r>
              <a:rPr lang="ja-JP" altLang="en-US" dirty="0"/>
              <a:t>シミュレーション</a:t>
            </a:r>
            <a:r>
              <a:rPr lang="en-US" altLang="ja-JP" dirty="0"/>
              <a:t>	</a:t>
            </a:r>
            <a:r>
              <a:rPr lang="ja-JP" altLang="en-US" dirty="0"/>
              <a:t>　</a:t>
            </a:r>
            <a:r>
              <a:rPr lang="en-US" altLang="ja-JP" dirty="0"/>
              <a:t>4.1 </a:t>
            </a:r>
            <a:r>
              <a:rPr lang="ja-JP" altLang="en-US" sz="3600" dirty="0"/>
              <a:t>条件設定</a:t>
            </a:r>
            <a:r>
              <a:rPr lang="en-US" altLang="ja-JP" sz="3600" dirty="0"/>
              <a:t>(</a:t>
            </a:r>
            <a:r>
              <a:rPr lang="ja-JP" altLang="en-US" sz="3600" dirty="0"/>
              <a:t>①初期値が既知</a:t>
            </a:r>
            <a:r>
              <a:rPr lang="en-US" altLang="ja-JP" sz="3600" dirty="0"/>
              <a:t>)</a:t>
            </a:r>
            <a:endParaRPr kumimoji="1" lang="ja-JP" altLang="en-US" dirty="0"/>
          </a:p>
        </p:txBody>
      </p:sp>
      <p:sp>
        <p:nvSpPr>
          <p:cNvPr id="8" name="スライド番号プレースホルダー 7">
            <a:extLst>
              <a:ext uri="{FF2B5EF4-FFF2-40B4-BE49-F238E27FC236}">
                <a16:creationId xmlns:a16="http://schemas.microsoft.com/office/drawing/2014/main" id="{2024ABAD-1904-01C9-C46C-2C778D709795}"/>
              </a:ext>
            </a:extLst>
          </p:cNvPr>
          <p:cNvSpPr>
            <a:spLocks noGrp="1"/>
          </p:cNvSpPr>
          <p:nvPr>
            <p:ph type="sldNum" sz="quarter" idx="4294967295"/>
          </p:nvPr>
        </p:nvSpPr>
        <p:spPr>
          <a:xfrm>
            <a:off x="9900458" y="6459785"/>
            <a:ext cx="1312025" cy="365125"/>
          </a:xfrm>
        </p:spPr>
        <p:txBody>
          <a:bodyPr/>
          <a:lstStyle/>
          <a:p>
            <a:fld id="{E0107F97-1CD5-41F0-B842-C38020C26506}" type="slidenum">
              <a:rPr kumimoji="1" lang="ja-JP" altLang="en-US" smtClean="0"/>
              <a:t>7</a:t>
            </a:fld>
            <a:endParaRPr kumimoji="1" lang="ja-JP" altLang="en-US"/>
          </a:p>
        </p:txBody>
      </p:sp>
      <p:graphicFrame>
        <p:nvGraphicFramePr>
          <p:cNvPr id="4" name="表 3">
            <a:extLst>
              <a:ext uri="{FF2B5EF4-FFF2-40B4-BE49-F238E27FC236}">
                <a16:creationId xmlns:a16="http://schemas.microsoft.com/office/drawing/2014/main" id="{96887A0B-EAE5-3AB7-E6C2-629E5A90BE33}"/>
              </a:ext>
            </a:extLst>
          </p:cNvPr>
          <p:cNvGraphicFramePr>
            <a:graphicFrameLocks noGrp="1"/>
          </p:cNvGraphicFramePr>
          <p:nvPr>
            <p:extLst>
              <p:ext uri="{D42A27DB-BD31-4B8C-83A1-F6EECF244321}">
                <p14:modId xmlns:p14="http://schemas.microsoft.com/office/powerpoint/2010/main" val="2217900148"/>
              </p:ext>
            </p:extLst>
          </p:nvPr>
        </p:nvGraphicFramePr>
        <p:xfrm>
          <a:off x="5261047" y="1158970"/>
          <a:ext cx="6577110" cy="1663104"/>
        </p:xfrm>
        <a:graphic>
          <a:graphicData uri="http://schemas.openxmlformats.org/drawingml/2006/table">
            <a:tbl>
              <a:tblPr/>
              <a:tblGrid>
                <a:gridCol w="1825894">
                  <a:extLst>
                    <a:ext uri="{9D8B030D-6E8A-4147-A177-3AD203B41FA5}">
                      <a16:colId xmlns:a16="http://schemas.microsoft.com/office/drawing/2014/main" val="870901467"/>
                    </a:ext>
                  </a:extLst>
                </a:gridCol>
                <a:gridCol w="1383535">
                  <a:extLst>
                    <a:ext uri="{9D8B030D-6E8A-4147-A177-3AD203B41FA5}">
                      <a16:colId xmlns:a16="http://schemas.microsoft.com/office/drawing/2014/main" val="4163107523"/>
                    </a:ext>
                  </a:extLst>
                </a:gridCol>
                <a:gridCol w="1383535">
                  <a:extLst>
                    <a:ext uri="{9D8B030D-6E8A-4147-A177-3AD203B41FA5}">
                      <a16:colId xmlns:a16="http://schemas.microsoft.com/office/drawing/2014/main" val="1635736438"/>
                    </a:ext>
                  </a:extLst>
                </a:gridCol>
                <a:gridCol w="668381">
                  <a:extLst>
                    <a:ext uri="{9D8B030D-6E8A-4147-A177-3AD203B41FA5}">
                      <a16:colId xmlns:a16="http://schemas.microsoft.com/office/drawing/2014/main" val="4258137740"/>
                    </a:ext>
                  </a:extLst>
                </a:gridCol>
                <a:gridCol w="1315765">
                  <a:extLst>
                    <a:ext uri="{9D8B030D-6E8A-4147-A177-3AD203B41FA5}">
                      <a16:colId xmlns:a16="http://schemas.microsoft.com/office/drawing/2014/main" val="2019806291"/>
                    </a:ext>
                  </a:extLst>
                </a:gridCol>
              </a:tblGrid>
              <a:tr h="261863">
                <a:tc>
                  <a:txBody>
                    <a:bodyPr/>
                    <a:lstStyle/>
                    <a:p>
                      <a:pPr algn="l" fontAlgn="t" latinLnBrk="0"/>
                      <a:r>
                        <a:rPr lang="ja-JP" altLang="en-US" sz="1400" dirty="0">
                          <a:effectLst/>
                        </a:rPr>
                        <a:t>未感染</a:t>
                      </a:r>
                      <a:r>
                        <a:rPr lang="en-US" altLang="ja-JP" sz="1400" dirty="0">
                          <a:effectLst/>
                        </a:rPr>
                        <a:t>CD4</a:t>
                      </a:r>
                      <a:r>
                        <a:rPr lang="ja-JP" altLang="en-US" sz="1400" dirty="0">
                          <a:effectLst/>
                        </a:rPr>
                        <a:t>細胞　</a:t>
                      </a:r>
                      <a:r>
                        <a:rPr lang="en-US" sz="1500" dirty="0">
                          <a:effectLst/>
                        </a:rPr>
                        <a:t>(X)</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a:txBody>
                    <a:bodyPr/>
                    <a:lstStyle/>
                    <a:p>
                      <a:pPr algn="l" fontAlgn="t" latinLnBrk="0"/>
                      <a:r>
                        <a:rPr lang="en-US" sz="1500">
                          <a:effectLst/>
                        </a:rPr>
                        <a:t>600 ≤ </a:t>
                      </a:r>
                      <a:r>
                        <a:rPr lang="en-US" sz="1500" i="1">
                          <a:effectLst/>
                        </a:rPr>
                        <a:t>X</a:t>
                      </a:r>
                      <a:r>
                        <a:rPr lang="en-US" sz="1500">
                          <a:effectLst/>
                        </a:rPr>
                        <a:t> &lt; 610</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a:txBody>
                    <a:bodyPr/>
                    <a:lstStyle/>
                    <a:p>
                      <a:pPr algn="l" fontAlgn="t" latinLnBrk="0"/>
                      <a:r>
                        <a:rPr lang="en-US" sz="1500" dirty="0">
                          <a:effectLst/>
                        </a:rPr>
                        <a:t>610 ≤ X &lt; 620</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a:txBody>
                    <a:bodyPr/>
                    <a:lstStyle/>
                    <a:p>
                      <a:pPr algn="l" fontAlgn="t" latinLnBrk="0"/>
                      <a:r>
                        <a:rPr lang="en-US" altLang="ja-JP" sz="1500" dirty="0">
                          <a:effectLst/>
                        </a:rPr>
                        <a:t>…</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a:txBody>
                    <a:bodyPr/>
                    <a:lstStyle/>
                    <a:p>
                      <a:pPr algn="l" fontAlgn="t" latinLnBrk="0"/>
                      <a:r>
                        <a:rPr lang="en-US" sz="1500" dirty="0">
                          <a:effectLst/>
                        </a:rPr>
                        <a:t>2990 ≤ </a:t>
                      </a:r>
                      <a:r>
                        <a:rPr lang="en-US" sz="1500" i="1" dirty="0">
                          <a:effectLst/>
                        </a:rPr>
                        <a:t>X</a:t>
                      </a:r>
                      <a:r>
                        <a:rPr lang="en-US" sz="1500" dirty="0">
                          <a:effectLst/>
                        </a:rPr>
                        <a:t> &lt; 3000</a:t>
                      </a:r>
                      <a:endParaRPr lang="en-US" altLang="ja-JP" sz="1500" dirty="0">
                        <a:effectLst/>
                      </a:endParaRPr>
                    </a:p>
                  </a:txBody>
                  <a:tcPr marL="24292" marR="24292" marT="24292" marB="24292">
                    <a:lnL w="9525" cap="flat" cmpd="sng" algn="ctr">
                      <a:solidFill>
                        <a:srgbClr val="D5D5D5"/>
                      </a:solidFill>
                      <a:prstDash val="solid"/>
                      <a:round/>
                      <a:headEnd type="none" w="med" len="med"/>
                      <a:tailEnd type="none" w="med" len="med"/>
                    </a:lnL>
                    <a:lnR w="4763"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extLst>
                  <a:ext uri="{0D108BD9-81ED-4DB2-BD59-A6C34878D82A}">
                    <a16:rowId xmlns:a16="http://schemas.microsoft.com/office/drawing/2014/main" val="4284293875"/>
                  </a:ext>
                </a:extLst>
              </a:tr>
              <a:tr h="261863">
                <a:tc gridSpan="5">
                  <a:txBody>
                    <a:bodyPr/>
                    <a:lstStyle/>
                    <a:p>
                      <a:pPr algn="l" fontAlgn="t" latinLnBrk="0"/>
                      <a:r>
                        <a:rPr lang="ja-JP" altLang="en-US" sz="1500" dirty="0">
                          <a:effectLst/>
                          <a:latin typeface="Merriweather Sans" panose="020F0502020204030204" pitchFamily="2" charset="0"/>
                        </a:rPr>
                        <a:t>遊離ウイルス　</a:t>
                      </a:r>
                      <a:r>
                        <a:rPr lang="en-US" sz="1500" dirty="0">
                          <a:effectLst/>
                          <a:latin typeface="Merriweather Sans" panose="020F0502020204030204" pitchFamily="2" charset="0"/>
                        </a:rPr>
                        <a:t>(V)</a:t>
                      </a:r>
                    </a:p>
                  </a:txBody>
                  <a:tcPr marL="24292" marR="24292" marT="24292" marB="24292">
                    <a:lnL w="9525" cap="flat" cmpd="sng" algn="ctr">
                      <a:solidFill>
                        <a:srgbClr val="D5D5D5"/>
                      </a:solidFill>
                      <a:prstDash val="solid"/>
                      <a:round/>
                      <a:headEnd type="none" w="med" len="med"/>
                      <a:tailEnd type="none" w="med" len="med"/>
                    </a:lnL>
                    <a:lnR w="4763"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937159978"/>
                  </a:ext>
                </a:extLst>
              </a:tr>
              <a:tr h="261863">
                <a:tc>
                  <a:txBody>
                    <a:bodyPr/>
                    <a:lstStyle/>
                    <a:p>
                      <a:pPr algn="l" fontAlgn="t" latinLnBrk="0"/>
                      <a:r>
                        <a:rPr lang="en-US" sz="1500">
                          <a:effectLst/>
                          <a:latin typeface="Merriweather Sans" panose="020F0502020204030204" pitchFamily="2" charset="0"/>
                        </a:rPr>
                        <a:t> 0  ≤ </a:t>
                      </a:r>
                      <a:r>
                        <a:rPr lang="en-US" sz="1500" i="1">
                          <a:effectLst/>
                          <a:latin typeface="Merriweather Sans" panose="020F0502020204030204" pitchFamily="2" charset="0"/>
                        </a:rPr>
                        <a:t>V</a:t>
                      </a:r>
                      <a:r>
                        <a:rPr lang="en-US" sz="1500">
                          <a:effectLst/>
                          <a:latin typeface="Merriweather Sans" panose="020F0502020204030204" pitchFamily="2" charset="0"/>
                        </a:rPr>
                        <a:t> &lt; 0.05</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a:txBody>
                    <a:bodyPr/>
                    <a:lstStyle/>
                    <a:p>
                      <a:pPr algn="l" fontAlgn="t" latinLnBrk="0"/>
                      <a:r>
                        <a:rPr lang="en-US" sz="1500" dirty="0">
                          <a:effectLst/>
                          <a:latin typeface="Merriweather Sans" panose="020F0502020204030204" pitchFamily="2" charset="0"/>
                        </a:rPr>
                        <a:t>State 1</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a:txBody>
                    <a:bodyPr/>
                    <a:lstStyle/>
                    <a:p>
                      <a:pPr algn="l" fontAlgn="t" latinLnBrk="0"/>
                      <a:r>
                        <a:rPr lang="en-US" sz="1500" dirty="0">
                          <a:effectLst/>
                          <a:latin typeface="Merriweather Sans" panose="020F0502020204030204" pitchFamily="2" charset="0"/>
                        </a:rPr>
                        <a:t>State 101</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a:txBody>
                    <a:bodyPr/>
                    <a:lstStyle/>
                    <a:p>
                      <a:pPr algn="l" fontAlgn="t" latinLnBrk="0"/>
                      <a:r>
                        <a:rPr lang="en-US" altLang="ja-JP" sz="1500">
                          <a:effectLst/>
                          <a:latin typeface="Merriweather Sans" panose="020F0502020204030204" pitchFamily="2" charset="0"/>
                        </a:rPr>
                        <a:t>…</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a:txBody>
                    <a:bodyPr/>
                    <a:lstStyle/>
                    <a:p>
                      <a:pPr algn="l" fontAlgn="t" latinLnBrk="0"/>
                      <a:r>
                        <a:rPr lang="en-US" sz="1500">
                          <a:effectLst/>
                          <a:latin typeface="Merriweather Sans" panose="020F0502020204030204" pitchFamily="2" charset="0"/>
                        </a:rPr>
                        <a:t>State 23901</a:t>
                      </a:r>
                      <a:endParaRPr lang="en-US" altLang="ja-JP" sz="1500">
                        <a:effectLst/>
                        <a:latin typeface="Merriweather Sans" panose="020F0502020204030204" pitchFamily="2" charset="0"/>
                      </a:endParaRPr>
                    </a:p>
                  </a:txBody>
                  <a:tcPr marL="24292" marR="24292" marT="24292" marB="24292">
                    <a:lnL w="9525" cap="flat" cmpd="sng" algn="ctr">
                      <a:solidFill>
                        <a:srgbClr val="D5D5D5"/>
                      </a:solidFill>
                      <a:prstDash val="solid"/>
                      <a:round/>
                      <a:headEnd type="none" w="med" len="med"/>
                      <a:tailEnd type="none" w="med" len="med"/>
                    </a:lnL>
                    <a:lnR w="4763"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extLst>
                  <a:ext uri="{0D108BD9-81ED-4DB2-BD59-A6C34878D82A}">
                    <a16:rowId xmlns:a16="http://schemas.microsoft.com/office/drawing/2014/main" val="309943650"/>
                  </a:ext>
                </a:extLst>
              </a:tr>
              <a:tr h="261863">
                <a:tc>
                  <a:txBody>
                    <a:bodyPr/>
                    <a:lstStyle/>
                    <a:p>
                      <a:pPr algn="l" fontAlgn="t" latinLnBrk="0"/>
                      <a:r>
                        <a:rPr lang="en-US" sz="1500">
                          <a:effectLst/>
                          <a:latin typeface="Merriweather Sans" panose="020F0502020204030204" pitchFamily="2" charset="0"/>
                        </a:rPr>
                        <a:t> 0.05 ≤ </a:t>
                      </a:r>
                      <a:r>
                        <a:rPr lang="en-US" sz="1500" i="1">
                          <a:effectLst/>
                          <a:latin typeface="Merriweather Sans" panose="020F0502020204030204" pitchFamily="2" charset="0"/>
                        </a:rPr>
                        <a:t>V</a:t>
                      </a:r>
                      <a:r>
                        <a:rPr lang="en-US" sz="1500">
                          <a:effectLst/>
                          <a:latin typeface="Merriweather Sans" panose="020F0502020204030204" pitchFamily="2" charset="0"/>
                        </a:rPr>
                        <a:t> &lt; 0.1</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a:txBody>
                    <a:bodyPr/>
                    <a:lstStyle/>
                    <a:p>
                      <a:pPr algn="l" fontAlgn="t" latinLnBrk="0"/>
                      <a:r>
                        <a:rPr lang="en-US" sz="1500">
                          <a:effectLst/>
                          <a:latin typeface="Merriweather Sans" panose="020F0502020204030204" pitchFamily="2" charset="0"/>
                        </a:rPr>
                        <a:t>State 2</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a:txBody>
                    <a:bodyPr/>
                    <a:lstStyle/>
                    <a:p>
                      <a:pPr algn="l" fontAlgn="t" latinLnBrk="0"/>
                      <a:r>
                        <a:rPr lang="en-US" sz="1500" dirty="0">
                          <a:effectLst/>
                          <a:latin typeface="Merriweather Sans" panose="020F0502020204030204" pitchFamily="2" charset="0"/>
                        </a:rPr>
                        <a:t>State 102</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a:txBody>
                    <a:bodyPr/>
                    <a:lstStyle/>
                    <a:p>
                      <a:pPr algn="l" fontAlgn="t" latinLnBrk="0"/>
                      <a:r>
                        <a:rPr lang="en-US" altLang="ja-JP" sz="1500">
                          <a:effectLst/>
                          <a:latin typeface="Merriweather Sans" panose="020F0502020204030204" pitchFamily="2" charset="0"/>
                        </a:rPr>
                        <a:t>…</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a:txBody>
                    <a:bodyPr/>
                    <a:lstStyle/>
                    <a:p>
                      <a:pPr algn="l" fontAlgn="t" latinLnBrk="0"/>
                      <a:r>
                        <a:rPr lang="en-US" sz="1500">
                          <a:effectLst/>
                          <a:latin typeface="Merriweather Sans" panose="020F0502020204030204" pitchFamily="2" charset="0"/>
                        </a:rPr>
                        <a:t>State 23902</a:t>
                      </a:r>
                      <a:endParaRPr lang="en-US" altLang="ja-JP" sz="1500">
                        <a:effectLst/>
                        <a:latin typeface="Merriweather Sans" panose="020F0502020204030204" pitchFamily="2" charset="0"/>
                      </a:endParaRPr>
                    </a:p>
                  </a:txBody>
                  <a:tcPr marL="24292" marR="24292" marT="24292" marB="24292">
                    <a:lnL w="9525" cap="flat" cmpd="sng" algn="ctr">
                      <a:solidFill>
                        <a:srgbClr val="D5D5D5"/>
                      </a:solidFill>
                      <a:prstDash val="solid"/>
                      <a:round/>
                      <a:headEnd type="none" w="med" len="med"/>
                      <a:tailEnd type="none" w="med" len="med"/>
                    </a:lnL>
                    <a:lnR w="4763"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extLst>
                  <a:ext uri="{0D108BD9-81ED-4DB2-BD59-A6C34878D82A}">
                    <a16:rowId xmlns:a16="http://schemas.microsoft.com/office/drawing/2014/main" val="1221805225"/>
                  </a:ext>
                </a:extLst>
              </a:tr>
              <a:tr h="261863">
                <a:tc>
                  <a:txBody>
                    <a:bodyPr/>
                    <a:lstStyle/>
                    <a:p>
                      <a:pPr algn="l" fontAlgn="t" latinLnBrk="0"/>
                      <a:r>
                        <a:rPr lang="ja-JP" altLang="en-US" sz="1500">
                          <a:effectLst/>
                          <a:latin typeface="Merriweather Sans" panose="020F0502020204030204" pitchFamily="2" charset="0"/>
                        </a:rPr>
                        <a:t> ⋮</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a:txBody>
                    <a:bodyPr/>
                    <a:lstStyle/>
                    <a:p>
                      <a:pPr algn="l" fontAlgn="t" latinLnBrk="0"/>
                      <a:r>
                        <a:rPr lang="ja-JP" altLang="en-US" sz="1500">
                          <a:effectLst/>
                          <a:latin typeface="Merriweather Sans" panose="020F0502020204030204" pitchFamily="2" charset="0"/>
                        </a:rPr>
                        <a:t>⋮</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a:txBody>
                    <a:bodyPr/>
                    <a:lstStyle/>
                    <a:p>
                      <a:pPr algn="l" fontAlgn="t" latinLnBrk="0"/>
                      <a:r>
                        <a:rPr lang="ja-JP" altLang="en-US" sz="1500">
                          <a:effectLst/>
                          <a:latin typeface="Merriweather Sans" panose="020F0502020204030204" pitchFamily="2" charset="0"/>
                        </a:rPr>
                        <a:t>⋮</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a:txBody>
                    <a:bodyPr/>
                    <a:lstStyle/>
                    <a:p>
                      <a:pPr algn="l" fontAlgn="t"/>
                      <a:r>
                        <a:rPr lang="ja-JP" altLang="en-US" sz="1500">
                          <a:effectLst/>
                          <a:latin typeface="Merriweather Sans" panose="020F0502020204030204" pitchFamily="2" charset="0"/>
                        </a:rPr>
                        <a:t> </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tc>
                  <a:txBody>
                    <a:bodyPr/>
                    <a:lstStyle/>
                    <a:p>
                      <a:pPr algn="l" fontAlgn="t"/>
                      <a:r>
                        <a:rPr lang="ja-JP" altLang="en-US" sz="1500">
                          <a:effectLst/>
                          <a:latin typeface="Merriweather Sans" panose="020F0502020204030204" pitchFamily="2" charset="0"/>
                        </a:rPr>
                        <a:t>⋮</a:t>
                      </a:r>
                    </a:p>
                  </a:txBody>
                  <a:tcPr marL="24292" marR="24292" marT="24292" marB="24292">
                    <a:lnL w="9525" cap="flat" cmpd="sng" algn="ctr">
                      <a:solidFill>
                        <a:srgbClr val="D5D5D5"/>
                      </a:solidFill>
                      <a:prstDash val="solid"/>
                      <a:round/>
                      <a:headEnd type="none" w="med" len="med"/>
                      <a:tailEnd type="none" w="med" len="med"/>
                    </a:lnL>
                    <a:lnR w="4763"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5D5D5"/>
                      </a:solidFill>
                      <a:prstDash val="solid"/>
                      <a:round/>
                      <a:headEnd type="none" w="med" len="med"/>
                      <a:tailEnd type="none" w="med" len="med"/>
                    </a:lnB>
                    <a:solidFill>
                      <a:srgbClr val="FFFFFF"/>
                    </a:solidFill>
                  </a:tcPr>
                </a:tc>
                <a:extLst>
                  <a:ext uri="{0D108BD9-81ED-4DB2-BD59-A6C34878D82A}">
                    <a16:rowId xmlns:a16="http://schemas.microsoft.com/office/drawing/2014/main" val="2732065399"/>
                  </a:ext>
                </a:extLst>
              </a:tr>
              <a:tr h="261863">
                <a:tc>
                  <a:txBody>
                    <a:bodyPr/>
                    <a:lstStyle/>
                    <a:p>
                      <a:pPr algn="l" fontAlgn="t" latinLnBrk="0"/>
                      <a:r>
                        <a:rPr lang="en-US" sz="1500">
                          <a:effectLst/>
                          <a:latin typeface="Merriweather Sans" panose="020F0502020204030204" pitchFamily="2" charset="0"/>
                        </a:rPr>
                        <a:t> 4.95 ≤ </a:t>
                      </a:r>
                      <a:r>
                        <a:rPr lang="en-US" sz="1500" i="1">
                          <a:effectLst/>
                          <a:latin typeface="Merriweather Sans" panose="020F0502020204030204" pitchFamily="2" charset="0"/>
                        </a:rPr>
                        <a:t>V</a:t>
                      </a:r>
                      <a:r>
                        <a:rPr lang="en-US" sz="1500">
                          <a:effectLst/>
                          <a:latin typeface="Merriweather Sans" panose="020F0502020204030204" pitchFamily="2" charset="0"/>
                        </a:rPr>
                        <a:t> &lt; 5</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FFFFFF"/>
                    </a:solidFill>
                  </a:tcPr>
                </a:tc>
                <a:tc>
                  <a:txBody>
                    <a:bodyPr/>
                    <a:lstStyle/>
                    <a:p>
                      <a:pPr algn="l" fontAlgn="t" latinLnBrk="0"/>
                      <a:r>
                        <a:rPr lang="en-US" sz="1500">
                          <a:effectLst/>
                          <a:latin typeface="Merriweather Sans" panose="020F0502020204030204" pitchFamily="2" charset="0"/>
                        </a:rPr>
                        <a:t>State 100</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FFFFFF"/>
                    </a:solidFill>
                  </a:tcPr>
                </a:tc>
                <a:tc>
                  <a:txBody>
                    <a:bodyPr/>
                    <a:lstStyle/>
                    <a:p>
                      <a:pPr algn="l" fontAlgn="t" latinLnBrk="0"/>
                      <a:r>
                        <a:rPr lang="en-US" sz="1500">
                          <a:effectLst/>
                          <a:latin typeface="Merriweather Sans" panose="020F0502020204030204" pitchFamily="2" charset="0"/>
                        </a:rPr>
                        <a:t>State 200</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FFFFFF"/>
                    </a:solidFill>
                  </a:tcPr>
                </a:tc>
                <a:tc>
                  <a:txBody>
                    <a:bodyPr/>
                    <a:lstStyle/>
                    <a:p>
                      <a:pPr algn="l" fontAlgn="t" latinLnBrk="0"/>
                      <a:r>
                        <a:rPr lang="en-US" altLang="ja-JP" sz="1500" dirty="0">
                          <a:effectLst/>
                          <a:latin typeface="Merriweather Sans" panose="020F0502020204030204" pitchFamily="2" charset="0"/>
                        </a:rPr>
                        <a:t>…</a:t>
                      </a:r>
                    </a:p>
                  </a:txBody>
                  <a:tcPr marL="24292" marR="24292" marT="24292" marB="24292">
                    <a:lnL w="9525" cap="flat" cmpd="sng" algn="ctr">
                      <a:solidFill>
                        <a:srgbClr val="D5D5D5"/>
                      </a:solidFill>
                      <a:prstDash val="solid"/>
                      <a:round/>
                      <a:headEnd type="none" w="med" len="med"/>
                      <a:tailEnd type="none" w="med" len="med"/>
                    </a:lnL>
                    <a:lnR w="9525"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FFFFFF"/>
                    </a:solidFill>
                  </a:tcPr>
                </a:tc>
                <a:tc>
                  <a:txBody>
                    <a:bodyPr/>
                    <a:lstStyle/>
                    <a:p>
                      <a:pPr algn="l" fontAlgn="t" latinLnBrk="0"/>
                      <a:r>
                        <a:rPr lang="en-US" sz="1500" dirty="0">
                          <a:effectLst/>
                          <a:latin typeface="Merriweather Sans" panose="020F0502020204030204" pitchFamily="2" charset="0"/>
                        </a:rPr>
                        <a:t>State 24000</a:t>
                      </a:r>
                      <a:endParaRPr lang="en-US" altLang="ja-JP" sz="1500" dirty="0">
                        <a:effectLst/>
                        <a:latin typeface="Merriweather Sans" panose="020F0502020204030204" pitchFamily="2" charset="0"/>
                      </a:endParaRPr>
                    </a:p>
                  </a:txBody>
                  <a:tcPr marL="24292" marR="24292" marT="24292" marB="24292">
                    <a:lnL w="9525" cap="flat" cmpd="sng" algn="ctr">
                      <a:solidFill>
                        <a:srgbClr val="D5D5D5"/>
                      </a:solidFill>
                      <a:prstDash val="solid"/>
                      <a:round/>
                      <a:headEnd type="none" w="med" len="med"/>
                      <a:tailEnd type="none" w="med" len="med"/>
                    </a:lnL>
                    <a:lnR w="4763" cap="flat" cmpd="sng" algn="ctr">
                      <a:solidFill>
                        <a:srgbClr val="D5D5D5"/>
                      </a:solidFill>
                      <a:prstDash val="solid"/>
                      <a:round/>
                      <a:headEnd type="none" w="med" len="med"/>
                      <a:tailEnd type="none" w="med" len="med"/>
                    </a:lnR>
                    <a:lnT w="9525" cap="flat" cmpd="sng" algn="ctr">
                      <a:solidFill>
                        <a:srgbClr val="D5D5D5"/>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FFFFFF"/>
                    </a:solidFill>
                  </a:tcPr>
                </a:tc>
                <a:extLst>
                  <a:ext uri="{0D108BD9-81ED-4DB2-BD59-A6C34878D82A}">
                    <a16:rowId xmlns:a16="http://schemas.microsoft.com/office/drawing/2014/main" val="104905789"/>
                  </a:ext>
                </a:extLst>
              </a:tr>
            </a:tbl>
          </a:graphicData>
        </a:graphic>
      </p:graphicFrame>
      <p:sp>
        <p:nvSpPr>
          <p:cNvPr id="5" name="テキスト ボックス 4">
            <a:extLst>
              <a:ext uri="{FF2B5EF4-FFF2-40B4-BE49-F238E27FC236}">
                <a16:creationId xmlns:a16="http://schemas.microsoft.com/office/drawing/2014/main" id="{ABDB6527-4B38-0999-DE9A-D89A9C9076A2}"/>
              </a:ext>
            </a:extLst>
          </p:cNvPr>
          <p:cNvSpPr txBox="1"/>
          <p:nvPr/>
        </p:nvSpPr>
        <p:spPr>
          <a:xfrm>
            <a:off x="5724530" y="746501"/>
            <a:ext cx="5830432" cy="369332"/>
          </a:xfrm>
          <a:prstGeom prst="rect">
            <a:avLst/>
          </a:prstGeom>
          <a:noFill/>
        </p:spPr>
        <p:txBody>
          <a:bodyPr wrap="square" rtlCol="0">
            <a:spAutoFit/>
          </a:bodyPr>
          <a:lstStyle/>
          <a:p>
            <a:r>
              <a:rPr kumimoji="1" lang="en-US" altLang="ja-JP" dirty="0"/>
              <a:t>Table 1: </a:t>
            </a:r>
            <a:r>
              <a:rPr kumimoji="1" lang="ja-JP" altLang="en-US" dirty="0"/>
              <a:t>未感染</a:t>
            </a:r>
            <a:r>
              <a:rPr kumimoji="1" lang="en-US" altLang="ja-JP" dirty="0"/>
              <a:t>CD4</a:t>
            </a:r>
            <a:r>
              <a:rPr kumimoji="1" lang="ja-JP" altLang="en-US" dirty="0"/>
              <a:t>細胞と遊離ウイルスを含む</a:t>
            </a:r>
            <a:r>
              <a:rPr kumimoji="1" lang="en-US" altLang="ja-JP" dirty="0"/>
              <a:t>2</a:t>
            </a:r>
            <a:r>
              <a:rPr kumimoji="1" lang="ja-JP" altLang="en-US" dirty="0"/>
              <a:t>次元状態</a:t>
            </a: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6276695B-01F7-523A-7BE5-F2DC304D92ED}"/>
                  </a:ext>
                </a:extLst>
              </p:cNvPr>
              <p:cNvSpPr txBox="1"/>
              <p:nvPr/>
            </p:nvSpPr>
            <p:spPr>
              <a:xfrm>
                <a:off x="-7096" y="871375"/>
                <a:ext cx="5202912" cy="2339102"/>
              </a:xfrm>
              <a:prstGeom prst="rect">
                <a:avLst/>
              </a:prstGeom>
              <a:noFill/>
            </p:spPr>
            <p:txBody>
              <a:bodyPr wrap="square" rtlCol="0">
                <a:spAutoFit/>
              </a:bodyPr>
              <a:lstStyle/>
              <a:p>
                <a:r>
                  <a:rPr kumimoji="1" lang="ja-JP" altLang="en-US" sz="2400" b="1" dirty="0"/>
                  <a:t>・状態空間</a:t>
                </a:r>
                <a:r>
                  <a:rPr kumimoji="1" lang="en-US" altLang="ja-JP" sz="2400" b="1" dirty="0"/>
                  <a:t> </a:t>
                </a:r>
                <a14:m>
                  <m:oMath xmlns:m="http://schemas.openxmlformats.org/officeDocument/2006/math">
                    <m:r>
                      <a:rPr kumimoji="1" lang="en-US" altLang="ja-JP" sz="2400" b="1" i="1" smtClean="0">
                        <a:latin typeface="Cambria Math" panose="02040503050406030204" pitchFamily="18" charset="0"/>
                      </a:rPr>
                      <m:t>𝒔</m:t>
                    </m:r>
                  </m:oMath>
                </a14:m>
                <a:endParaRPr kumimoji="1" lang="en-US" altLang="ja-JP" sz="2400" b="1" dirty="0"/>
              </a:p>
              <a:p>
                <a:r>
                  <a:rPr kumimoji="1" lang="ja-JP" altLang="en-US" dirty="0"/>
                  <a:t>　未感染</a:t>
                </a:r>
                <a:r>
                  <a:rPr kumimoji="1" lang="en-US" altLang="ja-JP"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CD4</a:t>
                </a:r>
                <a:r>
                  <a:rPr kumimoji="1" lang="ja-JP" altLang="en-US"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細胞</a:t>
                </a:r>
                <a:r>
                  <a:rPr kumimoji="1" lang="en-US" altLang="ja-JP"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(X)</a:t>
                </a:r>
                <a:r>
                  <a:rPr kumimoji="1" lang="ja-JP" altLang="en-US" sz="2000" dirty="0">
                    <a:solidFill>
                      <a:prstClr val="black">
                        <a:lumMod val="75000"/>
                        <a:lumOff val="25000"/>
                      </a:prstClr>
                    </a:solidFill>
                    <a:latin typeface="Calibri" panose="020F0502020204030204"/>
                    <a:ea typeface="ＭＳ Ｐゴシック" panose="020B0600070205080204" pitchFamily="50" charset="-128"/>
                  </a:rPr>
                  <a:t>を</a:t>
                </a:r>
                <a:r>
                  <a:rPr kumimoji="1" lang="en-US" altLang="ja-JP" sz="2000" dirty="0"/>
                  <a:t>240</a:t>
                </a:r>
                <a:r>
                  <a:rPr kumimoji="1" lang="ja-JP" altLang="en-US" sz="2000" dirty="0"/>
                  <a:t>等分</a:t>
                </a:r>
                <a:r>
                  <a:rPr kumimoji="1" lang="en-US" altLang="ja-JP" sz="2000" dirty="0"/>
                  <a:t>, </a:t>
                </a:r>
              </a:p>
              <a:p>
                <a:r>
                  <a:rPr kumimoji="1" lang="ja-JP" altLang="en-US" sz="2000" dirty="0">
                    <a:solidFill>
                      <a:prstClr val="black">
                        <a:lumMod val="75000"/>
                        <a:lumOff val="25000"/>
                      </a:prstClr>
                    </a:solidFill>
                    <a:latin typeface="Calibri" panose="020F0502020204030204"/>
                    <a:ea typeface="ＭＳ Ｐゴシック" panose="020B0600070205080204" pitchFamily="50" charset="-128"/>
                  </a:rPr>
                  <a:t>　</a:t>
                </a:r>
                <a:r>
                  <a:rPr kumimoji="1" lang="ja-JP" altLang="en-US"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遊離ウイルス</a:t>
                </a:r>
                <a:r>
                  <a:rPr kumimoji="1" lang="en-US" altLang="ja-JP"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(V)</a:t>
                </a:r>
                <a:r>
                  <a:rPr kumimoji="1" lang="ja-JP" altLang="en-US" sz="2000" dirty="0"/>
                  <a:t>を</a:t>
                </a:r>
                <a:r>
                  <a:rPr kumimoji="1" lang="en-US" altLang="ja-JP" sz="2000" dirty="0"/>
                  <a:t>100</a:t>
                </a:r>
                <a:r>
                  <a:rPr kumimoji="1" lang="ja-JP" altLang="en-US" sz="2000" dirty="0"/>
                  <a:t>等分した</a:t>
                </a:r>
                <a:r>
                  <a:rPr kumimoji="1" lang="en-US" altLang="ja-JP"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2</a:t>
                </a:r>
                <a:r>
                  <a:rPr kumimoji="1" lang="ja-JP" altLang="en-US"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次元空間</a:t>
                </a:r>
                <a:endParaRPr kumimoji="1" lang="en-US" altLang="ja-JP"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endParaRPr>
              </a:p>
              <a:p>
                <a:endParaRPr kumimoji="1" lang="en-US" altLang="ja-JP"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endParaRPr>
              </a:p>
              <a:p>
                <a:r>
                  <a:rPr kumimoji="1" lang="ja-JP" altLang="en-US" sz="2400" b="1" dirty="0"/>
                  <a:t>・行動 </a:t>
                </a:r>
                <a14:m>
                  <m:oMath xmlns:m="http://schemas.openxmlformats.org/officeDocument/2006/math">
                    <m:r>
                      <a:rPr kumimoji="1" lang="en-US" altLang="ja-JP" sz="2400" b="1" i="1" smtClean="0">
                        <a:latin typeface="Cambria Math" panose="02040503050406030204" pitchFamily="18" charset="0"/>
                      </a:rPr>
                      <m:t>𝒖</m:t>
                    </m:r>
                  </m:oMath>
                </a14:m>
                <a:endParaRPr kumimoji="1" lang="en-US" altLang="ja-JP" sz="2400" b="1" dirty="0"/>
              </a:p>
              <a:p>
                <a:r>
                  <a:rPr kumimoji="1" lang="en-US" altLang="ja-JP" sz="1900" dirty="0">
                    <a:solidFill>
                      <a:prstClr val="black">
                        <a:lumMod val="75000"/>
                        <a:lumOff val="25000"/>
                      </a:prstClr>
                    </a:solidFill>
                    <a:latin typeface="Calibri" panose="020F0502020204030204"/>
                    <a:ea typeface="ＭＳ Ｐゴシック" panose="020B0600070205080204" pitchFamily="50" charset="-128"/>
                  </a:rPr>
                  <a:t> </a:t>
                </a:r>
                <a:r>
                  <a:rPr kumimoji="1" lang="ja-JP" altLang="en-US" sz="1900" dirty="0">
                    <a:solidFill>
                      <a:prstClr val="black">
                        <a:lumMod val="75000"/>
                        <a:lumOff val="25000"/>
                      </a:prstClr>
                    </a:solidFill>
                    <a:latin typeface="Calibri" panose="020F0502020204030204"/>
                    <a:ea typeface="ＭＳ Ｐゴシック" panose="020B0600070205080204" pitchFamily="50" charset="-128"/>
                  </a:rPr>
                  <a:t>　区間</a:t>
                </a:r>
                <a:r>
                  <a:rPr kumimoji="1" lang="en-US" altLang="ja-JP" sz="1900" dirty="0">
                    <a:solidFill>
                      <a:prstClr val="black">
                        <a:lumMod val="75000"/>
                        <a:lumOff val="25000"/>
                      </a:prstClr>
                    </a:solidFill>
                    <a:latin typeface="Calibri" panose="020F0502020204030204"/>
                    <a:ea typeface="ＭＳ Ｐゴシック" panose="020B0600070205080204" pitchFamily="50" charset="-128"/>
                  </a:rPr>
                  <a:t> </a:t>
                </a:r>
                <a:r>
                  <a:rPr kumimoji="1" lang="en-US" altLang="ja-JP" sz="19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[0,1]</a:t>
                </a:r>
                <a:r>
                  <a:rPr kumimoji="1" lang="ja-JP" altLang="en-US" sz="1900" dirty="0">
                    <a:solidFill>
                      <a:prstClr val="black">
                        <a:lumMod val="75000"/>
                        <a:lumOff val="25000"/>
                      </a:prstClr>
                    </a:solidFill>
                    <a:latin typeface="Calibri" panose="020F0502020204030204"/>
                    <a:ea typeface="ＭＳ Ｐゴシック" panose="020B0600070205080204" pitchFamily="50" charset="-128"/>
                  </a:rPr>
                  <a:t>において</a:t>
                </a:r>
                <a:r>
                  <a:rPr kumimoji="1" lang="en-US" altLang="ja-JP" sz="19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0.1</a:t>
                </a:r>
                <a:r>
                  <a:rPr kumimoji="1" lang="ja-JP" altLang="en-US" sz="19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ずつ</a:t>
                </a:r>
                <a:r>
                  <a:rPr kumimoji="1" lang="en-US" altLang="ja-JP" sz="19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 10</a:t>
                </a:r>
                <a:r>
                  <a:rPr kumimoji="1" lang="ja-JP" altLang="en-US" sz="19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個の等間隔に</a:t>
                </a:r>
                <a:endParaRPr kumimoji="1" lang="en-US" altLang="ja-JP" sz="19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endParaRPr>
              </a:p>
              <a:p>
                <a:r>
                  <a:rPr kumimoji="1" lang="ja-JP" altLang="en-US" sz="19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　分割</a:t>
                </a:r>
                <a:r>
                  <a:rPr kumimoji="1" lang="ja-JP" altLang="en-US" sz="1900" dirty="0">
                    <a:solidFill>
                      <a:prstClr val="black">
                        <a:lumMod val="75000"/>
                        <a:lumOff val="25000"/>
                      </a:prstClr>
                    </a:solidFill>
                    <a:latin typeface="Calibri" panose="020F0502020204030204"/>
                    <a:ea typeface="ＭＳ Ｐゴシック" panose="020B0600070205080204" pitchFamily="50" charset="-128"/>
                  </a:rPr>
                  <a:t>した量</a:t>
                </a:r>
                <a:endParaRPr kumimoji="1" lang="en-US" altLang="ja-JP" sz="1900" dirty="0">
                  <a:solidFill>
                    <a:prstClr val="black">
                      <a:lumMod val="75000"/>
                      <a:lumOff val="25000"/>
                    </a:prstClr>
                  </a:solidFill>
                  <a:latin typeface="Calibri" panose="020F0502020204030204"/>
                  <a:ea typeface="ＭＳ Ｐゴシック" panose="020B0600070205080204" pitchFamily="50" charset="-128"/>
                </a:endParaRPr>
              </a:p>
            </p:txBody>
          </p:sp>
        </mc:Choice>
        <mc:Fallback xmlns="">
          <p:sp>
            <p:nvSpPr>
              <p:cNvPr id="9" name="テキスト ボックス 8">
                <a:extLst>
                  <a:ext uri="{FF2B5EF4-FFF2-40B4-BE49-F238E27FC236}">
                    <a16:creationId xmlns:a16="http://schemas.microsoft.com/office/drawing/2014/main" id="{6276695B-01F7-523A-7BE5-F2DC304D92ED}"/>
                  </a:ext>
                </a:extLst>
              </p:cNvPr>
              <p:cNvSpPr txBox="1">
                <a:spLocks noRot="1" noChangeAspect="1" noMove="1" noResize="1" noEditPoints="1" noAdjustHandles="1" noChangeArrowheads="1" noChangeShapeType="1" noTextEdit="1"/>
              </p:cNvSpPr>
              <p:nvPr/>
            </p:nvSpPr>
            <p:spPr>
              <a:xfrm>
                <a:off x="-7096" y="871375"/>
                <a:ext cx="5202912" cy="2339102"/>
              </a:xfrm>
              <a:prstGeom prst="rect">
                <a:avLst/>
              </a:prstGeom>
              <a:blipFill>
                <a:blip r:embed="rId3"/>
                <a:stretch>
                  <a:fillRect l="-1876" t="-3125" b="-260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702B3FAA-5339-194C-5B16-31F3A91DB6EE}"/>
                  </a:ext>
                </a:extLst>
              </p:cNvPr>
              <p:cNvSpPr txBox="1"/>
              <p:nvPr/>
            </p:nvSpPr>
            <p:spPr>
              <a:xfrm>
                <a:off x="0" y="3352480"/>
                <a:ext cx="8549602" cy="1484124"/>
              </a:xfrm>
              <a:prstGeom prst="rect">
                <a:avLst/>
              </a:prstGeom>
              <a:noFill/>
            </p:spPr>
            <p:txBody>
              <a:bodyPr wrap="square">
                <a:spAutoFit/>
              </a:bodyPr>
              <a:lstStyle/>
              <a:p>
                <a:r>
                  <a:rPr kumimoji="1" lang="ja-JP" altLang="en-US" sz="2400" b="1" dirty="0">
                    <a:solidFill>
                      <a:prstClr val="black">
                        <a:lumMod val="75000"/>
                        <a:lumOff val="25000"/>
                      </a:prstClr>
                    </a:solidFill>
                    <a:latin typeface="Calibri" panose="020F0502020204030204"/>
                    <a:ea typeface="ＭＳ Ｐゴシック" panose="020B0600070205080204" pitchFamily="50" charset="-128"/>
                  </a:rPr>
                  <a:t>・報酬</a:t>
                </a:r>
                <a14:m>
                  <m:oMath xmlns:m="http://schemas.openxmlformats.org/officeDocument/2006/math">
                    <m:r>
                      <a:rPr kumimoji="1" lang="en-US" altLang="ja-JP" sz="2400" b="1" i="0" smtClean="0">
                        <a:latin typeface="Cambria Math" panose="02040503050406030204" pitchFamily="18" charset="0"/>
                      </a:rPr>
                      <m:t> </m:t>
                    </m:r>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𝒓</m:t>
                        </m:r>
                      </m:e>
                      <m:sub>
                        <m:r>
                          <a:rPr kumimoji="1" lang="en-US" altLang="ja-JP" sz="2400" b="1" i="1" smtClean="0">
                            <a:latin typeface="Cambria Math" panose="02040503050406030204" pitchFamily="18" charset="0"/>
                          </a:rPr>
                          <m:t>𝒕</m:t>
                        </m:r>
                      </m:sub>
                    </m:sSub>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𝒔</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𝒂</m:t>
                        </m:r>
                      </m:e>
                    </m:d>
                  </m:oMath>
                </a14:m>
                <a:endParaRPr lang="en-US" altLang="ja-JP" sz="2400" b="1" dirty="0"/>
              </a:p>
              <a:p>
                <a:r>
                  <a:rPr lang="ja-JP" altLang="en-US" sz="2000" dirty="0"/>
                  <a:t>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𝑡</m:t>
                        </m:r>
                      </m:sub>
                    </m:sSub>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𝑠</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𝑎</m:t>
                        </m:r>
                      </m:e>
                    </m:d>
                    <m:r>
                      <a:rPr kumimoji="1" lang="en-US" altLang="ja-JP" sz="2400" b="0" i="1" smtClean="0">
                        <a:latin typeface="Cambria Math" panose="02040503050406030204" pitchFamily="18" charset="0"/>
                      </a:rPr>
                      <m:t>=</m:t>
                    </m:r>
                    <m:func>
                      <m:funcPr>
                        <m:ctrlPr>
                          <a:rPr kumimoji="1" lang="en-US" altLang="ja-JP" sz="2400" b="0" i="1" smtClean="0">
                            <a:latin typeface="Cambria Math" panose="02040503050406030204" pitchFamily="18" charset="0"/>
                          </a:rPr>
                        </m:ctrlPr>
                      </m:funcPr>
                      <m:fName>
                        <m:r>
                          <m:rPr>
                            <m:sty m:val="p"/>
                          </m:rPr>
                          <a:rPr kumimoji="1" lang="en-US" altLang="ja-JP" sz="2400" b="0" i="0" smtClean="0">
                            <a:latin typeface="Cambria Math" panose="02040503050406030204" pitchFamily="18" charset="0"/>
                          </a:rPr>
                          <m:t>log</m:t>
                        </m:r>
                      </m:fName>
                      <m:e>
                        <m:d>
                          <m:dPr>
                            <m:ctrlPr>
                              <a:rPr kumimoji="1" lang="en-US" altLang="ja-JP" sz="2400" b="0" i="1" smtClean="0">
                                <a:latin typeface="Cambria Math" panose="02040503050406030204" pitchFamily="18" charset="0"/>
                              </a:rPr>
                            </m:ctrlPr>
                          </m:dPr>
                          <m:e>
                            <m:f>
                              <m:fPr>
                                <m:ctrlPr>
                                  <a:rPr kumimoji="1" lang="en-US" altLang="ja-JP" sz="2400" b="0" i="1" smtClean="0">
                                    <a:latin typeface="Cambria Math" panose="02040503050406030204" pitchFamily="18" charset="0"/>
                                  </a:rPr>
                                </m:ctrlPr>
                              </m:fPr>
                              <m:num>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𝑉</m:t>
                                    </m:r>
                                  </m:e>
                                  <m:sub>
                                    <m:r>
                                      <a:rPr kumimoji="1" lang="en-US" altLang="ja-JP" sz="2400" b="0" i="1" smtClean="0">
                                        <a:latin typeface="Cambria Math" panose="02040503050406030204" pitchFamily="18" charset="0"/>
                                      </a:rPr>
                                      <m:t>𝑜𝑙𝑑</m:t>
                                    </m:r>
                                  </m:sub>
                                </m:sSub>
                              </m:num>
                              <m:den>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𝑉</m:t>
                                    </m:r>
                                  </m:e>
                                  <m:sub>
                                    <m:r>
                                      <a:rPr kumimoji="1" lang="en-US" altLang="ja-JP" sz="2400" b="0" i="1" smtClean="0">
                                        <a:latin typeface="Cambria Math" panose="02040503050406030204" pitchFamily="18" charset="0"/>
                                      </a:rPr>
                                      <m:t>𝑛𝑒𝑤</m:t>
                                    </m:r>
                                  </m:sub>
                                </m:sSub>
                              </m:den>
                            </m:f>
                          </m:e>
                        </m:d>
                      </m:e>
                    </m:func>
                    <m:r>
                      <a:rPr kumimoji="1" lang="en-US" altLang="ja-JP" sz="2400" b="0" i="1" smtClean="0">
                        <a:latin typeface="Cambria Math" panose="02040503050406030204" pitchFamily="18" charset="0"/>
                      </a:rPr>
                      <m:t>−</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𝑑𝑜𝑠</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𝑒</m:t>
                            </m:r>
                          </m:e>
                          <m:sub>
                            <m:r>
                              <a:rPr kumimoji="1" lang="en-US" altLang="ja-JP" sz="2400" b="0" i="1" smtClean="0">
                                <a:latin typeface="Cambria Math" panose="02040503050406030204" pitchFamily="18" charset="0"/>
                              </a:rPr>
                              <m:t>𝑛𝑒𝑤</m:t>
                            </m:r>
                          </m:sub>
                        </m:sSub>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𝑑𝑜𝑠</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𝑒</m:t>
                            </m:r>
                          </m:e>
                          <m:sub>
                            <m:r>
                              <a:rPr kumimoji="1" lang="en-US" altLang="ja-JP" sz="2400" b="0" i="1" smtClean="0">
                                <a:latin typeface="Cambria Math" panose="02040503050406030204" pitchFamily="18" charset="0"/>
                              </a:rPr>
                              <m:t>𝑜𝑙𝑑</m:t>
                            </m:r>
                          </m:sub>
                        </m:sSub>
                      </m:e>
                    </m:d>
                    <m:r>
                      <m:rPr>
                        <m:sty m:val="p"/>
                      </m:rPr>
                      <a:rPr kumimoji="1" lang="en-US" altLang="ja-JP" sz="2400" b="0" i="0" smtClean="0">
                        <a:latin typeface="Cambria Math" panose="02040503050406030204" pitchFamily="18" charset="0"/>
                      </a:rPr>
                      <m:t>log</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𝑑𝑜𝑠</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𝑒</m:t>
                        </m:r>
                      </m:e>
                      <m:sub>
                        <m:r>
                          <a:rPr kumimoji="1" lang="en-US" altLang="ja-JP" sz="2400" b="0" i="1" smtClean="0">
                            <a:latin typeface="Cambria Math" panose="02040503050406030204" pitchFamily="18" charset="0"/>
                          </a:rPr>
                          <m:t>𝑛𝑒𝑤</m:t>
                        </m:r>
                      </m:sub>
                    </m:sSub>
                    <m:r>
                      <a:rPr kumimoji="1" lang="en-US" altLang="ja-JP" sz="2400" b="0" i="1" smtClean="0">
                        <a:latin typeface="Cambria Math" panose="02040503050406030204" pitchFamily="18" charset="0"/>
                      </a:rPr>
                      <m:t>)</m:t>
                    </m:r>
                  </m:oMath>
                </a14:m>
                <a:endParaRPr kumimoji="1" lang="en-US" altLang="ja-JP" sz="2400" dirty="0"/>
              </a:p>
              <a:p>
                <a:endParaRPr lang="ja-JP" altLang="en-US" sz="2400" dirty="0"/>
              </a:p>
            </p:txBody>
          </p:sp>
        </mc:Choice>
        <mc:Fallback xmlns="">
          <p:sp>
            <p:nvSpPr>
              <p:cNvPr id="14" name="テキスト ボックス 13">
                <a:extLst>
                  <a:ext uri="{FF2B5EF4-FFF2-40B4-BE49-F238E27FC236}">
                    <a16:creationId xmlns:a16="http://schemas.microsoft.com/office/drawing/2014/main" id="{702B3FAA-5339-194C-5B16-31F3A91DB6EE}"/>
                  </a:ext>
                </a:extLst>
              </p:cNvPr>
              <p:cNvSpPr txBox="1">
                <a:spLocks noRot="1" noChangeAspect="1" noMove="1" noResize="1" noEditPoints="1" noAdjustHandles="1" noChangeArrowheads="1" noChangeShapeType="1" noTextEdit="1"/>
              </p:cNvSpPr>
              <p:nvPr/>
            </p:nvSpPr>
            <p:spPr>
              <a:xfrm>
                <a:off x="0" y="3352480"/>
                <a:ext cx="8549602" cy="1484124"/>
              </a:xfrm>
              <a:prstGeom prst="rect">
                <a:avLst/>
              </a:prstGeom>
              <a:blipFill>
                <a:blip r:embed="rId4"/>
                <a:stretch>
                  <a:fillRect l="-1070" t="-4938"/>
                </a:stretch>
              </a:blipFill>
            </p:spPr>
            <p:txBody>
              <a:bodyPr/>
              <a:lstStyle/>
              <a:p>
                <a:r>
                  <a:rPr lang="ja-JP" altLang="en-US">
                    <a:noFill/>
                  </a:rPr>
                  <a:t> </a:t>
                </a:r>
              </a:p>
            </p:txBody>
          </p:sp>
        </mc:Fallback>
      </mc:AlternateContent>
      <p:sp>
        <p:nvSpPr>
          <p:cNvPr id="16" name="吹き出し: 四角形 15">
            <a:extLst>
              <a:ext uri="{FF2B5EF4-FFF2-40B4-BE49-F238E27FC236}">
                <a16:creationId xmlns:a16="http://schemas.microsoft.com/office/drawing/2014/main" id="{37001A74-40F8-748A-9CDB-0BD6F56EC52B}"/>
              </a:ext>
            </a:extLst>
          </p:cNvPr>
          <p:cNvSpPr/>
          <p:nvPr/>
        </p:nvSpPr>
        <p:spPr>
          <a:xfrm rot="10800000">
            <a:off x="242384" y="4596701"/>
            <a:ext cx="3037111" cy="682299"/>
          </a:xfrm>
          <a:prstGeom prst="wedgeRectCallo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EC882F91-73A7-6CCF-652A-45BDA6C71ED3}"/>
                  </a:ext>
                </a:extLst>
              </p:cNvPr>
              <p:cNvSpPr txBox="1"/>
              <p:nvPr/>
            </p:nvSpPr>
            <p:spPr>
              <a:xfrm>
                <a:off x="268868" y="4645464"/>
                <a:ext cx="3273686" cy="584775"/>
              </a:xfrm>
              <a:prstGeom prst="rect">
                <a:avLst/>
              </a:prstGeom>
              <a:noFill/>
            </p:spPr>
            <p:txBody>
              <a:bodyPr wrap="square">
                <a:spAutoFit/>
              </a:bodyPr>
              <a:lstStyle/>
              <a:p>
                <a14:m>
                  <m:oMath xmlns:m="http://schemas.openxmlformats.org/officeDocument/2006/math">
                    <m:sSub>
                      <m:sSubPr>
                        <m:ctrlPr>
                          <a:rPr kumimoji="1" lang="en-US" altLang="ja-JP" sz="1600" b="0" i="1" smtClean="0">
                            <a:latin typeface="Cambria Math" panose="02040503050406030204" pitchFamily="18" charset="0"/>
                          </a:rPr>
                        </m:ctrlPr>
                      </m:sSubPr>
                      <m:e>
                        <m:r>
                          <a:rPr kumimoji="1" lang="en-US" altLang="ja-JP" sz="1600" b="0" i="1" smtClean="0">
                            <a:latin typeface="Cambria Math" panose="02040503050406030204" pitchFamily="18" charset="0"/>
                          </a:rPr>
                          <m:t>𝑉</m:t>
                        </m:r>
                      </m:e>
                      <m:sub>
                        <m:r>
                          <a:rPr kumimoji="1" lang="en-US" altLang="ja-JP" sz="1600" b="0" i="1" smtClean="0">
                            <a:latin typeface="Cambria Math" panose="02040503050406030204" pitchFamily="18" charset="0"/>
                          </a:rPr>
                          <m:t>𝑜𝑙𝑑</m:t>
                        </m:r>
                      </m:sub>
                    </m:sSub>
                  </m:oMath>
                </a14:m>
                <a:r>
                  <a:rPr kumimoji="1" lang="en-US" altLang="ja-JP" sz="1600" dirty="0"/>
                  <a:t>: </a:t>
                </a:r>
                <a:r>
                  <a:rPr kumimoji="1" lang="ja-JP" altLang="en-US" sz="1600" dirty="0"/>
                  <a:t>前の状態の遊離ウイルス</a:t>
                </a:r>
                <a:endParaRPr kumimoji="1" lang="en-US" altLang="ja-JP" sz="1600" dirty="0"/>
              </a:p>
              <a:p>
                <a14:m>
                  <m:oMath xmlns:m="http://schemas.openxmlformats.org/officeDocument/2006/math">
                    <m:sSub>
                      <m:sSubPr>
                        <m:ctrlPr>
                          <a:rPr kumimoji="1" lang="en-US" altLang="ja-JP" sz="1600" b="0" i="1" smtClean="0">
                            <a:latin typeface="Cambria Math" panose="02040503050406030204" pitchFamily="18" charset="0"/>
                          </a:rPr>
                        </m:ctrlPr>
                      </m:sSubPr>
                      <m:e>
                        <m:r>
                          <a:rPr kumimoji="1" lang="en-US" altLang="ja-JP" sz="1600" b="0" i="1" smtClean="0">
                            <a:latin typeface="Cambria Math" panose="02040503050406030204" pitchFamily="18" charset="0"/>
                          </a:rPr>
                          <m:t>𝑉</m:t>
                        </m:r>
                      </m:e>
                      <m:sub>
                        <m:r>
                          <a:rPr kumimoji="1" lang="en-US" altLang="ja-JP" sz="1600" b="0" i="1" smtClean="0">
                            <a:latin typeface="Cambria Math" panose="02040503050406030204" pitchFamily="18" charset="0"/>
                          </a:rPr>
                          <m:t>𝑛𝑒𝑤</m:t>
                        </m:r>
                      </m:sub>
                    </m:sSub>
                    <m:r>
                      <a:rPr kumimoji="1" lang="en-US" altLang="ja-JP" sz="1600" b="0" i="1" smtClean="0">
                        <a:latin typeface="Cambria Math" panose="02040503050406030204" pitchFamily="18" charset="0"/>
                      </a:rPr>
                      <m:t>:</m:t>
                    </m:r>
                  </m:oMath>
                </a14:m>
                <a:r>
                  <a:rPr kumimoji="1" lang="ja-JP" altLang="en-US" sz="1600" dirty="0"/>
                  <a:t> 現在の状態の遊離ウイルス</a:t>
                </a:r>
              </a:p>
            </p:txBody>
          </p:sp>
        </mc:Choice>
        <mc:Fallback xmlns="">
          <p:sp>
            <p:nvSpPr>
              <p:cNvPr id="18" name="テキスト ボックス 17">
                <a:extLst>
                  <a:ext uri="{FF2B5EF4-FFF2-40B4-BE49-F238E27FC236}">
                    <a16:creationId xmlns:a16="http://schemas.microsoft.com/office/drawing/2014/main" id="{EC882F91-73A7-6CCF-652A-45BDA6C71ED3}"/>
                  </a:ext>
                </a:extLst>
              </p:cNvPr>
              <p:cNvSpPr txBox="1">
                <a:spLocks noRot="1" noChangeAspect="1" noMove="1" noResize="1" noEditPoints="1" noAdjustHandles="1" noChangeArrowheads="1" noChangeShapeType="1" noTextEdit="1"/>
              </p:cNvSpPr>
              <p:nvPr/>
            </p:nvSpPr>
            <p:spPr>
              <a:xfrm>
                <a:off x="268868" y="4645464"/>
                <a:ext cx="3273686" cy="584775"/>
              </a:xfrm>
              <a:prstGeom prst="rect">
                <a:avLst/>
              </a:prstGeom>
              <a:blipFill>
                <a:blip r:embed="rId5"/>
                <a:stretch>
                  <a:fillRect t="-5208" b="-10417"/>
                </a:stretch>
              </a:blipFill>
            </p:spPr>
            <p:txBody>
              <a:bodyPr/>
              <a:lstStyle/>
              <a:p>
                <a:r>
                  <a:rPr lang="ja-JP" altLang="en-US">
                    <a:noFill/>
                  </a:rPr>
                  <a:t> </a:t>
                </a:r>
              </a:p>
            </p:txBody>
          </p:sp>
        </mc:Fallback>
      </mc:AlternateContent>
      <p:sp>
        <p:nvSpPr>
          <p:cNvPr id="19" name="吹き出し: 四角形 18">
            <a:extLst>
              <a:ext uri="{FF2B5EF4-FFF2-40B4-BE49-F238E27FC236}">
                <a16:creationId xmlns:a16="http://schemas.microsoft.com/office/drawing/2014/main" id="{E2047AD1-231B-1B34-44D6-C0CF37274251}"/>
              </a:ext>
            </a:extLst>
          </p:cNvPr>
          <p:cNvSpPr/>
          <p:nvPr/>
        </p:nvSpPr>
        <p:spPr>
          <a:xfrm rot="10800000">
            <a:off x="4125465" y="4449074"/>
            <a:ext cx="3037111" cy="682300"/>
          </a:xfrm>
          <a:prstGeom prst="wedgeRectCallo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69FC83E3-738C-5EB6-E862-EB22A93ECF67}"/>
                  </a:ext>
                </a:extLst>
              </p:cNvPr>
              <p:cNvSpPr txBox="1"/>
              <p:nvPr/>
            </p:nvSpPr>
            <p:spPr>
              <a:xfrm>
                <a:off x="4125464" y="4467058"/>
                <a:ext cx="3159676" cy="646331"/>
              </a:xfrm>
              <a:prstGeom prst="rect">
                <a:avLst/>
              </a:prstGeom>
              <a:noFill/>
            </p:spPr>
            <p:txBody>
              <a:bodyPr wrap="square">
                <a:spAutoFit/>
              </a:bodyPr>
              <a:lstStyle/>
              <a:p>
                <a14:m>
                  <m:oMath xmlns:m="http://schemas.openxmlformats.org/officeDocument/2006/math">
                    <m:sSub>
                      <m:sSubPr>
                        <m:ctrlPr>
                          <a:rPr kumimoji="1" lang="en-US" altLang="ja-JP" sz="1800" b="0" i="1" smtClean="0">
                            <a:latin typeface="Cambria Math" panose="02040503050406030204" pitchFamily="18" charset="0"/>
                          </a:rPr>
                        </m:ctrlPr>
                      </m:sSubPr>
                      <m:e>
                        <m:r>
                          <a:rPr kumimoji="1" lang="en-US" altLang="ja-JP" sz="1800" b="0" i="1" smtClean="0">
                            <a:latin typeface="Cambria Math" panose="02040503050406030204" pitchFamily="18" charset="0"/>
                          </a:rPr>
                          <m:t>𝑑𝑜𝑠𝑒</m:t>
                        </m:r>
                      </m:e>
                      <m:sub>
                        <m:r>
                          <a:rPr kumimoji="1" lang="en-US" altLang="ja-JP" sz="1800" b="0" i="1" smtClean="0">
                            <a:latin typeface="Cambria Math" panose="02040503050406030204" pitchFamily="18" charset="0"/>
                          </a:rPr>
                          <m:t>𝑜𝑙𝑑</m:t>
                        </m:r>
                      </m:sub>
                    </m:sSub>
                  </m:oMath>
                </a14:m>
                <a:r>
                  <a:rPr kumimoji="1" lang="en-US" altLang="ja-JP" sz="1800" dirty="0"/>
                  <a:t>: </a:t>
                </a:r>
                <a:r>
                  <a:rPr kumimoji="1" lang="ja-JP" altLang="en-US" sz="1800" dirty="0"/>
                  <a:t>前の状態の</a:t>
                </a:r>
                <a:r>
                  <a:rPr kumimoji="1" lang="en-US" altLang="ja-JP" sz="1800" dirty="0"/>
                  <a:t>action</a:t>
                </a:r>
              </a:p>
              <a:p>
                <a14:m>
                  <m:oMath xmlns:m="http://schemas.openxmlformats.org/officeDocument/2006/math">
                    <m:sSub>
                      <m:sSubPr>
                        <m:ctrlPr>
                          <a:rPr kumimoji="1" lang="en-US" altLang="ja-JP" sz="1800" b="0" i="1" smtClean="0">
                            <a:latin typeface="Cambria Math" panose="02040503050406030204" pitchFamily="18" charset="0"/>
                          </a:rPr>
                        </m:ctrlPr>
                      </m:sSubPr>
                      <m:e>
                        <m:r>
                          <a:rPr kumimoji="1" lang="en-US" altLang="ja-JP" sz="1800" b="0" i="1" smtClean="0">
                            <a:latin typeface="Cambria Math" panose="02040503050406030204" pitchFamily="18" charset="0"/>
                          </a:rPr>
                          <m:t>𝑑𝑜𝑠𝑒</m:t>
                        </m:r>
                      </m:e>
                      <m:sub>
                        <m:r>
                          <a:rPr kumimoji="1" lang="en-US" altLang="ja-JP" sz="1800" b="0" i="1" smtClean="0">
                            <a:latin typeface="Cambria Math" panose="02040503050406030204" pitchFamily="18" charset="0"/>
                          </a:rPr>
                          <m:t>𝑛𝑒𝑤</m:t>
                        </m:r>
                      </m:sub>
                    </m:sSub>
                    <m:r>
                      <a:rPr kumimoji="1" lang="en-US" altLang="ja-JP" sz="1800" b="0" i="1" smtClean="0">
                        <a:latin typeface="Cambria Math" panose="02040503050406030204" pitchFamily="18" charset="0"/>
                      </a:rPr>
                      <m:t>:</m:t>
                    </m:r>
                  </m:oMath>
                </a14:m>
                <a:r>
                  <a:rPr kumimoji="1" lang="ja-JP" altLang="en-US" sz="1800" dirty="0"/>
                  <a:t> 現在の状態の</a:t>
                </a:r>
                <a:r>
                  <a:rPr kumimoji="1" lang="en-US" altLang="ja-JP" dirty="0"/>
                  <a:t>action</a:t>
                </a:r>
                <a:endParaRPr kumimoji="1" lang="ja-JP" altLang="en-US" sz="1800" dirty="0"/>
              </a:p>
            </p:txBody>
          </p:sp>
        </mc:Choice>
        <mc:Fallback xmlns="">
          <p:sp>
            <p:nvSpPr>
              <p:cNvPr id="22" name="テキスト ボックス 21">
                <a:extLst>
                  <a:ext uri="{FF2B5EF4-FFF2-40B4-BE49-F238E27FC236}">
                    <a16:creationId xmlns:a16="http://schemas.microsoft.com/office/drawing/2014/main" id="{69FC83E3-738C-5EB6-E862-EB22A93ECF67}"/>
                  </a:ext>
                </a:extLst>
              </p:cNvPr>
              <p:cNvSpPr txBox="1">
                <a:spLocks noRot="1" noChangeAspect="1" noMove="1" noResize="1" noEditPoints="1" noAdjustHandles="1" noChangeArrowheads="1" noChangeShapeType="1" noTextEdit="1"/>
              </p:cNvSpPr>
              <p:nvPr/>
            </p:nvSpPr>
            <p:spPr>
              <a:xfrm>
                <a:off x="4125464" y="4467058"/>
                <a:ext cx="3159676" cy="646331"/>
              </a:xfrm>
              <a:prstGeom prst="rect">
                <a:avLst/>
              </a:prstGeom>
              <a:blipFill>
                <a:blip r:embed="rId6"/>
                <a:stretch>
                  <a:fillRect t="-8491" b="-15094"/>
                </a:stretch>
              </a:blipFill>
            </p:spPr>
            <p:txBody>
              <a:bodyPr/>
              <a:lstStyle/>
              <a:p>
                <a:r>
                  <a:rPr lang="ja-JP" altLang="en-US">
                    <a:noFill/>
                  </a:rPr>
                  <a:t> </a:t>
                </a:r>
              </a:p>
            </p:txBody>
          </p:sp>
        </mc:Fallback>
      </mc:AlternateContent>
      <p:pic>
        <p:nvPicPr>
          <p:cNvPr id="23" name="図 22">
            <a:extLst>
              <a:ext uri="{FF2B5EF4-FFF2-40B4-BE49-F238E27FC236}">
                <a16:creationId xmlns:a16="http://schemas.microsoft.com/office/drawing/2014/main" id="{06B4BC8A-EBB4-F382-9EAE-CC11DDF9597D}"/>
              </a:ext>
            </a:extLst>
          </p:cNvPr>
          <p:cNvPicPr>
            <a:picLocks noChangeAspect="1"/>
          </p:cNvPicPr>
          <p:nvPr/>
        </p:nvPicPr>
        <p:blipFill>
          <a:blip r:embed="rId7"/>
          <a:stretch>
            <a:fillRect/>
          </a:stretch>
        </p:blipFill>
        <p:spPr>
          <a:xfrm>
            <a:off x="7957457" y="3429000"/>
            <a:ext cx="3879340" cy="2914650"/>
          </a:xfrm>
          <a:prstGeom prst="rect">
            <a:avLst/>
          </a:prstGeom>
        </p:spPr>
      </p:pic>
      <p:sp>
        <p:nvSpPr>
          <p:cNvPr id="25" name="テキスト ボックス 24">
            <a:extLst>
              <a:ext uri="{FF2B5EF4-FFF2-40B4-BE49-F238E27FC236}">
                <a16:creationId xmlns:a16="http://schemas.microsoft.com/office/drawing/2014/main" id="{8159FE86-3474-5E1D-AF22-22A6338482DF}"/>
              </a:ext>
            </a:extLst>
          </p:cNvPr>
          <p:cNvSpPr txBox="1"/>
          <p:nvPr/>
        </p:nvSpPr>
        <p:spPr>
          <a:xfrm>
            <a:off x="7804150" y="3099017"/>
            <a:ext cx="4387850" cy="369332"/>
          </a:xfrm>
          <a:prstGeom prst="rect">
            <a:avLst/>
          </a:prstGeom>
          <a:noFill/>
        </p:spPr>
        <p:txBody>
          <a:bodyPr wrap="square">
            <a:spAutoFit/>
          </a:bodyPr>
          <a:lstStyle/>
          <a:p>
            <a:r>
              <a:rPr kumimoji="1" lang="en-US" altLang="ja-JP" sz="1800" dirty="0"/>
              <a:t>Table2  </a:t>
            </a:r>
            <a:r>
              <a:rPr kumimoji="1" lang="ja-JP" altLang="en-US" sz="1800" dirty="0"/>
              <a:t>シミュレーションに用いたパラメータ</a:t>
            </a:r>
          </a:p>
        </p:txBody>
      </p:sp>
      <p:sp>
        <p:nvSpPr>
          <p:cNvPr id="26" name="四角形: 角を丸くする 25">
            <a:extLst>
              <a:ext uri="{FF2B5EF4-FFF2-40B4-BE49-F238E27FC236}">
                <a16:creationId xmlns:a16="http://schemas.microsoft.com/office/drawing/2014/main" id="{DAFD4F66-9CE3-DDB7-3FCC-72E44A4D8630}"/>
              </a:ext>
            </a:extLst>
          </p:cNvPr>
          <p:cNvSpPr/>
          <p:nvPr/>
        </p:nvSpPr>
        <p:spPr>
          <a:xfrm>
            <a:off x="7957457" y="5575300"/>
            <a:ext cx="3815443" cy="6985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吹き出し: 円形 27">
            <a:extLst>
              <a:ext uri="{FF2B5EF4-FFF2-40B4-BE49-F238E27FC236}">
                <a16:creationId xmlns:a16="http://schemas.microsoft.com/office/drawing/2014/main" id="{2C6ECF23-1DA9-AE9C-1AA6-3657CE6BA4E9}"/>
              </a:ext>
            </a:extLst>
          </p:cNvPr>
          <p:cNvSpPr/>
          <p:nvPr/>
        </p:nvSpPr>
        <p:spPr>
          <a:xfrm rot="16200000">
            <a:off x="5404936" y="4150411"/>
            <a:ext cx="955898" cy="3216168"/>
          </a:xfrm>
          <a:prstGeom prst="wedgeEllipseCallou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05D2AF94-DD1C-BDAF-8333-67915CA618FF}"/>
              </a:ext>
            </a:extLst>
          </p:cNvPr>
          <p:cNvSpPr txBox="1"/>
          <p:nvPr/>
        </p:nvSpPr>
        <p:spPr>
          <a:xfrm>
            <a:off x="4516162" y="5464560"/>
            <a:ext cx="3159676" cy="584775"/>
          </a:xfrm>
          <a:prstGeom prst="rect">
            <a:avLst/>
          </a:prstGeom>
          <a:noFill/>
        </p:spPr>
        <p:txBody>
          <a:bodyPr wrap="square" rtlCol="0">
            <a:spAutoFit/>
          </a:bodyPr>
          <a:lstStyle/>
          <a:p>
            <a:r>
              <a:rPr kumimoji="1" lang="ja-JP" altLang="en-US" sz="1600" dirty="0"/>
              <a:t>シミュレーション①では</a:t>
            </a:r>
            <a:endParaRPr kumimoji="1" lang="en-US" altLang="ja-JP" sz="1600" dirty="0"/>
          </a:p>
          <a:p>
            <a:r>
              <a:rPr kumimoji="1" lang="en-US" altLang="ja-JP" sz="1600" dirty="0"/>
              <a:t>X,Y,Z,V</a:t>
            </a:r>
            <a:r>
              <a:rPr kumimoji="1" lang="ja-JP" altLang="en-US" sz="1600" dirty="0"/>
              <a:t>に関する初期条件が既知</a:t>
            </a:r>
          </a:p>
        </p:txBody>
      </p:sp>
    </p:spTree>
    <p:extLst>
      <p:ext uri="{BB962C8B-B14F-4D97-AF65-F5344CB8AC3E}">
        <p14:creationId xmlns:p14="http://schemas.microsoft.com/office/powerpoint/2010/main" val="1688485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6A522DCB-D0DE-D811-8907-F43AF7818BE5}"/>
              </a:ext>
            </a:extLst>
          </p:cNvPr>
          <p:cNvSpPr>
            <a:spLocks noGrp="1"/>
          </p:cNvSpPr>
          <p:nvPr>
            <p:ph type="sldNum" sz="quarter" idx="4294967295"/>
          </p:nvPr>
        </p:nvSpPr>
        <p:spPr>
          <a:xfrm>
            <a:off x="9900458" y="6459785"/>
            <a:ext cx="1312025" cy="365125"/>
          </a:xfrm>
        </p:spPr>
        <p:txBody>
          <a:bodyPr/>
          <a:lstStyle/>
          <a:p>
            <a:fld id="{E0107F97-1CD5-41F0-B842-C38020C26506}" type="slidenum">
              <a:rPr kumimoji="1" lang="ja-JP" altLang="en-US" smtClean="0"/>
              <a:t>8</a:t>
            </a:fld>
            <a:endParaRPr kumimoji="1" lang="ja-JP" altLang="en-US"/>
          </a:p>
        </p:txBody>
      </p:sp>
      <p:sp>
        <p:nvSpPr>
          <p:cNvPr id="12" name="タイトル 1">
            <a:extLst>
              <a:ext uri="{FF2B5EF4-FFF2-40B4-BE49-F238E27FC236}">
                <a16:creationId xmlns:a16="http://schemas.microsoft.com/office/drawing/2014/main" id="{9BA01285-E16F-496A-70D9-73080E3A1F28}"/>
              </a:ext>
            </a:extLst>
          </p:cNvPr>
          <p:cNvSpPr>
            <a:spLocks noGrp="1"/>
          </p:cNvSpPr>
          <p:nvPr>
            <p:ph type="title"/>
          </p:nvPr>
        </p:nvSpPr>
        <p:spPr>
          <a:xfrm>
            <a:off x="687637" y="-115725"/>
            <a:ext cx="11634691" cy="796023"/>
          </a:xfrm>
        </p:spPr>
        <p:txBody>
          <a:bodyPr>
            <a:normAutofit/>
          </a:bodyPr>
          <a:lstStyle/>
          <a:p>
            <a:r>
              <a:rPr lang="en-US" altLang="ja-JP" sz="4400" b="1" dirty="0"/>
              <a:t>4.</a:t>
            </a:r>
            <a:r>
              <a:rPr lang="ja-JP" altLang="en-US" sz="4400" dirty="0"/>
              <a:t>シミュレーション</a:t>
            </a:r>
            <a:r>
              <a:rPr lang="en-US" altLang="ja-JP" sz="4400" dirty="0"/>
              <a:t>	</a:t>
            </a:r>
            <a:r>
              <a:rPr lang="ja-JP" altLang="en-US" dirty="0"/>
              <a:t>　</a:t>
            </a:r>
            <a:r>
              <a:rPr lang="en-US" altLang="ja-JP" sz="4000" dirty="0"/>
              <a:t>4.1</a:t>
            </a:r>
            <a:r>
              <a:rPr lang="en-US" altLang="ja-JP" dirty="0"/>
              <a:t> </a:t>
            </a:r>
            <a:r>
              <a:rPr lang="ja-JP" altLang="en-US" sz="3600" dirty="0"/>
              <a:t>条件設定</a:t>
            </a:r>
            <a:r>
              <a:rPr lang="en-US" altLang="ja-JP" sz="3600" dirty="0"/>
              <a:t>(</a:t>
            </a:r>
            <a:r>
              <a:rPr lang="ja-JP" altLang="en-US" sz="3600" dirty="0"/>
              <a:t>②不確実な初期値</a:t>
            </a:r>
            <a:r>
              <a:rPr lang="en-US" altLang="ja-JP" sz="3600" dirty="0"/>
              <a:t>)</a:t>
            </a:r>
            <a:endParaRPr kumimoji="1" lang="ja-JP" altLang="en-US" dirty="0"/>
          </a:p>
        </p:txBody>
      </p: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7A6DB12D-93A4-D8FC-D82C-D8C9F36C3A87}"/>
                  </a:ext>
                </a:extLst>
              </p:cNvPr>
              <p:cNvSpPr txBox="1"/>
              <p:nvPr/>
            </p:nvSpPr>
            <p:spPr>
              <a:xfrm>
                <a:off x="50449" y="865069"/>
                <a:ext cx="7769247" cy="2046714"/>
              </a:xfrm>
              <a:prstGeom prst="rect">
                <a:avLst/>
              </a:prstGeom>
              <a:noFill/>
            </p:spPr>
            <p:txBody>
              <a:bodyPr wrap="square" rtlCol="0">
                <a:spAutoFit/>
              </a:bodyPr>
              <a:lstStyle/>
              <a:p>
                <a:r>
                  <a:rPr kumimoji="1" lang="ja-JP" altLang="en-US" sz="2400" b="1" dirty="0"/>
                  <a:t>・状態空間</a:t>
                </a:r>
                <a:r>
                  <a:rPr kumimoji="1" lang="en-US" altLang="ja-JP" sz="2400" b="1" dirty="0"/>
                  <a:t> </a:t>
                </a:r>
                <a14:m>
                  <m:oMath xmlns:m="http://schemas.openxmlformats.org/officeDocument/2006/math">
                    <m:r>
                      <a:rPr kumimoji="1" lang="en-US" altLang="ja-JP" sz="2400" b="1" i="1" smtClean="0">
                        <a:latin typeface="Cambria Math" panose="02040503050406030204" pitchFamily="18" charset="0"/>
                      </a:rPr>
                      <m:t>𝒔</m:t>
                    </m:r>
                  </m:oMath>
                </a14:m>
                <a:endParaRPr kumimoji="1" lang="en-US" altLang="ja-JP" sz="2400" b="1" dirty="0"/>
              </a:p>
              <a:p>
                <a:r>
                  <a:rPr kumimoji="1" lang="ja-JP" altLang="en-US" dirty="0"/>
                  <a:t>　未感染</a:t>
                </a:r>
                <a:r>
                  <a:rPr kumimoji="1" lang="en-US" altLang="ja-JP"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CD4</a:t>
                </a:r>
                <a:r>
                  <a:rPr kumimoji="1" lang="ja-JP" altLang="en-US"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細胞</a:t>
                </a:r>
                <a:r>
                  <a:rPr kumimoji="1" lang="en-US" altLang="ja-JP"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(X)</a:t>
                </a:r>
                <a:r>
                  <a:rPr kumimoji="1" lang="ja-JP" altLang="en-US" sz="2000" dirty="0">
                    <a:solidFill>
                      <a:prstClr val="black">
                        <a:lumMod val="75000"/>
                        <a:lumOff val="25000"/>
                      </a:prstClr>
                    </a:solidFill>
                    <a:latin typeface="Calibri" panose="020F0502020204030204"/>
                    <a:ea typeface="ＭＳ Ｐゴシック" panose="020B0600070205080204" pitchFamily="50" charset="-128"/>
                  </a:rPr>
                  <a:t>を</a:t>
                </a:r>
                <a:r>
                  <a:rPr kumimoji="1" lang="en-US" altLang="ja-JP" sz="2000" dirty="0"/>
                  <a:t>240</a:t>
                </a:r>
                <a:r>
                  <a:rPr kumimoji="1" lang="ja-JP" altLang="en-US" sz="2000" dirty="0"/>
                  <a:t>等分</a:t>
                </a:r>
                <a:r>
                  <a:rPr kumimoji="1" lang="en-US" altLang="ja-JP" sz="2000" dirty="0"/>
                  <a:t>, </a:t>
                </a:r>
              </a:p>
              <a:p>
                <a:r>
                  <a:rPr kumimoji="1" lang="ja-JP" altLang="en-US" sz="2000" dirty="0">
                    <a:solidFill>
                      <a:prstClr val="black">
                        <a:lumMod val="75000"/>
                        <a:lumOff val="25000"/>
                      </a:prstClr>
                    </a:solidFill>
                    <a:latin typeface="Calibri" panose="020F0502020204030204"/>
                    <a:ea typeface="ＭＳ Ｐゴシック" panose="020B0600070205080204" pitchFamily="50" charset="-128"/>
                  </a:rPr>
                  <a:t>　</a:t>
                </a:r>
                <a:r>
                  <a:rPr kumimoji="1" lang="ja-JP" altLang="en-US"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遊離ウイルス</a:t>
                </a:r>
                <a:r>
                  <a:rPr kumimoji="1" lang="en-US" altLang="ja-JP"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(V)</a:t>
                </a:r>
                <a:r>
                  <a:rPr kumimoji="1" lang="ja-JP" altLang="en-US" sz="2000" dirty="0"/>
                  <a:t>を</a:t>
                </a:r>
                <a:r>
                  <a:rPr kumimoji="1" lang="en-US" altLang="ja-JP" sz="2000" dirty="0"/>
                  <a:t>100</a:t>
                </a:r>
                <a:r>
                  <a:rPr kumimoji="1" lang="ja-JP" altLang="en-US" sz="2000" dirty="0"/>
                  <a:t>等分した</a:t>
                </a:r>
                <a:r>
                  <a:rPr kumimoji="1" lang="en-US" altLang="ja-JP"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2</a:t>
                </a:r>
                <a:r>
                  <a:rPr kumimoji="1" lang="ja-JP" altLang="en-US"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次元空間</a:t>
                </a:r>
                <a:endParaRPr kumimoji="1" lang="en-US" altLang="ja-JP"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endParaRPr>
              </a:p>
              <a:p>
                <a:endParaRPr kumimoji="1" lang="en-US" altLang="ja-JP"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endParaRPr>
              </a:p>
              <a:p>
                <a:r>
                  <a:rPr kumimoji="1" lang="ja-JP" altLang="en-US" sz="2400" b="1" dirty="0"/>
                  <a:t>・行動 </a:t>
                </a:r>
                <a14:m>
                  <m:oMath xmlns:m="http://schemas.openxmlformats.org/officeDocument/2006/math">
                    <m:r>
                      <a:rPr kumimoji="1" lang="en-US" altLang="ja-JP" sz="2400" b="1" i="1" smtClean="0">
                        <a:latin typeface="Cambria Math" panose="02040503050406030204" pitchFamily="18" charset="0"/>
                      </a:rPr>
                      <m:t>𝒖</m:t>
                    </m:r>
                  </m:oMath>
                </a14:m>
                <a:endParaRPr kumimoji="1" lang="en-US" altLang="ja-JP" sz="2400" b="1" dirty="0"/>
              </a:p>
              <a:p>
                <a:r>
                  <a:rPr kumimoji="1" lang="en-US" altLang="ja-JP" sz="1900" dirty="0">
                    <a:solidFill>
                      <a:prstClr val="black">
                        <a:lumMod val="75000"/>
                        <a:lumOff val="25000"/>
                      </a:prstClr>
                    </a:solidFill>
                    <a:latin typeface="Calibri" panose="020F0502020204030204"/>
                    <a:ea typeface="ＭＳ Ｐゴシック" panose="020B0600070205080204" pitchFamily="50" charset="-128"/>
                  </a:rPr>
                  <a:t> </a:t>
                </a:r>
                <a:r>
                  <a:rPr kumimoji="1" lang="ja-JP" altLang="en-US" sz="1900" dirty="0">
                    <a:solidFill>
                      <a:prstClr val="black">
                        <a:lumMod val="75000"/>
                        <a:lumOff val="25000"/>
                      </a:prstClr>
                    </a:solidFill>
                    <a:latin typeface="Calibri" panose="020F0502020204030204"/>
                    <a:ea typeface="ＭＳ Ｐゴシック" panose="020B0600070205080204" pitchFamily="50" charset="-128"/>
                  </a:rPr>
                  <a:t>　区間</a:t>
                </a:r>
                <a:r>
                  <a:rPr kumimoji="1" lang="en-US" altLang="ja-JP" sz="1900" dirty="0">
                    <a:solidFill>
                      <a:prstClr val="black">
                        <a:lumMod val="75000"/>
                        <a:lumOff val="25000"/>
                      </a:prstClr>
                    </a:solidFill>
                    <a:latin typeface="Calibri" panose="020F0502020204030204"/>
                    <a:ea typeface="ＭＳ Ｐゴシック" panose="020B0600070205080204" pitchFamily="50" charset="-128"/>
                  </a:rPr>
                  <a:t> </a:t>
                </a:r>
                <a:r>
                  <a:rPr kumimoji="1" lang="en-US" altLang="ja-JP" sz="19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[0,1]</a:t>
                </a:r>
                <a:r>
                  <a:rPr kumimoji="1" lang="ja-JP" altLang="en-US" sz="1900" dirty="0">
                    <a:solidFill>
                      <a:prstClr val="black">
                        <a:lumMod val="75000"/>
                        <a:lumOff val="25000"/>
                      </a:prstClr>
                    </a:solidFill>
                    <a:latin typeface="Calibri" panose="020F0502020204030204"/>
                    <a:ea typeface="ＭＳ Ｐゴシック" panose="020B0600070205080204" pitchFamily="50" charset="-128"/>
                  </a:rPr>
                  <a:t>において</a:t>
                </a:r>
                <a:r>
                  <a:rPr kumimoji="1" lang="en-US" altLang="ja-JP" sz="19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0.1</a:t>
                </a:r>
                <a:r>
                  <a:rPr kumimoji="1" lang="ja-JP" altLang="en-US" sz="19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ずつ</a:t>
                </a:r>
                <a:r>
                  <a:rPr kumimoji="1" lang="en-US" altLang="ja-JP" sz="19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 10</a:t>
                </a:r>
                <a:r>
                  <a:rPr kumimoji="1" lang="ja-JP" altLang="en-US" sz="1900" b="0" i="0" u="none" strike="noStrike" kern="1200" cap="none" spc="0" normalizeH="0" baseline="0" noProof="0" dirty="0">
                    <a:ln>
                      <a:noFill/>
                    </a:ln>
                    <a:solidFill>
                      <a:prstClr val="black">
                        <a:lumMod val="75000"/>
                        <a:lumOff val="25000"/>
                      </a:prstClr>
                    </a:solidFill>
                    <a:effectLst/>
                    <a:uLnTx/>
                    <a:uFillTx/>
                    <a:latin typeface="Calibri" panose="020F0502020204030204"/>
                    <a:ea typeface="ＭＳ Ｐゴシック" panose="020B0600070205080204" pitchFamily="50" charset="-128"/>
                    <a:cs typeface="+mn-cs"/>
                  </a:rPr>
                  <a:t>個の等間隔に分割</a:t>
                </a:r>
                <a:r>
                  <a:rPr kumimoji="1" lang="ja-JP" altLang="en-US" sz="1900" dirty="0">
                    <a:solidFill>
                      <a:prstClr val="black">
                        <a:lumMod val="75000"/>
                        <a:lumOff val="25000"/>
                      </a:prstClr>
                    </a:solidFill>
                    <a:latin typeface="Calibri" panose="020F0502020204030204"/>
                    <a:ea typeface="ＭＳ Ｐゴシック" panose="020B0600070205080204" pitchFamily="50" charset="-128"/>
                  </a:rPr>
                  <a:t>した量</a:t>
                </a:r>
                <a:endParaRPr kumimoji="1" lang="en-US" altLang="ja-JP" sz="1900" dirty="0">
                  <a:solidFill>
                    <a:prstClr val="black">
                      <a:lumMod val="75000"/>
                      <a:lumOff val="25000"/>
                    </a:prstClr>
                  </a:solidFill>
                  <a:latin typeface="Calibri" panose="020F0502020204030204"/>
                  <a:ea typeface="ＭＳ Ｐゴシック" panose="020B0600070205080204" pitchFamily="50" charset="-128"/>
                </a:endParaRPr>
              </a:p>
            </p:txBody>
          </p:sp>
        </mc:Choice>
        <mc:Fallback xmlns="">
          <p:sp>
            <p:nvSpPr>
              <p:cNvPr id="13" name="テキスト ボックス 12">
                <a:extLst>
                  <a:ext uri="{FF2B5EF4-FFF2-40B4-BE49-F238E27FC236}">
                    <a16:creationId xmlns:a16="http://schemas.microsoft.com/office/drawing/2014/main" id="{7A6DB12D-93A4-D8FC-D82C-D8C9F36C3A87}"/>
                  </a:ext>
                </a:extLst>
              </p:cNvPr>
              <p:cNvSpPr txBox="1">
                <a:spLocks noRot="1" noChangeAspect="1" noMove="1" noResize="1" noEditPoints="1" noAdjustHandles="1" noChangeArrowheads="1" noChangeShapeType="1" noTextEdit="1"/>
              </p:cNvSpPr>
              <p:nvPr/>
            </p:nvSpPr>
            <p:spPr>
              <a:xfrm>
                <a:off x="50449" y="865069"/>
                <a:ext cx="7769247" cy="2046714"/>
              </a:xfrm>
              <a:prstGeom prst="rect">
                <a:avLst/>
              </a:prstGeom>
              <a:blipFill>
                <a:blip r:embed="rId3"/>
                <a:stretch>
                  <a:fillRect l="-1176" t="-3571" b="-446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F31F72BF-BE2F-F884-6874-FA070979BD75}"/>
                  </a:ext>
                </a:extLst>
              </p:cNvPr>
              <p:cNvSpPr txBox="1"/>
              <p:nvPr/>
            </p:nvSpPr>
            <p:spPr>
              <a:xfrm>
                <a:off x="50449" y="3071441"/>
                <a:ext cx="8549602" cy="1484124"/>
              </a:xfrm>
              <a:prstGeom prst="rect">
                <a:avLst/>
              </a:prstGeom>
              <a:noFill/>
            </p:spPr>
            <p:txBody>
              <a:bodyPr wrap="square">
                <a:spAutoFit/>
              </a:bodyPr>
              <a:lstStyle/>
              <a:p>
                <a:r>
                  <a:rPr kumimoji="1" lang="ja-JP" altLang="en-US" sz="2400" b="1" dirty="0">
                    <a:solidFill>
                      <a:prstClr val="black">
                        <a:lumMod val="75000"/>
                        <a:lumOff val="25000"/>
                      </a:prstClr>
                    </a:solidFill>
                    <a:latin typeface="Calibri" panose="020F0502020204030204"/>
                    <a:ea typeface="ＭＳ Ｐゴシック" panose="020B0600070205080204" pitchFamily="50" charset="-128"/>
                  </a:rPr>
                  <a:t>・報酬</a:t>
                </a:r>
                <a14:m>
                  <m:oMath xmlns:m="http://schemas.openxmlformats.org/officeDocument/2006/math">
                    <m:r>
                      <a:rPr kumimoji="1" lang="en-US" altLang="ja-JP" sz="2400" b="1" i="0" smtClean="0">
                        <a:latin typeface="Cambria Math" panose="02040503050406030204" pitchFamily="18" charset="0"/>
                      </a:rPr>
                      <m:t> </m:t>
                    </m:r>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𝒓</m:t>
                        </m:r>
                      </m:e>
                      <m:sub>
                        <m:r>
                          <a:rPr kumimoji="1" lang="en-US" altLang="ja-JP" sz="2400" b="1" i="1" smtClean="0">
                            <a:latin typeface="Cambria Math" panose="02040503050406030204" pitchFamily="18" charset="0"/>
                          </a:rPr>
                          <m:t>𝒕</m:t>
                        </m:r>
                      </m:sub>
                    </m:sSub>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𝒔</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𝒂</m:t>
                        </m:r>
                      </m:e>
                    </m:d>
                  </m:oMath>
                </a14:m>
                <a:endParaRPr lang="en-US" altLang="ja-JP" sz="2400" b="1" dirty="0"/>
              </a:p>
              <a:p>
                <a:r>
                  <a:rPr lang="ja-JP" altLang="en-US" sz="2000" dirty="0"/>
                  <a:t>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𝑡</m:t>
                        </m:r>
                      </m:sub>
                    </m:sSub>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𝑠</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𝑎</m:t>
                        </m:r>
                      </m:e>
                    </m:d>
                    <m:r>
                      <a:rPr kumimoji="1" lang="en-US" altLang="ja-JP" sz="2400" b="0" i="1" smtClean="0">
                        <a:latin typeface="Cambria Math" panose="02040503050406030204" pitchFamily="18" charset="0"/>
                      </a:rPr>
                      <m:t>=</m:t>
                    </m:r>
                    <m:func>
                      <m:funcPr>
                        <m:ctrlPr>
                          <a:rPr kumimoji="1" lang="en-US" altLang="ja-JP" sz="2400" b="0" i="1" smtClean="0">
                            <a:latin typeface="Cambria Math" panose="02040503050406030204" pitchFamily="18" charset="0"/>
                          </a:rPr>
                        </m:ctrlPr>
                      </m:funcPr>
                      <m:fName>
                        <m:r>
                          <m:rPr>
                            <m:sty m:val="p"/>
                          </m:rPr>
                          <a:rPr kumimoji="1" lang="en-US" altLang="ja-JP" sz="2400" b="0" i="0" smtClean="0">
                            <a:latin typeface="Cambria Math" panose="02040503050406030204" pitchFamily="18" charset="0"/>
                          </a:rPr>
                          <m:t>log</m:t>
                        </m:r>
                      </m:fName>
                      <m:e>
                        <m:d>
                          <m:dPr>
                            <m:ctrlPr>
                              <a:rPr kumimoji="1" lang="en-US" altLang="ja-JP" sz="2400" b="0" i="1" smtClean="0">
                                <a:latin typeface="Cambria Math" panose="02040503050406030204" pitchFamily="18" charset="0"/>
                              </a:rPr>
                            </m:ctrlPr>
                          </m:dPr>
                          <m:e>
                            <m:f>
                              <m:fPr>
                                <m:ctrlPr>
                                  <a:rPr kumimoji="1" lang="en-US" altLang="ja-JP" sz="2400" b="0" i="1" smtClean="0">
                                    <a:latin typeface="Cambria Math" panose="02040503050406030204" pitchFamily="18" charset="0"/>
                                  </a:rPr>
                                </m:ctrlPr>
                              </m:fPr>
                              <m:num>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𝑉</m:t>
                                    </m:r>
                                  </m:e>
                                  <m:sub>
                                    <m:r>
                                      <a:rPr kumimoji="1" lang="en-US" altLang="ja-JP" sz="2400" b="0" i="1" smtClean="0">
                                        <a:latin typeface="Cambria Math" panose="02040503050406030204" pitchFamily="18" charset="0"/>
                                      </a:rPr>
                                      <m:t>𝑜𝑙𝑑</m:t>
                                    </m:r>
                                  </m:sub>
                                </m:sSub>
                              </m:num>
                              <m:den>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𝑉</m:t>
                                    </m:r>
                                  </m:e>
                                  <m:sub>
                                    <m:r>
                                      <a:rPr kumimoji="1" lang="en-US" altLang="ja-JP" sz="2400" b="0" i="1" smtClean="0">
                                        <a:latin typeface="Cambria Math" panose="02040503050406030204" pitchFamily="18" charset="0"/>
                                      </a:rPr>
                                      <m:t>𝑛𝑒𝑤</m:t>
                                    </m:r>
                                  </m:sub>
                                </m:sSub>
                              </m:den>
                            </m:f>
                          </m:e>
                        </m:d>
                      </m:e>
                    </m:func>
                    <m:r>
                      <a:rPr kumimoji="1" lang="en-US" altLang="ja-JP" sz="2400" b="0" i="1" smtClean="0">
                        <a:latin typeface="Cambria Math" panose="02040503050406030204" pitchFamily="18" charset="0"/>
                      </a:rPr>
                      <m:t>−</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𝑑𝑜𝑠</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𝑒</m:t>
                            </m:r>
                          </m:e>
                          <m:sub>
                            <m:r>
                              <a:rPr kumimoji="1" lang="en-US" altLang="ja-JP" sz="2400" b="0" i="1" smtClean="0">
                                <a:latin typeface="Cambria Math" panose="02040503050406030204" pitchFamily="18" charset="0"/>
                              </a:rPr>
                              <m:t>𝑛𝑒𝑤</m:t>
                            </m:r>
                          </m:sub>
                        </m:sSub>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𝑑𝑜𝑠</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𝑒</m:t>
                            </m:r>
                          </m:e>
                          <m:sub>
                            <m:r>
                              <a:rPr kumimoji="1" lang="en-US" altLang="ja-JP" sz="2400" b="0" i="1" smtClean="0">
                                <a:latin typeface="Cambria Math" panose="02040503050406030204" pitchFamily="18" charset="0"/>
                              </a:rPr>
                              <m:t>𝑜𝑙𝑑</m:t>
                            </m:r>
                          </m:sub>
                        </m:sSub>
                      </m:e>
                    </m:d>
                    <m:r>
                      <m:rPr>
                        <m:sty m:val="p"/>
                      </m:rPr>
                      <a:rPr kumimoji="1" lang="en-US" altLang="ja-JP" sz="2400" b="0" i="0" smtClean="0">
                        <a:latin typeface="Cambria Math" panose="02040503050406030204" pitchFamily="18" charset="0"/>
                      </a:rPr>
                      <m:t>log</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𝑑𝑜𝑠</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𝑒</m:t>
                        </m:r>
                      </m:e>
                      <m:sub>
                        <m:r>
                          <a:rPr kumimoji="1" lang="en-US" altLang="ja-JP" sz="2400" b="0" i="1" smtClean="0">
                            <a:latin typeface="Cambria Math" panose="02040503050406030204" pitchFamily="18" charset="0"/>
                          </a:rPr>
                          <m:t>𝑛𝑒𝑤</m:t>
                        </m:r>
                      </m:sub>
                    </m:sSub>
                    <m:r>
                      <a:rPr kumimoji="1" lang="en-US" altLang="ja-JP" sz="2400" b="0" i="1" smtClean="0">
                        <a:latin typeface="Cambria Math" panose="02040503050406030204" pitchFamily="18" charset="0"/>
                      </a:rPr>
                      <m:t>)</m:t>
                    </m:r>
                  </m:oMath>
                </a14:m>
                <a:endParaRPr kumimoji="1" lang="en-US" altLang="ja-JP" sz="2400" dirty="0"/>
              </a:p>
              <a:p>
                <a:endParaRPr lang="ja-JP" altLang="en-US" sz="2400" dirty="0"/>
              </a:p>
            </p:txBody>
          </p:sp>
        </mc:Choice>
        <mc:Fallback xmlns="">
          <p:sp>
            <p:nvSpPr>
              <p:cNvPr id="16" name="テキスト ボックス 15">
                <a:extLst>
                  <a:ext uri="{FF2B5EF4-FFF2-40B4-BE49-F238E27FC236}">
                    <a16:creationId xmlns:a16="http://schemas.microsoft.com/office/drawing/2014/main" id="{F31F72BF-BE2F-F884-6874-FA070979BD75}"/>
                  </a:ext>
                </a:extLst>
              </p:cNvPr>
              <p:cNvSpPr txBox="1">
                <a:spLocks noRot="1" noChangeAspect="1" noMove="1" noResize="1" noEditPoints="1" noAdjustHandles="1" noChangeArrowheads="1" noChangeShapeType="1" noTextEdit="1"/>
              </p:cNvSpPr>
              <p:nvPr/>
            </p:nvSpPr>
            <p:spPr>
              <a:xfrm>
                <a:off x="50449" y="3071441"/>
                <a:ext cx="8549602" cy="1484124"/>
              </a:xfrm>
              <a:prstGeom prst="rect">
                <a:avLst/>
              </a:prstGeom>
              <a:blipFill>
                <a:blip r:embed="rId4"/>
                <a:stretch>
                  <a:fillRect l="-1069" t="-4938"/>
                </a:stretch>
              </a:blipFill>
            </p:spPr>
            <p:txBody>
              <a:bodyPr/>
              <a:lstStyle/>
              <a:p>
                <a:r>
                  <a:rPr lang="ja-JP" altLang="en-US">
                    <a:noFill/>
                  </a:rPr>
                  <a:t> </a:t>
                </a:r>
              </a:p>
            </p:txBody>
          </p:sp>
        </mc:Fallback>
      </mc:AlternateContent>
      <p:sp>
        <p:nvSpPr>
          <p:cNvPr id="17" name="四角形: 角を丸くする 16">
            <a:extLst>
              <a:ext uri="{FF2B5EF4-FFF2-40B4-BE49-F238E27FC236}">
                <a16:creationId xmlns:a16="http://schemas.microsoft.com/office/drawing/2014/main" id="{11AFEC2C-9E8C-2FD9-07A3-B9F9D8D3FBEF}"/>
              </a:ext>
            </a:extLst>
          </p:cNvPr>
          <p:cNvSpPr/>
          <p:nvPr/>
        </p:nvSpPr>
        <p:spPr>
          <a:xfrm>
            <a:off x="50448" y="763050"/>
            <a:ext cx="8008883" cy="3537783"/>
          </a:xfrm>
          <a:prstGeom prst="round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吹き出し: 線 17">
            <a:extLst>
              <a:ext uri="{FF2B5EF4-FFF2-40B4-BE49-F238E27FC236}">
                <a16:creationId xmlns:a16="http://schemas.microsoft.com/office/drawing/2014/main" id="{0239C857-C5A3-E2D8-A624-7C2542498280}"/>
              </a:ext>
            </a:extLst>
          </p:cNvPr>
          <p:cNvSpPr/>
          <p:nvPr/>
        </p:nvSpPr>
        <p:spPr>
          <a:xfrm>
            <a:off x="9043101" y="1671542"/>
            <a:ext cx="2680140" cy="706295"/>
          </a:xfrm>
          <a:prstGeom prst="borderCallout1">
            <a:avLst>
              <a:gd name="adj1" fmla="val 53571"/>
              <a:gd name="adj2" fmla="val -805"/>
              <a:gd name="adj3" fmla="val 112500"/>
              <a:gd name="adj4" fmla="val -36451"/>
            </a:avLst>
          </a:prstGeom>
          <a:no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450886AE-0F60-23DE-663F-0C5261977E78}"/>
              </a:ext>
            </a:extLst>
          </p:cNvPr>
          <p:cNvSpPr txBox="1"/>
          <p:nvPr/>
        </p:nvSpPr>
        <p:spPr>
          <a:xfrm>
            <a:off x="9043101" y="1701523"/>
            <a:ext cx="2799958" cy="646331"/>
          </a:xfrm>
          <a:prstGeom prst="rect">
            <a:avLst/>
          </a:prstGeom>
          <a:noFill/>
        </p:spPr>
        <p:txBody>
          <a:bodyPr wrap="square" rtlCol="0">
            <a:spAutoFit/>
          </a:bodyPr>
          <a:lstStyle/>
          <a:p>
            <a:r>
              <a:rPr kumimoji="1" lang="ja-JP" altLang="en-US" b="1" dirty="0"/>
              <a:t>①初期条件が既知の場合　</a:t>
            </a:r>
            <a:r>
              <a:rPr kumimoji="1" lang="ja-JP" altLang="en-US" dirty="0"/>
              <a:t>と共通</a:t>
            </a:r>
          </a:p>
        </p:txBody>
      </p:sp>
      <p:pic>
        <p:nvPicPr>
          <p:cNvPr id="20" name="図 19">
            <a:extLst>
              <a:ext uri="{FF2B5EF4-FFF2-40B4-BE49-F238E27FC236}">
                <a16:creationId xmlns:a16="http://schemas.microsoft.com/office/drawing/2014/main" id="{C56D91FB-573D-3702-FBBB-7599F5A66853}"/>
              </a:ext>
            </a:extLst>
          </p:cNvPr>
          <p:cNvPicPr>
            <a:picLocks noChangeAspect="1"/>
          </p:cNvPicPr>
          <p:nvPr/>
        </p:nvPicPr>
        <p:blipFill>
          <a:blip r:embed="rId5"/>
          <a:stretch>
            <a:fillRect/>
          </a:stretch>
        </p:blipFill>
        <p:spPr>
          <a:xfrm>
            <a:off x="6868778" y="4611723"/>
            <a:ext cx="4974281" cy="1622626"/>
          </a:xfrm>
          <a:prstGeom prst="rect">
            <a:avLst/>
          </a:prstGeom>
        </p:spPr>
      </p:pic>
      <p:sp>
        <p:nvSpPr>
          <p:cNvPr id="21" name="テキスト ボックス 20">
            <a:extLst>
              <a:ext uri="{FF2B5EF4-FFF2-40B4-BE49-F238E27FC236}">
                <a16:creationId xmlns:a16="http://schemas.microsoft.com/office/drawing/2014/main" id="{8D1C0288-243D-5652-E63A-DB07CEB8556B}"/>
              </a:ext>
            </a:extLst>
          </p:cNvPr>
          <p:cNvSpPr txBox="1"/>
          <p:nvPr/>
        </p:nvSpPr>
        <p:spPr>
          <a:xfrm>
            <a:off x="7918557" y="4317869"/>
            <a:ext cx="3068320" cy="400110"/>
          </a:xfrm>
          <a:prstGeom prst="rect">
            <a:avLst/>
          </a:prstGeom>
          <a:noFill/>
        </p:spPr>
        <p:txBody>
          <a:bodyPr wrap="square" rtlCol="0">
            <a:spAutoFit/>
          </a:bodyPr>
          <a:lstStyle/>
          <a:p>
            <a:r>
              <a:rPr kumimoji="1" lang="en-US" altLang="ja-JP" sz="2000" dirty="0"/>
              <a:t>Table3 </a:t>
            </a:r>
            <a:r>
              <a:rPr kumimoji="1" lang="ja-JP" altLang="en-US" sz="2000" dirty="0"/>
              <a:t>不確実な初期条件</a:t>
            </a:r>
          </a:p>
        </p:txBody>
      </p:sp>
      <p:sp>
        <p:nvSpPr>
          <p:cNvPr id="22" name="テキスト ボックス 21">
            <a:extLst>
              <a:ext uri="{FF2B5EF4-FFF2-40B4-BE49-F238E27FC236}">
                <a16:creationId xmlns:a16="http://schemas.microsoft.com/office/drawing/2014/main" id="{7E305A06-DBAD-A041-69AC-FDC2087B4381}"/>
              </a:ext>
            </a:extLst>
          </p:cNvPr>
          <p:cNvSpPr txBox="1"/>
          <p:nvPr/>
        </p:nvSpPr>
        <p:spPr>
          <a:xfrm>
            <a:off x="592781" y="4712071"/>
            <a:ext cx="5372891" cy="1354217"/>
          </a:xfrm>
          <a:prstGeom prst="rect">
            <a:avLst/>
          </a:prstGeom>
          <a:noFill/>
          <a:ln w="28575">
            <a:solidFill>
              <a:srgbClr val="FF0000"/>
            </a:solidFill>
          </a:ln>
        </p:spPr>
        <p:txBody>
          <a:bodyPr wrap="square" rtlCol="0">
            <a:spAutoFit/>
          </a:bodyPr>
          <a:lstStyle/>
          <a:p>
            <a:r>
              <a:rPr kumimoji="1" lang="ja-JP" altLang="en-US" sz="2400" b="1" dirty="0"/>
              <a:t>初期条件</a:t>
            </a:r>
            <a:endParaRPr kumimoji="1" lang="en-US" altLang="ja-JP" sz="2400" b="1" dirty="0"/>
          </a:p>
          <a:p>
            <a:r>
              <a:rPr kumimoji="1" lang="en-US" altLang="ja-JP" sz="2000" dirty="0"/>
              <a:t>X ,Y, Z, V </a:t>
            </a:r>
            <a:r>
              <a:rPr kumimoji="1" lang="ja-JP" altLang="en-US" sz="2000" dirty="0"/>
              <a:t>の初期値は </a:t>
            </a:r>
            <a:r>
              <a:rPr kumimoji="1" lang="en-US" altLang="ja-JP" sz="2000" dirty="0"/>
              <a:t>Table3 </a:t>
            </a:r>
            <a:r>
              <a:rPr kumimoji="1" lang="ja-JP" altLang="en-US" sz="2000" dirty="0"/>
              <a:t>の平均</a:t>
            </a:r>
            <a:r>
              <a:rPr kumimoji="1" lang="en-US" altLang="ja-JP" sz="2000" dirty="0"/>
              <a:t>, </a:t>
            </a:r>
            <a:r>
              <a:rPr kumimoji="1" lang="ja-JP" altLang="en-US" sz="2000" dirty="0"/>
              <a:t>分散をもつ</a:t>
            </a:r>
            <a:r>
              <a:rPr kumimoji="1" lang="ja-JP" altLang="en-US" sz="2000" b="1" dirty="0"/>
              <a:t>正規分布</a:t>
            </a:r>
            <a:r>
              <a:rPr kumimoji="1" lang="ja-JP" altLang="en-US" sz="2000" dirty="0"/>
              <a:t>に従うと仮定</a:t>
            </a:r>
            <a:r>
              <a:rPr kumimoji="1" lang="en-US" altLang="ja-JP" sz="2000" dirty="0"/>
              <a:t>(</a:t>
            </a:r>
            <a:r>
              <a:rPr kumimoji="1" lang="ja-JP" altLang="en-US" sz="2000" dirty="0"/>
              <a:t>患者の</a:t>
            </a:r>
            <a:r>
              <a:rPr kumimoji="1" lang="ja-JP" altLang="en-US" sz="2000" b="1" dirty="0"/>
              <a:t>個体差</a:t>
            </a:r>
            <a:r>
              <a:rPr kumimoji="1" lang="ja-JP" altLang="en-US" sz="2000" dirty="0"/>
              <a:t>を表現</a:t>
            </a:r>
            <a:r>
              <a:rPr kumimoji="1" lang="en-US" altLang="ja-JP" sz="2000" dirty="0"/>
              <a:t>)</a:t>
            </a:r>
          </a:p>
          <a:p>
            <a:r>
              <a:rPr kumimoji="1" lang="ja-JP" altLang="en-US" dirty="0"/>
              <a:t>➡ランダムに</a:t>
            </a:r>
            <a:r>
              <a:rPr kumimoji="1" lang="en-US" altLang="ja-JP" b="1" dirty="0"/>
              <a:t>200</a:t>
            </a:r>
            <a:r>
              <a:rPr kumimoji="1" lang="ja-JP" altLang="en-US" b="1" dirty="0"/>
              <a:t>個</a:t>
            </a:r>
            <a:r>
              <a:rPr kumimoji="1" lang="ja-JP" altLang="en-US" dirty="0"/>
              <a:t>選択</a:t>
            </a:r>
          </a:p>
        </p:txBody>
      </p:sp>
    </p:spTree>
    <p:extLst>
      <p:ext uri="{BB962C8B-B14F-4D97-AF65-F5344CB8AC3E}">
        <p14:creationId xmlns:p14="http://schemas.microsoft.com/office/powerpoint/2010/main" val="252299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6A522DCB-D0DE-D811-8907-F43AF7818BE5}"/>
              </a:ext>
            </a:extLst>
          </p:cNvPr>
          <p:cNvSpPr>
            <a:spLocks noGrp="1"/>
          </p:cNvSpPr>
          <p:nvPr>
            <p:ph type="sldNum" sz="quarter" idx="4294967295"/>
          </p:nvPr>
        </p:nvSpPr>
        <p:spPr>
          <a:xfrm>
            <a:off x="9900458" y="6459785"/>
            <a:ext cx="1312025" cy="365125"/>
          </a:xfrm>
        </p:spPr>
        <p:txBody>
          <a:bodyPr/>
          <a:lstStyle/>
          <a:p>
            <a:fld id="{E0107F97-1CD5-41F0-B842-C38020C26506}" type="slidenum">
              <a:rPr kumimoji="1" lang="ja-JP" altLang="en-US" smtClean="0"/>
              <a:t>9</a:t>
            </a:fld>
            <a:endParaRPr kumimoji="1" lang="ja-JP" altLang="en-US"/>
          </a:p>
        </p:txBody>
      </p:sp>
      <p:sp>
        <p:nvSpPr>
          <p:cNvPr id="12" name="タイトル 1">
            <a:extLst>
              <a:ext uri="{FF2B5EF4-FFF2-40B4-BE49-F238E27FC236}">
                <a16:creationId xmlns:a16="http://schemas.microsoft.com/office/drawing/2014/main" id="{9BA01285-E16F-496A-70D9-73080E3A1F28}"/>
              </a:ext>
            </a:extLst>
          </p:cNvPr>
          <p:cNvSpPr>
            <a:spLocks noGrp="1"/>
          </p:cNvSpPr>
          <p:nvPr>
            <p:ph type="title"/>
          </p:nvPr>
        </p:nvSpPr>
        <p:spPr>
          <a:xfrm>
            <a:off x="170267" y="-115725"/>
            <a:ext cx="12864663" cy="796023"/>
          </a:xfrm>
        </p:spPr>
        <p:txBody>
          <a:bodyPr>
            <a:normAutofit fontScale="90000"/>
          </a:bodyPr>
          <a:lstStyle/>
          <a:p>
            <a:r>
              <a:rPr lang="en-US" altLang="ja-JP" b="1" dirty="0"/>
              <a:t>4.</a:t>
            </a:r>
            <a:r>
              <a:rPr lang="ja-JP" altLang="en-US" dirty="0"/>
              <a:t>シミュレーション　</a:t>
            </a:r>
            <a:r>
              <a:rPr lang="en-US" altLang="ja-JP" sz="4400" dirty="0"/>
              <a:t>4.1</a:t>
            </a:r>
            <a:r>
              <a:rPr lang="en-US" altLang="ja-JP" dirty="0"/>
              <a:t> </a:t>
            </a:r>
            <a:r>
              <a:rPr lang="ja-JP" altLang="en-US" sz="3600" dirty="0"/>
              <a:t>条件設定</a:t>
            </a:r>
            <a:r>
              <a:rPr lang="en-US" altLang="ja-JP" sz="3600" dirty="0"/>
              <a:t>(</a:t>
            </a:r>
            <a:r>
              <a:rPr lang="ja-JP" altLang="en-US" sz="3600" dirty="0"/>
              <a:t>③不確実な初期値</a:t>
            </a:r>
            <a:r>
              <a:rPr lang="en-US" altLang="ja-JP" sz="3600" dirty="0"/>
              <a:t>+</a:t>
            </a:r>
            <a:r>
              <a:rPr lang="ja-JP" altLang="en-US" sz="3600" dirty="0"/>
              <a:t>白色外乱</a:t>
            </a:r>
            <a:r>
              <a:rPr lang="en-US" altLang="ja-JP" sz="3600" dirty="0"/>
              <a:t>)</a:t>
            </a:r>
            <a:endParaRPr kumimoji="1" lang="ja-JP" altLang="en-US" dirty="0"/>
          </a:p>
        </p:txBody>
      </p: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7A6DB12D-93A4-D8FC-D82C-D8C9F36C3A87}"/>
                  </a:ext>
                </a:extLst>
              </p:cNvPr>
              <p:cNvSpPr txBox="1"/>
              <p:nvPr/>
            </p:nvSpPr>
            <p:spPr>
              <a:xfrm>
                <a:off x="788277" y="936060"/>
                <a:ext cx="7769247" cy="830997"/>
              </a:xfrm>
              <a:prstGeom prst="rect">
                <a:avLst/>
              </a:prstGeom>
              <a:noFill/>
            </p:spPr>
            <p:txBody>
              <a:bodyPr wrap="square" rtlCol="0">
                <a:spAutoFit/>
              </a:bodyPr>
              <a:lstStyle/>
              <a:p>
                <a:r>
                  <a:rPr kumimoji="1" lang="ja-JP" altLang="en-US" sz="2400" b="1" dirty="0"/>
                  <a:t>・状態空間</a:t>
                </a:r>
                <a:r>
                  <a:rPr kumimoji="1" lang="en-US" altLang="ja-JP" sz="2400" b="1" dirty="0"/>
                  <a:t> </a:t>
                </a:r>
                <a14:m>
                  <m:oMath xmlns:m="http://schemas.openxmlformats.org/officeDocument/2006/math">
                    <m:r>
                      <a:rPr kumimoji="1" lang="en-US" altLang="ja-JP" sz="2400" b="1" i="1" smtClean="0">
                        <a:latin typeface="Cambria Math" panose="02040503050406030204" pitchFamily="18" charset="0"/>
                      </a:rPr>
                      <m:t>𝒔</m:t>
                    </m:r>
                  </m:oMath>
                </a14:m>
                <a:endParaRPr kumimoji="1" lang="en-US" altLang="ja-JP" sz="2400" b="1" dirty="0"/>
              </a:p>
              <a:p>
                <a:r>
                  <a:rPr kumimoji="1" lang="ja-JP" altLang="en-US" sz="2400" b="1" dirty="0"/>
                  <a:t>・行動 </a:t>
                </a:r>
                <a14:m>
                  <m:oMath xmlns:m="http://schemas.openxmlformats.org/officeDocument/2006/math">
                    <m:r>
                      <a:rPr kumimoji="1" lang="en-US" altLang="ja-JP" sz="2400" b="1" i="1" smtClean="0">
                        <a:latin typeface="Cambria Math" panose="02040503050406030204" pitchFamily="18" charset="0"/>
                      </a:rPr>
                      <m:t>𝒖</m:t>
                    </m:r>
                  </m:oMath>
                </a14:m>
                <a:endParaRPr kumimoji="1" lang="en-US" altLang="ja-JP" sz="2400" b="1" dirty="0"/>
              </a:p>
            </p:txBody>
          </p:sp>
        </mc:Choice>
        <mc:Fallback xmlns="">
          <p:sp>
            <p:nvSpPr>
              <p:cNvPr id="13" name="テキスト ボックス 12">
                <a:extLst>
                  <a:ext uri="{FF2B5EF4-FFF2-40B4-BE49-F238E27FC236}">
                    <a16:creationId xmlns:a16="http://schemas.microsoft.com/office/drawing/2014/main" id="{7A6DB12D-93A4-D8FC-D82C-D8C9F36C3A87}"/>
                  </a:ext>
                </a:extLst>
              </p:cNvPr>
              <p:cNvSpPr txBox="1">
                <a:spLocks noRot="1" noChangeAspect="1" noMove="1" noResize="1" noEditPoints="1" noAdjustHandles="1" noChangeArrowheads="1" noChangeShapeType="1" noTextEdit="1"/>
              </p:cNvSpPr>
              <p:nvPr/>
            </p:nvSpPr>
            <p:spPr>
              <a:xfrm>
                <a:off x="788277" y="936060"/>
                <a:ext cx="7769247" cy="830997"/>
              </a:xfrm>
              <a:prstGeom prst="rect">
                <a:avLst/>
              </a:prstGeom>
              <a:blipFill>
                <a:blip r:embed="rId3"/>
                <a:stretch>
                  <a:fillRect l="-1176" t="-8824" b="-1323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F31F72BF-BE2F-F884-6874-FA070979BD75}"/>
                  </a:ext>
                </a:extLst>
              </p:cNvPr>
              <p:cNvSpPr txBox="1"/>
              <p:nvPr/>
            </p:nvSpPr>
            <p:spPr>
              <a:xfrm>
                <a:off x="788277" y="1701045"/>
                <a:ext cx="8549602" cy="1200329"/>
              </a:xfrm>
              <a:prstGeom prst="rect">
                <a:avLst/>
              </a:prstGeom>
              <a:noFill/>
            </p:spPr>
            <p:txBody>
              <a:bodyPr wrap="square">
                <a:spAutoFit/>
              </a:bodyPr>
              <a:lstStyle/>
              <a:p>
                <a:r>
                  <a:rPr kumimoji="1" lang="ja-JP" altLang="en-US" sz="2400" b="1" dirty="0">
                    <a:solidFill>
                      <a:prstClr val="black">
                        <a:lumMod val="75000"/>
                        <a:lumOff val="25000"/>
                      </a:prstClr>
                    </a:solidFill>
                    <a:latin typeface="Calibri" panose="020F0502020204030204"/>
                    <a:ea typeface="ＭＳ Ｐゴシック" panose="020B0600070205080204" pitchFamily="50" charset="-128"/>
                  </a:rPr>
                  <a:t>・報酬</a:t>
                </a:r>
                <a14:m>
                  <m:oMath xmlns:m="http://schemas.openxmlformats.org/officeDocument/2006/math">
                    <m:r>
                      <a:rPr kumimoji="1" lang="en-US" altLang="ja-JP" sz="2400" b="1" i="0" smtClean="0">
                        <a:latin typeface="Cambria Math" panose="02040503050406030204" pitchFamily="18" charset="0"/>
                      </a:rPr>
                      <m:t> </m:t>
                    </m:r>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𝒓</m:t>
                        </m:r>
                      </m:e>
                      <m:sub>
                        <m:r>
                          <a:rPr kumimoji="1" lang="en-US" altLang="ja-JP" sz="2400" b="1" i="1" smtClean="0">
                            <a:latin typeface="Cambria Math" panose="02040503050406030204" pitchFamily="18" charset="0"/>
                          </a:rPr>
                          <m:t>𝒕</m:t>
                        </m:r>
                      </m:sub>
                    </m:sSub>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𝒔</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𝒂</m:t>
                        </m:r>
                      </m:e>
                    </m:d>
                  </m:oMath>
                </a14:m>
                <a:endParaRPr lang="en-US" altLang="ja-JP" sz="2400" b="1" dirty="0"/>
              </a:p>
              <a:p>
                <a:r>
                  <a:rPr kumimoji="1" lang="ja-JP" altLang="en-US" sz="2400" b="1" dirty="0"/>
                  <a:t>・初期条件</a:t>
                </a:r>
              </a:p>
              <a:p>
                <a:endParaRPr lang="ja-JP" altLang="en-US" sz="2400" dirty="0"/>
              </a:p>
            </p:txBody>
          </p:sp>
        </mc:Choice>
        <mc:Fallback xmlns="">
          <p:sp>
            <p:nvSpPr>
              <p:cNvPr id="16" name="テキスト ボックス 15">
                <a:extLst>
                  <a:ext uri="{FF2B5EF4-FFF2-40B4-BE49-F238E27FC236}">
                    <a16:creationId xmlns:a16="http://schemas.microsoft.com/office/drawing/2014/main" id="{F31F72BF-BE2F-F884-6874-FA070979BD75}"/>
                  </a:ext>
                </a:extLst>
              </p:cNvPr>
              <p:cNvSpPr txBox="1">
                <a:spLocks noRot="1" noChangeAspect="1" noMove="1" noResize="1" noEditPoints="1" noAdjustHandles="1" noChangeArrowheads="1" noChangeShapeType="1" noTextEdit="1"/>
              </p:cNvSpPr>
              <p:nvPr/>
            </p:nvSpPr>
            <p:spPr>
              <a:xfrm>
                <a:off x="788277" y="1701045"/>
                <a:ext cx="8549602" cy="1200329"/>
              </a:xfrm>
              <a:prstGeom prst="rect">
                <a:avLst/>
              </a:prstGeom>
              <a:blipFill>
                <a:blip r:embed="rId4"/>
                <a:stretch>
                  <a:fillRect l="-1069" t="-6091"/>
                </a:stretch>
              </a:blipFill>
            </p:spPr>
            <p:txBody>
              <a:bodyPr/>
              <a:lstStyle/>
              <a:p>
                <a:r>
                  <a:rPr lang="ja-JP" altLang="en-US">
                    <a:noFill/>
                  </a:rPr>
                  <a:t> </a:t>
                </a:r>
              </a:p>
            </p:txBody>
          </p:sp>
        </mc:Fallback>
      </mc:AlternateContent>
      <p:sp>
        <p:nvSpPr>
          <p:cNvPr id="17" name="四角形: 角を丸くする 16">
            <a:extLst>
              <a:ext uri="{FF2B5EF4-FFF2-40B4-BE49-F238E27FC236}">
                <a16:creationId xmlns:a16="http://schemas.microsoft.com/office/drawing/2014/main" id="{11AFEC2C-9E8C-2FD9-07A3-B9F9D8D3FBEF}"/>
              </a:ext>
            </a:extLst>
          </p:cNvPr>
          <p:cNvSpPr/>
          <p:nvPr/>
        </p:nvSpPr>
        <p:spPr>
          <a:xfrm>
            <a:off x="788277" y="852754"/>
            <a:ext cx="3417964" cy="1828607"/>
          </a:xfrm>
          <a:prstGeom prst="roundRect">
            <a:avLst/>
          </a:prstGeom>
          <a:noFill/>
          <a:ln w="952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吹き出し: 線 17">
            <a:extLst>
              <a:ext uri="{FF2B5EF4-FFF2-40B4-BE49-F238E27FC236}">
                <a16:creationId xmlns:a16="http://schemas.microsoft.com/office/drawing/2014/main" id="{0239C857-C5A3-E2D8-A624-7C2542498280}"/>
              </a:ext>
            </a:extLst>
          </p:cNvPr>
          <p:cNvSpPr/>
          <p:nvPr/>
        </p:nvSpPr>
        <p:spPr>
          <a:xfrm>
            <a:off x="5860025" y="1217205"/>
            <a:ext cx="2850405" cy="706295"/>
          </a:xfrm>
          <a:prstGeom prst="borderCallout1">
            <a:avLst>
              <a:gd name="adj1" fmla="val 53571"/>
              <a:gd name="adj2" fmla="val -805"/>
              <a:gd name="adj3" fmla="val 105357"/>
              <a:gd name="adj4" fmla="val -58796"/>
            </a:avLst>
          </a:prstGeom>
          <a:no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450886AE-0F60-23DE-663F-0C5261977E78}"/>
              </a:ext>
            </a:extLst>
          </p:cNvPr>
          <p:cNvSpPr txBox="1"/>
          <p:nvPr/>
        </p:nvSpPr>
        <p:spPr>
          <a:xfrm>
            <a:off x="5845817" y="1221665"/>
            <a:ext cx="3017520" cy="646331"/>
          </a:xfrm>
          <a:prstGeom prst="rect">
            <a:avLst/>
          </a:prstGeom>
          <a:noFill/>
        </p:spPr>
        <p:txBody>
          <a:bodyPr wrap="square" rtlCol="0">
            <a:spAutoFit/>
          </a:bodyPr>
          <a:lstStyle/>
          <a:p>
            <a:r>
              <a:rPr kumimoji="1" lang="ja-JP" altLang="en-US" b="1" dirty="0"/>
              <a:t>②不確実な初期条件の場合　</a:t>
            </a:r>
            <a:r>
              <a:rPr kumimoji="1" lang="ja-JP" altLang="en-US" dirty="0"/>
              <a:t>と共通</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592BD3EE-FB83-F512-0947-148338843C13}"/>
                  </a:ext>
                </a:extLst>
              </p:cNvPr>
              <p:cNvSpPr txBox="1"/>
              <p:nvPr/>
            </p:nvSpPr>
            <p:spPr>
              <a:xfrm>
                <a:off x="343689" y="3367600"/>
                <a:ext cx="10471456" cy="1822294"/>
              </a:xfrm>
              <a:prstGeom prst="rect">
                <a:avLst/>
              </a:prstGeom>
              <a:noFill/>
            </p:spPr>
            <p:txBody>
              <a:bodyPr wrap="square">
                <a:spAutoFit/>
              </a:bodyPr>
              <a:lstStyle/>
              <a:p>
                <a14:m>
                  <m:oMath xmlns:m="http://schemas.openxmlformats.org/officeDocument/2006/math">
                    <m:acc>
                      <m:accPr>
                        <m:chr m:val="̂"/>
                        <m:ctrlPr>
                          <a:rPr kumimoji="1" lang="en-US" altLang="ja-JP" sz="2400" b="1" i="1" smtClean="0">
                            <a:latin typeface="Cambria Math" panose="02040503050406030204" pitchFamily="18" charset="0"/>
                          </a:rPr>
                        </m:ctrlPr>
                      </m:accPr>
                      <m:e>
                        <m:r>
                          <a:rPr kumimoji="1" lang="en-US" altLang="ja-JP" sz="2400" b="1" i="1" smtClean="0">
                            <a:latin typeface="Cambria Math" panose="02040503050406030204" pitchFamily="18" charset="0"/>
                          </a:rPr>
                          <m:t>𝑿</m:t>
                        </m:r>
                      </m:e>
                    </m:acc>
                    <m:r>
                      <a:rPr kumimoji="1" lang="en-US" altLang="ja-JP" sz="2400" b="0" i="1" smtClean="0">
                        <a:latin typeface="Cambria Math" panose="02040503050406030204" pitchFamily="18" charset="0"/>
                      </a:rPr>
                      <m:t>=</m:t>
                    </m:r>
                    <m:d>
                      <m:dPr>
                        <m:begChr m:val="["/>
                        <m:endChr m:val="]"/>
                        <m:ctrlPr>
                          <a:rPr kumimoji="1" lang="en-US" altLang="ja-JP" sz="2400" i="1" smtClean="0">
                            <a:latin typeface="Cambria Math" panose="02040503050406030204" pitchFamily="18" charset="0"/>
                          </a:rPr>
                        </m:ctrlPr>
                      </m:dPr>
                      <m:e>
                        <m:eqArr>
                          <m:eqArrPr>
                            <m:ctrlPr>
                              <a:rPr kumimoji="1" lang="en-US" altLang="ja-JP" sz="2400" i="1" smtClean="0">
                                <a:latin typeface="Cambria Math" panose="02040503050406030204" pitchFamily="18" charset="0"/>
                              </a:rPr>
                            </m:ctrlPr>
                          </m:eqArrPr>
                          <m:e>
                            <m:r>
                              <a:rPr kumimoji="1" lang="en-US" altLang="ja-JP" sz="2400" b="0" i="1" smtClean="0">
                                <a:latin typeface="Cambria Math" panose="02040503050406030204" pitchFamily="18" charset="0"/>
                              </a:rPr>
                              <m:t>𝑋</m:t>
                            </m:r>
                          </m:e>
                          <m:e>
                            <m:r>
                              <a:rPr kumimoji="1" lang="en-US" altLang="ja-JP" sz="2400" b="0" i="1" smtClean="0">
                                <a:latin typeface="Cambria Math" panose="02040503050406030204" pitchFamily="18" charset="0"/>
                              </a:rPr>
                              <m:t>𝑌</m:t>
                            </m:r>
                          </m:e>
                          <m:e>
                            <m:r>
                              <a:rPr kumimoji="1" lang="en-US" altLang="ja-JP" sz="2400" b="0" i="1" smtClean="0">
                                <a:latin typeface="Cambria Math" panose="02040503050406030204" pitchFamily="18" charset="0"/>
                              </a:rPr>
                              <m:t>𝑍</m:t>
                            </m:r>
                          </m:e>
                          <m:e>
                            <m:r>
                              <a:rPr kumimoji="1" lang="en-US" altLang="ja-JP" sz="2400" b="0" i="1" smtClean="0">
                                <a:latin typeface="Cambria Math" panose="02040503050406030204" pitchFamily="18" charset="0"/>
                              </a:rPr>
                              <m:t>𝑉</m:t>
                            </m:r>
                          </m:e>
                        </m:eqArr>
                      </m:e>
                    </m:d>
                  </m:oMath>
                </a14:m>
                <a:r>
                  <a:rPr kumimoji="1" lang="ja-JP" altLang="en-US" sz="2400" b="1" dirty="0"/>
                  <a:t>　</a:t>
                </a:r>
                <a:r>
                  <a:rPr kumimoji="1" lang="ja-JP" altLang="en-US" sz="2400" dirty="0"/>
                  <a:t>を用いた①</a:t>
                </a:r>
                <a:r>
                  <a:rPr kumimoji="1" lang="en-US" altLang="ja-JP" sz="2400" dirty="0"/>
                  <a:t>, </a:t>
                </a:r>
                <a:r>
                  <a:rPr kumimoji="1" lang="ja-JP" altLang="en-US" sz="2400" dirty="0"/>
                  <a:t>②の数理モデル</a:t>
                </a:r>
                <a:endParaRPr kumimoji="1" lang="en-US" altLang="ja-JP" sz="2400" dirty="0"/>
              </a:p>
              <a:p>
                <a:r>
                  <a:rPr kumimoji="1" lang="en-US" altLang="ja-JP" sz="2400" dirty="0"/>
                  <a:t>			</a:t>
                </a:r>
                <a:r>
                  <a:rPr kumimoji="1" lang="ja-JP" altLang="en-US" sz="2400" dirty="0"/>
                  <a:t>③の数理モデル</a:t>
                </a:r>
                <a:r>
                  <a:rPr kumimoji="1" lang="en-US" altLang="ja-JP" sz="2400" dirty="0"/>
                  <a:t> </a:t>
                </a:r>
              </a:p>
            </p:txBody>
          </p:sp>
        </mc:Choice>
        <mc:Fallback xmlns="">
          <p:sp>
            <p:nvSpPr>
              <p:cNvPr id="5" name="テキスト ボックス 4">
                <a:extLst>
                  <a:ext uri="{FF2B5EF4-FFF2-40B4-BE49-F238E27FC236}">
                    <a16:creationId xmlns:a16="http://schemas.microsoft.com/office/drawing/2014/main" id="{592BD3EE-FB83-F512-0947-148338843C13}"/>
                  </a:ext>
                </a:extLst>
              </p:cNvPr>
              <p:cNvSpPr txBox="1">
                <a:spLocks noRot="1" noChangeAspect="1" noMove="1" noResize="1" noEditPoints="1" noAdjustHandles="1" noChangeArrowheads="1" noChangeShapeType="1" noTextEdit="1"/>
              </p:cNvSpPr>
              <p:nvPr/>
            </p:nvSpPr>
            <p:spPr>
              <a:xfrm>
                <a:off x="343689" y="3367600"/>
                <a:ext cx="10471456" cy="1822294"/>
              </a:xfrm>
              <a:prstGeom prst="rect">
                <a:avLst/>
              </a:prstGeom>
              <a:blipFill>
                <a:blip r:embed="rId5"/>
                <a:stretch>
                  <a:fillRect b="-5351"/>
                </a:stretch>
              </a:blipFill>
            </p:spPr>
            <p:txBody>
              <a:bodyPr/>
              <a:lstStyle/>
              <a:p>
                <a:r>
                  <a:rPr lang="ja-JP" altLang="en-US">
                    <a:noFill/>
                  </a:rPr>
                  <a:t> </a:t>
                </a:r>
              </a:p>
            </p:txBody>
          </p:sp>
        </mc:Fallback>
      </mc:AlternateContent>
      <p:sp>
        <p:nvSpPr>
          <p:cNvPr id="6" name="テキスト ボックス 5">
            <a:extLst>
              <a:ext uri="{FF2B5EF4-FFF2-40B4-BE49-F238E27FC236}">
                <a16:creationId xmlns:a16="http://schemas.microsoft.com/office/drawing/2014/main" id="{0636005E-AFC4-7F0C-DEFD-2DB80905458B}"/>
              </a:ext>
            </a:extLst>
          </p:cNvPr>
          <p:cNvSpPr txBox="1"/>
          <p:nvPr/>
        </p:nvSpPr>
        <p:spPr>
          <a:xfrm>
            <a:off x="3836783" y="2670952"/>
            <a:ext cx="4873647" cy="523220"/>
          </a:xfrm>
          <a:prstGeom prst="rect">
            <a:avLst/>
          </a:prstGeom>
          <a:noFill/>
        </p:spPr>
        <p:txBody>
          <a:bodyPr wrap="square" rtlCol="0">
            <a:spAutoFit/>
          </a:bodyPr>
          <a:lstStyle/>
          <a:p>
            <a:r>
              <a:rPr kumimoji="1" lang="ja-JP" altLang="en-US" sz="2800" b="1" dirty="0"/>
              <a:t>白色外乱と数理モデルの関係</a:t>
            </a: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C84B4BE2-296D-BF81-D026-FE66046AD596}"/>
                  </a:ext>
                </a:extLst>
              </p:cNvPr>
              <p:cNvSpPr txBox="1"/>
              <p:nvPr/>
            </p:nvSpPr>
            <p:spPr>
              <a:xfrm>
                <a:off x="7190126" y="3723701"/>
                <a:ext cx="3200401" cy="793679"/>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kumimoji="1" lang="en-US" altLang="ja-JP" sz="2400" i="1" smtClean="0">
                              <a:latin typeface="Cambria Math" panose="02040503050406030204" pitchFamily="18" charset="0"/>
                            </a:rPr>
                          </m:ctrlPr>
                        </m:fPr>
                        <m:num>
                          <m:r>
                            <m:rPr>
                              <m:sty m:val="p"/>
                            </m:rPr>
                            <a:rPr kumimoji="1" lang="en-US" altLang="ja-JP" sz="2400" i="0" smtClean="0">
                              <a:latin typeface="Cambria Math" panose="02040503050406030204" pitchFamily="18" charset="0"/>
                            </a:rPr>
                            <m:t>d</m:t>
                          </m:r>
                        </m:num>
                        <m:den>
                          <m:r>
                            <m:rPr>
                              <m:sty m:val="p"/>
                            </m:rPr>
                            <a:rPr kumimoji="1" lang="en-US" altLang="ja-JP" sz="2400" i="0" smtClean="0">
                              <a:latin typeface="Cambria Math" panose="02040503050406030204" pitchFamily="18" charset="0"/>
                            </a:rPr>
                            <m:t>d</m:t>
                          </m:r>
                          <m:r>
                            <a:rPr kumimoji="1" lang="en-US" altLang="ja-JP" sz="2400" b="0" i="1" smtClean="0">
                              <a:latin typeface="Cambria Math" panose="02040503050406030204" pitchFamily="18" charset="0"/>
                            </a:rPr>
                            <m:t>𝑡</m:t>
                          </m:r>
                        </m:den>
                      </m:f>
                      <m:acc>
                        <m:accPr>
                          <m:chr m:val="̂"/>
                          <m:ctrlPr>
                            <a:rPr kumimoji="1" lang="en-US" altLang="ja-JP" sz="2400" b="1" i="1" smtClean="0">
                              <a:latin typeface="Cambria Math" panose="02040503050406030204" pitchFamily="18" charset="0"/>
                            </a:rPr>
                          </m:ctrlPr>
                        </m:accPr>
                        <m:e>
                          <m:r>
                            <a:rPr kumimoji="1" lang="en-US" altLang="ja-JP" sz="2400" b="1" i="1" smtClean="0">
                              <a:latin typeface="Cambria Math" panose="02040503050406030204" pitchFamily="18" charset="0"/>
                            </a:rPr>
                            <m:t>𝑿</m:t>
                          </m:r>
                        </m:e>
                      </m:acc>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𝑭</m:t>
                      </m:r>
                      <m:d>
                        <m:dPr>
                          <m:ctrlPr>
                            <a:rPr kumimoji="1" lang="en-US" altLang="ja-JP" sz="2400" b="1" i="1" smtClean="0">
                              <a:latin typeface="Cambria Math" panose="02040503050406030204" pitchFamily="18" charset="0"/>
                            </a:rPr>
                          </m:ctrlPr>
                        </m:dPr>
                        <m:e>
                          <m:acc>
                            <m:accPr>
                              <m:chr m:val="̂"/>
                              <m:ctrlPr>
                                <a:rPr kumimoji="1" lang="en-US" altLang="ja-JP" sz="2400" b="1" i="1" smtClean="0">
                                  <a:latin typeface="Cambria Math" panose="02040503050406030204" pitchFamily="18" charset="0"/>
                                </a:rPr>
                              </m:ctrlPr>
                            </m:accPr>
                            <m:e>
                              <m:r>
                                <a:rPr kumimoji="1" lang="en-US" altLang="ja-JP" sz="2400" b="1" i="1" smtClean="0">
                                  <a:latin typeface="Cambria Math" panose="02040503050406030204" pitchFamily="18" charset="0"/>
                                </a:rPr>
                                <m:t>𝑿</m:t>
                              </m:r>
                            </m:e>
                          </m:acc>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𝒕</m:t>
                          </m:r>
                        </m:e>
                      </m:d>
                    </m:oMath>
                  </m:oMathPara>
                </a14:m>
                <a:endParaRPr kumimoji="1" lang="ja-JP" altLang="en-US" sz="2400" b="1" i="1" dirty="0"/>
              </a:p>
            </p:txBody>
          </p:sp>
        </mc:Choice>
        <mc:Fallback xmlns="">
          <p:sp>
            <p:nvSpPr>
              <p:cNvPr id="7" name="テキスト ボックス 6">
                <a:extLst>
                  <a:ext uri="{FF2B5EF4-FFF2-40B4-BE49-F238E27FC236}">
                    <a16:creationId xmlns:a16="http://schemas.microsoft.com/office/drawing/2014/main" id="{C84B4BE2-296D-BF81-D026-FE66046AD596}"/>
                  </a:ext>
                </a:extLst>
              </p:cNvPr>
              <p:cNvSpPr txBox="1">
                <a:spLocks noRot="1" noChangeAspect="1" noMove="1" noResize="1" noEditPoints="1" noAdjustHandles="1" noChangeArrowheads="1" noChangeShapeType="1" noTextEdit="1"/>
              </p:cNvSpPr>
              <p:nvPr/>
            </p:nvSpPr>
            <p:spPr>
              <a:xfrm>
                <a:off x="7190126" y="3723701"/>
                <a:ext cx="3200401" cy="793679"/>
              </a:xfrm>
              <a:prstGeom prst="rect">
                <a:avLst/>
              </a:prstGeom>
              <a:blipFill>
                <a:blip r:embed="rId6"/>
                <a:stretch>
                  <a:fillRect/>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6DF7B775-2C46-BE37-92E4-2B40E78738FD}"/>
                  </a:ext>
                </a:extLst>
              </p:cNvPr>
              <p:cNvSpPr txBox="1"/>
              <p:nvPr/>
            </p:nvSpPr>
            <p:spPr>
              <a:xfrm>
                <a:off x="7354577" y="4695418"/>
                <a:ext cx="3966604" cy="793679"/>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kumimoji="1" lang="en-US" altLang="ja-JP" sz="2400" i="1" smtClean="0">
                              <a:latin typeface="Cambria Math" panose="02040503050406030204" pitchFamily="18" charset="0"/>
                            </a:rPr>
                          </m:ctrlPr>
                        </m:fPr>
                        <m:num>
                          <m:r>
                            <m:rPr>
                              <m:sty m:val="p"/>
                            </m:rPr>
                            <a:rPr kumimoji="1" lang="en-US" altLang="ja-JP" sz="2400" i="0" smtClean="0">
                              <a:latin typeface="Cambria Math" panose="02040503050406030204" pitchFamily="18" charset="0"/>
                            </a:rPr>
                            <m:t>d</m:t>
                          </m:r>
                        </m:num>
                        <m:den>
                          <m:r>
                            <m:rPr>
                              <m:sty m:val="p"/>
                            </m:rPr>
                            <a:rPr kumimoji="1" lang="en-US" altLang="ja-JP" sz="2400" i="0" smtClean="0">
                              <a:latin typeface="Cambria Math" panose="02040503050406030204" pitchFamily="18" charset="0"/>
                            </a:rPr>
                            <m:t>d</m:t>
                          </m:r>
                          <m:r>
                            <a:rPr kumimoji="1" lang="en-US" altLang="ja-JP" sz="2400" b="0" i="1" smtClean="0">
                              <a:latin typeface="Cambria Math" panose="02040503050406030204" pitchFamily="18" charset="0"/>
                            </a:rPr>
                            <m:t>𝑡</m:t>
                          </m:r>
                        </m:den>
                      </m:f>
                      <m:acc>
                        <m:accPr>
                          <m:chr m:val="̂"/>
                          <m:ctrlPr>
                            <a:rPr kumimoji="1" lang="en-US" altLang="ja-JP" sz="2400" b="1" i="1" smtClean="0">
                              <a:latin typeface="Cambria Math" panose="02040503050406030204" pitchFamily="18" charset="0"/>
                            </a:rPr>
                          </m:ctrlPr>
                        </m:accPr>
                        <m:e>
                          <m:r>
                            <a:rPr kumimoji="1" lang="en-US" altLang="ja-JP" sz="2400" b="1" i="1" smtClean="0">
                              <a:latin typeface="Cambria Math" panose="02040503050406030204" pitchFamily="18" charset="0"/>
                            </a:rPr>
                            <m:t>𝑿</m:t>
                          </m:r>
                        </m:e>
                      </m:acc>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𝑭</m:t>
                      </m:r>
                      <m:d>
                        <m:dPr>
                          <m:ctrlPr>
                            <a:rPr kumimoji="1" lang="en-US" altLang="ja-JP" sz="2400" b="1" i="1" smtClean="0">
                              <a:latin typeface="Cambria Math" panose="02040503050406030204" pitchFamily="18" charset="0"/>
                            </a:rPr>
                          </m:ctrlPr>
                        </m:dPr>
                        <m:e>
                          <m:acc>
                            <m:accPr>
                              <m:chr m:val="̂"/>
                              <m:ctrlPr>
                                <a:rPr kumimoji="1" lang="en-US" altLang="ja-JP" sz="2400" b="1" i="1" smtClean="0">
                                  <a:latin typeface="Cambria Math" panose="02040503050406030204" pitchFamily="18" charset="0"/>
                                </a:rPr>
                              </m:ctrlPr>
                            </m:accPr>
                            <m:e>
                              <m:r>
                                <a:rPr kumimoji="1" lang="en-US" altLang="ja-JP" sz="2400" b="1" i="1" smtClean="0">
                                  <a:latin typeface="Cambria Math" panose="02040503050406030204" pitchFamily="18" charset="0"/>
                                </a:rPr>
                                <m:t>𝑿</m:t>
                              </m:r>
                            </m:e>
                          </m:acc>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𝒕</m:t>
                          </m:r>
                        </m:e>
                      </m:d>
                      <m:r>
                        <a:rPr kumimoji="1" lang="en-US" altLang="ja-JP" sz="2400" b="1" i="1" smtClean="0">
                          <a:latin typeface="Cambria Math" panose="02040503050406030204" pitchFamily="18" charset="0"/>
                        </a:rPr>
                        <m:t>+</m:t>
                      </m:r>
                      <m:r>
                        <a:rPr kumimoji="1" lang="ja-JP" altLang="en-US" sz="2400" b="1" i="1">
                          <a:latin typeface="Cambria Math" panose="02040503050406030204" pitchFamily="18" charset="0"/>
                        </a:rPr>
                        <m:t>　</m:t>
                      </m:r>
                      <m:r>
                        <a:rPr kumimoji="1" lang="en-US" altLang="ja-JP" sz="2400" b="1" i="1" smtClean="0">
                          <a:latin typeface="Cambria Math" panose="02040503050406030204" pitchFamily="18" charset="0"/>
                        </a:rPr>
                        <m:t>𝑮</m:t>
                      </m:r>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𝒕</m:t>
                          </m:r>
                        </m:e>
                      </m:d>
                      <m:r>
                        <a:rPr kumimoji="1" lang="en-US" altLang="ja-JP" sz="2400" b="1" i="1" smtClean="0">
                          <a:latin typeface="Cambria Math" panose="02040503050406030204" pitchFamily="18" charset="0"/>
                        </a:rPr>
                        <m:t>𝒘</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𝒕</m:t>
                      </m:r>
                      <m:r>
                        <a:rPr kumimoji="1" lang="en-US" altLang="ja-JP" sz="2400" b="1" i="1" smtClean="0">
                          <a:latin typeface="Cambria Math" panose="02040503050406030204" pitchFamily="18" charset="0"/>
                        </a:rPr>
                        <m:t>)</m:t>
                      </m:r>
                    </m:oMath>
                  </m:oMathPara>
                </a14:m>
                <a:endParaRPr kumimoji="1" lang="ja-JP" altLang="en-US" sz="2400" b="1" i="1" dirty="0"/>
              </a:p>
            </p:txBody>
          </p:sp>
        </mc:Choice>
        <mc:Fallback xmlns="">
          <p:sp>
            <p:nvSpPr>
              <p:cNvPr id="9" name="テキスト ボックス 8">
                <a:extLst>
                  <a:ext uri="{FF2B5EF4-FFF2-40B4-BE49-F238E27FC236}">
                    <a16:creationId xmlns:a16="http://schemas.microsoft.com/office/drawing/2014/main" id="{6DF7B775-2C46-BE37-92E4-2B40E78738FD}"/>
                  </a:ext>
                </a:extLst>
              </p:cNvPr>
              <p:cNvSpPr txBox="1">
                <a:spLocks noRot="1" noChangeAspect="1" noMove="1" noResize="1" noEditPoints="1" noAdjustHandles="1" noChangeArrowheads="1" noChangeShapeType="1" noTextEdit="1"/>
              </p:cNvSpPr>
              <p:nvPr/>
            </p:nvSpPr>
            <p:spPr>
              <a:xfrm>
                <a:off x="7354577" y="4695418"/>
                <a:ext cx="3966604" cy="793679"/>
              </a:xfrm>
              <a:prstGeom prst="rect">
                <a:avLst/>
              </a:prstGeom>
              <a:blipFill>
                <a:blip r:embed="rId7"/>
                <a:stretch>
                  <a:fillRect/>
                </a:stretch>
              </a:blipFill>
              <a:ln>
                <a:noFill/>
              </a:ln>
            </p:spPr>
            <p:txBody>
              <a:bodyPr/>
              <a:lstStyle/>
              <a:p>
                <a:r>
                  <a:rPr lang="ja-JP" altLang="en-US">
                    <a:noFill/>
                  </a:rPr>
                  <a:t> </a:t>
                </a:r>
              </a:p>
            </p:txBody>
          </p:sp>
        </mc:Fallback>
      </mc:AlternateContent>
      <p:sp>
        <p:nvSpPr>
          <p:cNvPr id="10" name="矢印: 右 9">
            <a:extLst>
              <a:ext uri="{FF2B5EF4-FFF2-40B4-BE49-F238E27FC236}">
                <a16:creationId xmlns:a16="http://schemas.microsoft.com/office/drawing/2014/main" id="{609C1370-D63C-4FBA-8CDB-75DB2E8FF760}"/>
              </a:ext>
            </a:extLst>
          </p:cNvPr>
          <p:cNvSpPr/>
          <p:nvPr/>
        </p:nvSpPr>
        <p:spPr>
          <a:xfrm>
            <a:off x="6107560" y="3922121"/>
            <a:ext cx="657948" cy="39684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1" name="矢印: 右 10">
            <a:extLst>
              <a:ext uri="{FF2B5EF4-FFF2-40B4-BE49-F238E27FC236}">
                <a16:creationId xmlns:a16="http://schemas.microsoft.com/office/drawing/2014/main" id="{ED2AD7B6-9B54-C3A0-E411-D961FEB63018}"/>
              </a:ext>
            </a:extLst>
          </p:cNvPr>
          <p:cNvSpPr/>
          <p:nvPr/>
        </p:nvSpPr>
        <p:spPr>
          <a:xfrm>
            <a:off x="6096000" y="4796201"/>
            <a:ext cx="657948" cy="39684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32F2492-123B-784A-F1A9-9BD7F37C7692}"/>
              </a:ext>
            </a:extLst>
          </p:cNvPr>
          <p:cNvSpPr/>
          <p:nvPr/>
        </p:nvSpPr>
        <p:spPr>
          <a:xfrm>
            <a:off x="9842791" y="4923366"/>
            <a:ext cx="1478390" cy="46657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DA05CBBF-95BE-B7F9-0ADC-29A7601E9BF3}"/>
                  </a:ext>
                </a:extLst>
              </p:cNvPr>
              <p:cNvSpPr txBox="1"/>
              <p:nvPr/>
            </p:nvSpPr>
            <p:spPr>
              <a:xfrm>
                <a:off x="9282036" y="4426869"/>
                <a:ext cx="2322298" cy="369332"/>
              </a:xfrm>
              <a:prstGeom prst="rect">
                <a:avLst/>
              </a:prstGeom>
              <a:noFill/>
              <a:ln>
                <a:solidFill>
                  <a:srgbClr val="000000"/>
                </a:solidFill>
              </a:ln>
            </p:spPr>
            <p:txBody>
              <a:bodyPr wrap="square" rtlCol="0">
                <a:spAutoFit/>
              </a:bodyPr>
              <a:lstStyle/>
              <a:p>
                <a14:m>
                  <m:oMath xmlns:m="http://schemas.openxmlformats.org/officeDocument/2006/math">
                    <m:r>
                      <a:rPr kumimoji="1" lang="en-US" altLang="ja-JP" b="1" i="1" smtClean="0">
                        <a:latin typeface="Cambria Math" panose="02040503050406030204" pitchFamily="18" charset="0"/>
                      </a:rPr>
                      <m:t>𝒘</m:t>
                    </m:r>
                    <m:d>
                      <m:dPr>
                        <m:ctrlPr>
                          <a:rPr kumimoji="1" lang="en-US" altLang="ja-JP" b="1" i="1" smtClean="0">
                            <a:latin typeface="Cambria Math" panose="02040503050406030204" pitchFamily="18" charset="0"/>
                          </a:rPr>
                        </m:ctrlPr>
                      </m:dPr>
                      <m:e>
                        <m:r>
                          <a:rPr kumimoji="1" lang="en-US" altLang="ja-JP" b="1" i="1" smtClean="0">
                            <a:latin typeface="Cambria Math" panose="02040503050406030204" pitchFamily="18" charset="0"/>
                          </a:rPr>
                          <m:t>𝒕</m:t>
                        </m:r>
                      </m:e>
                    </m:d>
                    <m:r>
                      <a:rPr kumimoji="1" lang="en-US" altLang="ja-JP" b="0" i="1" smtClean="0">
                        <a:latin typeface="Cambria Math" panose="02040503050406030204" pitchFamily="18" charset="0"/>
                      </a:rPr>
                      <m:t>: </m:t>
                    </m:r>
                  </m:oMath>
                </a14:m>
                <a:r>
                  <a:rPr kumimoji="1" lang="ja-JP" altLang="en-US" dirty="0"/>
                  <a:t>白色外乱入力</a:t>
                </a:r>
              </a:p>
            </p:txBody>
          </p:sp>
        </mc:Choice>
        <mc:Fallback xmlns="">
          <p:sp>
            <p:nvSpPr>
              <p:cNvPr id="15" name="テキスト ボックス 14">
                <a:extLst>
                  <a:ext uri="{FF2B5EF4-FFF2-40B4-BE49-F238E27FC236}">
                    <a16:creationId xmlns:a16="http://schemas.microsoft.com/office/drawing/2014/main" id="{DA05CBBF-95BE-B7F9-0ADC-29A7601E9BF3}"/>
                  </a:ext>
                </a:extLst>
              </p:cNvPr>
              <p:cNvSpPr txBox="1">
                <a:spLocks noRot="1" noChangeAspect="1" noMove="1" noResize="1" noEditPoints="1" noAdjustHandles="1" noChangeArrowheads="1" noChangeShapeType="1" noTextEdit="1"/>
              </p:cNvSpPr>
              <p:nvPr/>
            </p:nvSpPr>
            <p:spPr>
              <a:xfrm>
                <a:off x="9282036" y="4426869"/>
                <a:ext cx="2322298" cy="369332"/>
              </a:xfrm>
              <a:prstGeom prst="rect">
                <a:avLst/>
              </a:prstGeom>
              <a:blipFill>
                <a:blip r:embed="rId8"/>
                <a:stretch>
                  <a:fillRect t="-11111" b="-17460"/>
                </a:stretch>
              </a:blipFill>
              <a:ln>
                <a:solidFill>
                  <a:srgbClr val="000000"/>
                </a:solidFill>
              </a:ln>
            </p:spPr>
            <p:txBody>
              <a:bodyPr/>
              <a:lstStyle/>
              <a:p>
                <a:r>
                  <a:rPr lang="ja-JP" altLang="en-US">
                    <a:noFill/>
                  </a:rPr>
                  <a:t> </a:t>
                </a:r>
              </a:p>
            </p:txBody>
          </p:sp>
        </mc:Fallback>
      </mc:AlternateContent>
      <p:cxnSp>
        <p:nvCxnSpPr>
          <p:cNvPr id="28" name="コネクタ: カギ線 27">
            <a:extLst>
              <a:ext uri="{FF2B5EF4-FFF2-40B4-BE49-F238E27FC236}">
                <a16:creationId xmlns:a16="http://schemas.microsoft.com/office/drawing/2014/main" id="{09A92D97-BE26-AFD6-EF1B-E7F6E8020AD3}"/>
              </a:ext>
            </a:extLst>
          </p:cNvPr>
          <p:cNvCxnSpPr>
            <a:cxnSpLocks/>
            <a:stCxn id="9" idx="3"/>
          </p:cNvCxnSpPr>
          <p:nvPr/>
        </p:nvCxnSpPr>
        <p:spPr>
          <a:xfrm flipH="1">
            <a:off x="10112579" y="5092258"/>
            <a:ext cx="1208602" cy="799770"/>
          </a:xfrm>
          <a:prstGeom prst="bentConnector3">
            <a:avLst>
              <a:gd name="adj1" fmla="val -18914"/>
            </a:avLst>
          </a:prstGeom>
          <a:ln>
            <a:tailEnd type="triangle"/>
          </a:ln>
        </p:spPr>
        <p:style>
          <a:lnRef idx="1">
            <a:schemeClr val="dk1"/>
          </a:lnRef>
          <a:fillRef idx="0">
            <a:schemeClr val="dk1"/>
          </a:fillRef>
          <a:effectRef idx="0">
            <a:schemeClr val="dk1"/>
          </a:effectRef>
          <a:fontRef idx="minor">
            <a:schemeClr val="tx1"/>
          </a:fontRef>
        </p:style>
      </p:cxnSp>
      <p:sp>
        <p:nvSpPr>
          <p:cNvPr id="34" name="四角形: 角を丸くする 33">
            <a:extLst>
              <a:ext uri="{FF2B5EF4-FFF2-40B4-BE49-F238E27FC236}">
                <a16:creationId xmlns:a16="http://schemas.microsoft.com/office/drawing/2014/main" id="{1098E3AE-FF91-BE54-F4C7-7AF0B9CF27FC}"/>
              </a:ext>
            </a:extLst>
          </p:cNvPr>
          <p:cNvSpPr/>
          <p:nvPr/>
        </p:nvSpPr>
        <p:spPr>
          <a:xfrm>
            <a:off x="170267" y="3316406"/>
            <a:ext cx="11851466" cy="2941093"/>
          </a:xfrm>
          <a:prstGeom prst="roundRect">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A75D463A-0025-1CC2-528A-BAC1CA36D6C0}"/>
              </a:ext>
            </a:extLst>
          </p:cNvPr>
          <p:cNvSpPr txBox="1"/>
          <p:nvPr/>
        </p:nvSpPr>
        <p:spPr>
          <a:xfrm>
            <a:off x="6997536" y="5545995"/>
            <a:ext cx="3119975" cy="646331"/>
          </a:xfrm>
          <a:prstGeom prst="rect">
            <a:avLst/>
          </a:prstGeom>
          <a:noFill/>
          <a:ln>
            <a:solidFill>
              <a:srgbClr val="000000"/>
            </a:solidFill>
          </a:ln>
        </p:spPr>
        <p:txBody>
          <a:bodyPr wrap="square" rtlCol="0">
            <a:spAutoFit/>
          </a:bodyPr>
          <a:lstStyle/>
          <a:p>
            <a:pPr algn="ctr"/>
            <a:r>
              <a:rPr kumimoji="1" lang="ja-JP" altLang="en-US" dirty="0"/>
              <a:t>不確実白色外乱により胸腺の不確実性を表現</a:t>
            </a:r>
          </a:p>
        </p:txBody>
      </p:sp>
    </p:spTree>
    <p:extLst>
      <p:ext uri="{BB962C8B-B14F-4D97-AF65-F5344CB8AC3E}">
        <p14:creationId xmlns:p14="http://schemas.microsoft.com/office/powerpoint/2010/main" val="497759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6A522DCB-D0DE-D811-8907-F43AF7818BE5}"/>
              </a:ext>
            </a:extLst>
          </p:cNvPr>
          <p:cNvSpPr>
            <a:spLocks noGrp="1"/>
          </p:cNvSpPr>
          <p:nvPr>
            <p:ph type="sldNum" sz="quarter" idx="4294967295"/>
          </p:nvPr>
        </p:nvSpPr>
        <p:spPr>
          <a:xfrm>
            <a:off x="9900458" y="6459785"/>
            <a:ext cx="1312025" cy="365125"/>
          </a:xfrm>
        </p:spPr>
        <p:txBody>
          <a:bodyPr/>
          <a:lstStyle/>
          <a:p>
            <a:fld id="{E0107F97-1CD5-41F0-B842-C38020C26506}" type="slidenum">
              <a:rPr kumimoji="1" lang="ja-JP" altLang="en-US" smtClean="0"/>
              <a:t>10</a:t>
            </a:fld>
            <a:endParaRPr kumimoji="1" lang="ja-JP" altLang="en-US"/>
          </a:p>
        </p:txBody>
      </p:sp>
      <p:pic>
        <p:nvPicPr>
          <p:cNvPr id="5" name="図 4">
            <a:extLst>
              <a:ext uri="{FF2B5EF4-FFF2-40B4-BE49-F238E27FC236}">
                <a16:creationId xmlns:a16="http://schemas.microsoft.com/office/drawing/2014/main" id="{BC5CB406-FB96-D80B-C143-25FD97B25A57}"/>
              </a:ext>
            </a:extLst>
          </p:cNvPr>
          <p:cNvPicPr>
            <a:picLocks noChangeAspect="1"/>
          </p:cNvPicPr>
          <p:nvPr/>
        </p:nvPicPr>
        <p:blipFill rotWithShape="1">
          <a:blip r:embed="rId3"/>
          <a:srcRect t="3246"/>
          <a:stretch/>
        </p:blipFill>
        <p:spPr>
          <a:xfrm>
            <a:off x="3974837" y="679798"/>
            <a:ext cx="3895534" cy="2533109"/>
          </a:xfrm>
          <a:prstGeom prst="rect">
            <a:avLst/>
          </a:prstGeom>
        </p:spPr>
      </p:pic>
      <p:pic>
        <p:nvPicPr>
          <p:cNvPr id="7" name="図 6">
            <a:extLst>
              <a:ext uri="{FF2B5EF4-FFF2-40B4-BE49-F238E27FC236}">
                <a16:creationId xmlns:a16="http://schemas.microsoft.com/office/drawing/2014/main" id="{0C7747CD-029F-7431-62C5-7F6D92953FD5}"/>
              </a:ext>
            </a:extLst>
          </p:cNvPr>
          <p:cNvPicPr>
            <a:picLocks noChangeAspect="1"/>
          </p:cNvPicPr>
          <p:nvPr/>
        </p:nvPicPr>
        <p:blipFill rotWithShape="1">
          <a:blip r:embed="rId4"/>
          <a:srcRect t="4314"/>
          <a:stretch/>
        </p:blipFill>
        <p:spPr>
          <a:xfrm>
            <a:off x="8173585" y="698973"/>
            <a:ext cx="3757360" cy="2533109"/>
          </a:xfrm>
          <a:prstGeom prst="rect">
            <a:avLst/>
          </a:prstGeom>
        </p:spPr>
      </p:pic>
      <p:sp>
        <p:nvSpPr>
          <p:cNvPr id="8" name="テキスト ボックス 7">
            <a:extLst>
              <a:ext uri="{FF2B5EF4-FFF2-40B4-BE49-F238E27FC236}">
                <a16:creationId xmlns:a16="http://schemas.microsoft.com/office/drawing/2014/main" id="{3E6F576A-C5B9-E6C6-E2BB-98E0B26DF98B}"/>
              </a:ext>
            </a:extLst>
          </p:cNvPr>
          <p:cNvSpPr txBox="1"/>
          <p:nvPr/>
        </p:nvSpPr>
        <p:spPr>
          <a:xfrm>
            <a:off x="4783934" y="3174498"/>
            <a:ext cx="3732551" cy="307777"/>
          </a:xfrm>
          <a:prstGeom prst="rect">
            <a:avLst/>
          </a:prstGeom>
          <a:noFill/>
        </p:spPr>
        <p:txBody>
          <a:bodyPr wrap="square" rtlCol="0">
            <a:spAutoFit/>
          </a:bodyPr>
          <a:lstStyle/>
          <a:p>
            <a:r>
              <a:rPr kumimoji="1" lang="en-US" altLang="ja-JP" sz="1400" dirty="0"/>
              <a:t>Fig3 </a:t>
            </a:r>
            <a:r>
              <a:rPr kumimoji="1" lang="ja-JP" altLang="en-US" sz="1400" dirty="0"/>
              <a:t>未感染</a:t>
            </a:r>
            <a:r>
              <a:rPr kumimoji="1" lang="en-US" altLang="ja-JP" sz="1400" dirty="0"/>
              <a:t>CD4 T</a:t>
            </a:r>
            <a:r>
              <a:rPr kumimoji="1" lang="ja-JP" altLang="en-US" sz="1400" dirty="0"/>
              <a:t>細胞</a:t>
            </a:r>
            <a:r>
              <a:rPr kumimoji="1" lang="en-US" altLang="ja-JP" sz="1400" dirty="0"/>
              <a:t>X</a:t>
            </a:r>
            <a:r>
              <a:rPr kumimoji="1" lang="ja-JP" altLang="en-US" sz="1400" dirty="0"/>
              <a:t>数の比較</a:t>
            </a:r>
          </a:p>
        </p:txBody>
      </p:sp>
      <p:sp>
        <p:nvSpPr>
          <p:cNvPr id="9" name="テキスト ボックス 8">
            <a:extLst>
              <a:ext uri="{FF2B5EF4-FFF2-40B4-BE49-F238E27FC236}">
                <a16:creationId xmlns:a16="http://schemas.microsoft.com/office/drawing/2014/main" id="{E66F026B-D2AC-9395-D7F3-3BB2F5F2D736}"/>
              </a:ext>
            </a:extLst>
          </p:cNvPr>
          <p:cNvSpPr txBox="1"/>
          <p:nvPr/>
        </p:nvSpPr>
        <p:spPr>
          <a:xfrm>
            <a:off x="8786943" y="3177879"/>
            <a:ext cx="3732551" cy="307777"/>
          </a:xfrm>
          <a:prstGeom prst="rect">
            <a:avLst/>
          </a:prstGeom>
          <a:noFill/>
        </p:spPr>
        <p:txBody>
          <a:bodyPr wrap="square" rtlCol="0">
            <a:spAutoFit/>
          </a:bodyPr>
          <a:lstStyle/>
          <a:p>
            <a:r>
              <a:rPr kumimoji="1" lang="en-US" altLang="ja-JP" sz="1400" dirty="0"/>
              <a:t>Fig4 </a:t>
            </a:r>
            <a:r>
              <a:rPr kumimoji="1" lang="ja-JP" altLang="en-US" sz="1400" dirty="0"/>
              <a:t>潜伏感染</a:t>
            </a:r>
            <a:r>
              <a:rPr kumimoji="1" lang="en-US" altLang="ja-JP" sz="1400" dirty="0"/>
              <a:t>CD4 T</a:t>
            </a:r>
            <a:r>
              <a:rPr kumimoji="1" lang="ja-JP" altLang="en-US" sz="1400" dirty="0"/>
              <a:t>細胞</a:t>
            </a:r>
            <a:r>
              <a:rPr kumimoji="1" lang="en-US" altLang="ja-JP" sz="1400" dirty="0"/>
              <a:t>Y</a:t>
            </a:r>
            <a:r>
              <a:rPr kumimoji="1" lang="ja-JP" altLang="en-US" sz="1400" dirty="0"/>
              <a:t>数の比較</a:t>
            </a:r>
          </a:p>
        </p:txBody>
      </p:sp>
      <p:sp>
        <p:nvSpPr>
          <p:cNvPr id="14" name="タイトル 1">
            <a:extLst>
              <a:ext uri="{FF2B5EF4-FFF2-40B4-BE49-F238E27FC236}">
                <a16:creationId xmlns:a16="http://schemas.microsoft.com/office/drawing/2014/main" id="{28821232-3A30-57E6-F96F-D2529860B4A6}"/>
              </a:ext>
            </a:extLst>
          </p:cNvPr>
          <p:cNvSpPr txBox="1">
            <a:spLocks/>
          </p:cNvSpPr>
          <p:nvPr/>
        </p:nvSpPr>
        <p:spPr>
          <a:xfrm>
            <a:off x="1066010" y="-92659"/>
            <a:ext cx="11250012" cy="796023"/>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a:lstStyle>
          <a:p>
            <a:r>
              <a:rPr lang="en-US" altLang="ja-JP" b="1" dirty="0"/>
              <a:t>4.</a:t>
            </a:r>
            <a:r>
              <a:rPr lang="ja-JP" altLang="en-US" dirty="0"/>
              <a:t>シミュレーション</a:t>
            </a:r>
            <a:r>
              <a:rPr lang="en-US" altLang="ja-JP" dirty="0"/>
              <a:t>	</a:t>
            </a:r>
            <a:r>
              <a:rPr lang="ja-JP" altLang="en-US" dirty="0"/>
              <a:t>　</a:t>
            </a:r>
            <a:r>
              <a:rPr lang="en-US" altLang="ja-JP" dirty="0"/>
              <a:t>4.2 </a:t>
            </a:r>
            <a:r>
              <a:rPr lang="ja-JP" altLang="en-US" sz="3600" dirty="0"/>
              <a:t>結果</a:t>
            </a:r>
            <a:r>
              <a:rPr lang="en-US" altLang="ja-JP" sz="3600" dirty="0"/>
              <a:t>(</a:t>
            </a:r>
            <a:r>
              <a:rPr lang="ja-JP" altLang="en-US" sz="3600" dirty="0"/>
              <a:t>①初期値が既知</a:t>
            </a:r>
            <a:r>
              <a:rPr lang="en-US" altLang="ja-JP" sz="3600" dirty="0"/>
              <a:t>)</a:t>
            </a:r>
            <a:endParaRPr lang="ja-JP" altLang="en-US" dirty="0"/>
          </a:p>
        </p:txBody>
      </p:sp>
      <p:pic>
        <p:nvPicPr>
          <p:cNvPr id="17" name="図 16">
            <a:extLst>
              <a:ext uri="{FF2B5EF4-FFF2-40B4-BE49-F238E27FC236}">
                <a16:creationId xmlns:a16="http://schemas.microsoft.com/office/drawing/2014/main" id="{A98654E1-A6AB-261B-25CA-04ED8DC9D21E}"/>
              </a:ext>
            </a:extLst>
          </p:cNvPr>
          <p:cNvPicPr>
            <a:picLocks noChangeAspect="1"/>
          </p:cNvPicPr>
          <p:nvPr/>
        </p:nvPicPr>
        <p:blipFill rotWithShape="1">
          <a:blip r:embed="rId5"/>
          <a:srcRect t="4138"/>
          <a:stretch/>
        </p:blipFill>
        <p:spPr>
          <a:xfrm>
            <a:off x="3974837" y="3602844"/>
            <a:ext cx="3895534" cy="2397811"/>
          </a:xfrm>
          <a:prstGeom prst="rect">
            <a:avLst/>
          </a:prstGeom>
        </p:spPr>
      </p:pic>
      <p:pic>
        <p:nvPicPr>
          <p:cNvPr id="18" name="図 17">
            <a:extLst>
              <a:ext uri="{FF2B5EF4-FFF2-40B4-BE49-F238E27FC236}">
                <a16:creationId xmlns:a16="http://schemas.microsoft.com/office/drawing/2014/main" id="{7451B308-D106-72B8-343E-7FF489571C0F}"/>
              </a:ext>
            </a:extLst>
          </p:cNvPr>
          <p:cNvPicPr>
            <a:picLocks noChangeAspect="1"/>
          </p:cNvPicPr>
          <p:nvPr/>
        </p:nvPicPr>
        <p:blipFill rotWithShape="1">
          <a:blip r:embed="rId6"/>
          <a:srcRect t="4755"/>
          <a:stretch/>
        </p:blipFill>
        <p:spPr>
          <a:xfrm>
            <a:off x="8173586" y="3650222"/>
            <a:ext cx="3757360" cy="2397811"/>
          </a:xfrm>
          <a:prstGeom prst="rect">
            <a:avLst/>
          </a:prstGeom>
        </p:spPr>
      </p:pic>
      <p:sp>
        <p:nvSpPr>
          <p:cNvPr id="19" name="テキスト ボックス 18">
            <a:extLst>
              <a:ext uri="{FF2B5EF4-FFF2-40B4-BE49-F238E27FC236}">
                <a16:creationId xmlns:a16="http://schemas.microsoft.com/office/drawing/2014/main" id="{651D59FD-A1B5-2B3D-A72E-6F43EEEC4580}"/>
              </a:ext>
            </a:extLst>
          </p:cNvPr>
          <p:cNvSpPr txBox="1"/>
          <p:nvPr/>
        </p:nvSpPr>
        <p:spPr>
          <a:xfrm>
            <a:off x="4572719" y="5999324"/>
            <a:ext cx="3732551" cy="307777"/>
          </a:xfrm>
          <a:prstGeom prst="rect">
            <a:avLst/>
          </a:prstGeom>
          <a:noFill/>
        </p:spPr>
        <p:txBody>
          <a:bodyPr wrap="square" rtlCol="0">
            <a:spAutoFit/>
          </a:bodyPr>
          <a:lstStyle/>
          <a:p>
            <a:r>
              <a:rPr kumimoji="1" lang="en-US" altLang="ja-JP" sz="1400" dirty="0"/>
              <a:t>Fig5 </a:t>
            </a:r>
            <a:r>
              <a:rPr kumimoji="1" lang="ja-JP" altLang="en-US" sz="1400" dirty="0"/>
              <a:t>活動感染</a:t>
            </a:r>
            <a:r>
              <a:rPr kumimoji="1" lang="en-US" altLang="ja-JP" sz="1400" dirty="0"/>
              <a:t>CD4 T</a:t>
            </a:r>
            <a:r>
              <a:rPr kumimoji="1" lang="ja-JP" altLang="en-US" sz="1400" dirty="0"/>
              <a:t>細胞</a:t>
            </a:r>
            <a:r>
              <a:rPr kumimoji="1" lang="en-US" altLang="ja-JP" sz="1400" dirty="0"/>
              <a:t>Z</a:t>
            </a:r>
            <a:r>
              <a:rPr kumimoji="1" lang="ja-JP" altLang="en-US" sz="1400" dirty="0"/>
              <a:t>数の比較</a:t>
            </a:r>
          </a:p>
        </p:txBody>
      </p:sp>
      <p:sp>
        <p:nvSpPr>
          <p:cNvPr id="20" name="テキスト ボックス 19">
            <a:extLst>
              <a:ext uri="{FF2B5EF4-FFF2-40B4-BE49-F238E27FC236}">
                <a16:creationId xmlns:a16="http://schemas.microsoft.com/office/drawing/2014/main" id="{78EC63FF-FF71-7CB2-96E3-18666DEBD93B}"/>
              </a:ext>
            </a:extLst>
          </p:cNvPr>
          <p:cNvSpPr txBox="1"/>
          <p:nvPr/>
        </p:nvSpPr>
        <p:spPr>
          <a:xfrm>
            <a:off x="9076745" y="5999323"/>
            <a:ext cx="3732551" cy="307777"/>
          </a:xfrm>
          <a:prstGeom prst="rect">
            <a:avLst/>
          </a:prstGeom>
          <a:noFill/>
        </p:spPr>
        <p:txBody>
          <a:bodyPr wrap="square" rtlCol="0">
            <a:spAutoFit/>
          </a:bodyPr>
          <a:lstStyle/>
          <a:p>
            <a:r>
              <a:rPr kumimoji="1" lang="en-US" altLang="ja-JP" sz="1400" dirty="0"/>
              <a:t>Fig 6</a:t>
            </a:r>
            <a:r>
              <a:rPr kumimoji="1" lang="ja-JP" altLang="en-US" sz="1400" dirty="0"/>
              <a:t> 遊離ウイルス</a:t>
            </a:r>
            <a:r>
              <a:rPr kumimoji="1" lang="en-US" altLang="ja-JP" sz="1400" dirty="0"/>
              <a:t>V</a:t>
            </a:r>
            <a:r>
              <a:rPr kumimoji="1" lang="ja-JP" altLang="en-US" sz="1400" dirty="0"/>
              <a:t>数の比較</a:t>
            </a:r>
          </a:p>
        </p:txBody>
      </p:sp>
      <p:sp>
        <p:nvSpPr>
          <p:cNvPr id="21" name="テキスト ボックス 20">
            <a:extLst>
              <a:ext uri="{FF2B5EF4-FFF2-40B4-BE49-F238E27FC236}">
                <a16:creationId xmlns:a16="http://schemas.microsoft.com/office/drawing/2014/main" id="{47EF9F77-99B2-93F9-7B69-6FDDAA8A12CA}"/>
              </a:ext>
            </a:extLst>
          </p:cNvPr>
          <p:cNvSpPr txBox="1"/>
          <p:nvPr/>
        </p:nvSpPr>
        <p:spPr>
          <a:xfrm>
            <a:off x="150223" y="2081766"/>
            <a:ext cx="3683726" cy="2862322"/>
          </a:xfrm>
          <a:prstGeom prst="rect">
            <a:avLst/>
          </a:prstGeom>
          <a:noFill/>
          <a:ln w="28575">
            <a:solidFill>
              <a:srgbClr val="000000"/>
            </a:solidFill>
          </a:ln>
        </p:spPr>
        <p:txBody>
          <a:bodyPr wrap="square" rtlCol="0">
            <a:spAutoFit/>
          </a:bodyPr>
          <a:lstStyle/>
          <a:p>
            <a:r>
              <a:rPr kumimoji="1" lang="ja-JP" altLang="en-US" sz="2000" dirty="0"/>
              <a:t>・</a:t>
            </a:r>
            <a:r>
              <a:rPr kumimoji="1" lang="ja-JP" altLang="en-US" sz="2000" b="1" dirty="0"/>
              <a:t>無投薬</a:t>
            </a:r>
            <a:r>
              <a:rPr kumimoji="1" lang="en-US" altLang="ja-JP" sz="2000" dirty="0"/>
              <a:t>(</a:t>
            </a:r>
            <a:r>
              <a:rPr kumimoji="1" lang="ja-JP" altLang="en-US" sz="2000" dirty="0">
                <a:solidFill>
                  <a:schemeClr val="accent2"/>
                </a:solidFill>
              </a:rPr>
              <a:t>青</a:t>
            </a:r>
            <a:r>
              <a:rPr kumimoji="1" lang="en-US" altLang="ja-JP" sz="2000" dirty="0"/>
              <a:t>), </a:t>
            </a:r>
            <a:r>
              <a:rPr kumimoji="1" lang="ja-JP" altLang="en-US" sz="2000" b="1" dirty="0"/>
              <a:t>一定投薬</a:t>
            </a:r>
            <a:r>
              <a:rPr kumimoji="1" lang="en-US" altLang="ja-JP" sz="2000" dirty="0"/>
              <a:t>(</a:t>
            </a:r>
            <a:r>
              <a:rPr kumimoji="1" lang="ja-JP" altLang="en-US" sz="2000" dirty="0">
                <a:solidFill>
                  <a:schemeClr val="accent4"/>
                </a:solidFill>
              </a:rPr>
              <a:t>緑</a:t>
            </a:r>
            <a:r>
              <a:rPr kumimoji="1" lang="en-US" altLang="ja-JP" sz="2000" dirty="0"/>
              <a:t>)</a:t>
            </a:r>
          </a:p>
          <a:p>
            <a:r>
              <a:rPr kumimoji="1" lang="ja-JP" altLang="en-US" sz="2000" dirty="0"/>
              <a:t>➡未感染細胞</a:t>
            </a:r>
            <a:r>
              <a:rPr kumimoji="1" lang="en-US" altLang="ja-JP" sz="2000" dirty="0"/>
              <a:t>X</a:t>
            </a:r>
            <a:r>
              <a:rPr kumimoji="1" lang="ja-JP" altLang="en-US" sz="2000" dirty="0"/>
              <a:t>の減少 </a:t>
            </a:r>
            <a:endParaRPr kumimoji="1" lang="en-US" altLang="ja-JP" sz="2000" dirty="0"/>
          </a:p>
          <a:p>
            <a:r>
              <a:rPr kumimoji="1" lang="ja-JP" altLang="en-US" sz="2000" dirty="0"/>
              <a:t>遊離ウイルス</a:t>
            </a:r>
            <a:r>
              <a:rPr kumimoji="1" lang="en-US" altLang="ja-JP" sz="2000" dirty="0"/>
              <a:t>V, </a:t>
            </a:r>
            <a:r>
              <a:rPr kumimoji="1" lang="ja-JP" altLang="en-US" sz="2000" dirty="0"/>
              <a:t>及び </a:t>
            </a:r>
            <a:endParaRPr kumimoji="1" lang="en-US" altLang="ja-JP" sz="2000" dirty="0"/>
          </a:p>
          <a:p>
            <a:r>
              <a:rPr kumimoji="1" lang="en-US" altLang="ja-JP" sz="2000" dirty="0"/>
              <a:t>V</a:t>
            </a:r>
            <a:r>
              <a:rPr kumimoji="1" lang="ja-JP" altLang="en-US" sz="2000" dirty="0"/>
              <a:t>を生じる細胞</a:t>
            </a:r>
            <a:r>
              <a:rPr kumimoji="1" lang="en-US" altLang="ja-JP" sz="2000" dirty="0"/>
              <a:t>Y,Z</a:t>
            </a:r>
            <a:r>
              <a:rPr kumimoji="1" lang="ja-JP" altLang="en-US" sz="2000" dirty="0"/>
              <a:t>の増加</a:t>
            </a:r>
            <a:endParaRPr kumimoji="1" lang="en-US" altLang="ja-JP" sz="2000" dirty="0"/>
          </a:p>
          <a:p>
            <a:endParaRPr kumimoji="1" lang="en-US" altLang="ja-JP" sz="2000" dirty="0"/>
          </a:p>
          <a:p>
            <a:r>
              <a:rPr kumimoji="1" lang="ja-JP" altLang="en-US" sz="2000" dirty="0"/>
              <a:t>・</a:t>
            </a:r>
            <a:r>
              <a:rPr kumimoji="1" lang="en-US" altLang="ja-JP" sz="2000" b="1" dirty="0"/>
              <a:t>Q-learning</a:t>
            </a:r>
            <a:r>
              <a:rPr kumimoji="1" lang="ja-JP" altLang="en-US" sz="2000" b="1" dirty="0"/>
              <a:t>による投薬</a:t>
            </a:r>
            <a:r>
              <a:rPr kumimoji="1" lang="en-US" altLang="ja-JP" sz="2000" dirty="0"/>
              <a:t>(</a:t>
            </a:r>
            <a:r>
              <a:rPr kumimoji="1" lang="ja-JP" altLang="en-US" sz="2000" dirty="0">
                <a:solidFill>
                  <a:srgbClr val="FF0000"/>
                </a:solidFill>
              </a:rPr>
              <a:t>赤</a:t>
            </a:r>
            <a:r>
              <a:rPr kumimoji="1" lang="en-US" altLang="ja-JP" sz="2000" dirty="0"/>
              <a:t>)</a:t>
            </a:r>
          </a:p>
          <a:p>
            <a:r>
              <a:rPr kumimoji="1" lang="ja-JP" altLang="en-US" sz="2000" dirty="0"/>
              <a:t>➡未感染細胞</a:t>
            </a:r>
            <a:r>
              <a:rPr kumimoji="1" lang="en-US" altLang="ja-JP" sz="2000" dirty="0"/>
              <a:t>X</a:t>
            </a:r>
            <a:r>
              <a:rPr kumimoji="1" lang="ja-JP" altLang="en-US" sz="2000" dirty="0"/>
              <a:t>の減少の抑制</a:t>
            </a:r>
            <a:endParaRPr kumimoji="1" lang="en-US" altLang="ja-JP" sz="2000" dirty="0"/>
          </a:p>
          <a:p>
            <a:r>
              <a:rPr kumimoji="1" lang="ja-JP" altLang="en-US" sz="2000" dirty="0"/>
              <a:t>遊離ウイルス</a:t>
            </a:r>
            <a:r>
              <a:rPr kumimoji="1" lang="en-US" altLang="ja-JP" sz="2000" dirty="0"/>
              <a:t>V, </a:t>
            </a:r>
            <a:r>
              <a:rPr kumimoji="1" lang="ja-JP" altLang="en-US" sz="2000" dirty="0"/>
              <a:t>及び</a:t>
            </a:r>
            <a:endParaRPr kumimoji="1" lang="en-US" altLang="ja-JP" sz="2000" dirty="0"/>
          </a:p>
          <a:p>
            <a:r>
              <a:rPr kumimoji="1" lang="ja-JP" altLang="en-US" sz="2000" dirty="0"/>
              <a:t> </a:t>
            </a:r>
            <a:r>
              <a:rPr kumimoji="1" lang="en-US" altLang="ja-JP" sz="2000" dirty="0"/>
              <a:t>V</a:t>
            </a:r>
            <a:r>
              <a:rPr kumimoji="1" lang="ja-JP" altLang="en-US" sz="2000" dirty="0"/>
              <a:t>を生じる細胞</a:t>
            </a:r>
            <a:r>
              <a:rPr kumimoji="1" lang="en-US" altLang="ja-JP" sz="2000" dirty="0"/>
              <a:t>Y,Z</a:t>
            </a:r>
            <a:r>
              <a:rPr kumimoji="1" lang="ja-JP" altLang="en-US" sz="2000" dirty="0"/>
              <a:t>の減少</a:t>
            </a:r>
            <a:endParaRPr kumimoji="1" lang="en-US" altLang="ja-JP" sz="2000" dirty="0"/>
          </a:p>
        </p:txBody>
      </p:sp>
    </p:spTree>
    <p:extLst>
      <p:ext uri="{BB962C8B-B14F-4D97-AF65-F5344CB8AC3E}">
        <p14:creationId xmlns:p14="http://schemas.microsoft.com/office/powerpoint/2010/main" val="1718575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6A522DCB-D0DE-D811-8907-F43AF7818BE5}"/>
              </a:ext>
            </a:extLst>
          </p:cNvPr>
          <p:cNvSpPr>
            <a:spLocks noGrp="1"/>
          </p:cNvSpPr>
          <p:nvPr>
            <p:ph type="sldNum" sz="quarter" idx="4294967295"/>
          </p:nvPr>
        </p:nvSpPr>
        <p:spPr>
          <a:xfrm>
            <a:off x="9900458" y="6459785"/>
            <a:ext cx="1312025" cy="365125"/>
          </a:xfrm>
        </p:spPr>
        <p:txBody>
          <a:bodyPr/>
          <a:lstStyle/>
          <a:p>
            <a:fld id="{E0107F97-1CD5-41F0-B842-C38020C26506}" type="slidenum">
              <a:rPr kumimoji="1" lang="ja-JP" altLang="en-US" smtClean="0"/>
              <a:t>11</a:t>
            </a:fld>
            <a:endParaRPr kumimoji="1" lang="ja-JP" altLang="en-US"/>
          </a:p>
        </p:txBody>
      </p:sp>
      <p:sp>
        <p:nvSpPr>
          <p:cNvPr id="14" name="タイトル 1">
            <a:extLst>
              <a:ext uri="{FF2B5EF4-FFF2-40B4-BE49-F238E27FC236}">
                <a16:creationId xmlns:a16="http://schemas.microsoft.com/office/drawing/2014/main" id="{28821232-3A30-57E6-F96F-D2529860B4A6}"/>
              </a:ext>
            </a:extLst>
          </p:cNvPr>
          <p:cNvSpPr txBox="1">
            <a:spLocks/>
          </p:cNvSpPr>
          <p:nvPr/>
        </p:nvSpPr>
        <p:spPr>
          <a:xfrm>
            <a:off x="623691" y="-139911"/>
            <a:ext cx="11250012" cy="796023"/>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a:lstStyle>
          <a:p>
            <a:r>
              <a:rPr lang="en-US" altLang="ja-JP" b="1" dirty="0"/>
              <a:t>4.</a:t>
            </a:r>
            <a:r>
              <a:rPr lang="ja-JP" altLang="en-US" sz="4500" dirty="0"/>
              <a:t>シミュレーション</a:t>
            </a:r>
            <a:r>
              <a:rPr lang="en-US" altLang="ja-JP" dirty="0"/>
              <a:t>	</a:t>
            </a:r>
            <a:r>
              <a:rPr lang="ja-JP" altLang="en-US" dirty="0"/>
              <a:t>　　</a:t>
            </a:r>
            <a:r>
              <a:rPr lang="en-US" altLang="ja-JP" dirty="0"/>
              <a:t>4.2 </a:t>
            </a:r>
            <a:r>
              <a:rPr lang="ja-JP" altLang="en-US" sz="3600" dirty="0"/>
              <a:t>結果</a:t>
            </a:r>
            <a:r>
              <a:rPr lang="en-US" altLang="ja-JP" sz="3600" dirty="0"/>
              <a:t>(</a:t>
            </a:r>
            <a:r>
              <a:rPr lang="ja-JP" altLang="en-US" sz="3600" dirty="0"/>
              <a:t>②不確実な初期値</a:t>
            </a:r>
            <a:r>
              <a:rPr lang="en-US" altLang="ja-JP" sz="3600" dirty="0"/>
              <a:t>)</a:t>
            </a:r>
            <a:endParaRPr lang="ja-JP" altLang="en-US" dirty="0"/>
          </a:p>
        </p:txBody>
      </p:sp>
      <p:sp>
        <p:nvSpPr>
          <p:cNvPr id="21" name="テキスト ボックス 20">
            <a:extLst>
              <a:ext uri="{FF2B5EF4-FFF2-40B4-BE49-F238E27FC236}">
                <a16:creationId xmlns:a16="http://schemas.microsoft.com/office/drawing/2014/main" id="{47EF9F77-99B2-93F9-7B69-6FDDAA8A12CA}"/>
              </a:ext>
            </a:extLst>
          </p:cNvPr>
          <p:cNvSpPr txBox="1"/>
          <p:nvPr/>
        </p:nvSpPr>
        <p:spPr>
          <a:xfrm>
            <a:off x="156128" y="2332361"/>
            <a:ext cx="3691157" cy="1938992"/>
          </a:xfrm>
          <a:prstGeom prst="rect">
            <a:avLst/>
          </a:prstGeom>
          <a:noFill/>
          <a:ln w="28575">
            <a:solidFill>
              <a:srgbClr val="000000"/>
            </a:solidFill>
          </a:ln>
        </p:spPr>
        <p:txBody>
          <a:bodyPr wrap="square" rtlCol="0">
            <a:spAutoFit/>
          </a:bodyPr>
          <a:lstStyle/>
          <a:p>
            <a:r>
              <a:rPr kumimoji="1" lang="ja-JP" altLang="en-US" sz="2000" dirty="0"/>
              <a:t>・</a:t>
            </a:r>
            <a:r>
              <a:rPr kumimoji="1" lang="en-US" altLang="ja-JP" sz="2000" b="1" dirty="0"/>
              <a:t>Q-learning</a:t>
            </a:r>
            <a:r>
              <a:rPr kumimoji="1" lang="ja-JP" altLang="en-US" sz="2000" b="1" dirty="0"/>
              <a:t>による投薬</a:t>
            </a:r>
            <a:r>
              <a:rPr kumimoji="1" lang="en-US" altLang="ja-JP" sz="2000" dirty="0"/>
              <a:t>(</a:t>
            </a:r>
            <a:r>
              <a:rPr kumimoji="1" lang="ja-JP" altLang="en-US" sz="2000" dirty="0">
                <a:solidFill>
                  <a:schemeClr val="accent2"/>
                </a:solidFill>
              </a:rPr>
              <a:t>青</a:t>
            </a:r>
            <a:r>
              <a:rPr kumimoji="1" lang="en-US" altLang="ja-JP" sz="2000" dirty="0"/>
              <a:t>)</a:t>
            </a:r>
          </a:p>
          <a:p>
            <a:r>
              <a:rPr kumimoji="1" lang="ja-JP" altLang="en-US" sz="2000" dirty="0"/>
              <a:t>➡ランダムな</a:t>
            </a:r>
            <a:r>
              <a:rPr kumimoji="1" lang="en-US" altLang="ja-JP" sz="2000" dirty="0"/>
              <a:t>200</a:t>
            </a:r>
            <a:r>
              <a:rPr kumimoji="1" lang="ja-JP" altLang="en-US" sz="2000" dirty="0"/>
              <a:t>個の初期値に対して </a:t>
            </a:r>
            <a:endParaRPr kumimoji="1" lang="en-US" altLang="ja-JP" sz="2000" dirty="0"/>
          </a:p>
          <a:p>
            <a:r>
              <a:rPr kumimoji="1" lang="ja-JP" altLang="en-US" sz="2000" b="1" dirty="0"/>
              <a:t>未感染細胞</a:t>
            </a:r>
            <a:r>
              <a:rPr kumimoji="1" lang="en-US" altLang="ja-JP" sz="2000" b="1" dirty="0"/>
              <a:t>X</a:t>
            </a:r>
            <a:r>
              <a:rPr kumimoji="1" lang="ja-JP" altLang="en-US" sz="2000" b="1" dirty="0"/>
              <a:t>の増加</a:t>
            </a:r>
            <a:endParaRPr kumimoji="1" lang="en-US" altLang="ja-JP" sz="2000" b="1" dirty="0"/>
          </a:p>
          <a:p>
            <a:r>
              <a:rPr kumimoji="1" lang="ja-JP" altLang="en-US" sz="2000" dirty="0"/>
              <a:t>遊離ウイルス</a:t>
            </a:r>
            <a:r>
              <a:rPr kumimoji="1" lang="en-US" altLang="ja-JP" sz="2000" dirty="0"/>
              <a:t>V, </a:t>
            </a:r>
            <a:r>
              <a:rPr kumimoji="1" lang="ja-JP" altLang="en-US" sz="2000" dirty="0"/>
              <a:t>及び</a:t>
            </a:r>
            <a:endParaRPr kumimoji="1" lang="en-US" altLang="ja-JP" sz="2000" dirty="0"/>
          </a:p>
          <a:p>
            <a:r>
              <a:rPr kumimoji="1" lang="ja-JP" altLang="en-US" sz="2000" dirty="0"/>
              <a:t> </a:t>
            </a:r>
            <a:r>
              <a:rPr kumimoji="1" lang="en-US" altLang="ja-JP" sz="2000" dirty="0"/>
              <a:t>V</a:t>
            </a:r>
            <a:r>
              <a:rPr kumimoji="1" lang="ja-JP" altLang="en-US" sz="2000" dirty="0"/>
              <a:t>を生じる細胞</a:t>
            </a:r>
            <a:r>
              <a:rPr kumimoji="1" lang="en-US" altLang="ja-JP" sz="2000" dirty="0"/>
              <a:t>Y,Z</a:t>
            </a:r>
            <a:r>
              <a:rPr kumimoji="1" lang="ja-JP" altLang="en-US" sz="2000" dirty="0"/>
              <a:t>の減少</a:t>
            </a:r>
            <a:endParaRPr kumimoji="1" lang="en-US" altLang="ja-JP" sz="2000" dirty="0"/>
          </a:p>
        </p:txBody>
      </p:sp>
      <p:pic>
        <p:nvPicPr>
          <p:cNvPr id="2" name="図 1">
            <a:extLst>
              <a:ext uri="{FF2B5EF4-FFF2-40B4-BE49-F238E27FC236}">
                <a16:creationId xmlns:a16="http://schemas.microsoft.com/office/drawing/2014/main" id="{0C1FE842-7B7C-0E27-D4C8-BDB454387E80}"/>
              </a:ext>
            </a:extLst>
          </p:cNvPr>
          <p:cNvPicPr>
            <a:picLocks noChangeAspect="1"/>
          </p:cNvPicPr>
          <p:nvPr/>
        </p:nvPicPr>
        <p:blipFill>
          <a:blip r:embed="rId3"/>
          <a:stretch>
            <a:fillRect/>
          </a:stretch>
        </p:blipFill>
        <p:spPr>
          <a:xfrm>
            <a:off x="3949441" y="601555"/>
            <a:ext cx="3683726" cy="2488143"/>
          </a:xfrm>
          <a:prstGeom prst="rect">
            <a:avLst/>
          </a:prstGeom>
        </p:spPr>
      </p:pic>
      <p:pic>
        <p:nvPicPr>
          <p:cNvPr id="3" name="図 2">
            <a:extLst>
              <a:ext uri="{FF2B5EF4-FFF2-40B4-BE49-F238E27FC236}">
                <a16:creationId xmlns:a16="http://schemas.microsoft.com/office/drawing/2014/main" id="{DF2D0353-F100-E147-AF0D-61FBBE1E3B99}"/>
              </a:ext>
            </a:extLst>
          </p:cNvPr>
          <p:cNvPicPr>
            <a:picLocks noChangeAspect="1"/>
          </p:cNvPicPr>
          <p:nvPr/>
        </p:nvPicPr>
        <p:blipFill>
          <a:blip r:embed="rId4"/>
          <a:stretch>
            <a:fillRect/>
          </a:stretch>
        </p:blipFill>
        <p:spPr>
          <a:xfrm>
            <a:off x="7927212" y="601555"/>
            <a:ext cx="3946491" cy="2435523"/>
          </a:xfrm>
          <a:prstGeom prst="rect">
            <a:avLst/>
          </a:prstGeom>
        </p:spPr>
      </p:pic>
      <p:pic>
        <p:nvPicPr>
          <p:cNvPr id="6" name="図 5">
            <a:extLst>
              <a:ext uri="{FF2B5EF4-FFF2-40B4-BE49-F238E27FC236}">
                <a16:creationId xmlns:a16="http://schemas.microsoft.com/office/drawing/2014/main" id="{D246267C-250C-DEAD-D224-BD7FEFF2E055}"/>
              </a:ext>
            </a:extLst>
          </p:cNvPr>
          <p:cNvPicPr>
            <a:picLocks noChangeAspect="1"/>
          </p:cNvPicPr>
          <p:nvPr/>
        </p:nvPicPr>
        <p:blipFill rotWithShape="1">
          <a:blip r:embed="rId5"/>
          <a:srcRect t="-2971" b="1"/>
          <a:stretch/>
        </p:blipFill>
        <p:spPr>
          <a:xfrm>
            <a:off x="4049810" y="3301857"/>
            <a:ext cx="3583357" cy="2745461"/>
          </a:xfrm>
          <a:prstGeom prst="rect">
            <a:avLst/>
          </a:prstGeom>
        </p:spPr>
      </p:pic>
      <p:pic>
        <p:nvPicPr>
          <p:cNvPr id="10" name="図 9">
            <a:extLst>
              <a:ext uri="{FF2B5EF4-FFF2-40B4-BE49-F238E27FC236}">
                <a16:creationId xmlns:a16="http://schemas.microsoft.com/office/drawing/2014/main" id="{CAE0A91C-2372-8A12-947C-2B95BA2C7BF3}"/>
              </a:ext>
            </a:extLst>
          </p:cNvPr>
          <p:cNvPicPr>
            <a:picLocks noChangeAspect="1"/>
          </p:cNvPicPr>
          <p:nvPr/>
        </p:nvPicPr>
        <p:blipFill>
          <a:blip r:embed="rId6"/>
          <a:stretch>
            <a:fillRect/>
          </a:stretch>
        </p:blipFill>
        <p:spPr>
          <a:xfrm>
            <a:off x="8170721" y="3423109"/>
            <a:ext cx="3702982" cy="2602554"/>
          </a:xfrm>
          <a:prstGeom prst="rect">
            <a:avLst/>
          </a:prstGeom>
        </p:spPr>
      </p:pic>
      <p:sp>
        <p:nvSpPr>
          <p:cNvPr id="12" name="テキスト ボックス 11">
            <a:extLst>
              <a:ext uri="{FF2B5EF4-FFF2-40B4-BE49-F238E27FC236}">
                <a16:creationId xmlns:a16="http://schemas.microsoft.com/office/drawing/2014/main" id="{A34C81DC-9C5C-32E6-87CB-B249E2E7F3A6}"/>
              </a:ext>
            </a:extLst>
          </p:cNvPr>
          <p:cNvSpPr txBox="1"/>
          <p:nvPr/>
        </p:nvSpPr>
        <p:spPr>
          <a:xfrm>
            <a:off x="3860622" y="3005714"/>
            <a:ext cx="6302828" cy="276999"/>
          </a:xfrm>
          <a:prstGeom prst="rect">
            <a:avLst/>
          </a:prstGeom>
          <a:noFill/>
        </p:spPr>
        <p:txBody>
          <a:bodyPr wrap="square">
            <a:spAutoFit/>
          </a:bodyPr>
          <a:lstStyle/>
          <a:p>
            <a:r>
              <a:rPr kumimoji="1" lang="en-US" altLang="ja-JP" sz="1200" b="1" dirty="0"/>
              <a:t>Fig7 </a:t>
            </a:r>
            <a:r>
              <a:rPr kumimoji="1" lang="ja-JP" altLang="en-US" sz="1200" b="1" dirty="0"/>
              <a:t>不確実な初期条件の下での非感染</a:t>
            </a:r>
            <a:r>
              <a:rPr kumimoji="1" lang="en-US" altLang="ja-JP" sz="1200" b="1" dirty="0"/>
              <a:t>CD4 T</a:t>
            </a:r>
            <a:r>
              <a:rPr kumimoji="1" lang="ja-JP" altLang="en-US" sz="1200" b="1" dirty="0"/>
              <a:t>細胞</a:t>
            </a:r>
            <a:r>
              <a:rPr kumimoji="1" lang="en-US" altLang="ja-JP" sz="1200" b="1" dirty="0"/>
              <a:t>X</a:t>
            </a:r>
            <a:r>
              <a:rPr kumimoji="1" lang="ja-JP" altLang="en-US" sz="1200" b="1" dirty="0"/>
              <a:t>数の比較</a:t>
            </a:r>
          </a:p>
        </p:txBody>
      </p:sp>
      <p:sp>
        <p:nvSpPr>
          <p:cNvPr id="13" name="テキスト ボックス 12">
            <a:extLst>
              <a:ext uri="{FF2B5EF4-FFF2-40B4-BE49-F238E27FC236}">
                <a16:creationId xmlns:a16="http://schemas.microsoft.com/office/drawing/2014/main" id="{AFF66261-7218-3E0A-7C1E-DCE295D03500}"/>
              </a:ext>
            </a:extLst>
          </p:cNvPr>
          <p:cNvSpPr txBox="1"/>
          <p:nvPr/>
        </p:nvSpPr>
        <p:spPr>
          <a:xfrm>
            <a:off x="7953885" y="3005714"/>
            <a:ext cx="4362137" cy="276999"/>
          </a:xfrm>
          <a:prstGeom prst="rect">
            <a:avLst/>
          </a:prstGeom>
          <a:noFill/>
        </p:spPr>
        <p:txBody>
          <a:bodyPr wrap="square" rtlCol="0">
            <a:spAutoFit/>
          </a:bodyPr>
          <a:lstStyle/>
          <a:p>
            <a:r>
              <a:rPr kumimoji="1" lang="en-US" altLang="ja-JP" sz="1200" b="1" dirty="0"/>
              <a:t>Fig 8</a:t>
            </a:r>
            <a:r>
              <a:rPr kumimoji="1" lang="ja-JP" altLang="en-US" sz="1200" b="1" dirty="0"/>
              <a:t> 不確実な初期条件の下での潜伏感染</a:t>
            </a:r>
            <a:r>
              <a:rPr kumimoji="1" lang="en-US" altLang="ja-JP" sz="1200" b="1" dirty="0"/>
              <a:t>CD4 T</a:t>
            </a:r>
            <a:r>
              <a:rPr kumimoji="1" lang="ja-JP" altLang="en-US" sz="1200" b="1" dirty="0"/>
              <a:t>細胞</a:t>
            </a:r>
            <a:r>
              <a:rPr kumimoji="1" lang="en-US" altLang="ja-JP" sz="1200" b="1" dirty="0"/>
              <a:t>Y</a:t>
            </a:r>
            <a:r>
              <a:rPr kumimoji="1" lang="ja-JP" altLang="en-US" sz="1200" b="1" dirty="0"/>
              <a:t>数の比較</a:t>
            </a:r>
          </a:p>
        </p:txBody>
      </p:sp>
      <p:sp>
        <p:nvSpPr>
          <p:cNvPr id="16" name="テキスト ボックス 15">
            <a:extLst>
              <a:ext uri="{FF2B5EF4-FFF2-40B4-BE49-F238E27FC236}">
                <a16:creationId xmlns:a16="http://schemas.microsoft.com/office/drawing/2014/main" id="{C2D71B45-77A1-4DD9-5DF9-62884B9F5399}"/>
              </a:ext>
            </a:extLst>
          </p:cNvPr>
          <p:cNvSpPr txBox="1"/>
          <p:nvPr/>
        </p:nvSpPr>
        <p:spPr>
          <a:xfrm>
            <a:off x="4049810" y="6047318"/>
            <a:ext cx="6302828" cy="276999"/>
          </a:xfrm>
          <a:prstGeom prst="rect">
            <a:avLst/>
          </a:prstGeom>
          <a:noFill/>
        </p:spPr>
        <p:txBody>
          <a:bodyPr wrap="square">
            <a:spAutoFit/>
          </a:bodyPr>
          <a:lstStyle/>
          <a:p>
            <a:r>
              <a:rPr kumimoji="1" lang="en-US" altLang="ja-JP" sz="1200" b="1" dirty="0"/>
              <a:t>Fig9 </a:t>
            </a:r>
            <a:r>
              <a:rPr kumimoji="1" lang="ja-JP" altLang="en-US" sz="1200" b="1" dirty="0"/>
              <a:t>不確実な初期条件での活動感染</a:t>
            </a:r>
            <a:r>
              <a:rPr kumimoji="1" lang="en-US" altLang="ja-JP" sz="1200" b="1" dirty="0"/>
              <a:t>CD4 T</a:t>
            </a:r>
            <a:r>
              <a:rPr kumimoji="1" lang="ja-JP" altLang="en-US" sz="1200" b="1" dirty="0"/>
              <a:t>細胞</a:t>
            </a:r>
            <a:r>
              <a:rPr kumimoji="1" lang="en-US" altLang="ja-JP" sz="1200" b="1" dirty="0"/>
              <a:t>Z</a:t>
            </a:r>
            <a:r>
              <a:rPr kumimoji="1" lang="ja-JP" altLang="en-US" sz="1200" b="1" dirty="0"/>
              <a:t>数の比較</a:t>
            </a:r>
          </a:p>
        </p:txBody>
      </p:sp>
      <p:sp>
        <p:nvSpPr>
          <p:cNvPr id="22" name="テキスト ボックス 21">
            <a:extLst>
              <a:ext uri="{FF2B5EF4-FFF2-40B4-BE49-F238E27FC236}">
                <a16:creationId xmlns:a16="http://schemas.microsoft.com/office/drawing/2014/main" id="{89B0046F-C5AB-E673-5CDC-EF4D3903DAD3}"/>
              </a:ext>
            </a:extLst>
          </p:cNvPr>
          <p:cNvSpPr txBox="1"/>
          <p:nvPr/>
        </p:nvSpPr>
        <p:spPr>
          <a:xfrm>
            <a:off x="8268677" y="6030326"/>
            <a:ext cx="3732551" cy="276999"/>
          </a:xfrm>
          <a:prstGeom prst="rect">
            <a:avLst/>
          </a:prstGeom>
          <a:noFill/>
        </p:spPr>
        <p:txBody>
          <a:bodyPr wrap="square" rtlCol="0">
            <a:spAutoFit/>
          </a:bodyPr>
          <a:lstStyle/>
          <a:p>
            <a:r>
              <a:rPr kumimoji="1" lang="en-US" altLang="ja-JP" sz="1200" b="1" dirty="0"/>
              <a:t>Fig 10</a:t>
            </a:r>
            <a:r>
              <a:rPr kumimoji="1" lang="ja-JP" altLang="en-US" sz="1200" b="1" dirty="0"/>
              <a:t> 不確実な初期条件での遊離ウイルス</a:t>
            </a:r>
            <a:r>
              <a:rPr kumimoji="1" lang="en-US" altLang="ja-JP" sz="1200" b="1" dirty="0"/>
              <a:t>V</a:t>
            </a:r>
            <a:r>
              <a:rPr kumimoji="1" lang="ja-JP" altLang="en-US" sz="1200" b="1" dirty="0"/>
              <a:t>数の比較</a:t>
            </a:r>
          </a:p>
        </p:txBody>
      </p:sp>
    </p:spTree>
    <p:extLst>
      <p:ext uri="{BB962C8B-B14F-4D97-AF65-F5344CB8AC3E}">
        <p14:creationId xmlns:p14="http://schemas.microsoft.com/office/powerpoint/2010/main" val="3167266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6A522DCB-D0DE-D811-8907-F43AF7818BE5}"/>
              </a:ext>
            </a:extLst>
          </p:cNvPr>
          <p:cNvSpPr>
            <a:spLocks noGrp="1"/>
          </p:cNvSpPr>
          <p:nvPr>
            <p:ph type="sldNum" sz="quarter" idx="4294967295"/>
          </p:nvPr>
        </p:nvSpPr>
        <p:spPr>
          <a:xfrm>
            <a:off x="9900458" y="6459785"/>
            <a:ext cx="1312025" cy="365125"/>
          </a:xfrm>
        </p:spPr>
        <p:txBody>
          <a:bodyPr/>
          <a:lstStyle/>
          <a:p>
            <a:fld id="{E0107F97-1CD5-41F0-B842-C38020C26506}" type="slidenum">
              <a:rPr kumimoji="1" lang="ja-JP" altLang="en-US" smtClean="0"/>
              <a:t>12</a:t>
            </a:fld>
            <a:endParaRPr kumimoji="1" lang="ja-JP" altLang="en-US"/>
          </a:p>
        </p:txBody>
      </p:sp>
      <p:sp>
        <p:nvSpPr>
          <p:cNvPr id="14" name="タイトル 1">
            <a:extLst>
              <a:ext uri="{FF2B5EF4-FFF2-40B4-BE49-F238E27FC236}">
                <a16:creationId xmlns:a16="http://schemas.microsoft.com/office/drawing/2014/main" id="{28821232-3A30-57E6-F96F-D2529860B4A6}"/>
              </a:ext>
            </a:extLst>
          </p:cNvPr>
          <p:cNvSpPr txBox="1">
            <a:spLocks/>
          </p:cNvSpPr>
          <p:nvPr/>
        </p:nvSpPr>
        <p:spPr>
          <a:xfrm>
            <a:off x="280851" y="-108151"/>
            <a:ext cx="12207240" cy="796023"/>
          </a:xfrm>
          <a:prstGeom prst="rect">
            <a:avLst/>
          </a:prstGeom>
        </p:spPr>
        <p:txBody>
          <a:bodyPr vert="horz" lIns="91440" tIns="45720" rIns="91440" bIns="45720" rtlCol="0" anchor="b">
            <a:normAutofit fontScale="90000"/>
          </a:bodyPr>
          <a:lst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a:lstStyle>
          <a:p>
            <a:r>
              <a:rPr lang="en-US" altLang="ja-JP" b="1" dirty="0"/>
              <a:t>4.</a:t>
            </a:r>
            <a:r>
              <a:rPr lang="ja-JP" altLang="en-US" dirty="0"/>
              <a:t>シミュレーション</a:t>
            </a:r>
            <a:r>
              <a:rPr lang="en-US" altLang="ja-JP" dirty="0"/>
              <a:t>	</a:t>
            </a:r>
            <a:r>
              <a:rPr lang="ja-JP" altLang="en-US" dirty="0"/>
              <a:t>　</a:t>
            </a:r>
            <a:r>
              <a:rPr lang="en-US" altLang="ja-JP" dirty="0"/>
              <a:t>4.2 </a:t>
            </a:r>
            <a:r>
              <a:rPr lang="ja-JP" altLang="en-US" sz="4000" dirty="0"/>
              <a:t>結果</a:t>
            </a:r>
            <a:r>
              <a:rPr lang="en-US" altLang="ja-JP" sz="3600" dirty="0"/>
              <a:t>(</a:t>
            </a:r>
            <a:r>
              <a:rPr lang="ja-JP" altLang="en-US" sz="3600" dirty="0"/>
              <a:t>③不確実な初期値</a:t>
            </a:r>
            <a:r>
              <a:rPr lang="en-US" altLang="ja-JP" sz="3600" dirty="0"/>
              <a:t>+</a:t>
            </a:r>
            <a:r>
              <a:rPr lang="ja-JP" altLang="en-US" sz="3600" dirty="0"/>
              <a:t>白色外乱</a:t>
            </a:r>
            <a:r>
              <a:rPr lang="en-US" altLang="ja-JP" sz="3600" dirty="0"/>
              <a:t>)</a:t>
            </a:r>
            <a:endParaRPr lang="ja-JP" altLang="en-US" dirty="0"/>
          </a:p>
        </p:txBody>
      </p:sp>
      <p:pic>
        <p:nvPicPr>
          <p:cNvPr id="2" name="図 1">
            <a:extLst>
              <a:ext uri="{FF2B5EF4-FFF2-40B4-BE49-F238E27FC236}">
                <a16:creationId xmlns:a16="http://schemas.microsoft.com/office/drawing/2014/main" id="{14D6CEDB-B642-AF19-DDD5-8B80A1E3627C}"/>
              </a:ext>
            </a:extLst>
          </p:cNvPr>
          <p:cNvPicPr>
            <a:picLocks noChangeAspect="1"/>
          </p:cNvPicPr>
          <p:nvPr/>
        </p:nvPicPr>
        <p:blipFill>
          <a:blip r:embed="rId3"/>
          <a:stretch>
            <a:fillRect/>
          </a:stretch>
        </p:blipFill>
        <p:spPr>
          <a:xfrm>
            <a:off x="3847010" y="602943"/>
            <a:ext cx="3860378" cy="2583011"/>
          </a:xfrm>
          <a:prstGeom prst="rect">
            <a:avLst/>
          </a:prstGeom>
        </p:spPr>
      </p:pic>
      <p:pic>
        <p:nvPicPr>
          <p:cNvPr id="3" name="図 2">
            <a:extLst>
              <a:ext uri="{FF2B5EF4-FFF2-40B4-BE49-F238E27FC236}">
                <a16:creationId xmlns:a16="http://schemas.microsoft.com/office/drawing/2014/main" id="{46BED74A-B0A6-194A-8719-9F83E5BDAE3E}"/>
              </a:ext>
            </a:extLst>
          </p:cNvPr>
          <p:cNvPicPr>
            <a:picLocks noChangeAspect="1"/>
          </p:cNvPicPr>
          <p:nvPr/>
        </p:nvPicPr>
        <p:blipFill>
          <a:blip r:embed="rId4"/>
          <a:stretch>
            <a:fillRect/>
          </a:stretch>
        </p:blipFill>
        <p:spPr>
          <a:xfrm>
            <a:off x="8117274" y="658944"/>
            <a:ext cx="3641749" cy="2583011"/>
          </a:xfrm>
          <a:prstGeom prst="rect">
            <a:avLst/>
          </a:prstGeom>
        </p:spPr>
      </p:pic>
      <p:pic>
        <p:nvPicPr>
          <p:cNvPr id="6" name="図 5">
            <a:extLst>
              <a:ext uri="{FF2B5EF4-FFF2-40B4-BE49-F238E27FC236}">
                <a16:creationId xmlns:a16="http://schemas.microsoft.com/office/drawing/2014/main" id="{9FC77285-7F29-07F3-7E5A-E4DE904F93DB}"/>
              </a:ext>
            </a:extLst>
          </p:cNvPr>
          <p:cNvPicPr>
            <a:picLocks noChangeAspect="1"/>
          </p:cNvPicPr>
          <p:nvPr/>
        </p:nvPicPr>
        <p:blipFill>
          <a:blip r:embed="rId5"/>
          <a:stretch>
            <a:fillRect/>
          </a:stretch>
        </p:blipFill>
        <p:spPr>
          <a:xfrm>
            <a:off x="3847010" y="3524508"/>
            <a:ext cx="3977641" cy="2528359"/>
          </a:xfrm>
          <a:prstGeom prst="rect">
            <a:avLst/>
          </a:prstGeom>
        </p:spPr>
      </p:pic>
      <p:pic>
        <p:nvPicPr>
          <p:cNvPr id="10" name="図 9">
            <a:extLst>
              <a:ext uri="{FF2B5EF4-FFF2-40B4-BE49-F238E27FC236}">
                <a16:creationId xmlns:a16="http://schemas.microsoft.com/office/drawing/2014/main" id="{A46F3F11-3A1F-A1CC-FEA1-59A1FADF6361}"/>
              </a:ext>
            </a:extLst>
          </p:cNvPr>
          <p:cNvPicPr>
            <a:picLocks noChangeAspect="1"/>
          </p:cNvPicPr>
          <p:nvPr/>
        </p:nvPicPr>
        <p:blipFill>
          <a:blip r:embed="rId6"/>
          <a:stretch>
            <a:fillRect/>
          </a:stretch>
        </p:blipFill>
        <p:spPr>
          <a:xfrm>
            <a:off x="8117274" y="3512927"/>
            <a:ext cx="3732550" cy="2539940"/>
          </a:xfrm>
          <a:prstGeom prst="rect">
            <a:avLst/>
          </a:prstGeom>
        </p:spPr>
      </p:pic>
      <p:sp>
        <p:nvSpPr>
          <p:cNvPr id="11" name="テキスト ボックス 10">
            <a:extLst>
              <a:ext uri="{FF2B5EF4-FFF2-40B4-BE49-F238E27FC236}">
                <a16:creationId xmlns:a16="http://schemas.microsoft.com/office/drawing/2014/main" id="{C3BE9CE1-86F9-2E43-54AF-F7796CAC6EFD}"/>
              </a:ext>
            </a:extLst>
          </p:cNvPr>
          <p:cNvSpPr txBox="1"/>
          <p:nvPr/>
        </p:nvSpPr>
        <p:spPr>
          <a:xfrm>
            <a:off x="4338676" y="3174373"/>
            <a:ext cx="4114800" cy="276999"/>
          </a:xfrm>
          <a:prstGeom prst="rect">
            <a:avLst/>
          </a:prstGeom>
          <a:noFill/>
        </p:spPr>
        <p:txBody>
          <a:bodyPr wrap="square" rtlCol="0">
            <a:spAutoFit/>
          </a:bodyPr>
          <a:lstStyle/>
          <a:p>
            <a:r>
              <a:rPr kumimoji="1" lang="en-US" altLang="ja-JP" sz="1200" b="1" dirty="0"/>
              <a:t>Fig11 </a:t>
            </a:r>
            <a:r>
              <a:rPr kumimoji="1" lang="ja-JP" altLang="en-US" sz="1200" b="1" dirty="0"/>
              <a:t>外乱下での非感染</a:t>
            </a:r>
            <a:r>
              <a:rPr kumimoji="1" lang="en-US" altLang="ja-JP" sz="1200" b="1" dirty="0"/>
              <a:t>CD4 T</a:t>
            </a:r>
            <a:r>
              <a:rPr kumimoji="1" lang="ja-JP" altLang="en-US" sz="1200" b="1" dirty="0"/>
              <a:t>細胞</a:t>
            </a:r>
            <a:r>
              <a:rPr kumimoji="1" lang="en-US" altLang="ja-JP" sz="1200" b="1" dirty="0"/>
              <a:t>X</a:t>
            </a:r>
            <a:r>
              <a:rPr kumimoji="1" lang="ja-JP" altLang="en-US" sz="1200" b="1" dirty="0"/>
              <a:t>数の比較</a:t>
            </a:r>
          </a:p>
        </p:txBody>
      </p:sp>
      <p:sp>
        <p:nvSpPr>
          <p:cNvPr id="12" name="テキスト ボックス 11">
            <a:extLst>
              <a:ext uri="{FF2B5EF4-FFF2-40B4-BE49-F238E27FC236}">
                <a16:creationId xmlns:a16="http://schemas.microsoft.com/office/drawing/2014/main" id="{67691DDA-0594-54D0-DFF2-DB44EC82AB83}"/>
              </a:ext>
            </a:extLst>
          </p:cNvPr>
          <p:cNvSpPr txBox="1"/>
          <p:nvPr/>
        </p:nvSpPr>
        <p:spPr>
          <a:xfrm>
            <a:off x="8391006" y="3185954"/>
            <a:ext cx="3732551" cy="276999"/>
          </a:xfrm>
          <a:prstGeom prst="rect">
            <a:avLst/>
          </a:prstGeom>
          <a:noFill/>
        </p:spPr>
        <p:txBody>
          <a:bodyPr wrap="square" rtlCol="0">
            <a:spAutoFit/>
          </a:bodyPr>
          <a:lstStyle/>
          <a:p>
            <a:r>
              <a:rPr kumimoji="1" lang="en-US" altLang="ja-JP" sz="1200" b="1" dirty="0"/>
              <a:t>Fig 12 </a:t>
            </a:r>
            <a:r>
              <a:rPr kumimoji="1" lang="ja-JP" altLang="en-US" sz="1200" b="1" dirty="0"/>
              <a:t>外乱下での潜伏感染</a:t>
            </a:r>
            <a:r>
              <a:rPr kumimoji="1" lang="en-US" altLang="ja-JP" sz="1200" b="1" dirty="0"/>
              <a:t>CD4 T</a:t>
            </a:r>
            <a:r>
              <a:rPr kumimoji="1" lang="ja-JP" altLang="en-US" sz="1200" b="1" dirty="0"/>
              <a:t>細胞</a:t>
            </a:r>
            <a:r>
              <a:rPr kumimoji="1" lang="en-US" altLang="ja-JP" sz="1200" b="1" dirty="0"/>
              <a:t>Y</a:t>
            </a:r>
            <a:r>
              <a:rPr kumimoji="1" lang="ja-JP" altLang="en-US" sz="1200" b="1" dirty="0"/>
              <a:t>数の比較</a:t>
            </a:r>
          </a:p>
        </p:txBody>
      </p:sp>
      <p:sp>
        <p:nvSpPr>
          <p:cNvPr id="13" name="テキスト ボックス 12">
            <a:extLst>
              <a:ext uri="{FF2B5EF4-FFF2-40B4-BE49-F238E27FC236}">
                <a16:creationId xmlns:a16="http://schemas.microsoft.com/office/drawing/2014/main" id="{FB3695D4-452F-7B4A-84CC-CF88C822FB8A}"/>
              </a:ext>
            </a:extLst>
          </p:cNvPr>
          <p:cNvSpPr txBox="1"/>
          <p:nvPr/>
        </p:nvSpPr>
        <p:spPr>
          <a:xfrm>
            <a:off x="4401326" y="6052867"/>
            <a:ext cx="4114800" cy="276999"/>
          </a:xfrm>
          <a:prstGeom prst="rect">
            <a:avLst/>
          </a:prstGeom>
          <a:noFill/>
        </p:spPr>
        <p:txBody>
          <a:bodyPr wrap="square" rtlCol="0">
            <a:spAutoFit/>
          </a:bodyPr>
          <a:lstStyle/>
          <a:p>
            <a:r>
              <a:rPr kumimoji="1" lang="en-US" altLang="ja-JP" sz="1200" b="1" dirty="0"/>
              <a:t>Fig13 </a:t>
            </a:r>
            <a:r>
              <a:rPr kumimoji="1" lang="ja-JP" altLang="en-US" sz="1200" b="1" dirty="0"/>
              <a:t>外乱下での活動感染</a:t>
            </a:r>
            <a:r>
              <a:rPr kumimoji="1" lang="en-US" altLang="ja-JP" sz="1200" b="1" dirty="0"/>
              <a:t>CD4 T</a:t>
            </a:r>
            <a:r>
              <a:rPr kumimoji="1" lang="ja-JP" altLang="en-US" sz="1200" b="1" dirty="0"/>
              <a:t>細胞</a:t>
            </a:r>
            <a:r>
              <a:rPr kumimoji="1" lang="en-US" altLang="ja-JP" sz="1200" b="1" dirty="0"/>
              <a:t>Z</a:t>
            </a:r>
            <a:r>
              <a:rPr kumimoji="1" lang="ja-JP" altLang="en-US" sz="1200" b="1" dirty="0"/>
              <a:t>数の比較</a:t>
            </a:r>
          </a:p>
        </p:txBody>
      </p:sp>
      <p:sp>
        <p:nvSpPr>
          <p:cNvPr id="15" name="テキスト ボックス 14">
            <a:extLst>
              <a:ext uri="{FF2B5EF4-FFF2-40B4-BE49-F238E27FC236}">
                <a16:creationId xmlns:a16="http://schemas.microsoft.com/office/drawing/2014/main" id="{D8D0672B-8CDE-AFCB-0696-C6520E446957}"/>
              </a:ext>
            </a:extLst>
          </p:cNvPr>
          <p:cNvSpPr txBox="1"/>
          <p:nvPr/>
        </p:nvSpPr>
        <p:spPr>
          <a:xfrm>
            <a:off x="8690194" y="6060556"/>
            <a:ext cx="3732551" cy="276999"/>
          </a:xfrm>
          <a:prstGeom prst="rect">
            <a:avLst/>
          </a:prstGeom>
          <a:noFill/>
        </p:spPr>
        <p:txBody>
          <a:bodyPr wrap="square" rtlCol="0">
            <a:spAutoFit/>
          </a:bodyPr>
          <a:lstStyle/>
          <a:p>
            <a:r>
              <a:rPr kumimoji="1" lang="en-US" altLang="ja-JP" sz="1200" b="1" dirty="0"/>
              <a:t>Fig 14</a:t>
            </a:r>
            <a:r>
              <a:rPr kumimoji="1" lang="ja-JP" altLang="en-US" sz="1200" b="1" dirty="0"/>
              <a:t>外乱下での遊離ウイルス</a:t>
            </a:r>
            <a:r>
              <a:rPr kumimoji="1" lang="en-US" altLang="ja-JP" sz="1200" b="1" dirty="0"/>
              <a:t>V</a:t>
            </a:r>
            <a:r>
              <a:rPr kumimoji="1" lang="ja-JP" altLang="en-US" sz="1200" b="1" dirty="0"/>
              <a:t>の比較</a:t>
            </a:r>
          </a:p>
        </p:txBody>
      </p:sp>
      <p:sp>
        <p:nvSpPr>
          <p:cNvPr id="16" name="テキスト ボックス 15">
            <a:extLst>
              <a:ext uri="{FF2B5EF4-FFF2-40B4-BE49-F238E27FC236}">
                <a16:creationId xmlns:a16="http://schemas.microsoft.com/office/drawing/2014/main" id="{A4042599-9AC2-076B-2129-B4A5326C7ACB}"/>
              </a:ext>
            </a:extLst>
          </p:cNvPr>
          <p:cNvSpPr txBox="1"/>
          <p:nvPr/>
        </p:nvSpPr>
        <p:spPr>
          <a:xfrm>
            <a:off x="156128" y="2332361"/>
            <a:ext cx="3691157" cy="1938992"/>
          </a:xfrm>
          <a:prstGeom prst="rect">
            <a:avLst/>
          </a:prstGeom>
          <a:noFill/>
          <a:ln w="28575">
            <a:solidFill>
              <a:srgbClr val="000000"/>
            </a:solidFill>
          </a:ln>
        </p:spPr>
        <p:txBody>
          <a:bodyPr wrap="square" rtlCol="0">
            <a:spAutoFit/>
          </a:bodyPr>
          <a:lstStyle/>
          <a:p>
            <a:r>
              <a:rPr kumimoji="1" lang="ja-JP" altLang="en-US" sz="2000" dirty="0"/>
              <a:t>・</a:t>
            </a:r>
            <a:r>
              <a:rPr kumimoji="1" lang="en-US" altLang="ja-JP" sz="2000" b="1" dirty="0"/>
              <a:t>Q-learning</a:t>
            </a:r>
            <a:r>
              <a:rPr kumimoji="1" lang="ja-JP" altLang="en-US" sz="2000" b="1" dirty="0"/>
              <a:t>による投薬</a:t>
            </a:r>
            <a:r>
              <a:rPr kumimoji="1" lang="en-US" altLang="ja-JP" sz="2000" dirty="0"/>
              <a:t>(</a:t>
            </a:r>
            <a:r>
              <a:rPr kumimoji="1" lang="ja-JP" altLang="en-US" sz="2000" dirty="0">
                <a:solidFill>
                  <a:schemeClr val="accent2"/>
                </a:solidFill>
              </a:rPr>
              <a:t>青</a:t>
            </a:r>
            <a:r>
              <a:rPr kumimoji="1" lang="en-US" altLang="ja-JP" sz="2000" dirty="0"/>
              <a:t>)</a:t>
            </a:r>
          </a:p>
          <a:p>
            <a:r>
              <a:rPr kumimoji="1" lang="ja-JP" altLang="en-US" sz="2000" dirty="0"/>
              <a:t>➡ランダムな</a:t>
            </a:r>
            <a:r>
              <a:rPr kumimoji="1" lang="en-US" altLang="ja-JP" sz="2000" dirty="0"/>
              <a:t>200</a:t>
            </a:r>
            <a:r>
              <a:rPr kumimoji="1" lang="ja-JP" altLang="en-US" sz="2000" dirty="0"/>
              <a:t>個の初期値に対して </a:t>
            </a:r>
            <a:endParaRPr kumimoji="1" lang="en-US" altLang="ja-JP" sz="2000" dirty="0"/>
          </a:p>
          <a:p>
            <a:r>
              <a:rPr kumimoji="1" lang="ja-JP" altLang="en-US" sz="2000" b="1" dirty="0"/>
              <a:t>未感染細胞</a:t>
            </a:r>
            <a:r>
              <a:rPr kumimoji="1" lang="en-US" altLang="ja-JP" sz="2000" b="1" dirty="0"/>
              <a:t>X</a:t>
            </a:r>
            <a:r>
              <a:rPr kumimoji="1" lang="ja-JP" altLang="en-US" sz="2000" b="1" dirty="0"/>
              <a:t>の増加</a:t>
            </a:r>
            <a:endParaRPr kumimoji="1" lang="en-US" altLang="ja-JP" sz="2000" b="1" dirty="0"/>
          </a:p>
          <a:p>
            <a:r>
              <a:rPr kumimoji="1" lang="ja-JP" altLang="en-US" sz="2000" dirty="0"/>
              <a:t>遊離ウイルス</a:t>
            </a:r>
            <a:r>
              <a:rPr kumimoji="1" lang="en-US" altLang="ja-JP" sz="2000" dirty="0"/>
              <a:t>V, </a:t>
            </a:r>
            <a:r>
              <a:rPr kumimoji="1" lang="ja-JP" altLang="en-US" sz="2000" dirty="0"/>
              <a:t>及び</a:t>
            </a:r>
            <a:endParaRPr kumimoji="1" lang="en-US" altLang="ja-JP" sz="2000" dirty="0"/>
          </a:p>
          <a:p>
            <a:r>
              <a:rPr kumimoji="1" lang="ja-JP" altLang="en-US" sz="2000" dirty="0"/>
              <a:t> </a:t>
            </a:r>
            <a:r>
              <a:rPr kumimoji="1" lang="en-US" altLang="ja-JP" sz="2000" dirty="0"/>
              <a:t>V</a:t>
            </a:r>
            <a:r>
              <a:rPr kumimoji="1" lang="ja-JP" altLang="en-US" sz="2000" dirty="0"/>
              <a:t>を生じる細胞</a:t>
            </a:r>
            <a:r>
              <a:rPr kumimoji="1" lang="en-US" altLang="ja-JP" sz="2000" dirty="0"/>
              <a:t>Y,Z</a:t>
            </a:r>
            <a:r>
              <a:rPr kumimoji="1" lang="ja-JP" altLang="en-US" sz="2000" dirty="0"/>
              <a:t>の減少</a:t>
            </a:r>
            <a:endParaRPr kumimoji="1" lang="en-US" altLang="ja-JP" sz="2000" dirty="0"/>
          </a:p>
        </p:txBody>
      </p:sp>
    </p:spTree>
    <p:extLst>
      <p:ext uri="{BB962C8B-B14F-4D97-AF65-F5344CB8AC3E}">
        <p14:creationId xmlns:p14="http://schemas.microsoft.com/office/powerpoint/2010/main" val="3118208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9EA269-0C19-F419-4BFD-E0224A5C8A38}"/>
              </a:ext>
            </a:extLst>
          </p:cNvPr>
          <p:cNvSpPr>
            <a:spLocks noGrp="1"/>
          </p:cNvSpPr>
          <p:nvPr>
            <p:ph type="title"/>
          </p:nvPr>
        </p:nvSpPr>
        <p:spPr>
          <a:xfrm>
            <a:off x="838200" y="114158"/>
            <a:ext cx="10058400" cy="538986"/>
          </a:xfrm>
        </p:spPr>
        <p:txBody>
          <a:bodyPr>
            <a:normAutofit fontScale="90000"/>
          </a:bodyPr>
          <a:lstStyle/>
          <a:p>
            <a:r>
              <a:rPr kumimoji="1" lang="en-US" altLang="ja-JP" sz="4400" dirty="0"/>
              <a:t>5. </a:t>
            </a:r>
            <a:r>
              <a:rPr kumimoji="1" lang="ja-JP" altLang="en-US" sz="4400" dirty="0"/>
              <a:t>結論</a:t>
            </a:r>
          </a:p>
        </p:txBody>
      </p:sp>
      <p:sp>
        <p:nvSpPr>
          <p:cNvPr id="4" name="スライド番号プレースホルダー 3">
            <a:extLst>
              <a:ext uri="{FF2B5EF4-FFF2-40B4-BE49-F238E27FC236}">
                <a16:creationId xmlns:a16="http://schemas.microsoft.com/office/drawing/2014/main" id="{25C21AE5-263C-351D-FABC-54E361DA06BB}"/>
              </a:ext>
            </a:extLst>
          </p:cNvPr>
          <p:cNvSpPr>
            <a:spLocks noGrp="1"/>
          </p:cNvSpPr>
          <p:nvPr>
            <p:ph type="sldNum" sz="quarter" idx="4294967295"/>
          </p:nvPr>
        </p:nvSpPr>
        <p:spPr>
          <a:xfrm>
            <a:off x="9900458" y="6459785"/>
            <a:ext cx="1312025" cy="365125"/>
          </a:xfrm>
        </p:spPr>
        <p:txBody>
          <a:bodyPr/>
          <a:lstStyle/>
          <a:p>
            <a:fld id="{E0107F97-1CD5-41F0-B842-C38020C26506}" type="slidenum">
              <a:rPr kumimoji="1" lang="ja-JP" altLang="en-US" smtClean="0"/>
              <a:t>13</a:t>
            </a:fld>
            <a:endParaRPr kumimoji="1" lang="ja-JP" altLang="en-US"/>
          </a:p>
        </p:txBody>
      </p:sp>
      <p:sp>
        <p:nvSpPr>
          <p:cNvPr id="5" name="テキスト ボックス 4">
            <a:extLst>
              <a:ext uri="{FF2B5EF4-FFF2-40B4-BE49-F238E27FC236}">
                <a16:creationId xmlns:a16="http://schemas.microsoft.com/office/drawing/2014/main" id="{1A967C5C-16D9-2B73-75A4-635809022F69}"/>
              </a:ext>
            </a:extLst>
          </p:cNvPr>
          <p:cNvSpPr txBox="1"/>
          <p:nvPr/>
        </p:nvSpPr>
        <p:spPr>
          <a:xfrm>
            <a:off x="1076595" y="1248140"/>
            <a:ext cx="10188429" cy="1938992"/>
          </a:xfrm>
          <a:prstGeom prst="rect">
            <a:avLst/>
          </a:prstGeom>
          <a:noFill/>
        </p:spPr>
        <p:txBody>
          <a:bodyPr wrap="square" rtlCol="0">
            <a:spAutoFit/>
          </a:bodyPr>
          <a:lstStyle/>
          <a:p>
            <a:r>
              <a:rPr kumimoji="1" lang="ja-JP" altLang="en-US" sz="2400" dirty="0"/>
              <a:t>・</a:t>
            </a:r>
            <a:r>
              <a:rPr kumimoji="1" lang="en-US" altLang="ja-JP" sz="2400" dirty="0"/>
              <a:t>HIV</a:t>
            </a:r>
            <a:r>
              <a:rPr kumimoji="1" lang="ja-JP" altLang="en-US" sz="2400" dirty="0"/>
              <a:t>ウイルスの長期的な感染メカニズムを表現する数理モデルを提案した</a:t>
            </a:r>
            <a:r>
              <a:rPr kumimoji="1" lang="en-US" altLang="ja-JP" sz="2400" dirty="0"/>
              <a:t>.</a:t>
            </a:r>
          </a:p>
          <a:p>
            <a:r>
              <a:rPr kumimoji="1" lang="ja-JP" altLang="en-US" sz="2400" dirty="0"/>
              <a:t>・</a:t>
            </a:r>
            <a:r>
              <a:rPr kumimoji="1" lang="en-US" altLang="ja-JP" sz="2400" dirty="0"/>
              <a:t>HIV</a:t>
            </a:r>
            <a:r>
              <a:rPr kumimoji="1" lang="ja-JP" altLang="en-US" sz="2400" dirty="0"/>
              <a:t>ウイルスの</a:t>
            </a:r>
            <a:r>
              <a:rPr kumimoji="1" lang="en-US" altLang="ja-JP" sz="2400" dirty="0"/>
              <a:t>Q-learning</a:t>
            </a:r>
            <a:r>
              <a:rPr kumimoji="1" lang="ja-JP" altLang="en-US" sz="2400" dirty="0"/>
              <a:t>による投薬スケジュールの有効性が</a:t>
            </a:r>
            <a:endParaRPr kumimoji="1" lang="en-US" altLang="ja-JP" sz="2400" dirty="0"/>
          </a:p>
          <a:p>
            <a:r>
              <a:rPr kumimoji="1" lang="ja-JP" altLang="en-US" sz="2400" dirty="0"/>
              <a:t>初期値や不確実性外乱にかかわらず検証された</a:t>
            </a:r>
            <a:r>
              <a:rPr kumimoji="1" lang="en-US" altLang="ja-JP" sz="2400" dirty="0"/>
              <a:t>. </a:t>
            </a:r>
          </a:p>
          <a:p>
            <a:r>
              <a:rPr kumimoji="1" lang="ja-JP" altLang="en-US" sz="2400" dirty="0"/>
              <a:t>➡</a:t>
            </a:r>
            <a:r>
              <a:rPr kumimoji="1" lang="ja-JP" altLang="en-US" sz="2400" b="1" dirty="0">
                <a:solidFill>
                  <a:schemeClr val="accent2"/>
                </a:solidFill>
              </a:rPr>
              <a:t>モデルフリー強化学習</a:t>
            </a:r>
            <a:r>
              <a:rPr kumimoji="1" lang="ja-JP" altLang="en-US" sz="2400" dirty="0"/>
              <a:t>により患者の</a:t>
            </a:r>
            <a:r>
              <a:rPr kumimoji="1" lang="ja-JP" altLang="en-US" sz="2400" b="1" dirty="0"/>
              <a:t>個体差</a:t>
            </a:r>
            <a:r>
              <a:rPr kumimoji="1" lang="ja-JP" altLang="en-US" sz="2400" dirty="0"/>
              <a:t>や</a:t>
            </a:r>
            <a:r>
              <a:rPr kumimoji="1" lang="ja-JP" altLang="en-US" sz="2400" b="1" dirty="0"/>
              <a:t>胸腺の不確実性</a:t>
            </a:r>
            <a:r>
              <a:rPr kumimoji="1" lang="ja-JP" altLang="en-US" sz="2400" dirty="0"/>
              <a:t>による</a:t>
            </a:r>
            <a:endParaRPr kumimoji="1" lang="en-US" altLang="ja-JP" sz="2400" dirty="0"/>
          </a:p>
          <a:p>
            <a:r>
              <a:rPr kumimoji="1" lang="ja-JP" altLang="en-US" sz="2400" dirty="0"/>
              <a:t>影響を抑制可能</a:t>
            </a:r>
            <a:r>
              <a:rPr kumimoji="1" lang="en-US" altLang="ja-JP" sz="2400" dirty="0"/>
              <a:t>. </a:t>
            </a:r>
            <a:endParaRPr kumimoji="1" lang="ja-JP" altLang="en-US" sz="2400" dirty="0"/>
          </a:p>
        </p:txBody>
      </p:sp>
      <p:sp>
        <p:nvSpPr>
          <p:cNvPr id="6" name="四角形: 角を丸くする 5">
            <a:extLst>
              <a:ext uri="{FF2B5EF4-FFF2-40B4-BE49-F238E27FC236}">
                <a16:creationId xmlns:a16="http://schemas.microsoft.com/office/drawing/2014/main" id="{FB4E7B06-76DF-9A6A-F7A2-CE0BC145270C}"/>
              </a:ext>
            </a:extLst>
          </p:cNvPr>
          <p:cNvSpPr/>
          <p:nvPr/>
        </p:nvSpPr>
        <p:spPr>
          <a:xfrm>
            <a:off x="926976" y="1114808"/>
            <a:ext cx="10280899" cy="2148963"/>
          </a:xfrm>
          <a:prstGeom prst="roundRect">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E44284FF-135B-2AF9-64DD-936AF693D27C}"/>
              </a:ext>
            </a:extLst>
          </p:cNvPr>
          <p:cNvSpPr txBox="1"/>
          <p:nvPr/>
        </p:nvSpPr>
        <p:spPr>
          <a:xfrm>
            <a:off x="573206" y="653144"/>
            <a:ext cx="2197289" cy="461665"/>
          </a:xfrm>
          <a:prstGeom prst="rect">
            <a:avLst/>
          </a:prstGeom>
          <a:noFill/>
        </p:spPr>
        <p:txBody>
          <a:bodyPr wrap="square" rtlCol="0">
            <a:spAutoFit/>
          </a:bodyPr>
          <a:lstStyle/>
          <a:p>
            <a:r>
              <a:rPr kumimoji="1" lang="ja-JP" altLang="en-US" sz="2400" b="1" dirty="0"/>
              <a:t>・結論</a:t>
            </a:r>
          </a:p>
        </p:txBody>
      </p:sp>
      <p:sp>
        <p:nvSpPr>
          <p:cNvPr id="10" name="テキスト ボックス 9">
            <a:extLst>
              <a:ext uri="{FF2B5EF4-FFF2-40B4-BE49-F238E27FC236}">
                <a16:creationId xmlns:a16="http://schemas.microsoft.com/office/drawing/2014/main" id="{1D1CCB41-DE0D-855D-C0EF-9DA42D295BE3}"/>
              </a:ext>
            </a:extLst>
          </p:cNvPr>
          <p:cNvSpPr txBox="1"/>
          <p:nvPr/>
        </p:nvSpPr>
        <p:spPr>
          <a:xfrm>
            <a:off x="573206" y="3430695"/>
            <a:ext cx="2586252" cy="461665"/>
          </a:xfrm>
          <a:prstGeom prst="rect">
            <a:avLst/>
          </a:prstGeom>
          <a:noFill/>
        </p:spPr>
        <p:txBody>
          <a:bodyPr wrap="square" rtlCol="0">
            <a:spAutoFit/>
          </a:bodyPr>
          <a:lstStyle/>
          <a:p>
            <a:r>
              <a:rPr kumimoji="1" lang="ja-JP" altLang="en-US" sz="2400" b="1" dirty="0"/>
              <a:t>・問題点</a:t>
            </a:r>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BBA735E4-F230-A10F-340E-34E356BA691C}"/>
                  </a:ext>
                </a:extLst>
              </p:cNvPr>
              <p:cNvSpPr txBox="1"/>
              <p:nvPr/>
            </p:nvSpPr>
            <p:spPr>
              <a:xfrm>
                <a:off x="955549" y="4122077"/>
                <a:ext cx="10223751" cy="1938992"/>
              </a:xfrm>
              <a:prstGeom prst="rect">
                <a:avLst/>
              </a:prstGeom>
              <a:noFill/>
            </p:spPr>
            <p:txBody>
              <a:bodyPr wrap="square" rtlCol="0">
                <a:spAutoFit/>
              </a:bodyPr>
              <a:lstStyle/>
              <a:p>
                <a:endParaRPr kumimoji="1" lang="en-US" altLang="ja-JP" sz="2400" dirty="0"/>
              </a:p>
              <a:p>
                <a:r>
                  <a:rPr kumimoji="1" lang="ja-JP" altLang="en-US" sz="2400" dirty="0"/>
                  <a:t>・</a:t>
                </a:r>
                <a:r>
                  <a:rPr kumimoji="1" lang="ja-JP" altLang="en-US" sz="2400" b="1" dirty="0"/>
                  <a:t>報酬</a:t>
                </a:r>
                <a:r>
                  <a:rPr kumimoji="1" lang="ja-JP" altLang="en-US" sz="2400" dirty="0"/>
                  <a:t>の定義には対数が含まれ</a:t>
                </a:r>
                <a:r>
                  <a:rPr kumimoji="1" lang="en-US" altLang="ja-JP" sz="2400" dirty="0"/>
                  <a:t>, </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𝑉</m:t>
                        </m:r>
                      </m:e>
                      <m:sub>
                        <m:r>
                          <a:rPr kumimoji="1" lang="en-US" altLang="ja-JP" sz="2400" b="0" i="1" smtClean="0">
                            <a:latin typeface="Cambria Math" panose="02040503050406030204" pitchFamily="18" charset="0"/>
                          </a:rPr>
                          <m:t>𝑛𝑒𝑤</m:t>
                        </m:r>
                      </m:sub>
                    </m:sSub>
                    <m:r>
                      <a:rPr kumimoji="1" lang="en-US" altLang="ja-JP" sz="2400" b="0" i="0" smtClean="0">
                        <a:latin typeface="Cambria Math" panose="02040503050406030204" pitchFamily="18" charset="0"/>
                      </a:rPr>
                      <m:t> </m:t>
                    </m:r>
                  </m:oMath>
                </a14:m>
                <a:r>
                  <a:rPr kumimoji="1" lang="ja-JP" altLang="en-US" sz="2400" dirty="0"/>
                  <a:t>や </a:t>
                </a:r>
                <a14:m>
                  <m:oMath xmlns:m="http://schemas.openxmlformats.org/officeDocument/2006/math">
                    <m:r>
                      <a:rPr kumimoji="1" lang="en-US" altLang="ja-JP" sz="2400" b="0" i="1" smtClean="0">
                        <a:latin typeface="Cambria Math" panose="02040503050406030204" pitchFamily="18" charset="0"/>
                      </a:rPr>
                      <m:t>𝑑𝑜𝑠</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𝑒</m:t>
                        </m:r>
                      </m:e>
                      <m:sub>
                        <m:r>
                          <a:rPr kumimoji="1" lang="en-US" altLang="ja-JP" sz="2400" b="0" i="1" smtClean="0">
                            <a:latin typeface="Cambria Math" panose="02040503050406030204" pitchFamily="18" charset="0"/>
                          </a:rPr>
                          <m:t>𝑛𝑒𝑤</m:t>
                        </m:r>
                      </m:sub>
                    </m:sSub>
                    <m:r>
                      <a:rPr kumimoji="1" lang="en-US" altLang="ja-JP" sz="2400" b="0" i="0" smtClean="0">
                        <a:latin typeface="Cambria Math" panose="02040503050406030204" pitchFamily="18" charset="0"/>
                      </a:rPr>
                      <m:t> </m:t>
                    </m:r>
                  </m:oMath>
                </a14:m>
                <a:r>
                  <a:rPr kumimoji="1" lang="ja-JP" altLang="en-US" sz="2400" dirty="0"/>
                  <a:t>の値次第では発散</a:t>
                </a:r>
                <a:r>
                  <a:rPr kumimoji="1" lang="en-US" altLang="ja-JP" sz="2400" dirty="0"/>
                  <a:t>.</a:t>
                </a:r>
              </a:p>
              <a:p>
                <a:r>
                  <a:rPr kumimoji="1" lang="ja-JP" altLang="en-US" sz="2400" dirty="0"/>
                  <a:t>・細胞</a:t>
                </a:r>
                <a:r>
                  <a:rPr kumimoji="1" lang="en-US" altLang="ja-JP" sz="2400" dirty="0"/>
                  <a:t>X</a:t>
                </a:r>
                <a:r>
                  <a:rPr kumimoji="1" lang="ja-JP" altLang="en-US" sz="2400" dirty="0"/>
                  <a:t>は</a:t>
                </a:r>
                <a:r>
                  <a:rPr kumimoji="1" lang="en-US" altLang="ja-JP" sz="2400" dirty="0"/>
                  <a:t>1000</a:t>
                </a:r>
                <a:r>
                  <a:rPr kumimoji="1" lang="ja-JP" altLang="en-US" sz="2400" dirty="0"/>
                  <a:t> へ収束する傾向がみられるため</a:t>
                </a:r>
                <a:r>
                  <a:rPr kumimoji="1" lang="en-US" altLang="ja-JP" sz="2400" dirty="0"/>
                  <a:t>, </a:t>
                </a:r>
                <a:r>
                  <a:rPr kumimoji="1" lang="ja-JP" altLang="en-US" sz="2400" dirty="0"/>
                  <a:t>初期値が</a:t>
                </a:r>
                <a:r>
                  <a:rPr kumimoji="1" lang="en-US" altLang="ja-JP" sz="2400" dirty="0"/>
                  <a:t>1000</a:t>
                </a:r>
                <a:r>
                  <a:rPr kumimoji="1" lang="ja-JP" altLang="en-US" sz="2400" dirty="0"/>
                  <a:t>周辺であると</a:t>
                </a:r>
                <a:r>
                  <a:rPr kumimoji="1" lang="en-US" altLang="ja-JP" sz="2400" dirty="0"/>
                  <a:t> </a:t>
                </a:r>
              </a:p>
              <a:p>
                <a:r>
                  <a:rPr kumimoji="1" lang="en-US" altLang="ja-JP" sz="2400" dirty="0"/>
                  <a:t>X</a:t>
                </a:r>
                <a:r>
                  <a:rPr kumimoji="1" lang="ja-JP" altLang="en-US" sz="2400" dirty="0"/>
                  <a:t>の増加幅は減少</a:t>
                </a:r>
                <a:r>
                  <a:rPr kumimoji="1" lang="en-US" altLang="ja-JP" sz="2400" dirty="0"/>
                  <a:t>.</a:t>
                </a:r>
              </a:p>
              <a:p>
                <a:r>
                  <a:rPr kumimoji="1" lang="ja-JP" altLang="en-US" sz="2400" dirty="0"/>
                  <a:t>・白色外乱のパラメータについての条件が明記されていない</a:t>
                </a:r>
                <a:r>
                  <a:rPr kumimoji="1" lang="en-US" altLang="ja-JP" sz="2400" dirty="0"/>
                  <a:t>. </a:t>
                </a:r>
              </a:p>
            </p:txBody>
          </p:sp>
        </mc:Choice>
        <mc:Fallback xmlns="">
          <p:sp>
            <p:nvSpPr>
              <p:cNvPr id="11" name="テキスト ボックス 10">
                <a:extLst>
                  <a:ext uri="{FF2B5EF4-FFF2-40B4-BE49-F238E27FC236}">
                    <a16:creationId xmlns:a16="http://schemas.microsoft.com/office/drawing/2014/main" id="{BBA735E4-F230-A10F-340E-34E356BA691C}"/>
                  </a:ext>
                </a:extLst>
              </p:cNvPr>
              <p:cNvSpPr txBox="1">
                <a:spLocks noRot="1" noChangeAspect="1" noMove="1" noResize="1" noEditPoints="1" noAdjustHandles="1" noChangeArrowheads="1" noChangeShapeType="1" noTextEdit="1"/>
              </p:cNvSpPr>
              <p:nvPr/>
            </p:nvSpPr>
            <p:spPr>
              <a:xfrm>
                <a:off x="955549" y="4122077"/>
                <a:ext cx="10223751" cy="1938992"/>
              </a:xfrm>
              <a:prstGeom prst="rect">
                <a:avLst/>
              </a:prstGeom>
              <a:blipFill>
                <a:blip r:embed="rId3"/>
                <a:stretch>
                  <a:fillRect l="-954" b="-6604"/>
                </a:stretch>
              </a:blipFill>
            </p:spPr>
            <p:txBody>
              <a:bodyPr/>
              <a:lstStyle/>
              <a:p>
                <a:r>
                  <a:rPr lang="ja-JP" altLang="en-US">
                    <a:noFill/>
                  </a:rPr>
                  <a:t> </a:t>
                </a:r>
              </a:p>
            </p:txBody>
          </p:sp>
        </mc:Fallback>
      </mc:AlternateContent>
      <p:sp>
        <p:nvSpPr>
          <p:cNvPr id="12" name="四角形: 角を丸くする 11">
            <a:extLst>
              <a:ext uri="{FF2B5EF4-FFF2-40B4-BE49-F238E27FC236}">
                <a16:creationId xmlns:a16="http://schemas.microsoft.com/office/drawing/2014/main" id="{88FAC16B-AE04-129A-5D37-76F7DFE3E6E9}"/>
              </a:ext>
            </a:extLst>
          </p:cNvPr>
          <p:cNvSpPr/>
          <p:nvPr/>
        </p:nvSpPr>
        <p:spPr>
          <a:xfrm>
            <a:off x="926976" y="4387462"/>
            <a:ext cx="10399785" cy="1657399"/>
          </a:xfrm>
          <a:prstGeom prst="roundRect">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吹き出し: 線 7">
            <a:extLst>
              <a:ext uri="{FF2B5EF4-FFF2-40B4-BE49-F238E27FC236}">
                <a16:creationId xmlns:a16="http://schemas.microsoft.com/office/drawing/2014/main" id="{BCB38A26-7D9E-65AB-38F5-7CF069B91C69}"/>
              </a:ext>
            </a:extLst>
          </p:cNvPr>
          <p:cNvSpPr/>
          <p:nvPr/>
        </p:nvSpPr>
        <p:spPr>
          <a:xfrm>
            <a:off x="3665850" y="3546840"/>
            <a:ext cx="5810130" cy="725764"/>
          </a:xfrm>
          <a:prstGeom prst="borderCallout1">
            <a:avLst>
              <a:gd name="adj1" fmla="val 54862"/>
              <a:gd name="adj2" fmla="val -661"/>
              <a:gd name="adj3" fmla="val 134167"/>
              <a:gd name="adj4" fmla="val -3539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259ED770-0596-DD97-895C-0BBC2A63D0A0}"/>
                  </a:ext>
                </a:extLst>
              </p:cNvPr>
              <p:cNvSpPr txBox="1"/>
              <p:nvPr/>
            </p:nvSpPr>
            <p:spPr>
              <a:xfrm>
                <a:off x="3523401" y="3535018"/>
                <a:ext cx="6095028"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1800" b="0" i="1" smtClean="0">
                              <a:latin typeface="Cambria Math" panose="02040503050406030204" pitchFamily="18" charset="0"/>
                            </a:rPr>
                          </m:ctrlPr>
                        </m:sSubPr>
                        <m:e>
                          <m:r>
                            <a:rPr kumimoji="1" lang="en-US" altLang="ja-JP" sz="1800" b="0" i="1" smtClean="0">
                              <a:latin typeface="Cambria Math" panose="02040503050406030204" pitchFamily="18" charset="0"/>
                            </a:rPr>
                            <m:t>𝑟</m:t>
                          </m:r>
                        </m:e>
                        <m:sub>
                          <m:r>
                            <a:rPr kumimoji="1" lang="en-US" altLang="ja-JP" sz="1800" b="0" i="1" smtClean="0">
                              <a:latin typeface="Cambria Math" panose="02040503050406030204" pitchFamily="18" charset="0"/>
                            </a:rPr>
                            <m:t>𝑡</m:t>
                          </m:r>
                        </m:sub>
                      </m:sSub>
                      <m:d>
                        <m:dPr>
                          <m:ctrlPr>
                            <a:rPr kumimoji="1" lang="en-US" altLang="ja-JP" sz="1800" b="0" i="1" smtClean="0">
                              <a:latin typeface="Cambria Math" panose="02040503050406030204" pitchFamily="18" charset="0"/>
                            </a:rPr>
                          </m:ctrlPr>
                        </m:dPr>
                        <m:e>
                          <m:r>
                            <a:rPr kumimoji="1" lang="en-US" altLang="ja-JP" sz="1800" b="0" i="1" smtClean="0">
                              <a:latin typeface="Cambria Math" panose="02040503050406030204" pitchFamily="18" charset="0"/>
                            </a:rPr>
                            <m:t>𝑠</m:t>
                          </m:r>
                          <m:r>
                            <a:rPr kumimoji="1" lang="en-US" altLang="ja-JP" sz="1800" b="0" i="1" smtClean="0">
                              <a:latin typeface="Cambria Math" panose="02040503050406030204" pitchFamily="18" charset="0"/>
                            </a:rPr>
                            <m:t>.</m:t>
                          </m:r>
                          <m:r>
                            <a:rPr kumimoji="1" lang="en-US" altLang="ja-JP" sz="1800" b="0" i="1" smtClean="0">
                              <a:latin typeface="Cambria Math" panose="02040503050406030204" pitchFamily="18" charset="0"/>
                            </a:rPr>
                            <m:t>𝑎</m:t>
                          </m:r>
                        </m:e>
                      </m:d>
                      <m:r>
                        <a:rPr kumimoji="1" lang="en-US" altLang="ja-JP" sz="1800" b="0" i="1" smtClean="0">
                          <a:latin typeface="Cambria Math" panose="02040503050406030204" pitchFamily="18" charset="0"/>
                        </a:rPr>
                        <m:t>=</m:t>
                      </m:r>
                      <m:func>
                        <m:funcPr>
                          <m:ctrlPr>
                            <a:rPr kumimoji="1" lang="en-US" altLang="ja-JP" sz="1800" b="0" i="1" smtClean="0">
                              <a:latin typeface="Cambria Math" panose="02040503050406030204" pitchFamily="18" charset="0"/>
                            </a:rPr>
                          </m:ctrlPr>
                        </m:funcPr>
                        <m:fName>
                          <m:r>
                            <m:rPr>
                              <m:sty m:val="p"/>
                            </m:rPr>
                            <a:rPr kumimoji="1" lang="en-US" altLang="ja-JP" sz="1800" b="0" i="0" smtClean="0">
                              <a:latin typeface="Cambria Math" panose="02040503050406030204" pitchFamily="18" charset="0"/>
                            </a:rPr>
                            <m:t>log</m:t>
                          </m:r>
                        </m:fName>
                        <m:e>
                          <m:d>
                            <m:dPr>
                              <m:ctrlPr>
                                <a:rPr kumimoji="1" lang="en-US" altLang="ja-JP" sz="1800" b="0" i="1" smtClean="0">
                                  <a:latin typeface="Cambria Math" panose="02040503050406030204" pitchFamily="18" charset="0"/>
                                </a:rPr>
                              </m:ctrlPr>
                            </m:dPr>
                            <m:e>
                              <m:f>
                                <m:fPr>
                                  <m:ctrlPr>
                                    <a:rPr kumimoji="1" lang="en-US" altLang="ja-JP" sz="1800" b="0" i="1" smtClean="0">
                                      <a:latin typeface="Cambria Math" panose="02040503050406030204" pitchFamily="18" charset="0"/>
                                    </a:rPr>
                                  </m:ctrlPr>
                                </m:fPr>
                                <m:num>
                                  <m:sSub>
                                    <m:sSubPr>
                                      <m:ctrlPr>
                                        <a:rPr kumimoji="1" lang="en-US" altLang="ja-JP" sz="1800" b="0" i="1" smtClean="0">
                                          <a:latin typeface="Cambria Math" panose="02040503050406030204" pitchFamily="18" charset="0"/>
                                        </a:rPr>
                                      </m:ctrlPr>
                                    </m:sSubPr>
                                    <m:e>
                                      <m:r>
                                        <a:rPr kumimoji="1" lang="en-US" altLang="ja-JP" sz="1800" b="0" i="1" smtClean="0">
                                          <a:latin typeface="Cambria Math" panose="02040503050406030204" pitchFamily="18" charset="0"/>
                                        </a:rPr>
                                        <m:t>𝑉</m:t>
                                      </m:r>
                                    </m:e>
                                    <m:sub>
                                      <m:r>
                                        <a:rPr kumimoji="1" lang="en-US" altLang="ja-JP" sz="1800" b="0" i="1" smtClean="0">
                                          <a:latin typeface="Cambria Math" panose="02040503050406030204" pitchFamily="18" charset="0"/>
                                        </a:rPr>
                                        <m:t>𝑜𝑙𝑑</m:t>
                                      </m:r>
                                    </m:sub>
                                  </m:sSub>
                                </m:num>
                                <m:den>
                                  <m:sSub>
                                    <m:sSubPr>
                                      <m:ctrlPr>
                                        <a:rPr kumimoji="1" lang="en-US" altLang="ja-JP" sz="1800" b="1" i="1" smtClean="0">
                                          <a:latin typeface="Cambria Math" panose="02040503050406030204" pitchFamily="18" charset="0"/>
                                        </a:rPr>
                                      </m:ctrlPr>
                                    </m:sSubPr>
                                    <m:e>
                                      <m:r>
                                        <a:rPr kumimoji="1" lang="en-US" altLang="ja-JP" sz="1800" b="1" i="1" smtClean="0">
                                          <a:latin typeface="Cambria Math" panose="02040503050406030204" pitchFamily="18" charset="0"/>
                                        </a:rPr>
                                        <m:t>𝑽</m:t>
                                      </m:r>
                                    </m:e>
                                    <m:sub>
                                      <m:r>
                                        <a:rPr kumimoji="1" lang="en-US" altLang="ja-JP" sz="1800" b="1" i="1" smtClean="0">
                                          <a:latin typeface="Cambria Math" panose="02040503050406030204" pitchFamily="18" charset="0"/>
                                        </a:rPr>
                                        <m:t>𝒏𝒆𝒘</m:t>
                                      </m:r>
                                    </m:sub>
                                  </m:sSub>
                                </m:den>
                              </m:f>
                            </m:e>
                          </m:d>
                        </m:e>
                      </m:func>
                      <m:r>
                        <a:rPr kumimoji="1" lang="en-US" altLang="ja-JP" sz="1800" b="0" i="1" smtClean="0">
                          <a:latin typeface="Cambria Math" panose="02040503050406030204" pitchFamily="18" charset="0"/>
                        </a:rPr>
                        <m:t>−</m:t>
                      </m:r>
                      <m:d>
                        <m:dPr>
                          <m:ctrlPr>
                            <a:rPr kumimoji="1" lang="en-US" altLang="ja-JP" sz="1800" b="0" i="1" smtClean="0">
                              <a:latin typeface="Cambria Math" panose="02040503050406030204" pitchFamily="18" charset="0"/>
                            </a:rPr>
                          </m:ctrlPr>
                        </m:dPr>
                        <m:e>
                          <m:r>
                            <a:rPr kumimoji="1" lang="en-US" altLang="ja-JP" sz="1800" b="0" i="1" smtClean="0">
                              <a:latin typeface="Cambria Math" panose="02040503050406030204" pitchFamily="18" charset="0"/>
                            </a:rPr>
                            <m:t>𝑑𝑜𝑠</m:t>
                          </m:r>
                          <m:sSub>
                            <m:sSubPr>
                              <m:ctrlPr>
                                <a:rPr kumimoji="1" lang="en-US" altLang="ja-JP" sz="1800" b="0" i="1" smtClean="0">
                                  <a:latin typeface="Cambria Math" panose="02040503050406030204" pitchFamily="18" charset="0"/>
                                </a:rPr>
                              </m:ctrlPr>
                            </m:sSubPr>
                            <m:e>
                              <m:r>
                                <a:rPr kumimoji="1" lang="en-US" altLang="ja-JP" sz="1800" b="0" i="1" smtClean="0">
                                  <a:latin typeface="Cambria Math" panose="02040503050406030204" pitchFamily="18" charset="0"/>
                                </a:rPr>
                                <m:t>𝑒</m:t>
                              </m:r>
                            </m:e>
                            <m:sub>
                              <m:r>
                                <a:rPr kumimoji="1" lang="en-US" altLang="ja-JP" sz="1800" b="0" i="1" smtClean="0">
                                  <a:latin typeface="Cambria Math" panose="02040503050406030204" pitchFamily="18" charset="0"/>
                                </a:rPr>
                                <m:t>𝑛𝑒𝑤</m:t>
                              </m:r>
                            </m:sub>
                          </m:sSub>
                          <m:r>
                            <a:rPr kumimoji="1" lang="en-US" altLang="ja-JP" sz="1800" b="0" i="1" smtClean="0">
                              <a:latin typeface="Cambria Math" panose="02040503050406030204" pitchFamily="18" charset="0"/>
                            </a:rPr>
                            <m:t>− </m:t>
                          </m:r>
                          <m:r>
                            <a:rPr kumimoji="1" lang="en-US" altLang="ja-JP" sz="1800" b="0" i="1" smtClean="0">
                              <a:latin typeface="Cambria Math" panose="02040503050406030204" pitchFamily="18" charset="0"/>
                            </a:rPr>
                            <m:t>𝑑𝑜𝑠</m:t>
                          </m:r>
                          <m:sSub>
                            <m:sSubPr>
                              <m:ctrlPr>
                                <a:rPr kumimoji="1" lang="en-US" altLang="ja-JP" sz="1800" b="0" i="1" smtClean="0">
                                  <a:latin typeface="Cambria Math" panose="02040503050406030204" pitchFamily="18" charset="0"/>
                                </a:rPr>
                              </m:ctrlPr>
                            </m:sSubPr>
                            <m:e>
                              <m:r>
                                <a:rPr kumimoji="1" lang="en-US" altLang="ja-JP" sz="1800" b="0" i="1" smtClean="0">
                                  <a:latin typeface="Cambria Math" panose="02040503050406030204" pitchFamily="18" charset="0"/>
                                </a:rPr>
                                <m:t>𝑒</m:t>
                              </m:r>
                            </m:e>
                            <m:sub>
                              <m:r>
                                <a:rPr kumimoji="1" lang="en-US" altLang="ja-JP" sz="1800" b="0" i="1" smtClean="0">
                                  <a:latin typeface="Cambria Math" panose="02040503050406030204" pitchFamily="18" charset="0"/>
                                </a:rPr>
                                <m:t>𝑜𝑙𝑑</m:t>
                              </m:r>
                            </m:sub>
                          </m:sSub>
                        </m:e>
                      </m:d>
                      <m:r>
                        <m:rPr>
                          <m:sty m:val="p"/>
                        </m:rPr>
                        <a:rPr kumimoji="1" lang="en-US" altLang="ja-JP" sz="1800" b="0" i="0" smtClean="0">
                          <a:latin typeface="Cambria Math" panose="02040503050406030204" pitchFamily="18" charset="0"/>
                        </a:rPr>
                        <m:t>log</m:t>
                      </m:r>
                      <m:r>
                        <a:rPr kumimoji="1" lang="en-US" altLang="ja-JP" sz="1800" b="0" i="1" smtClean="0">
                          <a:latin typeface="Cambria Math" panose="02040503050406030204" pitchFamily="18" charset="0"/>
                        </a:rPr>
                        <m:t>⁡(</m:t>
                      </m:r>
                      <m:r>
                        <a:rPr kumimoji="1" lang="en-US" altLang="ja-JP" sz="1800" b="1" i="1" smtClean="0">
                          <a:latin typeface="Cambria Math" panose="02040503050406030204" pitchFamily="18" charset="0"/>
                        </a:rPr>
                        <m:t>𝒅𝒐𝒔</m:t>
                      </m:r>
                      <m:sSub>
                        <m:sSubPr>
                          <m:ctrlPr>
                            <a:rPr kumimoji="1" lang="en-US" altLang="ja-JP" sz="1800" b="1" i="1" smtClean="0">
                              <a:latin typeface="Cambria Math" panose="02040503050406030204" pitchFamily="18" charset="0"/>
                            </a:rPr>
                          </m:ctrlPr>
                        </m:sSubPr>
                        <m:e>
                          <m:r>
                            <a:rPr kumimoji="1" lang="en-US" altLang="ja-JP" sz="1800" b="1" i="1" smtClean="0">
                              <a:latin typeface="Cambria Math" panose="02040503050406030204" pitchFamily="18" charset="0"/>
                            </a:rPr>
                            <m:t>𝒆</m:t>
                          </m:r>
                        </m:e>
                        <m:sub>
                          <m:r>
                            <a:rPr kumimoji="1" lang="en-US" altLang="ja-JP" sz="1800" b="1" i="1" smtClean="0">
                              <a:latin typeface="Cambria Math" panose="02040503050406030204" pitchFamily="18" charset="0"/>
                            </a:rPr>
                            <m:t>𝒏𝒆𝒘</m:t>
                          </m:r>
                        </m:sub>
                      </m:sSub>
                      <m:r>
                        <a:rPr kumimoji="1" lang="en-US" altLang="ja-JP" sz="1800" b="0" i="1" smtClean="0">
                          <a:latin typeface="Cambria Math" panose="02040503050406030204" pitchFamily="18" charset="0"/>
                        </a:rPr>
                        <m:t>)</m:t>
                      </m:r>
                    </m:oMath>
                  </m:oMathPara>
                </a14:m>
                <a:endParaRPr kumimoji="1" lang="en-US" altLang="ja-JP" sz="1800" dirty="0"/>
              </a:p>
            </p:txBody>
          </p:sp>
        </mc:Choice>
        <mc:Fallback xmlns="">
          <p:sp>
            <p:nvSpPr>
              <p:cNvPr id="14" name="テキスト ボックス 13">
                <a:extLst>
                  <a:ext uri="{FF2B5EF4-FFF2-40B4-BE49-F238E27FC236}">
                    <a16:creationId xmlns:a16="http://schemas.microsoft.com/office/drawing/2014/main" id="{259ED770-0596-DD97-895C-0BBC2A63D0A0}"/>
                  </a:ext>
                </a:extLst>
              </p:cNvPr>
              <p:cNvSpPr txBox="1">
                <a:spLocks noRot="1" noChangeAspect="1" noMove="1" noResize="1" noEditPoints="1" noAdjustHandles="1" noChangeArrowheads="1" noChangeShapeType="1" noTextEdit="1"/>
              </p:cNvSpPr>
              <p:nvPr/>
            </p:nvSpPr>
            <p:spPr>
              <a:xfrm>
                <a:off x="3523401" y="3535018"/>
                <a:ext cx="6095028" cy="714683"/>
              </a:xfrm>
              <a:prstGeom prst="rect">
                <a:avLst/>
              </a:prstGeom>
              <a:blipFill>
                <a:blip r:embed="rId4"/>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05425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F972A50-D6B6-01D7-A817-56219BFD3819}"/>
              </a:ext>
            </a:extLst>
          </p:cNvPr>
          <p:cNvSpPr>
            <a:spLocks noGrp="1"/>
          </p:cNvSpPr>
          <p:nvPr>
            <p:ph idx="1"/>
          </p:nvPr>
        </p:nvSpPr>
        <p:spPr>
          <a:xfrm>
            <a:off x="1467464" y="2879195"/>
            <a:ext cx="8782665" cy="854119"/>
          </a:xfrm>
        </p:spPr>
        <p:txBody>
          <a:bodyPr>
            <a:normAutofit/>
          </a:bodyPr>
          <a:lstStyle/>
          <a:p>
            <a:pPr algn="ctr"/>
            <a:r>
              <a:rPr kumimoji="1" lang="ja-JP" altLang="en-US" sz="5400" dirty="0"/>
              <a:t>ご清聴ありがとうございました</a:t>
            </a:r>
          </a:p>
        </p:txBody>
      </p:sp>
    </p:spTree>
    <p:extLst>
      <p:ext uri="{BB962C8B-B14F-4D97-AF65-F5344CB8AC3E}">
        <p14:creationId xmlns:p14="http://schemas.microsoft.com/office/powerpoint/2010/main" val="2281306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四角形: 角を丸くする 7">
            <a:extLst>
              <a:ext uri="{FF2B5EF4-FFF2-40B4-BE49-F238E27FC236}">
                <a16:creationId xmlns:a16="http://schemas.microsoft.com/office/drawing/2014/main" id="{EF2198B6-6D4B-24E6-353A-1CC7AA38E6D7}"/>
              </a:ext>
            </a:extLst>
          </p:cNvPr>
          <p:cNvSpPr/>
          <p:nvPr/>
        </p:nvSpPr>
        <p:spPr>
          <a:xfrm>
            <a:off x="926199" y="1203468"/>
            <a:ext cx="10199001" cy="2849389"/>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FA1A7F3E-5E86-3B75-0A33-74E96A2EFB58}"/>
              </a:ext>
            </a:extLst>
          </p:cNvPr>
          <p:cNvSpPr>
            <a:spLocks noGrp="1"/>
          </p:cNvSpPr>
          <p:nvPr>
            <p:ph type="title"/>
          </p:nvPr>
        </p:nvSpPr>
        <p:spPr>
          <a:xfrm>
            <a:off x="1066800" y="-25283"/>
            <a:ext cx="10058400" cy="646439"/>
          </a:xfrm>
        </p:spPr>
        <p:txBody>
          <a:bodyPr>
            <a:normAutofit fontScale="90000"/>
          </a:bodyPr>
          <a:lstStyle/>
          <a:p>
            <a:r>
              <a:rPr lang="en-US" altLang="ja-JP" dirty="0"/>
              <a:t>Appendix1		HIV</a:t>
            </a:r>
            <a:r>
              <a:rPr lang="ja-JP" altLang="en-US" dirty="0"/>
              <a:t>感染のメカニズム</a:t>
            </a:r>
            <a:endParaRPr kumimoji="1" lang="ja-JP" altLang="en-US" dirty="0"/>
          </a:p>
        </p:txBody>
      </p:sp>
      <p:sp>
        <p:nvSpPr>
          <p:cNvPr id="3" name="コンテンツ プレースホルダー 2">
            <a:extLst>
              <a:ext uri="{FF2B5EF4-FFF2-40B4-BE49-F238E27FC236}">
                <a16:creationId xmlns:a16="http://schemas.microsoft.com/office/drawing/2014/main" id="{B600AD19-FE5C-8D0E-AA4D-50F7A2CFD50B}"/>
              </a:ext>
            </a:extLst>
          </p:cNvPr>
          <p:cNvSpPr>
            <a:spLocks noGrp="1"/>
          </p:cNvSpPr>
          <p:nvPr>
            <p:ph idx="1"/>
          </p:nvPr>
        </p:nvSpPr>
        <p:spPr>
          <a:xfrm>
            <a:off x="1154083" y="1355454"/>
            <a:ext cx="10058400" cy="4555066"/>
          </a:xfrm>
        </p:spPr>
        <p:txBody>
          <a:bodyPr>
            <a:normAutofit/>
          </a:bodyPr>
          <a:lstStyle/>
          <a:p>
            <a:pPr marL="457200" indent="-457200">
              <a:buClrTx/>
              <a:buAutoNum type="arabicPeriod"/>
            </a:pPr>
            <a:r>
              <a:rPr lang="en-US" altLang="ja-JP" sz="2400" dirty="0">
                <a:solidFill>
                  <a:schemeClr val="tx1"/>
                </a:solidFill>
              </a:rPr>
              <a:t>HIV</a:t>
            </a:r>
            <a:r>
              <a:rPr lang="ja-JP" altLang="en-US" sz="2400" dirty="0">
                <a:solidFill>
                  <a:schemeClr val="tx1"/>
                </a:solidFill>
              </a:rPr>
              <a:t>ウイルスがヒトの</a:t>
            </a:r>
            <a:r>
              <a:rPr lang="en-US" altLang="ja-JP" sz="2400" dirty="0">
                <a:solidFill>
                  <a:schemeClr val="tx1"/>
                </a:solidFill>
              </a:rPr>
              <a:t>CD4</a:t>
            </a:r>
            <a:r>
              <a:rPr lang="ja-JP" altLang="en-US" sz="2400" dirty="0">
                <a:solidFill>
                  <a:schemeClr val="tx1"/>
                </a:solidFill>
              </a:rPr>
              <a:t>細胞と結合する</a:t>
            </a:r>
            <a:r>
              <a:rPr lang="en-US" altLang="ja-JP" sz="2400" dirty="0">
                <a:solidFill>
                  <a:schemeClr val="tx1"/>
                </a:solidFill>
              </a:rPr>
              <a:t>.</a:t>
            </a:r>
            <a:r>
              <a:rPr lang="ja-JP" altLang="en-US" sz="2400" dirty="0">
                <a:solidFill>
                  <a:schemeClr val="tx1"/>
                </a:solidFill>
              </a:rPr>
              <a:t> </a:t>
            </a:r>
            <a:endParaRPr lang="en-US" altLang="ja-JP" sz="2400" dirty="0">
              <a:solidFill>
                <a:schemeClr val="tx1"/>
              </a:solidFill>
            </a:endParaRPr>
          </a:p>
          <a:p>
            <a:pPr marL="457200" indent="-457200">
              <a:buClrTx/>
              <a:buAutoNum type="arabicPeriod"/>
            </a:pPr>
            <a:r>
              <a:rPr kumimoji="1" lang="en-US" altLang="ja-JP" sz="2400" dirty="0">
                <a:solidFill>
                  <a:schemeClr val="tx1"/>
                </a:solidFill>
              </a:rPr>
              <a:t>CD4</a:t>
            </a:r>
            <a:r>
              <a:rPr kumimoji="1" lang="ja-JP" altLang="en-US" sz="2400" dirty="0">
                <a:solidFill>
                  <a:schemeClr val="tx1"/>
                </a:solidFill>
              </a:rPr>
              <a:t>細胞の中で</a:t>
            </a:r>
            <a:r>
              <a:rPr kumimoji="1" lang="en-US" altLang="ja-JP" sz="2400" dirty="0">
                <a:solidFill>
                  <a:schemeClr val="tx1"/>
                </a:solidFill>
              </a:rPr>
              <a:t>, HIV</a:t>
            </a:r>
            <a:r>
              <a:rPr lang="ja-JP" altLang="en-US" sz="2400" dirty="0">
                <a:solidFill>
                  <a:schemeClr val="tx1"/>
                </a:solidFill>
              </a:rPr>
              <a:t>ウイルスの逆転写酵素であるインテグラーゼが</a:t>
            </a:r>
            <a:r>
              <a:rPr lang="en-US" altLang="ja-JP" sz="2400" dirty="0">
                <a:solidFill>
                  <a:schemeClr val="tx1"/>
                </a:solidFill>
              </a:rPr>
              <a:t>HIV</a:t>
            </a:r>
            <a:r>
              <a:rPr lang="ja-JP" altLang="en-US" sz="2400" dirty="0">
                <a:solidFill>
                  <a:schemeClr val="tx1"/>
                </a:solidFill>
              </a:rPr>
              <a:t>の</a:t>
            </a:r>
            <a:r>
              <a:rPr lang="en-US" altLang="ja-JP" sz="2400" dirty="0">
                <a:solidFill>
                  <a:schemeClr val="tx1"/>
                </a:solidFill>
              </a:rPr>
              <a:t>DNA</a:t>
            </a:r>
            <a:r>
              <a:rPr lang="ja-JP" altLang="en-US" sz="2400" dirty="0">
                <a:solidFill>
                  <a:schemeClr val="tx1"/>
                </a:solidFill>
              </a:rPr>
              <a:t>情報を記憶させる</a:t>
            </a:r>
            <a:r>
              <a:rPr lang="en-US" altLang="ja-JP" sz="2400" dirty="0">
                <a:solidFill>
                  <a:schemeClr val="tx1"/>
                </a:solidFill>
              </a:rPr>
              <a:t>.</a:t>
            </a:r>
          </a:p>
          <a:p>
            <a:pPr marL="457200" indent="-457200">
              <a:buClrTx/>
              <a:buAutoNum type="arabicPeriod"/>
            </a:pPr>
            <a:r>
              <a:rPr kumimoji="1" lang="en-US" altLang="ja-JP" sz="2400" dirty="0">
                <a:solidFill>
                  <a:schemeClr val="tx1"/>
                </a:solidFill>
              </a:rPr>
              <a:t>CD</a:t>
            </a:r>
            <a:r>
              <a:rPr lang="en-US" altLang="ja-JP" sz="2400" dirty="0">
                <a:solidFill>
                  <a:schemeClr val="tx1"/>
                </a:solidFill>
              </a:rPr>
              <a:t>4</a:t>
            </a:r>
            <a:r>
              <a:rPr lang="ja-JP" altLang="en-US" sz="2400" dirty="0">
                <a:solidFill>
                  <a:schemeClr val="tx1"/>
                </a:solidFill>
              </a:rPr>
              <a:t>細胞が転写・翻訳の際に</a:t>
            </a:r>
            <a:r>
              <a:rPr lang="en-US" altLang="ja-JP" sz="2400" dirty="0">
                <a:solidFill>
                  <a:schemeClr val="tx1"/>
                </a:solidFill>
              </a:rPr>
              <a:t>, </a:t>
            </a:r>
            <a:r>
              <a:rPr lang="ja-JP" altLang="en-US" sz="2400" dirty="0">
                <a:solidFill>
                  <a:schemeClr val="tx1"/>
                </a:solidFill>
              </a:rPr>
              <a:t>記憶された</a:t>
            </a:r>
            <a:r>
              <a:rPr lang="en-US" altLang="ja-JP" sz="2400" dirty="0">
                <a:solidFill>
                  <a:schemeClr val="tx1"/>
                </a:solidFill>
              </a:rPr>
              <a:t>DNA</a:t>
            </a:r>
            <a:r>
              <a:rPr lang="ja-JP" altLang="en-US" sz="2400" dirty="0">
                <a:solidFill>
                  <a:schemeClr val="tx1"/>
                </a:solidFill>
              </a:rPr>
              <a:t>情報をもとに誤って</a:t>
            </a:r>
            <a:r>
              <a:rPr lang="en-US" altLang="ja-JP" sz="2400" dirty="0">
                <a:solidFill>
                  <a:schemeClr val="tx1"/>
                </a:solidFill>
              </a:rPr>
              <a:t>HIV</a:t>
            </a:r>
            <a:r>
              <a:rPr lang="ja-JP" altLang="en-US" sz="2400" dirty="0">
                <a:solidFill>
                  <a:schemeClr val="tx1"/>
                </a:solidFill>
              </a:rPr>
              <a:t>の材料も生産してしまう</a:t>
            </a:r>
            <a:r>
              <a:rPr lang="en-US" altLang="ja-JP" sz="2400" dirty="0">
                <a:solidFill>
                  <a:schemeClr val="tx1"/>
                </a:solidFill>
              </a:rPr>
              <a:t>.</a:t>
            </a:r>
          </a:p>
          <a:p>
            <a:pPr marL="457200" indent="-457200">
              <a:buClrTx/>
              <a:buAutoNum type="arabicPeriod"/>
            </a:pPr>
            <a:r>
              <a:rPr kumimoji="1" lang="ja-JP" altLang="en-US" sz="2400" dirty="0">
                <a:solidFill>
                  <a:schemeClr val="tx1"/>
                </a:solidFill>
              </a:rPr>
              <a:t>新たな</a:t>
            </a:r>
            <a:r>
              <a:rPr kumimoji="1" lang="en-US" altLang="ja-JP" sz="2400" dirty="0">
                <a:solidFill>
                  <a:schemeClr val="tx1"/>
                </a:solidFill>
              </a:rPr>
              <a:t>HIV</a:t>
            </a:r>
            <a:r>
              <a:rPr kumimoji="1" lang="ja-JP" altLang="en-US" sz="2400" dirty="0">
                <a:solidFill>
                  <a:schemeClr val="tx1"/>
                </a:solidFill>
              </a:rPr>
              <a:t>ウイルスが作成され</a:t>
            </a:r>
            <a:r>
              <a:rPr kumimoji="1" lang="en-US" altLang="ja-JP" sz="2400" dirty="0">
                <a:solidFill>
                  <a:schemeClr val="tx1"/>
                </a:solidFill>
              </a:rPr>
              <a:t>, </a:t>
            </a:r>
            <a:r>
              <a:rPr kumimoji="1" lang="ja-JP" altLang="en-US" sz="2400" dirty="0">
                <a:solidFill>
                  <a:schemeClr val="tx1"/>
                </a:solidFill>
              </a:rPr>
              <a:t>再び</a:t>
            </a:r>
            <a:r>
              <a:rPr kumimoji="1" lang="en-US" altLang="ja-JP" sz="2400" dirty="0">
                <a:solidFill>
                  <a:schemeClr val="tx1"/>
                </a:solidFill>
              </a:rPr>
              <a:t>CD4</a:t>
            </a:r>
            <a:r>
              <a:rPr kumimoji="1" lang="ja-JP" altLang="en-US" sz="2400" dirty="0">
                <a:solidFill>
                  <a:schemeClr val="tx1"/>
                </a:solidFill>
              </a:rPr>
              <a:t>細胞と結合する</a:t>
            </a:r>
            <a:r>
              <a:rPr kumimoji="1" lang="en-US" altLang="ja-JP" sz="2400" dirty="0">
                <a:solidFill>
                  <a:schemeClr val="tx1"/>
                </a:solidFill>
              </a:rPr>
              <a:t>.</a:t>
            </a:r>
          </a:p>
        </p:txBody>
      </p:sp>
      <p:sp>
        <p:nvSpPr>
          <p:cNvPr id="7" name="スライド番号プレースホルダー 6">
            <a:extLst>
              <a:ext uri="{FF2B5EF4-FFF2-40B4-BE49-F238E27FC236}">
                <a16:creationId xmlns:a16="http://schemas.microsoft.com/office/drawing/2014/main" id="{2499E595-E1BC-3D2D-63CD-0180DE34061F}"/>
              </a:ext>
            </a:extLst>
          </p:cNvPr>
          <p:cNvSpPr>
            <a:spLocks noGrp="1"/>
          </p:cNvSpPr>
          <p:nvPr>
            <p:ph type="sldNum" sz="quarter" idx="4294967295"/>
          </p:nvPr>
        </p:nvSpPr>
        <p:spPr>
          <a:xfrm>
            <a:off x="9900458" y="6459785"/>
            <a:ext cx="1312025" cy="365125"/>
          </a:xfrm>
        </p:spPr>
        <p:txBody>
          <a:bodyPr/>
          <a:lstStyle/>
          <a:p>
            <a:fld id="{E0107F97-1CD5-41F0-B842-C38020C26506}" type="slidenum">
              <a:rPr kumimoji="1" lang="ja-JP" altLang="en-US" smtClean="0"/>
              <a:t>15</a:t>
            </a:fld>
            <a:endParaRPr kumimoji="1" lang="ja-JP" altLang="en-US"/>
          </a:p>
        </p:txBody>
      </p:sp>
      <p:sp>
        <p:nvSpPr>
          <p:cNvPr id="4" name="テキスト ボックス 3">
            <a:extLst>
              <a:ext uri="{FF2B5EF4-FFF2-40B4-BE49-F238E27FC236}">
                <a16:creationId xmlns:a16="http://schemas.microsoft.com/office/drawing/2014/main" id="{C566C25A-44C7-3DA2-7D4F-DBA7EEC12F10}"/>
              </a:ext>
            </a:extLst>
          </p:cNvPr>
          <p:cNvSpPr txBox="1"/>
          <p:nvPr/>
        </p:nvSpPr>
        <p:spPr>
          <a:xfrm>
            <a:off x="1066800" y="4310081"/>
            <a:ext cx="9377995" cy="1200329"/>
          </a:xfrm>
          <a:prstGeom prst="rect">
            <a:avLst/>
          </a:prstGeom>
          <a:noFill/>
        </p:spPr>
        <p:txBody>
          <a:bodyPr wrap="square" rtlCol="0">
            <a:spAutoFit/>
          </a:bodyPr>
          <a:lstStyle/>
          <a:p>
            <a:r>
              <a:rPr kumimoji="1" lang="ja-JP" altLang="en-US" sz="2400" dirty="0"/>
              <a:t>本来</a:t>
            </a:r>
            <a:r>
              <a:rPr kumimoji="1" lang="en-US" altLang="ja-JP" sz="2400" dirty="0"/>
              <a:t>, CD4 </a:t>
            </a:r>
            <a:r>
              <a:rPr kumimoji="1" lang="ja-JP" altLang="en-US" sz="2400" dirty="0"/>
              <a:t>細胞の生成と寿命による消滅は均衡が保たれている</a:t>
            </a:r>
            <a:endParaRPr kumimoji="1" lang="en-US" altLang="ja-JP" sz="2400" dirty="0"/>
          </a:p>
          <a:p>
            <a:r>
              <a:rPr kumimoji="1" lang="ja-JP" altLang="en-US" sz="2400" dirty="0"/>
              <a:t>➡</a:t>
            </a:r>
            <a:r>
              <a:rPr kumimoji="1" lang="en-US" altLang="ja-JP" sz="2400" dirty="0"/>
              <a:t>HIV</a:t>
            </a:r>
            <a:r>
              <a:rPr kumimoji="1" lang="ja-JP" altLang="en-US" sz="2400" dirty="0"/>
              <a:t>ウイルスにより</a:t>
            </a:r>
            <a:r>
              <a:rPr kumimoji="1" lang="en-US" altLang="ja-JP" sz="2400" dirty="0"/>
              <a:t>CD4</a:t>
            </a:r>
            <a:r>
              <a:rPr kumimoji="1" lang="ja-JP" altLang="en-US" sz="2400" dirty="0"/>
              <a:t>細胞の寿命は減少するため</a:t>
            </a:r>
            <a:r>
              <a:rPr kumimoji="1" lang="en-US" altLang="ja-JP" sz="2400" dirty="0"/>
              <a:t>, </a:t>
            </a:r>
            <a:r>
              <a:rPr kumimoji="1" lang="ja-JP" altLang="en-US" sz="2400" dirty="0"/>
              <a:t>慢性的な</a:t>
            </a:r>
            <a:r>
              <a:rPr kumimoji="1" lang="en-US" altLang="ja-JP" sz="2400" dirty="0"/>
              <a:t>CD4</a:t>
            </a:r>
            <a:r>
              <a:rPr kumimoji="1" lang="ja-JP" altLang="en-US" sz="2400" dirty="0"/>
              <a:t>細胞の欠乏により</a:t>
            </a:r>
            <a:r>
              <a:rPr kumimoji="1" lang="en-US" altLang="ja-JP" sz="2400" dirty="0"/>
              <a:t>, </a:t>
            </a:r>
            <a:r>
              <a:rPr kumimoji="1" lang="ja-JP" altLang="en-US" sz="2400" b="1" dirty="0"/>
              <a:t>免疫不全</a:t>
            </a:r>
            <a:r>
              <a:rPr kumimoji="1" lang="ja-JP" altLang="en-US" sz="2400" dirty="0"/>
              <a:t>に陥る</a:t>
            </a:r>
            <a:r>
              <a:rPr kumimoji="1" lang="en-US" altLang="ja-JP" sz="2400" dirty="0"/>
              <a:t>. </a:t>
            </a:r>
            <a:endParaRPr kumimoji="1" lang="ja-JP" altLang="en-US" sz="2400" dirty="0"/>
          </a:p>
        </p:txBody>
      </p:sp>
      <p:sp>
        <p:nvSpPr>
          <p:cNvPr id="5" name="吹き出し: 円形 4">
            <a:extLst>
              <a:ext uri="{FF2B5EF4-FFF2-40B4-BE49-F238E27FC236}">
                <a16:creationId xmlns:a16="http://schemas.microsoft.com/office/drawing/2014/main" id="{E8DD848C-A916-3933-7135-559D8B878226}"/>
              </a:ext>
            </a:extLst>
          </p:cNvPr>
          <p:cNvSpPr/>
          <p:nvPr/>
        </p:nvSpPr>
        <p:spPr>
          <a:xfrm rot="10800000">
            <a:off x="6321875" y="5229248"/>
            <a:ext cx="5145628" cy="712350"/>
          </a:xfrm>
          <a:prstGeom prst="wedgeEllipseCallo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8A07ED64-AFE8-56F5-6A73-8DD0F854EBE5}"/>
              </a:ext>
            </a:extLst>
          </p:cNvPr>
          <p:cNvSpPr txBox="1"/>
          <p:nvPr/>
        </p:nvSpPr>
        <p:spPr>
          <a:xfrm>
            <a:off x="7032740" y="5422958"/>
            <a:ext cx="3936274" cy="400110"/>
          </a:xfrm>
          <a:prstGeom prst="rect">
            <a:avLst/>
          </a:prstGeom>
          <a:noFill/>
        </p:spPr>
        <p:txBody>
          <a:bodyPr wrap="square" rtlCol="0">
            <a:spAutoFit/>
          </a:bodyPr>
          <a:lstStyle/>
          <a:p>
            <a:r>
              <a:rPr kumimoji="1" lang="en-US" altLang="ja-JP" sz="2000" b="1" dirty="0"/>
              <a:t>CD4</a:t>
            </a:r>
            <a:r>
              <a:rPr kumimoji="1" lang="ja-JP" altLang="en-US" sz="2000" b="1" dirty="0"/>
              <a:t>細胞は免疫システムの司令塔</a:t>
            </a:r>
          </a:p>
        </p:txBody>
      </p:sp>
    </p:spTree>
    <p:extLst>
      <p:ext uri="{BB962C8B-B14F-4D97-AF65-F5344CB8AC3E}">
        <p14:creationId xmlns:p14="http://schemas.microsoft.com/office/powerpoint/2010/main" val="2118926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C238FD62-2859-70AF-E888-1C8FDA621A0F}"/>
              </a:ext>
            </a:extLst>
          </p:cNvPr>
          <p:cNvSpPr/>
          <p:nvPr/>
        </p:nvSpPr>
        <p:spPr>
          <a:xfrm>
            <a:off x="1564783" y="2794715"/>
            <a:ext cx="3664655" cy="1287888"/>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タイトル 1">
            <a:extLst>
              <a:ext uri="{FF2B5EF4-FFF2-40B4-BE49-F238E27FC236}">
                <a16:creationId xmlns:a16="http://schemas.microsoft.com/office/drawing/2014/main" id="{9E37C15B-3B46-E135-DFFC-96DDE68FA437}"/>
              </a:ext>
            </a:extLst>
          </p:cNvPr>
          <p:cNvSpPr>
            <a:spLocks noGrp="1"/>
          </p:cNvSpPr>
          <p:nvPr>
            <p:ph type="title"/>
          </p:nvPr>
        </p:nvSpPr>
        <p:spPr>
          <a:xfrm>
            <a:off x="1140164" y="-254176"/>
            <a:ext cx="9911671" cy="924782"/>
          </a:xfrm>
        </p:spPr>
        <p:txBody>
          <a:bodyPr/>
          <a:lstStyle/>
          <a:p>
            <a:r>
              <a:rPr lang="en-US" altLang="ja-JP" dirty="0"/>
              <a:t>Appendix2		</a:t>
            </a:r>
            <a:r>
              <a:rPr lang="en-US" altLang="ja-JP" b="1" dirty="0"/>
              <a:t>SoftMax</a:t>
            </a:r>
            <a:r>
              <a:rPr lang="ja-JP" altLang="en-US" sz="4000" dirty="0"/>
              <a:t>関数</a:t>
            </a:r>
            <a:endParaRPr kumimoji="1" lang="ja-JP" altLang="en-US" dirty="0"/>
          </a:p>
        </p:txBody>
      </p:sp>
      <p:pic>
        <p:nvPicPr>
          <p:cNvPr id="5" name="コンテンツ プレースホルダー 4">
            <a:extLst>
              <a:ext uri="{FF2B5EF4-FFF2-40B4-BE49-F238E27FC236}">
                <a16:creationId xmlns:a16="http://schemas.microsoft.com/office/drawing/2014/main" id="{8DB7EFEA-CD07-5131-043E-10C975B7E7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99844" y="1278029"/>
            <a:ext cx="5363633" cy="4022725"/>
          </a:xfrm>
        </p:spPr>
      </p:pic>
      <p:sp>
        <p:nvSpPr>
          <p:cNvPr id="8" name="スライド番号プレースホルダー 7">
            <a:extLst>
              <a:ext uri="{FF2B5EF4-FFF2-40B4-BE49-F238E27FC236}">
                <a16:creationId xmlns:a16="http://schemas.microsoft.com/office/drawing/2014/main" id="{90BDCBB8-5D27-1DCC-5E15-16248973FA87}"/>
              </a:ext>
            </a:extLst>
          </p:cNvPr>
          <p:cNvSpPr>
            <a:spLocks noGrp="1"/>
          </p:cNvSpPr>
          <p:nvPr>
            <p:ph type="sldNum" sz="quarter" idx="4294967295"/>
          </p:nvPr>
        </p:nvSpPr>
        <p:spPr>
          <a:xfrm>
            <a:off x="9900458" y="6459785"/>
            <a:ext cx="1312025" cy="365125"/>
          </a:xfrm>
        </p:spPr>
        <p:txBody>
          <a:bodyPr/>
          <a:lstStyle/>
          <a:p>
            <a:fld id="{E0107F97-1CD5-41F0-B842-C38020C26506}" type="slidenum">
              <a:rPr kumimoji="1" lang="ja-JP" altLang="en-US" smtClean="0"/>
              <a:t>16</a:t>
            </a:fld>
            <a:endParaRPr kumimoji="1" lang="ja-JP" altLang="en-US"/>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872FD9E7-BF1E-24DF-808D-12313707FD84}"/>
                  </a:ext>
                </a:extLst>
              </p:cNvPr>
              <p:cNvSpPr txBox="1"/>
              <p:nvPr/>
            </p:nvSpPr>
            <p:spPr>
              <a:xfrm>
                <a:off x="6985154" y="5367397"/>
                <a:ext cx="4725697" cy="369332"/>
              </a:xfrm>
              <a:prstGeom prst="rect">
                <a:avLst/>
              </a:prstGeom>
              <a:noFill/>
            </p:spPr>
            <p:txBody>
              <a:bodyPr wrap="square" rtlCol="0">
                <a:spAutoFit/>
              </a:bodyPr>
              <a:lstStyle/>
              <a:p>
                <a:r>
                  <a:rPr kumimoji="1" lang="en-US" altLang="ja-JP" dirty="0"/>
                  <a:t>Fig15 : </a:t>
                </a:r>
                <a14:m>
                  <m:oMath xmlns:m="http://schemas.openxmlformats.org/officeDocument/2006/math">
                    <m:r>
                      <a:rPr kumimoji="1" lang="en-US" altLang="ja-JP" b="0" i="1" smtClean="0">
                        <a:latin typeface="Cambria Math" panose="02040503050406030204" pitchFamily="18" charset="0"/>
                      </a:rPr>
                      <m:t>𝑠𝑜𝑓𝑡𝑚𝑎𝑥</m:t>
                    </m:r>
                  </m:oMath>
                </a14:m>
                <a:r>
                  <a:rPr kumimoji="1" lang="ja-JP" altLang="en-US" dirty="0"/>
                  <a:t>関数の</a:t>
                </a:r>
                <a:r>
                  <a:rPr kumimoji="1" lang="en-US" altLang="ja-JP" dirty="0"/>
                  <a:t>T</a:t>
                </a:r>
                <a:r>
                  <a:rPr kumimoji="1" lang="ja-JP" altLang="en-US" dirty="0"/>
                  <a:t>による挙動</a:t>
                </a:r>
              </a:p>
            </p:txBody>
          </p:sp>
        </mc:Choice>
        <mc:Fallback xmlns="">
          <p:sp>
            <p:nvSpPr>
              <p:cNvPr id="6" name="テキスト ボックス 5">
                <a:extLst>
                  <a:ext uri="{FF2B5EF4-FFF2-40B4-BE49-F238E27FC236}">
                    <a16:creationId xmlns:a16="http://schemas.microsoft.com/office/drawing/2014/main" id="{872FD9E7-BF1E-24DF-808D-12313707FD84}"/>
                  </a:ext>
                </a:extLst>
              </p:cNvPr>
              <p:cNvSpPr txBox="1">
                <a:spLocks noRot="1" noChangeAspect="1" noMove="1" noResize="1" noEditPoints="1" noAdjustHandles="1" noChangeArrowheads="1" noChangeShapeType="1" noTextEdit="1"/>
              </p:cNvSpPr>
              <p:nvPr/>
            </p:nvSpPr>
            <p:spPr>
              <a:xfrm>
                <a:off x="6985154" y="5367397"/>
                <a:ext cx="4725697" cy="369332"/>
              </a:xfrm>
              <a:prstGeom prst="rect">
                <a:avLst/>
              </a:prstGeom>
              <a:blipFill>
                <a:blip r:embed="rId3"/>
                <a:stretch>
                  <a:fillRect l="-1161" t="-13115" b="-2623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D37361A5-F6F9-F6B6-15DC-ED410C52C77D}"/>
                  </a:ext>
                </a:extLst>
              </p:cNvPr>
              <p:cNvSpPr txBox="1"/>
              <p:nvPr/>
            </p:nvSpPr>
            <p:spPr>
              <a:xfrm>
                <a:off x="102336" y="2866274"/>
                <a:ext cx="6097508" cy="10117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ea typeface="Cambria Math" panose="02040503050406030204" pitchFamily="18" charset="0"/>
                        </a:rPr>
                        <m:t>𝑝</m:t>
                      </m:r>
                      <m:d>
                        <m:dPr>
                          <m:ctrlPr>
                            <a:rPr kumimoji="1" lang="en-US" altLang="ja-JP" b="0" i="1" smtClean="0">
                              <a:latin typeface="Cambria Math" panose="02040503050406030204" pitchFamily="18" charset="0"/>
                              <a:ea typeface="Cambria Math" panose="02040503050406030204" pitchFamily="18" charset="0"/>
                            </a:rPr>
                          </m:ctrlPr>
                        </m:dPr>
                        <m:e>
                          <m:r>
                            <a:rPr kumimoji="1" lang="en-US" altLang="ja-JP" b="0" i="1" smtClean="0">
                              <a:latin typeface="Cambria Math" panose="02040503050406030204" pitchFamily="18" charset="0"/>
                              <a:ea typeface="Cambria Math" panose="02040503050406030204" pitchFamily="18" charset="0"/>
                            </a:rPr>
                            <m:t>𝑎</m:t>
                          </m:r>
                        </m:e>
                      </m:d>
                      <m:r>
                        <a:rPr kumimoji="1" lang="en-US" altLang="ja-JP" b="0" i="1" smtClean="0">
                          <a:latin typeface="Cambria Math" panose="02040503050406030204" pitchFamily="18" charset="0"/>
                          <a:ea typeface="Cambria Math" panose="02040503050406030204" pitchFamily="18" charset="0"/>
                        </a:rPr>
                        <m:t>=</m:t>
                      </m:r>
                      <m:f>
                        <m:fPr>
                          <m:ctrlPr>
                            <a:rPr lang="en-US" altLang="ja-JP" i="1">
                              <a:latin typeface="Cambria Math" panose="02040503050406030204" pitchFamily="18" charset="0"/>
                              <a:ea typeface="Cambria Math" panose="02040503050406030204" pitchFamily="18" charset="0"/>
                            </a:rPr>
                          </m:ctrlPr>
                        </m:fPr>
                        <m:num>
                          <m:sSup>
                            <m:sSupPr>
                              <m:ctrlPr>
                                <a:rPr lang="en-US" altLang="ja-JP" i="1">
                                  <a:latin typeface="Cambria Math" panose="02040503050406030204" pitchFamily="18" charset="0"/>
                                  <a:ea typeface="Cambria Math" panose="02040503050406030204" pitchFamily="18" charset="0"/>
                                </a:rPr>
                              </m:ctrlPr>
                            </m:sSupPr>
                            <m:e>
                              <m:r>
                                <a:rPr lang="en-US" altLang="ja-JP" i="1">
                                  <a:latin typeface="Cambria Math" panose="02040503050406030204" pitchFamily="18" charset="0"/>
                                  <a:ea typeface="Cambria Math" panose="02040503050406030204" pitchFamily="18" charset="0"/>
                                </a:rPr>
                                <m:t>𝑒</m:t>
                              </m:r>
                            </m:e>
                            <m:sup>
                              <m:f>
                                <m:fPr>
                                  <m:ctrlPr>
                                    <a:rPr lang="en-US" altLang="ja-JP" i="1">
                                      <a:latin typeface="Cambria Math" panose="02040503050406030204" pitchFamily="18" charset="0"/>
                                      <a:ea typeface="Cambria Math" panose="02040503050406030204" pitchFamily="18" charset="0"/>
                                    </a:rPr>
                                  </m:ctrlPr>
                                </m:fPr>
                                <m:num>
                                  <m:r>
                                    <a:rPr lang="en-US" altLang="ja-JP" i="1">
                                      <a:latin typeface="Cambria Math" panose="02040503050406030204" pitchFamily="18" charset="0"/>
                                      <a:ea typeface="Cambria Math" panose="02040503050406030204" pitchFamily="18" charset="0"/>
                                    </a:rPr>
                                    <m:t>𝑄</m:t>
                                  </m:r>
                                  <m:d>
                                    <m:dPr>
                                      <m:ctrlPr>
                                        <a:rPr lang="en-US" altLang="ja-JP" i="1">
                                          <a:latin typeface="Cambria Math" panose="02040503050406030204" pitchFamily="18" charset="0"/>
                                          <a:ea typeface="Cambria Math" panose="02040503050406030204" pitchFamily="18" charset="0"/>
                                        </a:rPr>
                                      </m:ctrlPr>
                                    </m:dPr>
                                    <m:e>
                                      <m:sSub>
                                        <m:sSubPr>
                                          <m:ctrlPr>
                                            <a:rPr lang="en-US" altLang="ja-JP"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𝑠</m:t>
                                          </m:r>
                                        </m:e>
                                        <m:sub>
                                          <m:r>
                                            <a:rPr lang="en-US" altLang="ja-JP" i="1">
                                              <a:latin typeface="Cambria Math" panose="02040503050406030204" pitchFamily="18" charset="0"/>
                                              <a:ea typeface="Cambria Math" panose="02040503050406030204" pitchFamily="18" charset="0"/>
                                            </a:rPr>
                                            <m:t>𝑡</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𝑎</m:t>
                                          </m:r>
                                        </m:e>
                                        <m:sub>
                                          <m:r>
                                            <a:rPr lang="en-US" altLang="ja-JP" i="1">
                                              <a:latin typeface="Cambria Math" panose="02040503050406030204" pitchFamily="18" charset="0"/>
                                              <a:ea typeface="Cambria Math" panose="02040503050406030204" pitchFamily="18" charset="0"/>
                                            </a:rPr>
                                            <m:t>𝑡</m:t>
                                          </m:r>
                                        </m:sub>
                                      </m:sSub>
                                    </m:e>
                                  </m:d>
                                </m:num>
                                <m:den>
                                  <m:r>
                                    <a:rPr lang="en-US" altLang="ja-JP" i="1">
                                      <a:latin typeface="Cambria Math" panose="02040503050406030204" pitchFamily="18" charset="0"/>
                                      <a:ea typeface="Cambria Math" panose="02040503050406030204" pitchFamily="18" charset="0"/>
                                    </a:rPr>
                                    <m:t>𝑇</m:t>
                                  </m:r>
                                </m:den>
                              </m:f>
                            </m:sup>
                          </m:sSup>
                        </m:num>
                        <m:den>
                          <m:nary>
                            <m:naryPr>
                              <m:chr m:val="∑"/>
                              <m:ctrlPr>
                                <a:rPr lang="en-US" altLang="ja-JP" i="1">
                                  <a:latin typeface="Cambria Math" panose="02040503050406030204" pitchFamily="18" charset="0"/>
                                  <a:ea typeface="Cambria Math" panose="02040503050406030204" pitchFamily="18" charset="0"/>
                                </a:rPr>
                              </m:ctrlPr>
                            </m:naryPr>
                            <m:sub>
                              <m:r>
                                <m:rPr>
                                  <m:brk m:alnAt="23"/>
                                </m:rPr>
                                <a:rPr lang="en-US" altLang="ja-JP" i="1">
                                  <a:latin typeface="Cambria Math" panose="02040503050406030204" pitchFamily="18" charset="0"/>
                                  <a:ea typeface="Cambria Math" panose="02040503050406030204" pitchFamily="18" charset="0"/>
                                </a:rPr>
                                <m:t>𝑘</m:t>
                              </m:r>
                              <m:r>
                                <a:rPr lang="en-US" altLang="ja-JP" i="1">
                                  <a:latin typeface="Cambria Math" panose="02040503050406030204" pitchFamily="18" charset="0"/>
                                  <a:ea typeface="Cambria Math" panose="02040503050406030204" pitchFamily="18" charset="0"/>
                                </a:rPr>
                                <m:t>=1</m:t>
                              </m:r>
                            </m:sub>
                            <m:sup>
                              <m:r>
                                <a:rPr lang="en-US" altLang="ja-JP" i="1">
                                  <a:latin typeface="Cambria Math" panose="02040503050406030204" pitchFamily="18" charset="0"/>
                                  <a:ea typeface="Cambria Math" panose="02040503050406030204" pitchFamily="18" charset="0"/>
                                </a:rPr>
                                <m:t>𝑛</m:t>
                              </m:r>
                            </m:sup>
                            <m:e>
                              <m:sSup>
                                <m:sSupPr>
                                  <m:ctrlPr>
                                    <a:rPr lang="en-US" altLang="ja-JP" i="1">
                                      <a:latin typeface="Cambria Math" panose="02040503050406030204" pitchFamily="18" charset="0"/>
                                      <a:ea typeface="Cambria Math" panose="02040503050406030204" pitchFamily="18" charset="0"/>
                                    </a:rPr>
                                  </m:ctrlPr>
                                </m:sSupPr>
                                <m:e>
                                  <m:r>
                                    <a:rPr lang="en-US" altLang="ja-JP" i="1">
                                      <a:latin typeface="Cambria Math" panose="02040503050406030204" pitchFamily="18" charset="0"/>
                                      <a:ea typeface="Cambria Math" panose="02040503050406030204" pitchFamily="18" charset="0"/>
                                    </a:rPr>
                                    <m:t>𝑒</m:t>
                                  </m:r>
                                </m:e>
                                <m:sup>
                                  <m:f>
                                    <m:fPr>
                                      <m:ctrlPr>
                                        <a:rPr lang="en-US" altLang="ja-JP" i="1">
                                          <a:latin typeface="Cambria Math" panose="02040503050406030204" pitchFamily="18" charset="0"/>
                                          <a:ea typeface="Cambria Math" panose="02040503050406030204" pitchFamily="18" charset="0"/>
                                        </a:rPr>
                                      </m:ctrlPr>
                                    </m:fPr>
                                    <m:num>
                                      <m:r>
                                        <a:rPr lang="en-US" altLang="ja-JP" i="1">
                                          <a:latin typeface="Cambria Math" panose="02040503050406030204" pitchFamily="18" charset="0"/>
                                          <a:ea typeface="Cambria Math" panose="02040503050406030204" pitchFamily="18" charset="0"/>
                                        </a:rPr>
                                        <m:t>𝑄</m:t>
                                      </m:r>
                                      <m:d>
                                        <m:dPr>
                                          <m:ctrlPr>
                                            <a:rPr lang="en-US" altLang="ja-JP" i="1">
                                              <a:latin typeface="Cambria Math" panose="02040503050406030204" pitchFamily="18" charset="0"/>
                                              <a:ea typeface="Cambria Math" panose="02040503050406030204" pitchFamily="18" charset="0"/>
                                            </a:rPr>
                                          </m:ctrlPr>
                                        </m:dPr>
                                        <m:e>
                                          <m:sSub>
                                            <m:sSubPr>
                                              <m:ctrlPr>
                                                <a:rPr lang="en-US" altLang="ja-JP"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𝑠</m:t>
                                              </m:r>
                                            </m:e>
                                            <m:sub>
                                              <m:r>
                                                <a:rPr lang="en-US" altLang="ja-JP" i="1">
                                                  <a:latin typeface="Cambria Math" panose="02040503050406030204" pitchFamily="18" charset="0"/>
                                                  <a:ea typeface="Cambria Math" panose="02040503050406030204" pitchFamily="18" charset="0"/>
                                                </a:rPr>
                                                <m:t>𝑡</m:t>
                                              </m:r>
                                            </m:sub>
                                          </m:sSub>
                                          <m:r>
                                            <a:rPr lang="en-US" altLang="ja-JP" i="1">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𝑎</m:t>
                                              </m:r>
                                            </m:e>
                                            <m:sub>
                                              <m:r>
                                                <a:rPr lang="en-US" altLang="ja-JP" i="1">
                                                  <a:latin typeface="Cambria Math" panose="02040503050406030204" pitchFamily="18" charset="0"/>
                                                  <a:ea typeface="Cambria Math" panose="02040503050406030204" pitchFamily="18" charset="0"/>
                                                </a:rPr>
                                                <m:t>𝑘</m:t>
                                              </m:r>
                                            </m:sub>
                                          </m:sSub>
                                        </m:e>
                                      </m:d>
                                    </m:num>
                                    <m:den>
                                      <m:r>
                                        <a:rPr lang="en-US" altLang="ja-JP" i="1">
                                          <a:latin typeface="Cambria Math" panose="02040503050406030204" pitchFamily="18" charset="0"/>
                                          <a:ea typeface="Cambria Math" panose="02040503050406030204" pitchFamily="18" charset="0"/>
                                        </a:rPr>
                                        <m:t>𝑇</m:t>
                                      </m:r>
                                    </m:den>
                                  </m:f>
                                </m:sup>
                              </m:sSup>
                            </m:e>
                          </m:nary>
                        </m:den>
                      </m:f>
                    </m:oMath>
                  </m:oMathPara>
                </a14:m>
                <a:endParaRPr lang="ja-JP" altLang="en-US" dirty="0"/>
              </a:p>
            </p:txBody>
          </p:sp>
        </mc:Choice>
        <mc:Fallback xmlns="">
          <p:sp>
            <p:nvSpPr>
              <p:cNvPr id="4" name="テキスト ボックス 3">
                <a:extLst>
                  <a:ext uri="{FF2B5EF4-FFF2-40B4-BE49-F238E27FC236}">
                    <a16:creationId xmlns:a16="http://schemas.microsoft.com/office/drawing/2014/main" id="{D37361A5-F6F9-F6B6-15DC-ED410C52C77D}"/>
                  </a:ext>
                </a:extLst>
              </p:cNvPr>
              <p:cNvSpPr txBox="1">
                <a:spLocks noRot="1" noChangeAspect="1" noMove="1" noResize="1" noEditPoints="1" noAdjustHandles="1" noChangeArrowheads="1" noChangeShapeType="1" noTextEdit="1"/>
              </p:cNvSpPr>
              <p:nvPr/>
            </p:nvSpPr>
            <p:spPr>
              <a:xfrm>
                <a:off x="102336" y="2866274"/>
                <a:ext cx="6097508" cy="1011752"/>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C4ECA97C-BC94-559B-5BB5-2CAFCBE87DC0}"/>
                  </a:ext>
                </a:extLst>
              </p:cNvPr>
              <p:cNvSpPr txBox="1"/>
              <p:nvPr/>
            </p:nvSpPr>
            <p:spPr>
              <a:xfrm>
                <a:off x="1140164" y="1374620"/>
                <a:ext cx="4731191" cy="4832092"/>
              </a:xfrm>
              <a:prstGeom prst="rect">
                <a:avLst/>
              </a:prstGeom>
              <a:noFill/>
            </p:spPr>
            <p:txBody>
              <a:bodyPr wrap="square" rtlCol="0">
                <a:spAutoFit/>
              </a:bodyPr>
              <a:lstStyle/>
              <a:p>
                <a:r>
                  <a:rPr kumimoji="1" lang="en-US" altLang="ja-JP" sz="2000" b="0" dirty="0"/>
                  <a:t>Q</a:t>
                </a:r>
                <a:r>
                  <a:rPr kumimoji="1" lang="ja-JP" altLang="en-US" sz="2000" b="0" dirty="0"/>
                  <a:t>学習</a:t>
                </a:r>
                <a14:m>
                  <m:oMath xmlns:m="http://schemas.openxmlformats.org/officeDocument/2006/math">
                    <m:r>
                      <a:rPr kumimoji="1" lang="ja-JP" altLang="en-US" sz="2000" i="1">
                        <a:latin typeface="Cambria Math" panose="02040503050406030204" pitchFamily="18" charset="0"/>
                      </a:rPr>
                      <m:t>における</m:t>
                    </m:r>
                    <m:r>
                      <a:rPr kumimoji="1" lang="en-US" altLang="ja-JP" sz="2000" b="0" i="1" smtClean="0">
                        <a:latin typeface="Cambria Math" panose="02040503050406030204" pitchFamily="18" charset="0"/>
                      </a:rPr>
                      <m:t> </m:t>
                    </m:r>
                    <m:r>
                      <a:rPr kumimoji="1" lang="en-US" altLang="ja-JP" sz="2000" b="0" i="1" smtClean="0">
                        <a:latin typeface="Cambria Math" panose="02040503050406030204" pitchFamily="18" charset="0"/>
                      </a:rPr>
                      <m:t>𝑆𝑜𝑓𝑡𝑚𝑎𝑥</m:t>
                    </m:r>
                  </m:oMath>
                </a14:m>
                <a:r>
                  <a:rPr kumimoji="1" lang="ja-JP" altLang="en-US" sz="2000" dirty="0"/>
                  <a:t>関数は</a:t>
                </a:r>
                <a14:m>
                  <m:oMath xmlns:m="http://schemas.openxmlformats.org/officeDocument/2006/math">
                    <m:r>
                      <a:rPr kumimoji="1" lang="en-US" altLang="ja-JP" sz="2000" b="0" i="1" smtClean="0">
                        <a:latin typeface="Cambria Math" panose="02040503050406030204" pitchFamily="18" charset="0"/>
                      </a:rPr>
                      <m:t>𝑝</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𝑎</m:t>
                    </m:r>
                    <m:r>
                      <a:rPr kumimoji="1" lang="en-US" altLang="ja-JP" sz="2000" b="0" i="1" smtClean="0">
                        <a:latin typeface="Cambria Math" panose="02040503050406030204" pitchFamily="18" charset="0"/>
                      </a:rPr>
                      <m:t>)</m:t>
                    </m:r>
                  </m:oMath>
                </a14:m>
                <a:r>
                  <a:rPr kumimoji="1" lang="ja-JP" altLang="en-US" sz="2000" dirty="0"/>
                  <a:t>で表され</a:t>
                </a:r>
                <a:r>
                  <a:rPr kumimoji="1" lang="en-US" altLang="ja-JP" sz="2000" dirty="0"/>
                  <a:t>, </a:t>
                </a:r>
                <a:r>
                  <a:rPr kumimoji="1" lang="ja-JP" altLang="en-US" sz="2000" dirty="0"/>
                  <a:t>計算温度</a:t>
                </a:r>
                <a:r>
                  <a:rPr kumimoji="1" lang="en-US" altLang="ja-JP" sz="2000" dirty="0"/>
                  <a:t>T</a:t>
                </a:r>
                <a:r>
                  <a:rPr kumimoji="1" lang="ja-JP" altLang="en-US" sz="2000" dirty="0"/>
                  <a:t>を用いることで</a:t>
                </a:r>
                <a:r>
                  <a:rPr kumimoji="1" lang="en-US" altLang="ja-JP" sz="2000" dirty="0"/>
                  <a:t>, </a:t>
                </a:r>
                <a:r>
                  <a:rPr kumimoji="1" lang="ja-JP" altLang="en-US" sz="2000" dirty="0"/>
                  <a:t>異なる</a:t>
                </a:r>
                <a:r>
                  <a:rPr kumimoji="1" lang="en-US" altLang="ja-JP" sz="2000" dirty="0"/>
                  <a:t>Q</a:t>
                </a:r>
                <a:r>
                  <a:rPr kumimoji="1" lang="ja-JP" altLang="en-US" sz="2000" dirty="0"/>
                  <a:t>値による</a:t>
                </a:r>
                <a:r>
                  <a:rPr kumimoji="1" lang="en-US" altLang="ja-JP" sz="2000" dirty="0"/>
                  <a:t>, </a:t>
                </a:r>
                <a:r>
                  <a:rPr kumimoji="1" lang="ja-JP" altLang="en-US" sz="2000" dirty="0"/>
                  <a:t>データの重みを変えることができる</a:t>
                </a:r>
                <a:r>
                  <a:rPr kumimoji="1" lang="en-US" altLang="ja-JP" sz="2000" dirty="0"/>
                  <a:t>. </a:t>
                </a:r>
              </a:p>
              <a:p>
                <a:endParaRPr kumimoji="1" lang="en-US" altLang="ja-JP" dirty="0"/>
              </a:p>
              <a:p>
                <a:endParaRPr kumimoji="1" lang="en-US" altLang="ja-JP" dirty="0"/>
              </a:p>
              <a:p>
                <a:endParaRPr kumimoji="1" lang="en-US" altLang="ja-JP" dirty="0"/>
              </a:p>
              <a:p>
                <a:endParaRPr kumimoji="1" lang="en-US" altLang="ja-JP" dirty="0"/>
              </a:p>
              <a:p>
                <a:endParaRPr kumimoji="1" lang="en-US" altLang="ja-JP" sz="2000" dirty="0"/>
              </a:p>
              <a:p>
                <a:endParaRPr kumimoji="1" lang="en-US" altLang="ja-JP" sz="2000" dirty="0"/>
              </a:p>
              <a:p>
                <a:endParaRPr kumimoji="1" lang="en-US" altLang="ja-JP" sz="2000" dirty="0"/>
              </a:p>
              <a:p>
                <a:r>
                  <a:rPr kumimoji="1" lang="ja-JP" altLang="en-US" sz="2000" dirty="0"/>
                  <a:t>計算温度</a:t>
                </a:r>
                <a:r>
                  <a:rPr kumimoji="1" lang="en-US" altLang="ja-JP" sz="2000" dirty="0"/>
                  <a:t>T</a:t>
                </a:r>
                <a:r>
                  <a:rPr kumimoji="1" lang="ja-JP" altLang="en-US" sz="2000" dirty="0"/>
                  <a:t>が</a:t>
                </a:r>
                <a:r>
                  <a:rPr kumimoji="1" lang="en-US" altLang="ja-JP" sz="2000" dirty="0"/>
                  <a:t>0</a:t>
                </a:r>
                <a:r>
                  <a:rPr kumimoji="1" lang="ja-JP" altLang="en-US" sz="2000" dirty="0"/>
                  <a:t>に近いと</a:t>
                </a:r>
                <a:r>
                  <a:rPr kumimoji="1" lang="en-US" altLang="ja-JP" sz="2000" dirty="0"/>
                  <a:t>, Q</a:t>
                </a:r>
                <a:r>
                  <a:rPr kumimoji="1" lang="ja-JP" altLang="en-US" sz="2000" dirty="0"/>
                  <a:t>値が大きいデータの確率</a:t>
                </a:r>
                <a14:m>
                  <m:oMath xmlns:m="http://schemas.openxmlformats.org/officeDocument/2006/math">
                    <m:r>
                      <a:rPr kumimoji="1" lang="en-US" altLang="ja-JP" sz="2000" b="0" i="1" smtClean="0">
                        <a:latin typeface="Cambria Math" panose="02040503050406030204" pitchFamily="18" charset="0"/>
                      </a:rPr>
                      <m:t>𝑝</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𝑎</m:t>
                    </m:r>
                    <m:r>
                      <a:rPr kumimoji="1" lang="en-US" altLang="ja-JP" sz="2000" b="0" i="1" smtClean="0">
                        <a:latin typeface="Cambria Math" panose="02040503050406030204" pitchFamily="18" charset="0"/>
                      </a:rPr>
                      <m:t>)</m:t>
                    </m:r>
                  </m:oMath>
                </a14:m>
                <a:r>
                  <a:rPr kumimoji="1" lang="ja-JP" altLang="en-US" sz="2000" dirty="0"/>
                  <a:t>が大きく際立たせられ</a:t>
                </a:r>
                <a:r>
                  <a:rPr kumimoji="1" lang="en-US" altLang="ja-JP" sz="2000" dirty="0"/>
                  <a:t>, </a:t>
                </a:r>
                <a:r>
                  <a:rPr kumimoji="1" lang="ja-JP" altLang="en-US" sz="2000" dirty="0"/>
                  <a:t>逆に</a:t>
                </a:r>
                <a:r>
                  <a:rPr kumimoji="1" lang="en-US" altLang="ja-JP" sz="2000" dirty="0"/>
                  <a:t>T</a:t>
                </a:r>
                <a:r>
                  <a:rPr kumimoji="1" lang="ja-JP" altLang="en-US" sz="2000" dirty="0"/>
                  <a:t>が</a:t>
                </a:r>
                <a:r>
                  <a:rPr kumimoji="1" lang="en-US" altLang="ja-JP" sz="2000" dirty="0"/>
                  <a:t>10</a:t>
                </a:r>
                <a:r>
                  <a:rPr kumimoji="1" lang="ja-JP" altLang="en-US" sz="2000" dirty="0"/>
                  <a:t>の場合は</a:t>
                </a:r>
                <a:r>
                  <a:rPr kumimoji="1" lang="en-US" altLang="ja-JP" sz="2000" dirty="0"/>
                  <a:t>, </a:t>
                </a:r>
                <a:r>
                  <a:rPr kumimoji="1" lang="ja-JP" altLang="en-US" sz="2000" dirty="0"/>
                  <a:t>あらゆるデータを均一に扱うことができる</a:t>
                </a:r>
                <a:r>
                  <a:rPr kumimoji="1" lang="en-US" altLang="ja-JP" sz="2000" dirty="0"/>
                  <a:t>. </a:t>
                </a:r>
              </a:p>
              <a:p>
                <a:endParaRPr kumimoji="1" lang="en-US" altLang="ja-JP" dirty="0"/>
              </a:p>
              <a:p>
                <a:endParaRPr kumimoji="1" lang="ja-JP" altLang="en-US" dirty="0"/>
              </a:p>
            </p:txBody>
          </p:sp>
        </mc:Choice>
        <mc:Fallback xmlns="">
          <p:sp>
            <p:nvSpPr>
              <p:cNvPr id="7" name="テキスト ボックス 6">
                <a:extLst>
                  <a:ext uri="{FF2B5EF4-FFF2-40B4-BE49-F238E27FC236}">
                    <a16:creationId xmlns:a16="http://schemas.microsoft.com/office/drawing/2014/main" id="{C4ECA97C-BC94-559B-5BB5-2CAFCBE87DC0}"/>
                  </a:ext>
                </a:extLst>
              </p:cNvPr>
              <p:cNvSpPr txBox="1">
                <a:spLocks noRot="1" noChangeAspect="1" noMove="1" noResize="1" noEditPoints="1" noAdjustHandles="1" noChangeArrowheads="1" noChangeShapeType="1" noTextEdit="1"/>
              </p:cNvSpPr>
              <p:nvPr/>
            </p:nvSpPr>
            <p:spPr>
              <a:xfrm>
                <a:off x="1140164" y="1374620"/>
                <a:ext cx="4731191" cy="4832092"/>
              </a:xfrm>
              <a:prstGeom prst="rect">
                <a:avLst/>
              </a:prstGeom>
              <a:blipFill>
                <a:blip r:embed="rId5"/>
                <a:stretch>
                  <a:fillRect l="-1289" t="-1009" r="-219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02373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1A7F3E-5E86-3B75-0A33-74E96A2EFB58}"/>
              </a:ext>
            </a:extLst>
          </p:cNvPr>
          <p:cNvSpPr>
            <a:spLocks noGrp="1"/>
          </p:cNvSpPr>
          <p:nvPr>
            <p:ph type="title"/>
          </p:nvPr>
        </p:nvSpPr>
        <p:spPr>
          <a:xfrm>
            <a:off x="1154083" y="0"/>
            <a:ext cx="10058400" cy="755117"/>
          </a:xfrm>
        </p:spPr>
        <p:txBody>
          <a:bodyPr/>
          <a:lstStyle/>
          <a:p>
            <a:r>
              <a:rPr lang="en-US" altLang="ja-JP" dirty="0"/>
              <a:t>Appendix3		</a:t>
            </a:r>
            <a:r>
              <a:rPr lang="ja-JP" altLang="en-US" dirty="0"/>
              <a:t>学習アルゴリズム</a:t>
            </a:r>
            <a:endParaRPr kumimoji="1" lang="ja-JP" altLang="en-US" dirty="0"/>
          </a:p>
        </p:txBody>
      </p:sp>
      <p:sp>
        <p:nvSpPr>
          <p:cNvPr id="3" name="コンテンツ プレースホルダー 2">
            <a:extLst>
              <a:ext uri="{FF2B5EF4-FFF2-40B4-BE49-F238E27FC236}">
                <a16:creationId xmlns:a16="http://schemas.microsoft.com/office/drawing/2014/main" id="{B600AD19-FE5C-8D0E-AA4D-50F7A2CFD50B}"/>
              </a:ext>
            </a:extLst>
          </p:cNvPr>
          <p:cNvSpPr>
            <a:spLocks noGrp="1"/>
          </p:cNvSpPr>
          <p:nvPr>
            <p:ph idx="1"/>
          </p:nvPr>
        </p:nvSpPr>
        <p:spPr>
          <a:xfrm>
            <a:off x="907867" y="1910942"/>
            <a:ext cx="10058400" cy="4588520"/>
          </a:xfrm>
        </p:spPr>
        <p:txBody>
          <a:bodyPr>
            <a:normAutofit/>
          </a:bodyPr>
          <a:lstStyle/>
          <a:p>
            <a:pPr marL="0" indent="0">
              <a:buNone/>
            </a:pPr>
            <a:endParaRPr lang="en-US" altLang="ja-JP" sz="2400" dirty="0"/>
          </a:p>
          <a:p>
            <a:endParaRPr kumimoji="1" lang="ja-JP" altLang="en-US" sz="2400" dirty="0"/>
          </a:p>
        </p:txBody>
      </p:sp>
      <p:sp>
        <p:nvSpPr>
          <p:cNvPr id="6" name="スライド番号プレースホルダー 5">
            <a:extLst>
              <a:ext uri="{FF2B5EF4-FFF2-40B4-BE49-F238E27FC236}">
                <a16:creationId xmlns:a16="http://schemas.microsoft.com/office/drawing/2014/main" id="{F1BDA9BD-2E38-6B57-0B0C-1C5C9455FC7F}"/>
              </a:ext>
            </a:extLst>
          </p:cNvPr>
          <p:cNvSpPr>
            <a:spLocks noGrp="1"/>
          </p:cNvSpPr>
          <p:nvPr>
            <p:ph type="sldNum" sz="quarter" idx="4294967295"/>
          </p:nvPr>
        </p:nvSpPr>
        <p:spPr>
          <a:xfrm>
            <a:off x="9900458" y="6459785"/>
            <a:ext cx="1312025" cy="365125"/>
          </a:xfrm>
        </p:spPr>
        <p:txBody>
          <a:bodyPr/>
          <a:lstStyle/>
          <a:p>
            <a:fld id="{E0107F97-1CD5-41F0-B842-C38020C26506}" type="slidenum">
              <a:rPr kumimoji="1" lang="ja-JP" altLang="en-US" smtClean="0"/>
              <a:t>17</a:t>
            </a:fld>
            <a:endParaRPr kumimoji="1" lang="ja-JP" altLang="en-US"/>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E3D9CFEF-30B4-2A93-A8FA-3ABB76A0C62D}"/>
                  </a:ext>
                </a:extLst>
              </p:cNvPr>
              <p:cNvSpPr txBox="1"/>
              <p:nvPr/>
            </p:nvSpPr>
            <p:spPr>
              <a:xfrm>
                <a:off x="842974" y="1305653"/>
                <a:ext cx="9945291" cy="4409412"/>
              </a:xfrm>
              <a:prstGeom prst="rect">
                <a:avLst/>
              </a:prstGeom>
              <a:noFill/>
            </p:spPr>
            <p:txBody>
              <a:bodyPr wrap="square" rtlCol="0">
                <a:spAutoFit/>
              </a:bodyPr>
              <a:lstStyle/>
              <a:p>
                <a:r>
                  <a:rPr kumimoji="1" lang="ja-JP" altLang="en-US" sz="2800" b="1" dirty="0"/>
                  <a:t>ベルマン方程式と行動価値関数</a:t>
                </a:r>
                <a:endParaRPr kumimoji="1" lang="en-US" altLang="ja-JP" sz="2800" b="1" dirty="0"/>
              </a:p>
              <a:p>
                <a:endParaRPr kumimoji="1" lang="en-US" altLang="ja-JP" sz="2400" dirty="0"/>
              </a:p>
              <a:p>
                <a:r>
                  <a:rPr kumimoji="1" lang="en-US" altLang="ja-JP" sz="2000" dirty="0"/>
                  <a:t>Q</a:t>
                </a:r>
                <a:r>
                  <a:rPr kumimoji="1" lang="ja-JP" altLang="en-US" sz="2000" dirty="0"/>
                  <a:t>学習においては</a:t>
                </a:r>
                <a:r>
                  <a:rPr kumimoji="1" lang="en-US" altLang="ja-JP" sz="2000" dirty="0"/>
                  <a:t>, </a:t>
                </a:r>
                <a:r>
                  <a:rPr kumimoji="1" lang="ja-JP" altLang="en-US" sz="2000" dirty="0"/>
                  <a:t>価値関数</a:t>
                </a:r>
                <a14:m>
                  <m:oMath xmlns:m="http://schemas.openxmlformats.org/officeDocument/2006/math">
                    <m:sSup>
                      <m:sSupPr>
                        <m:ctrlPr>
                          <a:rPr kumimoji="1" lang="en-US" altLang="ja-JP" sz="2000" b="0" i="1" smtClean="0">
                            <a:latin typeface="Cambria Math" panose="02040503050406030204" pitchFamily="18" charset="0"/>
                          </a:rPr>
                        </m:ctrlPr>
                      </m:sSupPr>
                      <m:e>
                        <m:r>
                          <a:rPr kumimoji="1" lang="en-US" altLang="ja-JP" sz="2000" b="0" i="1" smtClean="0">
                            <a:latin typeface="Cambria Math" panose="02040503050406030204" pitchFamily="18" charset="0"/>
                          </a:rPr>
                          <m:t>𝑉</m:t>
                        </m:r>
                      </m:e>
                      <m:sup>
                        <m:r>
                          <a:rPr kumimoji="1" lang="ja-JP" altLang="en-US" sz="2000" b="0" i="1" smtClean="0">
                            <a:latin typeface="Cambria Math" panose="02040503050406030204" pitchFamily="18" charset="0"/>
                          </a:rPr>
                          <m:t>𝜋</m:t>
                        </m:r>
                      </m:sup>
                    </m:sSup>
                  </m:oMath>
                </a14:m>
                <a:r>
                  <a:rPr kumimoji="1" lang="ja-JP" altLang="en-US" sz="2000" dirty="0"/>
                  <a:t>を状態</a:t>
                </a:r>
                <a14:m>
                  <m:oMath xmlns:m="http://schemas.openxmlformats.org/officeDocument/2006/math">
                    <m:r>
                      <a:rPr kumimoji="1" lang="en-US" altLang="ja-JP" sz="2000" b="0" i="1" smtClean="0">
                        <a:latin typeface="Cambria Math" panose="02040503050406030204" pitchFamily="18" charset="0"/>
                      </a:rPr>
                      <m:t>𝑠</m:t>
                    </m:r>
                  </m:oMath>
                </a14:m>
                <a:r>
                  <a:rPr kumimoji="1" lang="ja-JP" altLang="en-US" sz="2000" dirty="0"/>
                  <a:t>から</a:t>
                </a:r>
                <a14:m>
                  <m:oMath xmlns:m="http://schemas.openxmlformats.org/officeDocument/2006/math">
                    <m:r>
                      <a:rPr kumimoji="1" lang="en-US" altLang="ja-JP" sz="2000" b="0" i="1" dirty="0" smtClean="0">
                        <a:latin typeface="Cambria Math" panose="02040503050406030204" pitchFamily="18" charset="0"/>
                      </a:rPr>
                      <m:t>𝑠</m:t>
                    </m:r>
                    <m:r>
                      <a:rPr kumimoji="1" lang="en-US" altLang="ja-JP" sz="2000" b="0" i="1" dirty="0" smtClean="0">
                        <a:latin typeface="Cambria Math" panose="02040503050406030204" pitchFamily="18" charset="0"/>
                      </a:rPr>
                      <m:t>′</m:t>
                    </m:r>
                  </m:oMath>
                </a14:m>
                <a:r>
                  <a:rPr kumimoji="1" lang="ja-JP" altLang="en-US" sz="2000" dirty="0"/>
                  <a:t>に変化するたびに更新する</a:t>
                </a:r>
                <a:r>
                  <a:rPr kumimoji="1" lang="en-US" altLang="ja-JP" sz="2000" dirty="0"/>
                  <a:t>. </a:t>
                </a:r>
              </a:p>
              <a:p>
                <a:r>
                  <a:rPr kumimoji="1" lang="ja-JP" altLang="en-US" sz="2000" dirty="0"/>
                  <a:t>価値関数</a:t>
                </a:r>
                <a14:m>
                  <m:oMath xmlns:m="http://schemas.openxmlformats.org/officeDocument/2006/math">
                    <m:sSup>
                      <m:sSupPr>
                        <m:ctrlPr>
                          <a:rPr kumimoji="1" lang="en-US" altLang="ja-JP" sz="2000" b="0" i="1" smtClean="0">
                            <a:latin typeface="Cambria Math" panose="02040503050406030204" pitchFamily="18" charset="0"/>
                          </a:rPr>
                        </m:ctrlPr>
                      </m:sSupPr>
                      <m:e>
                        <m:r>
                          <a:rPr kumimoji="1" lang="en-US" altLang="ja-JP" sz="2000" b="0" i="1" smtClean="0">
                            <a:latin typeface="Cambria Math" panose="02040503050406030204" pitchFamily="18" charset="0"/>
                          </a:rPr>
                          <m:t>𝑉</m:t>
                        </m:r>
                      </m:e>
                      <m:sup>
                        <m:r>
                          <a:rPr kumimoji="1" lang="ja-JP" altLang="en-US" sz="2000" b="0" i="1" smtClean="0">
                            <a:latin typeface="Cambria Math" panose="02040503050406030204" pitchFamily="18" charset="0"/>
                          </a:rPr>
                          <m:t>𝜋</m:t>
                        </m:r>
                      </m:sup>
                    </m:sSup>
                  </m:oMath>
                </a14:m>
                <a:r>
                  <a:rPr kumimoji="1" lang="ja-JP" altLang="en-US" sz="2000" dirty="0"/>
                  <a:t>は次の再帰方程式をみたす</a:t>
                </a:r>
                <a:r>
                  <a:rPr kumimoji="1" lang="en-US" altLang="ja-JP" sz="2000" dirty="0"/>
                  <a:t>. (</a:t>
                </a:r>
                <a:r>
                  <a:rPr kumimoji="1" lang="ja-JP" altLang="en-US" sz="2000" dirty="0"/>
                  <a:t>ベルマン方程式</a:t>
                </a:r>
                <a:r>
                  <a:rPr kumimoji="1" lang="en-US" altLang="ja-JP" sz="2000" dirty="0"/>
                  <a:t>)</a:t>
                </a:r>
              </a:p>
              <a:p>
                <a:endParaRPr kumimoji="1" lang="en-US" altLang="ja-JP" sz="2000" dirty="0"/>
              </a:p>
              <a:p>
                <a:pPr/>
                <a14:m>
                  <m:oMathPara xmlns:m="http://schemas.openxmlformats.org/officeDocument/2006/math">
                    <m:oMathParaPr>
                      <m:jc m:val="centerGroup"/>
                    </m:oMathParaPr>
                    <m:oMath xmlns:m="http://schemas.openxmlformats.org/officeDocument/2006/math">
                      <m:sSup>
                        <m:sSupPr>
                          <m:ctrlPr>
                            <a:rPr kumimoji="1" lang="en-US" altLang="ja-JP" sz="2000" b="0" i="1" smtClean="0">
                              <a:latin typeface="Cambria Math" panose="02040503050406030204" pitchFamily="18" charset="0"/>
                            </a:rPr>
                          </m:ctrlPr>
                        </m:sSupPr>
                        <m:e>
                          <m:r>
                            <a:rPr kumimoji="1" lang="en-US" altLang="ja-JP" sz="2000" b="0" i="1" smtClean="0">
                              <a:latin typeface="Cambria Math" panose="02040503050406030204" pitchFamily="18" charset="0"/>
                            </a:rPr>
                            <m:t>𝑉</m:t>
                          </m:r>
                        </m:e>
                        <m:sup>
                          <m:r>
                            <a:rPr kumimoji="1" lang="ja-JP" altLang="en-US" sz="2000" b="0" i="1" smtClean="0">
                              <a:latin typeface="Cambria Math" panose="02040503050406030204" pitchFamily="18" charset="0"/>
                            </a:rPr>
                            <m:t>𝜋</m:t>
                          </m:r>
                        </m:sup>
                      </m:sSup>
                      <m:r>
                        <a:rPr kumimoji="1" lang="en-US" altLang="ja-JP" sz="2000" b="0" i="1" smtClean="0">
                          <a:latin typeface="Cambria Math" panose="02040503050406030204" pitchFamily="18" charset="0"/>
                        </a:rPr>
                        <m:t>=</m:t>
                      </m:r>
                      <m:nary>
                        <m:naryPr>
                          <m:chr m:val="∑"/>
                          <m:supHide m:val="on"/>
                          <m:ctrlPr>
                            <a:rPr lang="en-US" altLang="ja-JP" sz="2000" i="1">
                              <a:latin typeface="Cambria Math" panose="02040503050406030204" pitchFamily="18" charset="0"/>
                            </a:rPr>
                          </m:ctrlPr>
                        </m:naryPr>
                        <m:sub>
                          <m:r>
                            <a:rPr lang="en-US" altLang="ja-JP" sz="2000" b="0" i="1" smtClean="0">
                              <a:latin typeface="Cambria Math" panose="02040503050406030204" pitchFamily="18" charset="0"/>
                            </a:rPr>
                            <m:t>𝑎</m:t>
                          </m:r>
                        </m:sub>
                        <m:sup/>
                        <m:e>
                          <m:r>
                            <a:rPr lang="ja-JP" altLang="en-US" sz="2000" i="1" smtClean="0">
                              <a:latin typeface="Cambria Math" panose="02040503050406030204" pitchFamily="18" charset="0"/>
                              <a:ea typeface="Cambria Math" panose="02040503050406030204" pitchFamily="18" charset="0"/>
                            </a:rPr>
                            <m:t>𝜋</m:t>
                          </m:r>
                          <m:d>
                            <m:dPr>
                              <m:ctrlPr>
                                <a:rPr lang="en-US" altLang="ja-JP" sz="2000" b="0" i="1" smtClean="0">
                                  <a:latin typeface="Cambria Math" panose="02040503050406030204" pitchFamily="18" charset="0"/>
                                  <a:ea typeface="Cambria Math" panose="02040503050406030204" pitchFamily="18" charset="0"/>
                                </a:rPr>
                              </m:ctrlPr>
                            </m:dPr>
                            <m:e>
                              <m:r>
                                <a:rPr lang="en-US" altLang="ja-JP" sz="2000" b="0" i="1" smtClean="0">
                                  <a:latin typeface="Cambria Math" panose="02040503050406030204" pitchFamily="18" charset="0"/>
                                  <a:ea typeface="Cambria Math" panose="02040503050406030204" pitchFamily="18" charset="0"/>
                                </a:rPr>
                                <m:t>𝑠</m:t>
                              </m:r>
                              <m:r>
                                <a:rPr lang="en-US" altLang="ja-JP" sz="2000" b="0" i="1" smtClean="0">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𝑎</m:t>
                              </m:r>
                            </m:e>
                          </m:d>
                          <m:nary>
                            <m:naryPr>
                              <m:chr m:val="∑"/>
                              <m:supHide m:val="on"/>
                              <m:ctrlPr>
                                <a:rPr lang="en-US" altLang="ja-JP" sz="2000" b="0" i="1" smtClean="0">
                                  <a:latin typeface="Cambria Math" panose="02040503050406030204" pitchFamily="18" charset="0"/>
                                  <a:ea typeface="Cambria Math" panose="02040503050406030204" pitchFamily="18" charset="0"/>
                                </a:rPr>
                              </m:ctrlPr>
                            </m:naryPr>
                            <m:sub>
                              <m:r>
                                <m:rPr>
                                  <m:brk m:alnAt="7"/>
                                </m:rPr>
                                <a:rPr lang="en-US" altLang="ja-JP" sz="2000" b="0" i="1" smtClean="0">
                                  <a:latin typeface="Cambria Math" panose="02040503050406030204" pitchFamily="18" charset="0"/>
                                  <a:ea typeface="Cambria Math" panose="02040503050406030204" pitchFamily="18" charset="0"/>
                                </a:rPr>
                                <m:t>𝑠</m:t>
                              </m:r>
                              <m:r>
                                <a:rPr lang="en-US" altLang="ja-JP" sz="2000" b="0" i="1" smtClean="0">
                                  <a:latin typeface="Cambria Math" panose="02040503050406030204" pitchFamily="18" charset="0"/>
                                  <a:ea typeface="Cambria Math" panose="02040503050406030204" pitchFamily="18" charset="0"/>
                                </a:rPr>
                                <m:t>′</m:t>
                              </m:r>
                            </m:sub>
                            <m:sup/>
                            <m:e>
                              <m:sSubSup>
                                <m:sSubSupPr>
                                  <m:ctrlPr>
                                    <a:rPr lang="en-US" altLang="ja-JP" sz="2000" b="0" i="1" smtClean="0">
                                      <a:latin typeface="Cambria Math" panose="02040503050406030204" pitchFamily="18" charset="0"/>
                                      <a:ea typeface="Cambria Math" panose="02040503050406030204" pitchFamily="18" charset="0"/>
                                    </a:rPr>
                                  </m:ctrlPr>
                                </m:sSubSupPr>
                                <m:e>
                                  <m:r>
                                    <a:rPr lang="en-US" altLang="ja-JP" sz="2000" b="0" i="1" smtClean="0">
                                      <a:latin typeface="Cambria Math" panose="02040503050406030204" pitchFamily="18" charset="0"/>
                                      <a:ea typeface="Cambria Math" panose="02040503050406030204" pitchFamily="18" charset="0"/>
                                    </a:rPr>
                                    <m:t>𝑃</m:t>
                                  </m:r>
                                </m:e>
                                <m:sub>
                                  <m:r>
                                    <a:rPr lang="en-US" altLang="ja-JP" sz="2000" b="0" i="1" smtClean="0">
                                      <a:latin typeface="Cambria Math" panose="02040503050406030204" pitchFamily="18" charset="0"/>
                                      <a:ea typeface="Cambria Math" panose="02040503050406030204" pitchFamily="18" charset="0"/>
                                    </a:rPr>
                                    <m:t>𝑠</m:t>
                                  </m:r>
                                  <m:sSup>
                                    <m:sSupPr>
                                      <m:ctrlPr>
                                        <a:rPr lang="en-US" altLang="ja-JP" sz="2000" b="0" i="1" smtClean="0">
                                          <a:latin typeface="Cambria Math" panose="02040503050406030204" pitchFamily="18" charset="0"/>
                                          <a:ea typeface="Cambria Math" panose="02040503050406030204" pitchFamily="18" charset="0"/>
                                        </a:rPr>
                                      </m:ctrlPr>
                                    </m:sSupPr>
                                    <m:e>
                                      <m:r>
                                        <a:rPr lang="en-US" altLang="ja-JP" sz="2000" b="0" i="1" smtClean="0">
                                          <a:latin typeface="Cambria Math" panose="02040503050406030204" pitchFamily="18" charset="0"/>
                                          <a:ea typeface="Cambria Math" panose="02040503050406030204" pitchFamily="18" charset="0"/>
                                        </a:rPr>
                                        <m:t>𝑠</m:t>
                                      </m:r>
                                    </m:e>
                                    <m:sup>
                                      <m:r>
                                        <a:rPr lang="en-US" altLang="ja-JP" sz="2000" b="0" i="1" smtClean="0">
                                          <a:latin typeface="Cambria Math" panose="02040503050406030204" pitchFamily="18" charset="0"/>
                                          <a:ea typeface="Cambria Math" panose="02040503050406030204" pitchFamily="18" charset="0"/>
                                        </a:rPr>
                                        <m:t>′</m:t>
                                      </m:r>
                                    </m:sup>
                                  </m:sSup>
                                </m:sub>
                                <m:sup>
                                  <m:r>
                                    <a:rPr lang="en-US" altLang="ja-JP" sz="2000" b="0" i="1" smtClean="0">
                                      <a:latin typeface="Cambria Math" panose="02040503050406030204" pitchFamily="18" charset="0"/>
                                      <a:ea typeface="Cambria Math" panose="02040503050406030204" pitchFamily="18" charset="0"/>
                                    </a:rPr>
                                    <m:t>𝑎</m:t>
                                  </m:r>
                                </m:sup>
                              </m:sSubSup>
                            </m:e>
                          </m:nary>
                          <m:r>
                            <a:rPr lang="en-US" altLang="ja-JP" sz="2000" b="0" i="1" smtClean="0">
                              <a:latin typeface="Cambria Math" panose="02040503050406030204" pitchFamily="18" charset="0"/>
                              <a:ea typeface="Cambria Math" panose="02040503050406030204" pitchFamily="18" charset="0"/>
                            </a:rPr>
                            <m:t>[</m:t>
                          </m:r>
                          <m:sSubSup>
                            <m:sSubSupPr>
                              <m:ctrlPr>
                                <a:rPr lang="en-US" altLang="ja-JP" sz="2000" b="0" i="1" smtClean="0">
                                  <a:latin typeface="Cambria Math" panose="02040503050406030204" pitchFamily="18" charset="0"/>
                                  <a:ea typeface="Cambria Math" panose="02040503050406030204" pitchFamily="18" charset="0"/>
                                </a:rPr>
                              </m:ctrlPr>
                            </m:sSubSupPr>
                            <m:e>
                              <m:r>
                                <a:rPr lang="en-US" altLang="ja-JP" sz="2000" b="0" i="1" smtClean="0">
                                  <a:latin typeface="Cambria Math" panose="02040503050406030204" pitchFamily="18" charset="0"/>
                                  <a:ea typeface="Cambria Math" panose="02040503050406030204" pitchFamily="18" charset="0"/>
                                </a:rPr>
                                <m:t>𝑅</m:t>
                              </m:r>
                            </m:e>
                            <m:sub>
                              <m:r>
                                <a:rPr lang="en-US" altLang="ja-JP" sz="2000" b="0" i="1" smtClean="0">
                                  <a:latin typeface="Cambria Math" panose="02040503050406030204" pitchFamily="18" charset="0"/>
                                  <a:ea typeface="Cambria Math" panose="02040503050406030204" pitchFamily="18" charset="0"/>
                                </a:rPr>
                                <m:t>𝑠</m:t>
                              </m:r>
                              <m:sSup>
                                <m:sSupPr>
                                  <m:ctrlPr>
                                    <a:rPr lang="en-US" altLang="ja-JP" sz="2000" b="0" i="1" smtClean="0">
                                      <a:latin typeface="Cambria Math" panose="02040503050406030204" pitchFamily="18" charset="0"/>
                                      <a:ea typeface="Cambria Math" panose="02040503050406030204" pitchFamily="18" charset="0"/>
                                    </a:rPr>
                                  </m:ctrlPr>
                                </m:sSupPr>
                                <m:e>
                                  <m:r>
                                    <a:rPr lang="en-US" altLang="ja-JP" sz="2000" b="0" i="1" smtClean="0">
                                      <a:latin typeface="Cambria Math" panose="02040503050406030204" pitchFamily="18" charset="0"/>
                                      <a:ea typeface="Cambria Math" panose="02040503050406030204" pitchFamily="18" charset="0"/>
                                    </a:rPr>
                                    <m:t>𝑠</m:t>
                                  </m:r>
                                </m:e>
                                <m:sup>
                                  <m:r>
                                    <a:rPr lang="en-US" altLang="ja-JP" sz="2000" b="0" i="1" smtClean="0">
                                      <a:latin typeface="Cambria Math" panose="02040503050406030204" pitchFamily="18" charset="0"/>
                                      <a:ea typeface="Cambria Math" panose="02040503050406030204" pitchFamily="18" charset="0"/>
                                    </a:rPr>
                                    <m:t>′</m:t>
                                  </m:r>
                                </m:sup>
                              </m:sSup>
                            </m:sub>
                            <m:sup>
                              <m:r>
                                <a:rPr lang="en-US" altLang="ja-JP" sz="2000" b="0" i="1" smtClean="0">
                                  <a:latin typeface="Cambria Math" panose="02040503050406030204" pitchFamily="18" charset="0"/>
                                  <a:ea typeface="Cambria Math" panose="02040503050406030204" pitchFamily="18" charset="0"/>
                                </a:rPr>
                                <m:t>𝑎</m:t>
                              </m:r>
                            </m:sup>
                          </m:sSubSup>
                          <m:r>
                            <a:rPr lang="en-US" altLang="ja-JP" sz="2000" b="0" i="1" smtClean="0">
                              <a:latin typeface="Cambria Math" panose="02040503050406030204" pitchFamily="18" charset="0"/>
                              <a:ea typeface="Cambria Math" panose="02040503050406030204" pitchFamily="18" charset="0"/>
                            </a:rPr>
                            <m:t>+</m:t>
                          </m:r>
                          <m:r>
                            <a:rPr lang="ja-JP" altLang="en-US" sz="2000" b="0" i="1" smtClean="0">
                              <a:latin typeface="Cambria Math" panose="02040503050406030204" pitchFamily="18" charset="0"/>
                              <a:ea typeface="Cambria Math" panose="02040503050406030204" pitchFamily="18" charset="0"/>
                            </a:rPr>
                            <m:t>𝛾</m:t>
                          </m:r>
                          <m:sSup>
                            <m:sSupPr>
                              <m:ctrlPr>
                                <a:rPr lang="en-US" altLang="ja-JP" sz="2000" b="0" i="1" smtClean="0">
                                  <a:latin typeface="Cambria Math" panose="02040503050406030204" pitchFamily="18" charset="0"/>
                                  <a:ea typeface="Cambria Math" panose="02040503050406030204" pitchFamily="18" charset="0"/>
                                </a:rPr>
                              </m:ctrlPr>
                            </m:sSupPr>
                            <m:e>
                              <m:r>
                                <a:rPr lang="en-US" altLang="ja-JP" sz="2000" b="0" i="1" smtClean="0">
                                  <a:latin typeface="Cambria Math" panose="02040503050406030204" pitchFamily="18" charset="0"/>
                                  <a:ea typeface="Cambria Math" panose="02040503050406030204" pitchFamily="18" charset="0"/>
                                </a:rPr>
                                <m:t>𝑉</m:t>
                              </m:r>
                            </m:e>
                            <m:sup>
                              <m:r>
                                <a:rPr lang="ja-JP" altLang="en-US" sz="2000" b="0" i="1" smtClean="0">
                                  <a:latin typeface="Cambria Math" panose="02040503050406030204" pitchFamily="18" charset="0"/>
                                  <a:ea typeface="Cambria Math" panose="02040503050406030204" pitchFamily="18" charset="0"/>
                                </a:rPr>
                                <m:t>𝜋</m:t>
                              </m:r>
                            </m:sup>
                          </m:sSup>
                          <m:d>
                            <m:dPr>
                              <m:ctrlPr>
                                <a:rPr lang="en-US" altLang="ja-JP" sz="2000" b="0" i="1" smtClean="0">
                                  <a:latin typeface="Cambria Math" panose="02040503050406030204" pitchFamily="18" charset="0"/>
                                  <a:ea typeface="Cambria Math" panose="02040503050406030204" pitchFamily="18" charset="0"/>
                                </a:rPr>
                              </m:ctrlPr>
                            </m:dPr>
                            <m:e>
                              <m:sSup>
                                <m:sSupPr>
                                  <m:ctrlPr>
                                    <a:rPr lang="en-US" altLang="ja-JP" sz="2000" b="0" i="1" smtClean="0">
                                      <a:latin typeface="Cambria Math" panose="02040503050406030204" pitchFamily="18" charset="0"/>
                                      <a:ea typeface="Cambria Math" panose="02040503050406030204" pitchFamily="18" charset="0"/>
                                    </a:rPr>
                                  </m:ctrlPr>
                                </m:sSupPr>
                                <m:e>
                                  <m:r>
                                    <a:rPr lang="en-US" altLang="ja-JP" sz="2000" b="0" i="1" smtClean="0">
                                      <a:latin typeface="Cambria Math" panose="02040503050406030204" pitchFamily="18" charset="0"/>
                                      <a:ea typeface="Cambria Math" panose="02040503050406030204" pitchFamily="18" charset="0"/>
                                    </a:rPr>
                                    <m:t>𝑠</m:t>
                                  </m:r>
                                </m:e>
                                <m:sup>
                                  <m:r>
                                    <a:rPr lang="en-US" altLang="ja-JP" sz="2000" b="0" i="1" smtClean="0">
                                      <a:latin typeface="Cambria Math" panose="02040503050406030204" pitchFamily="18" charset="0"/>
                                      <a:ea typeface="Cambria Math" panose="02040503050406030204" pitchFamily="18" charset="0"/>
                                    </a:rPr>
                                    <m:t>′</m:t>
                                  </m:r>
                                </m:sup>
                              </m:sSup>
                            </m:e>
                          </m:d>
                          <m:r>
                            <a:rPr lang="en-US" altLang="ja-JP" sz="2000" b="0" i="1" smtClean="0">
                              <a:latin typeface="Cambria Math" panose="02040503050406030204" pitchFamily="18" charset="0"/>
                              <a:ea typeface="Cambria Math" panose="02040503050406030204" pitchFamily="18" charset="0"/>
                            </a:rPr>
                            <m:t>]</m:t>
                          </m:r>
                        </m:e>
                      </m:nary>
                    </m:oMath>
                  </m:oMathPara>
                </a14:m>
                <a:endParaRPr kumimoji="1" lang="en-US" altLang="ja-JP" sz="2000" dirty="0"/>
              </a:p>
              <a:p>
                <a:endParaRPr kumimoji="1" lang="en-US" altLang="ja-JP" sz="2000" dirty="0"/>
              </a:p>
              <a:p>
                <a:r>
                  <a:rPr kumimoji="1" lang="ja-JP" altLang="en-US" sz="2000" dirty="0"/>
                  <a:t>価値関数</a:t>
                </a:r>
                <a14:m>
                  <m:oMath xmlns:m="http://schemas.openxmlformats.org/officeDocument/2006/math">
                    <m:sSup>
                      <m:sSupPr>
                        <m:ctrlPr>
                          <a:rPr kumimoji="1" lang="en-US" altLang="ja-JP" sz="2000" b="0" i="1" smtClean="0">
                            <a:latin typeface="Cambria Math" panose="02040503050406030204" pitchFamily="18" charset="0"/>
                          </a:rPr>
                        </m:ctrlPr>
                      </m:sSupPr>
                      <m:e>
                        <m:r>
                          <a:rPr kumimoji="1" lang="en-US" altLang="ja-JP" sz="2000" b="0" i="1" smtClean="0">
                            <a:latin typeface="Cambria Math" panose="02040503050406030204" pitchFamily="18" charset="0"/>
                          </a:rPr>
                          <m:t>𝑉</m:t>
                        </m:r>
                      </m:e>
                      <m:sup>
                        <m:r>
                          <a:rPr kumimoji="1" lang="ja-JP" altLang="en-US" sz="2000" b="0" i="1" smtClean="0">
                            <a:latin typeface="Cambria Math" panose="02040503050406030204" pitchFamily="18" charset="0"/>
                          </a:rPr>
                          <m:t>𝜋</m:t>
                        </m:r>
                      </m:sup>
                    </m:sSup>
                    <m:r>
                      <a:rPr kumimoji="1" lang="en-US" altLang="ja-JP" sz="2000" b="0" i="1" smtClean="0">
                        <a:latin typeface="Cambria Math" panose="02040503050406030204" pitchFamily="18" charset="0"/>
                      </a:rPr>
                      <m:t>, </m:t>
                    </m:r>
                    <m:sSup>
                      <m:sSupPr>
                        <m:ctrlPr>
                          <a:rPr kumimoji="1" lang="en-US" altLang="ja-JP" sz="2000" b="0" i="1" smtClean="0">
                            <a:latin typeface="Cambria Math" panose="02040503050406030204" pitchFamily="18" charset="0"/>
                          </a:rPr>
                        </m:ctrlPr>
                      </m:sSupPr>
                      <m:e>
                        <m:r>
                          <a:rPr kumimoji="1" lang="en-US" altLang="ja-JP" sz="2000" b="0" i="1" smtClean="0">
                            <a:latin typeface="Cambria Math" panose="02040503050406030204" pitchFamily="18" charset="0"/>
                          </a:rPr>
                          <m:t>𝑄</m:t>
                        </m:r>
                      </m:e>
                      <m:sup>
                        <m:r>
                          <a:rPr kumimoji="1" lang="ja-JP" altLang="en-US" sz="2000" b="0" i="1" smtClean="0">
                            <a:latin typeface="Cambria Math" panose="02040503050406030204" pitchFamily="18" charset="0"/>
                          </a:rPr>
                          <m:t>𝜋</m:t>
                        </m:r>
                      </m:sup>
                    </m:sSup>
                  </m:oMath>
                </a14:m>
                <a:r>
                  <a:rPr kumimoji="1" lang="ja-JP" altLang="en-US" sz="2000" dirty="0"/>
                  <a:t>を近似する手法として </a:t>
                </a:r>
                <a:r>
                  <a:rPr kumimoji="1" lang="en-US" altLang="ja-JP" sz="2000" dirty="0">
                    <a:solidFill>
                      <a:schemeClr val="accent1"/>
                    </a:solidFill>
                  </a:rPr>
                  <a:t>TD</a:t>
                </a:r>
                <a:r>
                  <a:rPr kumimoji="1" lang="ja-JP" altLang="en-US" sz="2000" dirty="0">
                    <a:solidFill>
                      <a:schemeClr val="accent1"/>
                    </a:solidFill>
                  </a:rPr>
                  <a:t>法</a:t>
                </a:r>
                <a:r>
                  <a:rPr kumimoji="1" lang="ja-JP" altLang="en-US" sz="2000" dirty="0"/>
                  <a:t>や</a:t>
                </a:r>
                <a:r>
                  <a:rPr kumimoji="1" lang="ja-JP" altLang="en-US" sz="2000" dirty="0">
                    <a:solidFill>
                      <a:schemeClr val="accent1"/>
                    </a:solidFill>
                  </a:rPr>
                  <a:t>モンテカルロ法</a:t>
                </a:r>
                <a:r>
                  <a:rPr kumimoji="1" lang="ja-JP" altLang="en-US" sz="2000" dirty="0"/>
                  <a:t>などの手法がある</a:t>
                </a:r>
                <a:r>
                  <a:rPr kumimoji="1" lang="en-US" altLang="ja-JP" sz="2000" dirty="0"/>
                  <a:t>.</a:t>
                </a:r>
              </a:p>
              <a:p>
                <a:endParaRPr kumimoji="1" lang="en-US" altLang="ja-JP" sz="2000" dirty="0"/>
              </a:p>
              <a:p>
                <a:r>
                  <a:rPr kumimoji="1" lang="ja-JP" altLang="en-US" sz="2000" dirty="0">
                    <a:solidFill>
                      <a:schemeClr val="accent1"/>
                    </a:solidFill>
                  </a:rPr>
                  <a:t>モンテカルロ法</a:t>
                </a:r>
                <a:r>
                  <a:rPr kumimoji="1" lang="en-US" altLang="ja-JP" sz="2000" dirty="0"/>
                  <a:t>: </a:t>
                </a:r>
                <a:r>
                  <a:rPr kumimoji="1" lang="ja-JP" altLang="en-US" sz="2000" dirty="0"/>
                  <a:t>ランダムな方策</a:t>
                </a:r>
                <a14:m>
                  <m:oMath xmlns:m="http://schemas.openxmlformats.org/officeDocument/2006/math">
                    <m:r>
                      <a:rPr kumimoji="1" lang="ja-JP" altLang="en-US" sz="2000" i="1" smtClean="0">
                        <a:latin typeface="Cambria Math" panose="02040503050406030204" pitchFamily="18" charset="0"/>
                      </a:rPr>
                      <m:t>𝜋</m:t>
                    </m:r>
                  </m:oMath>
                </a14:m>
                <a:r>
                  <a:rPr kumimoji="1" lang="ja-JP" altLang="en-US" sz="2000" dirty="0"/>
                  <a:t>のもとで行動し</a:t>
                </a:r>
                <a:r>
                  <a:rPr kumimoji="1" lang="en-US" altLang="ja-JP" sz="2000" dirty="0"/>
                  <a:t>, </a:t>
                </a:r>
                <a:r>
                  <a:rPr kumimoji="1" lang="ja-JP" altLang="en-US" sz="2000" dirty="0"/>
                  <a:t>得られた報酬</a:t>
                </a:r>
                <a14:m>
                  <m:oMath xmlns:m="http://schemas.openxmlformats.org/officeDocument/2006/math">
                    <m:r>
                      <a:rPr kumimoji="1" lang="en-US" altLang="ja-JP" sz="2000" b="0" i="1" smtClean="0">
                        <a:latin typeface="Cambria Math" panose="02040503050406030204" pitchFamily="18" charset="0"/>
                      </a:rPr>
                      <m:t>𝑟</m:t>
                    </m:r>
                  </m:oMath>
                </a14:m>
                <a:r>
                  <a:rPr kumimoji="1" lang="ja-JP" altLang="en-US" sz="2000" dirty="0"/>
                  <a:t>によって期待値を推定し</a:t>
                </a:r>
                <a:r>
                  <a:rPr kumimoji="1" lang="en-US" altLang="ja-JP" sz="2000" dirty="0"/>
                  <a:t>			              </a:t>
                </a:r>
                <a:r>
                  <a:rPr kumimoji="1" lang="ja-JP" altLang="en-US" sz="2000" dirty="0"/>
                  <a:t>価値関数を見積もる手法➡膨大な計算コスト</a:t>
                </a:r>
                <a:endParaRPr kumimoji="1" lang="en-US" altLang="ja-JP" sz="2000" dirty="0"/>
              </a:p>
              <a:p>
                <a:r>
                  <a:rPr kumimoji="1" lang="en-US" altLang="ja-JP" sz="2000" dirty="0">
                    <a:solidFill>
                      <a:schemeClr val="accent1"/>
                    </a:solidFill>
                  </a:rPr>
                  <a:t>TD</a:t>
                </a:r>
                <a:r>
                  <a:rPr kumimoji="1" lang="ja-JP" altLang="en-US" sz="2000" dirty="0">
                    <a:solidFill>
                      <a:schemeClr val="accent1"/>
                    </a:solidFill>
                  </a:rPr>
                  <a:t>法</a:t>
                </a:r>
                <a:r>
                  <a:rPr kumimoji="1" lang="en-US" altLang="ja-JP" sz="2000" dirty="0"/>
                  <a:t>: </a:t>
                </a:r>
                <a:r>
                  <a:rPr kumimoji="1" lang="ja-JP" altLang="en-US" sz="2000" dirty="0"/>
                  <a:t>価値関数の近似を</a:t>
                </a:r>
                <a:r>
                  <a:rPr kumimoji="1" lang="en-US" altLang="ja-JP" sz="2000" dirty="0"/>
                  <a:t>Q</a:t>
                </a:r>
                <a:r>
                  <a:rPr kumimoji="1" lang="ja-JP" altLang="en-US" sz="2000" dirty="0"/>
                  <a:t>学習や</a:t>
                </a:r>
                <a:r>
                  <a:rPr kumimoji="1" lang="en-US" altLang="ja-JP" sz="2000" dirty="0"/>
                  <a:t>Sarsa</a:t>
                </a:r>
                <a:r>
                  <a:rPr kumimoji="1" lang="ja-JP" altLang="en-US" sz="2000" dirty="0"/>
                  <a:t>などで行うことで</a:t>
                </a:r>
                <a:r>
                  <a:rPr kumimoji="1" lang="en-US" altLang="ja-JP" sz="2000" dirty="0"/>
                  <a:t>, </a:t>
                </a:r>
                <a:r>
                  <a:rPr kumimoji="1" lang="ja-JP" altLang="en-US" sz="2000" dirty="0"/>
                  <a:t>計算コストを削減</a:t>
                </a:r>
                <a:r>
                  <a:rPr kumimoji="1" lang="en-US" altLang="ja-JP" sz="2000" dirty="0"/>
                  <a:t>. </a:t>
                </a:r>
                <a:endParaRPr kumimoji="1" lang="ja-JP" altLang="en-US" sz="2000" dirty="0"/>
              </a:p>
            </p:txBody>
          </p:sp>
        </mc:Choice>
        <mc:Fallback xmlns="">
          <p:sp>
            <p:nvSpPr>
              <p:cNvPr id="4" name="テキスト ボックス 3">
                <a:extLst>
                  <a:ext uri="{FF2B5EF4-FFF2-40B4-BE49-F238E27FC236}">
                    <a16:creationId xmlns:a16="http://schemas.microsoft.com/office/drawing/2014/main" id="{E3D9CFEF-30B4-2A93-A8FA-3ABB76A0C62D}"/>
                  </a:ext>
                </a:extLst>
              </p:cNvPr>
              <p:cNvSpPr txBox="1">
                <a:spLocks noRot="1" noChangeAspect="1" noMove="1" noResize="1" noEditPoints="1" noAdjustHandles="1" noChangeArrowheads="1" noChangeShapeType="1" noTextEdit="1"/>
              </p:cNvSpPr>
              <p:nvPr/>
            </p:nvSpPr>
            <p:spPr>
              <a:xfrm>
                <a:off x="842974" y="1305653"/>
                <a:ext cx="9945291" cy="4409412"/>
              </a:xfrm>
              <a:prstGeom prst="rect">
                <a:avLst/>
              </a:prstGeom>
              <a:blipFill>
                <a:blip r:embed="rId3"/>
                <a:stretch>
                  <a:fillRect l="-1225" t="-1934" b="-151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A6682F4A-524C-C60F-6369-0087FC036C95}"/>
                  </a:ext>
                </a:extLst>
              </p:cNvPr>
              <p:cNvSpPr txBox="1"/>
              <p:nvPr/>
            </p:nvSpPr>
            <p:spPr>
              <a:xfrm>
                <a:off x="8388870" y="2627631"/>
                <a:ext cx="3649054" cy="1158907"/>
              </a:xfrm>
              <a:prstGeom prst="rect">
                <a:avLst/>
              </a:prstGeom>
              <a:noFill/>
              <a:ln>
                <a:solidFill>
                  <a:srgbClr val="000000"/>
                </a:solidFill>
              </a:ln>
            </p:spPr>
            <p:txBody>
              <a:bodyPr wrap="square" rtlCol="0">
                <a:spAutoFit/>
              </a:bodyPr>
              <a:lstStyle/>
              <a:p>
                <a14:m>
                  <m:oMath xmlns:m="http://schemas.openxmlformats.org/officeDocument/2006/math">
                    <m:r>
                      <a:rPr lang="ja-JP" altLang="en-US" sz="1600" b="0" i="1" smtClean="0">
                        <a:latin typeface="Cambria Math" panose="02040503050406030204" pitchFamily="18" charset="0"/>
                        <a:ea typeface="Cambria Math" panose="02040503050406030204" pitchFamily="18" charset="0"/>
                      </a:rPr>
                      <m:t>𝜋</m:t>
                    </m:r>
                    <m:d>
                      <m:dPr>
                        <m:ctrlPr>
                          <a:rPr lang="en-US" altLang="ja-JP" sz="1600" i="1" smtClean="0">
                            <a:latin typeface="Cambria Math" panose="02040503050406030204" pitchFamily="18" charset="0"/>
                            <a:ea typeface="Cambria Math" panose="02040503050406030204" pitchFamily="18" charset="0"/>
                          </a:rPr>
                        </m:ctrlPr>
                      </m:dPr>
                      <m:e>
                        <m:r>
                          <a:rPr lang="en-US" altLang="ja-JP" sz="1600" b="0" i="1" smtClean="0">
                            <a:latin typeface="Cambria Math" panose="02040503050406030204" pitchFamily="18" charset="0"/>
                            <a:ea typeface="Cambria Math" panose="02040503050406030204" pitchFamily="18" charset="0"/>
                          </a:rPr>
                          <m:t>𝑠</m:t>
                        </m:r>
                        <m:r>
                          <a:rPr lang="en-US" altLang="ja-JP" sz="1600" b="0" i="1" smtClean="0">
                            <a:latin typeface="Cambria Math" panose="02040503050406030204" pitchFamily="18" charset="0"/>
                            <a:ea typeface="Cambria Math" panose="02040503050406030204" pitchFamily="18" charset="0"/>
                          </a:rPr>
                          <m:t>,</m:t>
                        </m:r>
                        <m:r>
                          <a:rPr lang="en-US" altLang="ja-JP" sz="1600" b="0" i="1" smtClean="0">
                            <a:latin typeface="Cambria Math" panose="02040503050406030204" pitchFamily="18" charset="0"/>
                            <a:ea typeface="Cambria Math" panose="02040503050406030204" pitchFamily="18" charset="0"/>
                          </a:rPr>
                          <m:t>𝑎</m:t>
                        </m:r>
                      </m:e>
                    </m:d>
                  </m:oMath>
                </a14:m>
                <a:r>
                  <a:rPr kumimoji="1" lang="en-US" altLang="ja-JP" sz="1600" dirty="0"/>
                  <a:t>: </a:t>
                </a:r>
                <a:r>
                  <a:rPr kumimoji="1" lang="ja-JP" altLang="en-US" sz="1600" dirty="0"/>
                  <a:t>状態</a:t>
                </a:r>
                <a14:m>
                  <m:oMath xmlns:m="http://schemas.openxmlformats.org/officeDocument/2006/math">
                    <m:r>
                      <a:rPr kumimoji="1" lang="en-US" altLang="ja-JP" sz="1600" b="0" i="1" smtClean="0">
                        <a:latin typeface="Cambria Math" panose="02040503050406030204" pitchFamily="18" charset="0"/>
                      </a:rPr>
                      <m:t>𝑠</m:t>
                    </m:r>
                  </m:oMath>
                </a14:m>
                <a:r>
                  <a:rPr kumimoji="1" lang="ja-JP" altLang="en-US" sz="1600" dirty="0"/>
                  <a:t>において行動</a:t>
                </a:r>
                <a14:m>
                  <m:oMath xmlns:m="http://schemas.openxmlformats.org/officeDocument/2006/math">
                    <m:r>
                      <a:rPr kumimoji="1" lang="en-US" altLang="ja-JP" sz="1600" b="0" i="1" smtClean="0">
                        <a:latin typeface="Cambria Math" panose="02040503050406030204" pitchFamily="18" charset="0"/>
                      </a:rPr>
                      <m:t>𝑎</m:t>
                    </m:r>
                  </m:oMath>
                </a14:m>
                <a:r>
                  <a:rPr kumimoji="1" lang="ja-JP" altLang="en-US" sz="1600" dirty="0"/>
                  <a:t>をとる確率</a:t>
                </a:r>
                <a:endParaRPr kumimoji="1" lang="en-US" altLang="ja-JP" sz="1600" dirty="0"/>
              </a:p>
              <a:p>
                <a14:m>
                  <m:oMath xmlns:m="http://schemas.openxmlformats.org/officeDocument/2006/math">
                    <m:sSubSup>
                      <m:sSubSupPr>
                        <m:ctrlPr>
                          <a:rPr lang="en-US" altLang="ja-JP" sz="1600" i="1">
                            <a:latin typeface="Cambria Math" panose="02040503050406030204" pitchFamily="18" charset="0"/>
                            <a:ea typeface="Cambria Math" panose="02040503050406030204" pitchFamily="18" charset="0"/>
                          </a:rPr>
                        </m:ctrlPr>
                      </m:sSubSupPr>
                      <m:e>
                        <m:r>
                          <a:rPr lang="en-US" altLang="ja-JP" sz="1600" b="0" i="1">
                            <a:latin typeface="Cambria Math" panose="02040503050406030204" pitchFamily="18" charset="0"/>
                            <a:ea typeface="Cambria Math" panose="02040503050406030204" pitchFamily="18" charset="0"/>
                          </a:rPr>
                          <m:t>𝑅</m:t>
                        </m:r>
                      </m:e>
                      <m:sub>
                        <m:r>
                          <a:rPr lang="en-US" altLang="ja-JP" sz="1600" b="0" i="1">
                            <a:latin typeface="Cambria Math" panose="02040503050406030204" pitchFamily="18" charset="0"/>
                            <a:ea typeface="Cambria Math" panose="02040503050406030204" pitchFamily="18" charset="0"/>
                          </a:rPr>
                          <m:t>𝑠</m:t>
                        </m:r>
                        <m:sSup>
                          <m:sSupPr>
                            <m:ctrlPr>
                              <a:rPr lang="en-US" altLang="ja-JP" sz="1600" i="1">
                                <a:latin typeface="Cambria Math" panose="02040503050406030204" pitchFamily="18" charset="0"/>
                                <a:ea typeface="Cambria Math" panose="02040503050406030204" pitchFamily="18" charset="0"/>
                              </a:rPr>
                            </m:ctrlPr>
                          </m:sSupPr>
                          <m:e>
                            <m:r>
                              <a:rPr lang="en-US" altLang="ja-JP" sz="1600" b="0" i="1">
                                <a:latin typeface="Cambria Math" panose="02040503050406030204" pitchFamily="18" charset="0"/>
                                <a:ea typeface="Cambria Math" panose="02040503050406030204" pitchFamily="18" charset="0"/>
                              </a:rPr>
                              <m:t>𝑠</m:t>
                            </m:r>
                          </m:e>
                          <m:sup>
                            <m:r>
                              <a:rPr lang="en-US" altLang="ja-JP" sz="1600" b="0" i="1">
                                <a:latin typeface="Cambria Math" panose="02040503050406030204" pitchFamily="18" charset="0"/>
                                <a:ea typeface="Cambria Math" panose="02040503050406030204" pitchFamily="18" charset="0"/>
                              </a:rPr>
                              <m:t>′</m:t>
                            </m:r>
                          </m:sup>
                        </m:sSup>
                      </m:sub>
                      <m:sup>
                        <m:r>
                          <a:rPr lang="en-US" altLang="ja-JP" sz="1600" b="0" i="1">
                            <a:latin typeface="Cambria Math" panose="02040503050406030204" pitchFamily="18" charset="0"/>
                            <a:ea typeface="Cambria Math" panose="02040503050406030204" pitchFamily="18" charset="0"/>
                          </a:rPr>
                          <m:t>𝑎</m:t>
                        </m:r>
                      </m:sup>
                    </m:sSubSup>
                    <m:r>
                      <a:rPr lang="en-US" altLang="ja-JP" sz="1600" b="0" i="1" smtClean="0">
                        <a:latin typeface="Cambria Math" panose="02040503050406030204" pitchFamily="18" charset="0"/>
                        <a:ea typeface="Cambria Math" panose="02040503050406030204" pitchFamily="18" charset="0"/>
                      </a:rPr>
                      <m:t>:</m:t>
                    </m:r>
                  </m:oMath>
                </a14:m>
                <a:r>
                  <a:rPr kumimoji="1" lang="ja-JP" altLang="en-US" sz="1600" dirty="0"/>
                  <a:t> 報酬</a:t>
                </a:r>
                <a14:m>
                  <m:oMath xmlns:m="http://schemas.openxmlformats.org/officeDocument/2006/math">
                    <m:sSub>
                      <m:sSubPr>
                        <m:ctrlPr>
                          <a:rPr kumimoji="1" lang="en-US" altLang="ja-JP" sz="1600" i="1" dirty="0" smtClean="0">
                            <a:latin typeface="Cambria Math" panose="02040503050406030204" pitchFamily="18" charset="0"/>
                          </a:rPr>
                        </m:ctrlPr>
                      </m:sSubPr>
                      <m:e>
                        <m:r>
                          <a:rPr kumimoji="1" lang="en-US" altLang="ja-JP" sz="1600" b="0" i="1" dirty="0" smtClean="0">
                            <a:latin typeface="Cambria Math" panose="02040503050406030204" pitchFamily="18" charset="0"/>
                          </a:rPr>
                          <m:t>𝑟</m:t>
                        </m:r>
                      </m:e>
                      <m:sub>
                        <m:r>
                          <a:rPr kumimoji="1" lang="en-US" altLang="ja-JP" sz="1600" b="0" i="1" dirty="0" smtClean="0">
                            <a:latin typeface="Cambria Math" panose="02040503050406030204" pitchFamily="18" charset="0"/>
                          </a:rPr>
                          <m:t>𝑡</m:t>
                        </m:r>
                        <m:r>
                          <a:rPr kumimoji="1" lang="en-US" altLang="ja-JP" sz="1600" b="0" i="1" dirty="0" smtClean="0">
                            <a:latin typeface="Cambria Math" panose="02040503050406030204" pitchFamily="18" charset="0"/>
                          </a:rPr>
                          <m:t>+1</m:t>
                        </m:r>
                      </m:sub>
                    </m:sSub>
                  </m:oMath>
                </a14:m>
                <a:r>
                  <a:rPr kumimoji="1" lang="ja-JP" altLang="en-US" sz="1600" dirty="0"/>
                  <a:t>の期待値</a:t>
                </a:r>
                <a:endParaRPr kumimoji="1" lang="en-US" altLang="ja-JP" sz="1600" dirty="0"/>
              </a:p>
              <a:p>
                <a14:m>
                  <m:oMath xmlns:m="http://schemas.openxmlformats.org/officeDocument/2006/math">
                    <m:sSubSup>
                      <m:sSubSupPr>
                        <m:ctrlPr>
                          <a:rPr lang="en-US" altLang="ja-JP" sz="1600" i="1" smtClean="0">
                            <a:latin typeface="Cambria Math" panose="02040503050406030204" pitchFamily="18" charset="0"/>
                            <a:ea typeface="Cambria Math" panose="02040503050406030204" pitchFamily="18" charset="0"/>
                          </a:rPr>
                        </m:ctrlPr>
                      </m:sSubSupPr>
                      <m:e>
                        <m:r>
                          <a:rPr lang="en-US" altLang="ja-JP" sz="1600" b="0" i="1" smtClean="0">
                            <a:latin typeface="Cambria Math" panose="02040503050406030204" pitchFamily="18" charset="0"/>
                            <a:ea typeface="Cambria Math" panose="02040503050406030204" pitchFamily="18" charset="0"/>
                          </a:rPr>
                          <m:t>𝑃</m:t>
                        </m:r>
                      </m:e>
                      <m:sub>
                        <m:r>
                          <a:rPr lang="en-US" altLang="ja-JP" sz="1600" b="0" i="1">
                            <a:latin typeface="Cambria Math" panose="02040503050406030204" pitchFamily="18" charset="0"/>
                            <a:ea typeface="Cambria Math" panose="02040503050406030204" pitchFamily="18" charset="0"/>
                          </a:rPr>
                          <m:t>𝑠</m:t>
                        </m:r>
                        <m:sSup>
                          <m:sSupPr>
                            <m:ctrlPr>
                              <a:rPr lang="en-US" altLang="ja-JP" sz="1600" i="1">
                                <a:latin typeface="Cambria Math" panose="02040503050406030204" pitchFamily="18" charset="0"/>
                                <a:ea typeface="Cambria Math" panose="02040503050406030204" pitchFamily="18" charset="0"/>
                              </a:rPr>
                            </m:ctrlPr>
                          </m:sSupPr>
                          <m:e>
                            <m:r>
                              <a:rPr lang="en-US" altLang="ja-JP" sz="1600" b="0" i="1">
                                <a:latin typeface="Cambria Math" panose="02040503050406030204" pitchFamily="18" charset="0"/>
                                <a:ea typeface="Cambria Math" panose="02040503050406030204" pitchFamily="18" charset="0"/>
                              </a:rPr>
                              <m:t>𝑠</m:t>
                            </m:r>
                          </m:e>
                          <m:sup>
                            <m:r>
                              <a:rPr lang="en-US" altLang="ja-JP" sz="1600" b="0" i="1">
                                <a:latin typeface="Cambria Math" panose="02040503050406030204" pitchFamily="18" charset="0"/>
                                <a:ea typeface="Cambria Math" panose="02040503050406030204" pitchFamily="18" charset="0"/>
                              </a:rPr>
                              <m:t>′</m:t>
                            </m:r>
                          </m:sup>
                        </m:sSup>
                      </m:sub>
                      <m:sup>
                        <m:r>
                          <a:rPr lang="en-US" altLang="ja-JP" sz="1600" b="0" i="1">
                            <a:latin typeface="Cambria Math" panose="02040503050406030204" pitchFamily="18" charset="0"/>
                            <a:ea typeface="Cambria Math" panose="02040503050406030204" pitchFamily="18" charset="0"/>
                          </a:rPr>
                          <m:t>𝑎</m:t>
                        </m:r>
                      </m:sup>
                    </m:sSubSup>
                  </m:oMath>
                </a14:m>
                <a:r>
                  <a:rPr kumimoji="1" lang="en-US" altLang="ja-JP" sz="1600" dirty="0"/>
                  <a:t>:</a:t>
                </a:r>
                <a:r>
                  <a:rPr kumimoji="1" lang="ja-JP" altLang="en-US" sz="1600" dirty="0"/>
                  <a:t>任意の状態</a:t>
                </a:r>
                <a14:m>
                  <m:oMath xmlns:m="http://schemas.openxmlformats.org/officeDocument/2006/math">
                    <m:r>
                      <a:rPr kumimoji="1" lang="en-US" altLang="ja-JP" sz="1600" b="0" i="1" smtClean="0">
                        <a:latin typeface="Cambria Math" panose="02040503050406030204" pitchFamily="18" charset="0"/>
                      </a:rPr>
                      <m:t>𝑠</m:t>
                    </m:r>
                    <m:r>
                      <a:rPr kumimoji="1" lang="en-US" altLang="ja-JP" sz="1600" b="0" i="1" smtClean="0">
                        <a:latin typeface="Cambria Math" panose="02040503050406030204" pitchFamily="18" charset="0"/>
                      </a:rPr>
                      <m:t>,</m:t>
                    </m:r>
                  </m:oMath>
                </a14:m>
                <a:r>
                  <a:rPr kumimoji="1" lang="ja-JP" altLang="en-US" sz="1600" dirty="0"/>
                  <a:t>行動</a:t>
                </a:r>
                <a14:m>
                  <m:oMath xmlns:m="http://schemas.openxmlformats.org/officeDocument/2006/math">
                    <m:r>
                      <a:rPr kumimoji="1" lang="en-US" altLang="ja-JP" sz="1600" b="0" i="1" dirty="0" smtClean="0">
                        <a:latin typeface="Cambria Math" panose="02040503050406030204" pitchFamily="18" charset="0"/>
                      </a:rPr>
                      <m:t>𝑎</m:t>
                    </m:r>
                    <m:r>
                      <a:rPr kumimoji="1" lang="ja-JP" altLang="en-US" sz="1600" b="0" i="1" dirty="0">
                        <a:latin typeface="Cambria Math" panose="02040503050406030204" pitchFamily="18" charset="0"/>
                      </a:rPr>
                      <m:t>において</m:t>
                    </m:r>
                  </m:oMath>
                </a14:m>
                <a:r>
                  <a:rPr kumimoji="1" lang="en-US" altLang="ja-JP" sz="1600" dirty="0"/>
                  <a:t>, </a:t>
                </a:r>
              </a:p>
              <a:p>
                <a:r>
                  <a:rPr kumimoji="1" lang="en-US" altLang="ja-JP" sz="1600" dirty="0"/>
                  <a:t>        </a:t>
                </a:r>
                <a:r>
                  <a:rPr kumimoji="1" lang="ja-JP" altLang="en-US" sz="1600" dirty="0"/>
                  <a:t>次に可能な状態</a:t>
                </a:r>
                <a14:m>
                  <m:oMath xmlns:m="http://schemas.openxmlformats.org/officeDocument/2006/math">
                    <m:r>
                      <a:rPr kumimoji="1" lang="en-US" altLang="ja-JP" sz="1600" b="0" i="1" smtClean="0">
                        <a:latin typeface="Cambria Math" panose="02040503050406030204" pitchFamily="18" charset="0"/>
                      </a:rPr>
                      <m:t>𝑠</m:t>
                    </m:r>
                    <m:r>
                      <a:rPr kumimoji="1" lang="en-US" altLang="ja-JP" sz="1600" b="0" i="1" smtClean="0">
                        <a:latin typeface="Cambria Math" panose="02040503050406030204" pitchFamily="18" charset="0"/>
                      </a:rPr>
                      <m:t>′</m:t>
                    </m:r>
                  </m:oMath>
                </a14:m>
                <a:r>
                  <a:rPr kumimoji="1" lang="ja-JP" altLang="en-US" sz="1600" dirty="0"/>
                  <a:t>の確率</a:t>
                </a:r>
              </a:p>
            </p:txBody>
          </p:sp>
        </mc:Choice>
        <mc:Fallback xmlns="">
          <p:sp>
            <p:nvSpPr>
              <p:cNvPr id="5" name="テキスト ボックス 4">
                <a:extLst>
                  <a:ext uri="{FF2B5EF4-FFF2-40B4-BE49-F238E27FC236}">
                    <a16:creationId xmlns:a16="http://schemas.microsoft.com/office/drawing/2014/main" id="{A6682F4A-524C-C60F-6369-0087FC036C95}"/>
                  </a:ext>
                </a:extLst>
              </p:cNvPr>
              <p:cNvSpPr txBox="1">
                <a:spLocks noRot="1" noChangeAspect="1" noMove="1" noResize="1" noEditPoints="1" noAdjustHandles="1" noChangeArrowheads="1" noChangeShapeType="1" noTextEdit="1"/>
              </p:cNvSpPr>
              <p:nvPr/>
            </p:nvSpPr>
            <p:spPr>
              <a:xfrm>
                <a:off x="8388870" y="2627631"/>
                <a:ext cx="3649054" cy="1158907"/>
              </a:xfrm>
              <a:prstGeom prst="rect">
                <a:avLst/>
              </a:prstGeom>
              <a:blipFill>
                <a:blip r:embed="rId4"/>
                <a:stretch>
                  <a:fillRect t="-2083" b="-521"/>
                </a:stretch>
              </a:blipFill>
              <a:ln>
                <a:solidFill>
                  <a:srgbClr val="000000"/>
                </a:solidFill>
              </a:ln>
            </p:spPr>
            <p:txBody>
              <a:bodyPr/>
              <a:lstStyle/>
              <a:p>
                <a:r>
                  <a:rPr lang="ja-JP" altLang="en-US">
                    <a:noFill/>
                  </a:rPr>
                  <a:t> </a:t>
                </a:r>
              </a:p>
            </p:txBody>
          </p:sp>
        </mc:Fallback>
      </mc:AlternateContent>
    </p:spTree>
    <p:extLst>
      <p:ext uri="{BB962C8B-B14F-4D97-AF65-F5344CB8AC3E}">
        <p14:creationId xmlns:p14="http://schemas.microsoft.com/office/powerpoint/2010/main" val="3141421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スライド番号プレースホルダー 9">
            <a:extLst>
              <a:ext uri="{FF2B5EF4-FFF2-40B4-BE49-F238E27FC236}">
                <a16:creationId xmlns:a16="http://schemas.microsoft.com/office/drawing/2014/main" id="{EA69C411-F44C-C7AC-4C20-30D4284427EF}"/>
              </a:ext>
            </a:extLst>
          </p:cNvPr>
          <p:cNvSpPr>
            <a:spLocks noGrp="1"/>
          </p:cNvSpPr>
          <p:nvPr>
            <p:ph type="sldNum" sz="quarter" idx="4294967295"/>
          </p:nvPr>
        </p:nvSpPr>
        <p:spPr>
          <a:xfrm>
            <a:off x="9900458" y="6459785"/>
            <a:ext cx="1312025" cy="365125"/>
          </a:xfrm>
        </p:spPr>
        <p:txBody>
          <a:bodyPr/>
          <a:lstStyle/>
          <a:p>
            <a:fld id="{E0107F97-1CD5-41F0-B842-C38020C26506}" type="slidenum">
              <a:rPr kumimoji="1" lang="ja-JP" altLang="en-US" smtClean="0"/>
              <a:t>18</a:t>
            </a:fld>
            <a:endParaRPr kumimoji="1" lang="ja-JP" altLang="en-US"/>
          </a:p>
        </p:txBody>
      </p:sp>
      <p:sp>
        <p:nvSpPr>
          <p:cNvPr id="9" name="テキスト ボックス 8">
            <a:extLst>
              <a:ext uri="{FF2B5EF4-FFF2-40B4-BE49-F238E27FC236}">
                <a16:creationId xmlns:a16="http://schemas.microsoft.com/office/drawing/2014/main" id="{E66F026B-D2AC-9395-D7F3-3BB2F5F2D736}"/>
              </a:ext>
            </a:extLst>
          </p:cNvPr>
          <p:cNvSpPr txBox="1"/>
          <p:nvPr/>
        </p:nvSpPr>
        <p:spPr>
          <a:xfrm>
            <a:off x="6710356" y="5083483"/>
            <a:ext cx="5205948" cy="369332"/>
          </a:xfrm>
          <a:prstGeom prst="rect">
            <a:avLst/>
          </a:prstGeom>
          <a:noFill/>
        </p:spPr>
        <p:txBody>
          <a:bodyPr wrap="square" rtlCol="0">
            <a:spAutoFit/>
          </a:bodyPr>
          <a:lstStyle/>
          <a:p>
            <a:r>
              <a:rPr kumimoji="1" lang="en-US" altLang="ja-JP" b="1" dirty="0"/>
              <a:t>Fig 16</a:t>
            </a:r>
            <a:r>
              <a:rPr kumimoji="1" lang="ja-JP" altLang="en-US" b="1" dirty="0"/>
              <a:t>　 </a:t>
            </a:r>
            <a:r>
              <a:rPr kumimoji="1" lang="en-US" altLang="ja-JP" b="1" dirty="0"/>
              <a:t>5</a:t>
            </a:r>
            <a:r>
              <a:rPr kumimoji="1" lang="ja-JP" altLang="en-US" b="1" dirty="0"/>
              <a:t>つの経路における遊離ウイルス数の推移</a:t>
            </a:r>
          </a:p>
        </p:txBody>
      </p:sp>
      <p:pic>
        <p:nvPicPr>
          <p:cNvPr id="6" name="図 5">
            <a:extLst>
              <a:ext uri="{FF2B5EF4-FFF2-40B4-BE49-F238E27FC236}">
                <a16:creationId xmlns:a16="http://schemas.microsoft.com/office/drawing/2014/main" id="{982E3987-232C-3B48-48B5-A632C8BD79D8}"/>
              </a:ext>
            </a:extLst>
          </p:cNvPr>
          <p:cNvPicPr>
            <a:picLocks noChangeAspect="1"/>
          </p:cNvPicPr>
          <p:nvPr/>
        </p:nvPicPr>
        <p:blipFill>
          <a:blip r:embed="rId3"/>
          <a:stretch>
            <a:fillRect/>
          </a:stretch>
        </p:blipFill>
        <p:spPr>
          <a:xfrm>
            <a:off x="6463815" y="1091685"/>
            <a:ext cx="5086969" cy="4001750"/>
          </a:xfrm>
          <a:prstGeom prst="rect">
            <a:avLst/>
          </a:prstGeom>
        </p:spPr>
      </p:pic>
      <p:sp>
        <p:nvSpPr>
          <p:cNvPr id="4" name="タイトル 1">
            <a:extLst>
              <a:ext uri="{FF2B5EF4-FFF2-40B4-BE49-F238E27FC236}">
                <a16:creationId xmlns:a16="http://schemas.microsoft.com/office/drawing/2014/main" id="{FD60A02F-A93F-EA6E-DDC1-BC64580B1134}"/>
              </a:ext>
            </a:extLst>
          </p:cNvPr>
          <p:cNvSpPr txBox="1">
            <a:spLocks/>
          </p:cNvSpPr>
          <p:nvPr/>
        </p:nvSpPr>
        <p:spPr>
          <a:xfrm>
            <a:off x="693933" y="-53787"/>
            <a:ext cx="12512531" cy="1421745"/>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a:lstStyle>
          <a:p>
            <a:r>
              <a:rPr lang="en-US" altLang="ja-JP" sz="4600" dirty="0"/>
              <a:t>Appendix4		</a:t>
            </a:r>
            <a:r>
              <a:rPr lang="ja-JP" altLang="en-US" sz="4000" dirty="0"/>
              <a:t>結果</a:t>
            </a:r>
            <a:r>
              <a:rPr lang="en-US" altLang="ja-JP" sz="4000" dirty="0"/>
              <a:t>(</a:t>
            </a:r>
            <a:r>
              <a:rPr lang="ja-JP" altLang="en-US" sz="4000" dirty="0"/>
              <a:t>③不確実な初期値</a:t>
            </a:r>
            <a:r>
              <a:rPr lang="en-US" altLang="ja-JP" sz="4000" dirty="0"/>
              <a:t>+</a:t>
            </a:r>
            <a:r>
              <a:rPr lang="ja-JP" altLang="en-US" sz="4000" dirty="0"/>
              <a:t>白色外乱</a:t>
            </a:r>
            <a:r>
              <a:rPr lang="en-US" altLang="ja-JP" sz="4600" dirty="0"/>
              <a:t>) 				</a:t>
            </a:r>
            <a:endParaRPr lang="ja-JP" altLang="en-US" sz="4600" dirty="0"/>
          </a:p>
        </p:txBody>
      </p:sp>
      <p:sp>
        <p:nvSpPr>
          <p:cNvPr id="5" name="テキスト ボックス 4">
            <a:extLst>
              <a:ext uri="{FF2B5EF4-FFF2-40B4-BE49-F238E27FC236}">
                <a16:creationId xmlns:a16="http://schemas.microsoft.com/office/drawing/2014/main" id="{FBADA5DE-C88A-9257-1F76-99034429D2D0}"/>
              </a:ext>
            </a:extLst>
          </p:cNvPr>
          <p:cNvSpPr txBox="1"/>
          <p:nvPr/>
        </p:nvSpPr>
        <p:spPr>
          <a:xfrm>
            <a:off x="558089" y="2734304"/>
            <a:ext cx="5454784" cy="1631216"/>
          </a:xfrm>
          <a:prstGeom prst="rect">
            <a:avLst/>
          </a:prstGeom>
          <a:noFill/>
          <a:ln w="28575">
            <a:solidFill>
              <a:srgbClr val="000000"/>
            </a:solidFill>
          </a:ln>
        </p:spPr>
        <p:txBody>
          <a:bodyPr wrap="square" rtlCol="0">
            <a:spAutoFit/>
          </a:bodyPr>
          <a:lstStyle/>
          <a:p>
            <a:r>
              <a:rPr kumimoji="1" lang="ja-JP" altLang="en-US" sz="2000" b="1" dirty="0"/>
              <a:t>・条件</a:t>
            </a:r>
            <a:endParaRPr kumimoji="1" lang="en-US" altLang="ja-JP" sz="2000" b="1" dirty="0"/>
          </a:p>
          <a:p>
            <a:r>
              <a:rPr kumimoji="1" lang="en-US" altLang="ja-JP" sz="2000" b="1" dirty="0"/>
              <a:t>	</a:t>
            </a:r>
            <a:r>
              <a:rPr kumimoji="1" lang="ja-JP" altLang="en-US" sz="2000" b="1" dirty="0"/>
              <a:t>不確実な初期値</a:t>
            </a:r>
            <a:r>
              <a:rPr kumimoji="1" lang="en-US" altLang="ja-JP" sz="2000" b="1" dirty="0"/>
              <a:t>+</a:t>
            </a:r>
            <a:r>
              <a:rPr kumimoji="1" lang="ja-JP" altLang="en-US" sz="2000" b="1" dirty="0"/>
              <a:t>白色外乱</a:t>
            </a:r>
            <a:endParaRPr kumimoji="1" lang="en-US" altLang="ja-JP" sz="2000" b="1" dirty="0"/>
          </a:p>
          <a:p>
            <a:endParaRPr kumimoji="1" lang="en-US" altLang="ja-JP" sz="2000" b="1" dirty="0"/>
          </a:p>
          <a:p>
            <a:r>
              <a:rPr kumimoji="1" lang="en-US" altLang="ja-JP" sz="2000" dirty="0"/>
              <a:t>5</a:t>
            </a:r>
            <a:r>
              <a:rPr kumimoji="1" lang="ja-JP" altLang="en-US" sz="2000" dirty="0"/>
              <a:t>つのサンプルパスにおいて</a:t>
            </a:r>
            <a:r>
              <a:rPr kumimoji="1" lang="ja-JP" altLang="en-US" sz="2000" b="1" dirty="0"/>
              <a:t>未感染細胞</a:t>
            </a:r>
            <a:r>
              <a:rPr kumimoji="1" lang="en-US" altLang="ja-JP" sz="2000" b="1" dirty="0"/>
              <a:t>X</a:t>
            </a:r>
            <a:r>
              <a:rPr kumimoji="1" lang="ja-JP" altLang="en-US" sz="2000" b="1" dirty="0"/>
              <a:t>の増加</a:t>
            </a:r>
            <a:endParaRPr kumimoji="1" lang="en-US" altLang="ja-JP" sz="2000" b="1" dirty="0"/>
          </a:p>
          <a:p>
            <a:r>
              <a:rPr kumimoji="1" lang="ja-JP" altLang="en-US" sz="2000" dirty="0"/>
              <a:t>遊離ウイルス</a:t>
            </a:r>
            <a:r>
              <a:rPr kumimoji="1" lang="en-US" altLang="ja-JP" sz="2000" dirty="0"/>
              <a:t>V, </a:t>
            </a:r>
            <a:r>
              <a:rPr kumimoji="1" lang="ja-JP" altLang="en-US" sz="2000" dirty="0"/>
              <a:t>及び</a:t>
            </a:r>
            <a:r>
              <a:rPr kumimoji="1" lang="en-US" altLang="ja-JP" sz="2000" dirty="0"/>
              <a:t>V</a:t>
            </a:r>
            <a:r>
              <a:rPr kumimoji="1" lang="ja-JP" altLang="en-US" sz="2000" dirty="0"/>
              <a:t>を生じる細胞</a:t>
            </a:r>
            <a:r>
              <a:rPr kumimoji="1" lang="en-US" altLang="ja-JP" sz="2000" dirty="0"/>
              <a:t>Y,Z</a:t>
            </a:r>
            <a:r>
              <a:rPr kumimoji="1" lang="ja-JP" altLang="en-US" sz="2000" dirty="0"/>
              <a:t>の減少</a:t>
            </a:r>
            <a:endParaRPr kumimoji="1" lang="en-US" altLang="ja-JP" sz="2000" dirty="0"/>
          </a:p>
        </p:txBody>
      </p:sp>
      <p:sp>
        <p:nvSpPr>
          <p:cNvPr id="8" name="テキスト ボックス 7">
            <a:extLst>
              <a:ext uri="{FF2B5EF4-FFF2-40B4-BE49-F238E27FC236}">
                <a16:creationId xmlns:a16="http://schemas.microsoft.com/office/drawing/2014/main" id="{4059874C-A313-EBF9-0A11-1A08B36690E0}"/>
              </a:ext>
            </a:extLst>
          </p:cNvPr>
          <p:cNvSpPr txBox="1"/>
          <p:nvPr/>
        </p:nvSpPr>
        <p:spPr>
          <a:xfrm>
            <a:off x="211829" y="2051765"/>
            <a:ext cx="6604326" cy="461665"/>
          </a:xfrm>
          <a:prstGeom prst="rect">
            <a:avLst/>
          </a:prstGeom>
          <a:noFill/>
        </p:spPr>
        <p:txBody>
          <a:bodyPr wrap="square">
            <a:spAutoFit/>
          </a:bodyPr>
          <a:lstStyle/>
          <a:p>
            <a:r>
              <a:rPr kumimoji="1" lang="en-US" altLang="ja-JP" sz="2400" b="1" dirty="0"/>
              <a:t>Q-learning</a:t>
            </a:r>
            <a:r>
              <a:rPr kumimoji="1" lang="ja-JP" altLang="en-US" sz="2400" b="1" dirty="0"/>
              <a:t>による</a:t>
            </a:r>
            <a:r>
              <a:rPr kumimoji="1" lang="en-US" altLang="ja-JP" sz="2400" b="1" dirty="0"/>
              <a:t>2000</a:t>
            </a:r>
            <a:r>
              <a:rPr kumimoji="1" lang="ja-JP" altLang="en-US" sz="2400" b="1" dirty="0"/>
              <a:t>日間の投薬</a:t>
            </a:r>
            <a:r>
              <a:rPr kumimoji="1" lang="en-US" altLang="ja-JP" sz="2400" dirty="0"/>
              <a:t>(</a:t>
            </a:r>
            <a:r>
              <a:rPr kumimoji="1" lang="ja-JP" altLang="en-US" sz="2400" dirty="0">
                <a:solidFill>
                  <a:schemeClr val="accent2"/>
                </a:solidFill>
              </a:rPr>
              <a:t>青</a:t>
            </a:r>
            <a:r>
              <a:rPr kumimoji="1" lang="en-US" altLang="ja-JP" sz="2400" dirty="0"/>
              <a:t>)</a:t>
            </a:r>
          </a:p>
        </p:txBody>
      </p:sp>
    </p:spTree>
    <p:extLst>
      <p:ext uri="{BB962C8B-B14F-4D97-AF65-F5344CB8AC3E}">
        <p14:creationId xmlns:p14="http://schemas.microsoft.com/office/powerpoint/2010/main" val="4183522262"/>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レトロスペクト">
  <a:themeElements>
    <a:clrScheme name="青">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レトロスペクト">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レトロスペクト">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10391</TotalTime>
  <Words>3188</Words>
  <Application>Microsoft Office PowerPoint</Application>
  <PresentationFormat>ワイド画面</PresentationFormat>
  <Paragraphs>348</Paragraphs>
  <Slides>18</Slides>
  <Notes>16</Notes>
  <HiddenSlides>0</HiddenSlides>
  <MMClips>0</MMClips>
  <ScaleCrop>false</ScaleCrop>
  <HeadingPairs>
    <vt:vector size="6" baseType="variant">
      <vt:variant>
        <vt:lpstr>使用されているフォント</vt:lpstr>
      </vt:variant>
      <vt:variant>
        <vt:i4>8</vt:i4>
      </vt:variant>
      <vt:variant>
        <vt:lpstr>テーマ</vt:lpstr>
      </vt:variant>
      <vt:variant>
        <vt:i4>2</vt:i4>
      </vt:variant>
      <vt:variant>
        <vt:lpstr>スライド タイトル</vt:lpstr>
      </vt:variant>
      <vt:variant>
        <vt:i4>18</vt:i4>
      </vt:variant>
    </vt:vector>
  </HeadingPairs>
  <TitlesOfParts>
    <vt:vector size="28" baseType="lpstr">
      <vt:lpstr>游ゴシック</vt:lpstr>
      <vt:lpstr>Arial</vt:lpstr>
      <vt:lpstr>Calibri</vt:lpstr>
      <vt:lpstr>Calibri Light</vt:lpstr>
      <vt:lpstr>Cambria Math</vt:lpstr>
      <vt:lpstr>Merriweather Sans</vt:lpstr>
      <vt:lpstr>Source Sans Pro</vt:lpstr>
      <vt:lpstr>Wingdings 2</vt:lpstr>
      <vt:lpstr>HDOfficeLightV0</vt:lpstr>
      <vt:lpstr>レトロスペクト</vt:lpstr>
      <vt:lpstr>Control the population of free viruses in nonlinear uncertain HIV system using Q-learning</vt:lpstr>
      <vt:lpstr>1. はじめに  1.1 背景と目的</vt:lpstr>
      <vt:lpstr>1. はじめに  1.2卒業研究との関連</vt:lpstr>
      <vt:lpstr>2. 数理モデル</vt:lpstr>
      <vt:lpstr>3. 制御手法  3.1 強化学習</vt:lpstr>
      <vt:lpstr>3. 制御手法  3.2 Q-learning</vt:lpstr>
      <vt:lpstr>4.シミュレーション 　4.1 条件設定(①初期値が既知)</vt:lpstr>
      <vt:lpstr>4.シミュレーション 　4.1 条件設定(②不確実な初期値)</vt:lpstr>
      <vt:lpstr>4.シミュレーション　4.1 条件設定(③不確実な初期値+白色外乱)</vt:lpstr>
      <vt:lpstr>PowerPoint プレゼンテーション</vt:lpstr>
      <vt:lpstr>PowerPoint プレゼンテーション</vt:lpstr>
      <vt:lpstr>PowerPoint プレゼンテーション</vt:lpstr>
      <vt:lpstr>5. 結論</vt:lpstr>
      <vt:lpstr>PowerPoint プレゼンテーション</vt:lpstr>
      <vt:lpstr>Appendix1  HIV感染のメカニズム</vt:lpstr>
      <vt:lpstr>Appendix2  SoftMax関数</vt:lpstr>
      <vt:lpstr>Appendix3  学習アルゴリズム</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ワタナベ コウスケ</dc:creator>
  <cp:lastModifiedBy>reds-supporter-w.k@keio.jp</cp:lastModifiedBy>
  <cp:revision>56</cp:revision>
  <dcterms:created xsi:type="dcterms:W3CDTF">2024-06-18T07:28:52Z</dcterms:created>
  <dcterms:modified xsi:type="dcterms:W3CDTF">2024-09-03T09:48:11Z</dcterms:modified>
</cp:coreProperties>
</file>